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6"/>
  </p:notesMasterIdLst>
  <p:sldIdLst>
    <p:sldId id="256" r:id="rId4"/>
    <p:sldId id="257" r:id="rId5"/>
    <p:sldId id="311" r:id="rId6"/>
    <p:sldId id="258" r:id="rId7"/>
    <p:sldId id="304" r:id="rId8"/>
    <p:sldId id="309" r:id="rId9"/>
    <p:sldId id="305" r:id="rId10"/>
    <p:sldId id="306" r:id="rId11"/>
    <p:sldId id="307" r:id="rId12"/>
    <p:sldId id="308" r:id="rId13"/>
    <p:sldId id="310" r:id="rId14"/>
    <p:sldId id="303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M8GtMx9D5MN5Xx879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14365" y="2485202"/>
            <a:ext cx="469080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SzPts val="3200"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HAMILTONIAN CYCLE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7136630-C938-C214-87A1-BA30508C4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333" y="2571750"/>
            <a:ext cx="2291334" cy="186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7A2590-7CAD-3388-1C48-F7B5912622B7}"/>
              </a:ext>
            </a:extLst>
          </p:cNvPr>
          <p:cNvSpPr txBox="1"/>
          <p:nvPr/>
        </p:nvSpPr>
        <p:spPr>
          <a:xfrm>
            <a:off x="1505712" y="152042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https://forms.gle/M8GtMx9D5MN5Xx879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66B02-E2B2-D417-8E68-D841787AD2F5}"/>
              </a:ext>
            </a:extLst>
          </p:cNvPr>
          <p:cNvSpPr txBox="1"/>
          <p:nvPr/>
        </p:nvSpPr>
        <p:spPr>
          <a:xfrm>
            <a:off x="2676144" y="7031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TEST TIME ON  WARNSDORFF’S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99690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g257da5d1a8a_0_7">
            <a:extLst>
              <a:ext uri="{FF2B5EF4-FFF2-40B4-BE49-F238E27FC236}">
                <a16:creationId xmlns:a16="http://schemas.microsoft.com/office/drawing/2014/main" id="{B764C7B2-EB82-BA01-3A2D-AD88B47DC096}"/>
              </a:ext>
            </a:extLst>
          </p:cNvPr>
          <p:cNvSpPr/>
          <p:nvPr/>
        </p:nvSpPr>
        <p:spPr>
          <a:xfrm>
            <a:off x="2553437" y="413940"/>
            <a:ext cx="3702890" cy="454477"/>
          </a:xfrm>
          <a:prstGeom prst="roundRect">
            <a:avLst>
              <a:gd name="adj" fmla="val 33025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sp>
        <p:nvSpPr>
          <p:cNvPr id="4" name="Google Shape;69;g257da5d1a8a_0_7">
            <a:extLst>
              <a:ext uri="{FF2B5EF4-FFF2-40B4-BE49-F238E27FC236}">
                <a16:creationId xmlns:a16="http://schemas.microsoft.com/office/drawing/2014/main" id="{E7963DBD-757D-6A51-CFDF-E00AD9103598}"/>
              </a:ext>
            </a:extLst>
          </p:cNvPr>
          <p:cNvSpPr txBox="1"/>
          <p:nvPr/>
        </p:nvSpPr>
        <p:spPr>
          <a:xfrm>
            <a:off x="582900" y="1097837"/>
            <a:ext cx="7978200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Introduction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Hamiltonian Path in an undirected graph is a path that visits each vertex exactly once. 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 Hamiltonian cycle (or Hamiltonian circuit) is a Hamiltonian Path such that there is an edge (in the graph) from the last vertex to the first vertex of the Hamiltonian Path.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The task is to determine whether a given graph contains Hamiltonian Cycle or not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g257da5d1a8a_0_7">
            <a:extLst>
              <a:ext uri="{FF2B5EF4-FFF2-40B4-BE49-F238E27FC236}">
                <a16:creationId xmlns:a16="http://schemas.microsoft.com/office/drawing/2014/main" id="{1C9C4969-A4B6-8FFD-A2A6-ED521B410320}"/>
              </a:ext>
            </a:extLst>
          </p:cNvPr>
          <p:cNvSpPr/>
          <p:nvPr/>
        </p:nvSpPr>
        <p:spPr>
          <a:xfrm>
            <a:off x="2720555" y="381406"/>
            <a:ext cx="3702890" cy="454477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sp>
        <p:nvSpPr>
          <p:cNvPr id="3" name="Google Shape;78;g257da5d1a8a_0_276">
            <a:extLst>
              <a:ext uri="{FF2B5EF4-FFF2-40B4-BE49-F238E27FC236}">
                <a16:creationId xmlns:a16="http://schemas.microsoft.com/office/drawing/2014/main" id="{63E23F4F-AF67-64FF-F185-CA5E06C5C173}"/>
              </a:ext>
            </a:extLst>
          </p:cNvPr>
          <p:cNvSpPr txBox="1"/>
          <p:nvPr/>
        </p:nvSpPr>
        <p:spPr>
          <a:xfrm>
            <a:off x="582930" y="895350"/>
            <a:ext cx="7978200" cy="417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73239"/>
                </a:solidFill>
                <a:highlight>
                  <a:srgbClr val="FFFFFF"/>
                </a:highlight>
                <a:latin typeface="Consolas" panose="020B0609020204030204" pitchFamily="49" charset="0"/>
                <a:ea typeface="Nunito"/>
                <a:cs typeface="Nunito"/>
                <a:sym typeface="Nunito"/>
              </a:rPr>
              <a:t>Hamiltonian cycle:</a:t>
            </a:r>
            <a:endParaRPr sz="1600" b="1" i="0" u="none" strike="noStrike" cap="none" dirty="0">
              <a:solidFill>
                <a:srgbClr val="273239"/>
              </a:solidFill>
              <a:highlight>
                <a:srgbClr val="FFFFFF"/>
              </a:highlight>
              <a:latin typeface="Consolas" panose="020B0609020204030204" pitchFamily="49" charset="0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i="0" u="none" strike="noStrike" cap="none" dirty="0">
              <a:solidFill>
                <a:srgbClr val="273239"/>
              </a:solidFill>
              <a:highlight>
                <a:srgbClr val="FFFFFF"/>
              </a:highlight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273239"/>
                </a:solidFill>
                <a:highlight>
                  <a:srgbClr val="FFFFFF"/>
                </a:highlight>
                <a:latin typeface="Consolas" panose="020B0609020204030204" pitchFamily="49" charset="0"/>
                <a:sym typeface="Arial"/>
              </a:rPr>
              <a:t>The Hamiltonian cycle of undirected graph          G &lt;= V , E&gt; is the cycle containing each vertex in V. -If graph contains a Hamiltonian cycle, it is called Hamiltonian graph otherwise it is non-Hamiltonian.</a:t>
            </a:r>
            <a:endParaRPr sz="1600" b="0" i="0" u="none" strike="noStrike" cap="none" dirty="0">
              <a:solidFill>
                <a:srgbClr val="273239"/>
              </a:solidFill>
              <a:highlight>
                <a:srgbClr val="FFFFFF"/>
              </a:highlight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273239"/>
              </a:solidFill>
              <a:highlight>
                <a:srgbClr val="FFFFFF"/>
              </a:highlight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273239"/>
                </a:solidFill>
                <a:highlight>
                  <a:srgbClr val="FFFFFF"/>
                </a:highlight>
                <a:latin typeface="Consolas" panose="020B0609020204030204" pitchFamily="49" charset="0"/>
                <a:sym typeface="Arial"/>
              </a:rPr>
              <a:t>Finding a Hamiltonian cycle in a graph is a well-known problem with many real-world applications, such as in network routing and scheduling.</a:t>
            </a:r>
            <a:endParaRPr sz="1600" b="0" i="0" u="none" strike="noStrike" cap="none" dirty="0">
              <a:solidFill>
                <a:srgbClr val="273239"/>
              </a:solidFill>
              <a:highlight>
                <a:srgbClr val="FFFFFF"/>
              </a:highlight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400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g257da5d1a8a_0_7">
            <a:extLst>
              <a:ext uri="{FF2B5EF4-FFF2-40B4-BE49-F238E27FC236}">
                <a16:creationId xmlns:a16="http://schemas.microsoft.com/office/drawing/2014/main" id="{26011684-4AE4-915E-05A8-F5764E3833F0}"/>
              </a:ext>
            </a:extLst>
          </p:cNvPr>
          <p:cNvSpPr/>
          <p:nvPr/>
        </p:nvSpPr>
        <p:spPr>
          <a:xfrm>
            <a:off x="2720555" y="369215"/>
            <a:ext cx="3702890" cy="358440"/>
          </a:xfrm>
          <a:prstGeom prst="roundRect">
            <a:avLst>
              <a:gd name="adj" fmla="val 39481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sp>
        <p:nvSpPr>
          <p:cNvPr id="3" name="Google Shape;87;g257da5d1a8a_0_14">
            <a:extLst>
              <a:ext uri="{FF2B5EF4-FFF2-40B4-BE49-F238E27FC236}">
                <a16:creationId xmlns:a16="http://schemas.microsoft.com/office/drawing/2014/main" id="{EA7D23B4-C5FC-B8BC-64C4-EB957EDA320D}"/>
              </a:ext>
            </a:extLst>
          </p:cNvPr>
          <p:cNvSpPr txBox="1"/>
          <p:nvPr/>
        </p:nvSpPr>
        <p:spPr>
          <a:xfrm>
            <a:off x="582930" y="895350"/>
            <a:ext cx="79782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IO Format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Input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Adjacency Matrix or Adjacency List representing the graph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If it is an adjacency matrix, it will be a 2D array with ‘1’ at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i,j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) if there is a path from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 to j. 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Output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Array which represents the Hamiltonian Path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 -&gt; Graph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b -&gt; Adj. List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c- &gt; Adj. Matrix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386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g257da5d1a8a_0_22">
            <a:extLst>
              <a:ext uri="{FF2B5EF4-FFF2-40B4-BE49-F238E27FC236}">
                <a16:creationId xmlns:a16="http://schemas.microsoft.com/office/drawing/2014/main" id="{9C7A6EB3-3E1B-2381-3A41-4AD29AC2F769}"/>
              </a:ext>
            </a:extLst>
          </p:cNvPr>
          <p:cNvSpPr txBox="1"/>
          <p:nvPr/>
        </p:nvSpPr>
        <p:spPr>
          <a:xfrm>
            <a:off x="582930" y="895350"/>
            <a:ext cx="7978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Example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3" name="Google Shape;97;g257da5d1a8a_0_22">
            <a:extLst>
              <a:ext uri="{FF2B5EF4-FFF2-40B4-BE49-F238E27FC236}">
                <a16:creationId xmlns:a16="http://schemas.microsoft.com/office/drawing/2014/main" id="{F8A28632-0D25-7D3E-C993-11F58284D854}"/>
              </a:ext>
            </a:extLst>
          </p:cNvPr>
          <p:cNvSpPr txBox="1"/>
          <p:nvPr/>
        </p:nvSpPr>
        <p:spPr>
          <a:xfrm>
            <a:off x="582930" y="895350"/>
            <a:ext cx="7978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Example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  <p:pic>
        <p:nvPicPr>
          <p:cNvPr id="4" name="Google Shape;98;g257da5d1a8a_0_22">
            <a:extLst>
              <a:ext uri="{FF2B5EF4-FFF2-40B4-BE49-F238E27FC236}">
                <a16:creationId xmlns:a16="http://schemas.microsoft.com/office/drawing/2014/main" id="{291517A9-DA8C-C649-EA85-66A8245AA1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1977" y="1079650"/>
            <a:ext cx="4460045" cy="3609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138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g257da5d1a8a_0_7">
            <a:extLst>
              <a:ext uri="{FF2B5EF4-FFF2-40B4-BE49-F238E27FC236}">
                <a16:creationId xmlns:a16="http://schemas.microsoft.com/office/drawing/2014/main" id="{13003F97-A4BD-FAFB-EC24-A5AF924ECB78}"/>
              </a:ext>
            </a:extLst>
          </p:cNvPr>
          <p:cNvSpPr/>
          <p:nvPr/>
        </p:nvSpPr>
        <p:spPr>
          <a:xfrm>
            <a:off x="2720555" y="393598"/>
            <a:ext cx="3702890" cy="454477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sp>
        <p:nvSpPr>
          <p:cNvPr id="3" name="Google Shape;107;g257da5d1a8a_0_30">
            <a:extLst>
              <a:ext uri="{FF2B5EF4-FFF2-40B4-BE49-F238E27FC236}">
                <a16:creationId xmlns:a16="http://schemas.microsoft.com/office/drawing/2014/main" id="{FC7DEBF9-9C7F-1CA5-7D0C-974347201535}"/>
              </a:ext>
            </a:extLst>
          </p:cNvPr>
          <p:cNvSpPr txBox="1"/>
          <p:nvPr/>
        </p:nvSpPr>
        <p:spPr>
          <a:xfrm>
            <a:off x="582930" y="895350"/>
            <a:ext cx="7978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Backtracking Solution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Naive approach is to generate all possible configurations (n! configurations in total) of vertices and print a configuration that satisfies the given constraints.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A better approach is to use backtracking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Create an empty path array and add vertex 0 to it. Add other vertices, starting from the vertex 1.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Before adding a vertex, check for whether it is adjacent to the previously added vertex and not already added.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If we find such a vertex, we add the vertex as part of the solution. If we do not find a vertex then we return false.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 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014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g257da5d1a8a_0_7">
            <a:extLst>
              <a:ext uri="{FF2B5EF4-FFF2-40B4-BE49-F238E27FC236}">
                <a16:creationId xmlns:a16="http://schemas.microsoft.com/office/drawing/2014/main" id="{64D41D72-9B84-402D-4D3F-9875A4BB61E1}"/>
              </a:ext>
            </a:extLst>
          </p:cNvPr>
          <p:cNvSpPr/>
          <p:nvPr/>
        </p:nvSpPr>
        <p:spPr>
          <a:xfrm>
            <a:off x="2720555" y="357022"/>
            <a:ext cx="3702890" cy="403045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sp>
        <p:nvSpPr>
          <p:cNvPr id="3" name="Google Shape;116;g257da5d1a8a_0_37">
            <a:extLst>
              <a:ext uri="{FF2B5EF4-FFF2-40B4-BE49-F238E27FC236}">
                <a16:creationId xmlns:a16="http://schemas.microsoft.com/office/drawing/2014/main" id="{557D3453-906A-3D56-35EB-45FF87C7ED96}"/>
              </a:ext>
            </a:extLst>
          </p:cNvPr>
          <p:cNvSpPr txBox="1"/>
          <p:nvPr/>
        </p:nvSpPr>
        <p:spPr>
          <a:xfrm>
            <a:off x="582930" y="895350"/>
            <a:ext cx="7978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Program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Sample IO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Input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8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0 1 0 1 1 0 0 0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1 0 1 0 0 1 0 0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0 1 0 1 0 0 1 0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1 0 1 0 0 0 0 1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1 0 0 0 0 1 0 1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0 1 0 0 1 0 1 0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0 0 1 0 0 1 0 1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 panose="020B0609020204030204" pitchFamily="49" charset="0"/>
                <a:sym typeface="Arial"/>
              </a:rPr>
              <a:t>0 0 0 1 1 0 1 0</a:t>
            </a: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87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29;g257da5d1a8a_0_210">
            <a:extLst>
              <a:ext uri="{FF2B5EF4-FFF2-40B4-BE49-F238E27FC236}">
                <a16:creationId xmlns:a16="http://schemas.microsoft.com/office/drawing/2014/main" id="{E84B29F9-466E-3F1D-CA5F-411A6C2498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982870"/>
              </p:ext>
            </p:extLst>
          </p:nvPr>
        </p:nvGraphicFramePr>
        <p:xfrm>
          <a:off x="502548" y="724180"/>
          <a:ext cx="8504664" cy="4257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737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import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java.util.Scanner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import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java.util.Arrays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public class Main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private int V,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private int[] path;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private int[][] graph;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public void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findHamiltonianCycle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(int[][] g)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V =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g.length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path = new int[V];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Arrays.fill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(path, -1);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graph = g;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try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    path[0] = 0;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    solve(0);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sym typeface="Courier New"/>
                        </a:rPr>
                        <a:t>System.out.println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("No solution");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sym typeface="Courier New"/>
                        </a:rPr>
                        <a:t>        }</a:t>
                      </a:r>
                      <a:endParaRPr lang="en-IN" sz="1200" b="0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catch (Exception e)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e.getMessage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display();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void solve(int vertex) throws Exception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if (graph[vertex][0] == 1 &amp;&amp;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== V)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throw new Exception("Solution found");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if (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== V)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return;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for (int v = 0; v &lt; V; v++)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if (graph[vertex][v] == 1)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path[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++] = v;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graph[vertex][v] = 0;</a:t>
                      </a: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71;g257da5d1a8a_0_7">
            <a:extLst>
              <a:ext uri="{FF2B5EF4-FFF2-40B4-BE49-F238E27FC236}">
                <a16:creationId xmlns:a16="http://schemas.microsoft.com/office/drawing/2014/main" id="{DFDC3228-F6AE-D19B-F922-84871B632BF7}"/>
              </a:ext>
            </a:extLst>
          </p:cNvPr>
          <p:cNvSpPr/>
          <p:nvPr/>
        </p:nvSpPr>
        <p:spPr>
          <a:xfrm>
            <a:off x="2903435" y="345519"/>
            <a:ext cx="3702890" cy="312849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</p:spTree>
    <p:extLst>
      <p:ext uri="{BB962C8B-B14F-4D97-AF65-F5344CB8AC3E}">
        <p14:creationId xmlns:p14="http://schemas.microsoft.com/office/powerpoint/2010/main" val="355287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g257da5d1a8a_0_7">
            <a:extLst>
              <a:ext uri="{FF2B5EF4-FFF2-40B4-BE49-F238E27FC236}">
                <a16:creationId xmlns:a16="http://schemas.microsoft.com/office/drawing/2014/main" id="{75D814D3-1954-4095-53B1-AF091F03D509}"/>
              </a:ext>
            </a:extLst>
          </p:cNvPr>
          <p:cNvSpPr/>
          <p:nvPr/>
        </p:nvSpPr>
        <p:spPr>
          <a:xfrm>
            <a:off x="2720555" y="357022"/>
            <a:ext cx="3702890" cy="403045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sym typeface="Arial"/>
              </a:rPr>
              <a:t>HAMILTONIAN CYCLE</a:t>
            </a:r>
          </a:p>
        </p:txBody>
      </p:sp>
      <p:graphicFrame>
        <p:nvGraphicFramePr>
          <p:cNvPr id="3" name="Google Shape;129;g257da5d1a8a_0_210">
            <a:extLst>
              <a:ext uri="{FF2B5EF4-FFF2-40B4-BE49-F238E27FC236}">
                <a16:creationId xmlns:a16="http://schemas.microsoft.com/office/drawing/2014/main" id="{A7ECB9AF-8C86-7EE0-BBF8-B273DFC1EB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5532555"/>
              </p:ext>
            </p:extLst>
          </p:nvPr>
        </p:nvGraphicFramePr>
        <p:xfrm>
          <a:off x="319668" y="760067"/>
          <a:ext cx="8504664" cy="4257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737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graph[v][vertex] = 0;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if (!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isPresent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(v))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    solve(v);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graph[vertex][v] = 1;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graph[v][vertex] = 1;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path[--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-1;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boolean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isPresent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(int v)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for (int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pathCount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- 1;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if (path[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== v)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return true;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return false;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void display()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</a:t>
                      </a:r>
                      <a:endParaRPr lang="en-IN" sz="1200" b="0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("\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nPath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: ");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for (int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&lt;= V;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(path[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% V] + " ");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System.out.println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static void main(String[]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args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 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Scanner scan = new Scanner(System.in);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Main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hc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new Main(); // Use the class name Main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int V =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scan.nextInt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int[][] graph = new int[V][V];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for (int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V;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for (int j = 0; j &lt; V;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j++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     graph[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][j] =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scan.nextInt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</a:t>
                      </a:r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hc.findHamiltonianCycle</a:t>
                      </a: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(graph);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IN" sz="12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49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915</Words>
  <Application>Microsoft Office PowerPoint</Application>
  <PresentationFormat>On-screen Show (16:9)</PresentationFormat>
  <Paragraphs>139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</vt:lpstr>
      <vt:lpstr>Courier New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2024-09-04T07:15:15Z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