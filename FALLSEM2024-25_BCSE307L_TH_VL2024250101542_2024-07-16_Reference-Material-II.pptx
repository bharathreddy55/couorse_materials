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notesMasterIdLst>
    <p:notesMasterId r:id="rId86"/>
  </p:notesMasterIdLst>
  <p:sldIdLst>
    <p:sldId id="372" r:id="rId2"/>
    <p:sldId id="376" r:id="rId3"/>
    <p:sldId id="314" r:id="rId4"/>
    <p:sldId id="378" r:id="rId5"/>
    <p:sldId id="379" r:id="rId6"/>
    <p:sldId id="31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7" r:id="rId29"/>
    <p:sldId id="458" r:id="rId30"/>
    <p:sldId id="456" r:id="rId31"/>
    <p:sldId id="460" r:id="rId32"/>
    <p:sldId id="459" r:id="rId33"/>
    <p:sldId id="388" r:id="rId34"/>
    <p:sldId id="389" r:id="rId35"/>
    <p:sldId id="390" r:id="rId36"/>
    <p:sldId id="391" r:id="rId37"/>
    <p:sldId id="392" r:id="rId38"/>
    <p:sldId id="393" r:id="rId39"/>
    <p:sldId id="394" r:id="rId40"/>
    <p:sldId id="395" r:id="rId41"/>
    <p:sldId id="396" r:id="rId42"/>
    <p:sldId id="438" r:id="rId43"/>
    <p:sldId id="397" r:id="rId44"/>
    <p:sldId id="398" r:id="rId45"/>
    <p:sldId id="399" r:id="rId46"/>
    <p:sldId id="400" r:id="rId47"/>
    <p:sldId id="401" r:id="rId48"/>
    <p:sldId id="402" r:id="rId49"/>
    <p:sldId id="403" r:id="rId50"/>
    <p:sldId id="404" r:id="rId51"/>
    <p:sldId id="462" r:id="rId52"/>
    <p:sldId id="405" r:id="rId53"/>
    <p:sldId id="406" r:id="rId54"/>
    <p:sldId id="407" r:id="rId55"/>
    <p:sldId id="408" r:id="rId56"/>
    <p:sldId id="409" r:id="rId57"/>
    <p:sldId id="410" r:id="rId58"/>
    <p:sldId id="411" r:id="rId59"/>
    <p:sldId id="412" r:id="rId60"/>
    <p:sldId id="413" r:id="rId61"/>
    <p:sldId id="414" r:id="rId62"/>
    <p:sldId id="415" r:id="rId63"/>
    <p:sldId id="416" r:id="rId64"/>
    <p:sldId id="417" r:id="rId65"/>
    <p:sldId id="418" r:id="rId66"/>
    <p:sldId id="461" r:id="rId67"/>
    <p:sldId id="419" r:id="rId68"/>
    <p:sldId id="420" r:id="rId69"/>
    <p:sldId id="421" r:id="rId70"/>
    <p:sldId id="422" r:id="rId71"/>
    <p:sldId id="423" r:id="rId72"/>
    <p:sldId id="424" r:id="rId73"/>
    <p:sldId id="425" r:id="rId74"/>
    <p:sldId id="426" r:id="rId75"/>
    <p:sldId id="427" r:id="rId76"/>
    <p:sldId id="428" r:id="rId77"/>
    <p:sldId id="429" r:id="rId78"/>
    <p:sldId id="430" r:id="rId79"/>
    <p:sldId id="431" r:id="rId80"/>
    <p:sldId id="432" r:id="rId81"/>
    <p:sldId id="433" r:id="rId82"/>
    <p:sldId id="434" r:id="rId83"/>
    <p:sldId id="436" r:id="rId84"/>
    <p:sldId id="437" r:id="rId85"/>
  </p:sldIdLst>
  <p:sldSz cx="12192000" cy="6858000"/>
  <p:notesSz cx="6858000" cy="9144000"/>
  <p:embeddedFontLst>
    <p:embeddedFont>
      <p:font typeface="Calibri" panose="020F0502020204030204" pitchFamily="34" charset="0"/>
      <p:regular r:id="rId87"/>
      <p:bold r:id="rId88"/>
      <p:italic r:id="rId89"/>
      <p:boldItalic r:id="rId90"/>
    </p:embeddedFont>
    <p:embeddedFont>
      <p:font typeface="Cambria Math" panose="02040503050406030204" pitchFamily="18" charset="0"/>
      <p:regular r:id="rId91"/>
    </p:embeddedFont>
    <p:embeddedFont>
      <p:font typeface="Roboto Condensed" panose="02000000000000000000" pitchFamily="2" charset="0"/>
      <p:regular r:id="rId92"/>
      <p:bold r:id="rId93"/>
      <p:italic r:id="rId94"/>
      <p:boldItalic r:id="rId95"/>
    </p:embeddedFont>
    <p:embeddedFont>
      <p:font typeface="Roboto Condensed Light" panose="02000000000000000000" pitchFamily="2" charset="0"/>
      <p:regular r:id="rId96"/>
      <p:italic r:id="rId97"/>
    </p:embeddedFont>
    <p:embeddedFont>
      <p:font typeface="Wingdings 3" panose="05040102010807070707" pitchFamily="18" charset="2"/>
      <p:regular r:id="rId98"/>
    </p:embeddedFont>
  </p:embeddedFontLst>
  <p:custDataLst>
    <p:tags r:id="rId9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35" autoAdjust="0"/>
    <p:restoredTop sz="94660"/>
  </p:normalViewPr>
  <p:slideViewPr>
    <p:cSldViewPr snapToGrid="0">
      <p:cViewPr>
        <p:scale>
          <a:sx n="90" d="100"/>
          <a:sy n="90" d="100"/>
        </p:scale>
        <p:origin x="6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1.fntdata"/><Relationship Id="rId10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7.fntdata"/><Relationship Id="rId98" Type="http://schemas.openxmlformats.org/officeDocument/2006/relationships/font" Target="fonts/font12.fntdata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DD8C0216-DBC5-4D64-A2E1-FD38A8695E23}"/>
    <pc:docChg chg="modSld">
      <pc:chgData name="Sahaaya Arul Mary S A" userId="5e9c2bd099f20264" providerId="LiveId" clId="{DD8C0216-DBC5-4D64-A2E1-FD38A8695E23}" dt="2023-05-05T07:27:45.233" v="1" actId="1036"/>
      <pc:docMkLst>
        <pc:docMk/>
      </pc:docMkLst>
      <pc:sldChg chg="modSp mod">
        <pc:chgData name="Sahaaya Arul Mary S A" userId="5e9c2bd099f20264" providerId="LiveId" clId="{DD8C0216-DBC5-4D64-A2E1-FD38A8695E23}" dt="2023-05-05T07:27:45.233" v="1" actId="1036"/>
        <pc:sldMkLst>
          <pc:docMk/>
          <pc:sldMk cId="1098383143" sldId="425"/>
        </pc:sldMkLst>
        <pc:spChg chg="mod">
          <ac:chgData name="Sahaaya Arul Mary S A" userId="5e9c2bd099f20264" providerId="LiveId" clId="{DD8C0216-DBC5-4D64-A2E1-FD38A8695E23}" dt="2023-05-05T07:27:45.233" v="1" actId="1036"/>
          <ac:spMkLst>
            <pc:docMk/>
            <pc:sldMk cId="1098383143" sldId="425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7249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60963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096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517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/>
          <p:nvPr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02A992-B18A-47D4-8497-02E7586DF58D}"/>
              </a:ext>
            </a:extLst>
          </p:cNvPr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6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/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D61FEC-075B-4EDD-97CA-36E6F72630F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23" y="6087939"/>
            <a:ext cx="2554142" cy="58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94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4616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57955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58071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666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/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/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 idx="17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1196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12448" y="-5287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dixita.kagathara@darshan.ac.in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r>
              <a:rPr lang="en-US"/>
              <a:t>+91 - 97277 47317 (CE Department)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/>
            </a:pPr>
            <a:r>
              <a:rPr lang="en-US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Prof. Dixita B Kagathara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Compiler Design (CD)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Hexagon 3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E47A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77898943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 Kagathara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#2170701 (CD)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Lexical Analyzer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13" r:id="rId9"/>
    <p:sldLayoutId id="2147483716" r:id="rId10"/>
    <p:sldLayoutId id="2147483718" r:id="rId11"/>
    <p:sldLayoutId id="2147483670" r:id="rId12"/>
    <p:sldLayoutId id="2147483687" r:id="rId13"/>
    <p:sldLayoutId id="2147483688" r:id="rId14"/>
    <p:sldLayoutId id="2147483672" r:id="rId15"/>
    <p:sldLayoutId id="2147483689" r:id="rId16"/>
    <p:sldLayoutId id="2147483690" r:id="rId17"/>
    <p:sldLayoutId id="2147483673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10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10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2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4.png"/><Relationship Id="rId5" Type="http://schemas.openxmlformats.org/officeDocument/2006/relationships/image" Target="../media/image1430.png"/><Relationship Id="rId4" Type="http://schemas.openxmlformats.org/officeDocument/2006/relationships/image" Target="../media/image142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26" Type="http://schemas.openxmlformats.org/officeDocument/2006/relationships/image" Target="../media/image149.png"/><Relationship Id="rId3" Type="http://schemas.openxmlformats.org/officeDocument/2006/relationships/image" Target="../media/image146.png"/><Relationship Id="rId21" Type="http://schemas.openxmlformats.org/officeDocument/2006/relationships/image" Target="../media/image154.png"/><Relationship Id="rId7" Type="http://schemas.openxmlformats.org/officeDocument/2006/relationships/image" Target="../media/image160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5" Type="http://schemas.openxmlformats.org/officeDocument/2006/relationships/image" Target="../media/image174.png"/><Relationship Id="rId2" Type="http://schemas.openxmlformats.org/officeDocument/2006/relationships/image" Target="../media/image145.png"/><Relationship Id="rId16" Type="http://schemas.openxmlformats.org/officeDocument/2006/relationships/image" Target="../media/image168.png"/><Relationship Id="rId20" Type="http://schemas.openxmlformats.org/officeDocument/2006/relationships/image" Target="../media/image153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9.png"/><Relationship Id="rId11" Type="http://schemas.openxmlformats.org/officeDocument/2006/relationships/image" Target="../media/image163.png"/><Relationship Id="rId24" Type="http://schemas.openxmlformats.org/officeDocument/2006/relationships/image" Target="../media/image173.png"/><Relationship Id="rId5" Type="http://schemas.openxmlformats.org/officeDocument/2006/relationships/image" Target="../media/image148.png"/><Relationship Id="rId15" Type="http://schemas.openxmlformats.org/officeDocument/2006/relationships/image" Target="../media/image167.png"/><Relationship Id="rId23" Type="http://schemas.openxmlformats.org/officeDocument/2006/relationships/image" Target="../media/image172.png"/><Relationship Id="rId28" Type="http://schemas.openxmlformats.org/officeDocument/2006/relationships/image" Target="../media/image155.png"/><Relationship Id="rId10" Type="http://schemas.openxmlformats.org/officeDocument/2006/relationships/image" Target="../media/image151.png"/><Relationship Id="rId19" Type="http://schemas.openxmlformats.org/officeDocument/2006/relationships/image" Target="../media/image152.png"/><Relationship Id="rId31" Type="http://schemas.openxmlformats.org/officeDocument/2006/relationships/image" Target="../media/image158.png"/><Relationship Id="rId4" Type="http://schemas.openxmlformats.org/officeDocument/2006/relationships/image" Target="../media/image147.png"/><Relationship Id="rId9" Type="http://schemas.openxmlformats.org/officeDocument/2006/relationships/image" Target="../media/image162.png"/><Relationship Id="rId14" Type="http://schemas.openxmlformats.org/officeDocument/2006/relationships/image" Target="../media/image166.png"/><Relationship Id="rId22" Type="http://schemas.openxmlformats.org/officeDocument/2006/relationships/image" Target="../media/image171.png"/><Relationship Id="rId27" Type="http://schemas.openxmlformats.org/officeDocument/2006/relationships/image" Target="../media/image150.png"/><Relationship Id="rId30" Type="http://schemas.openxmlformats.org/officeDocument/2006/relationships/image" Target="../media/image157.png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14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170.png"/><Relationship Id="rId41" Type="http://schemas.openxmlformats.org/officeDocument/2006/relationships/image" Target="../media/image2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2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15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/Relationships>
</file>

<file path=ppt/slides/_rels/slide7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20.png"/><Relationship Id="rId7" Type="http://schemas.openxmlformats.org/officeDocument/2006/relationships/image" Target="../media/image180.png"/><Relationship Id="rId2" Type="http://schemas.openxmlformats.org/officeDocument/2006/relationships/image" Target="../media/image216.png"/><Relationship Id="rId16" Type="http://schemas.openxmlformats.org/officeDocument/2006/relationships/image" Target="../media/image189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8.png"/><Relationship Id="rId45" Type="http://schemas.openxmlformats.org/officeDocument/2006/relationships/image" Target="../media/image223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4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21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21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24.png"/><Relationship Id="rId20" Type="http://schemas.openxmlformats.org/officeDocument/2006/relationships/image" Target="../media/image193.png"/><Relationship Id="rId41" Type="http://schemas.openxmlformats.org/officeDocument/2006/relationships/image" Target="../media/image219.png"/></Relationships>
</file>

<file path=ppt/slides/_rels/slide7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26.png"/><Relationship Id="rId7" Type="http://schemas.openxmlformats.org/officeDocument/2006/relationships/image" Target="../media/image180.png"/><Relationship Id="rId2" Type="http://schemas.openxmlformats.org/officeDocument/2006/relationships/image" Target="../media/image216.png"/><Relationship Id="rId16" Type="http://schemas.openxmlformats.org/officeDocument/2006/relationships/image" Target="../media/image189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8.png"/><Relationship Id="rId45" Type="http://schemas.openxmlformats.org/officeDocument/2006/relationships/image" Target="../media/image223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4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21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27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28.png"/><Relationship Id="rId20" Type="http://schemas.openxmlformats.org/officeDocument/2006/relationships/image" Target="../media/image193.png"/><Relationship Id="rId41" Type="http://schemas.openxmlformats.org/officeDocument/2006/relationships/image" Target="../media/image225.png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30.png"/><Relationship Id="rId7" Type="http://schemas.openxmlformats.org/officeDocument/2006/relationships/image" Target="../media/image180.png"/><Relationship Id="rId2" Type="http://schemas.openxmlformats.org/officeDocument/2006/relationships/image" Target="../media/image216.png"/><Relationship Id="rId16" Type="http://schemas.openxmlformats.org/officeDocument/2006/relationships/image" Target="../media/image189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18.png"/><Relationship Id="rId45" Type="http://schemas.openxmlformats.org/officeDocument/2006/relationships/image" Target="../media/image223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4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21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31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32.png"/><Relationship Id="rId20" Type="http://schemas.openxmlformats.org/officeDocument/2006/relationships/image" Target="../media/image193.png"/><Relationship Id="rId41" Type="http://schemas.openxmlformats.org/officeDocument/2006/relationships/image" Target="../media/image229.png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35.png"/><Relationship Id="rId7" Type="http://schemas.openxmlformats.org/officeDocument/2006/relationships/image" Target="../media/image180.png"/><Relationship Id="rId2" Type="http://schemas.openxmlformats.org/officeDocument/2006/relationships/image" Target="../media/image216.png"/><Relationship Id="rId16" Type="http://schemas.openxmlformats.org/officeDocument/2006/relationships/image" Target="../media/image189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33.png"/><Relationship Id="rId45" Type="http://schemas.openxmlformats.org/officeDocument/2006/relationships/image" Target="../media/image223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4" Type="http://schemas.openxmlformats.org/officeDocument/2006/relationships/image" Target="../media/image22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21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36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Relationship Id="rId46" Type="http://schemas.openxmlformats.org/officeDocument/2006/relationships/image" Target="../media/image237.png"/><Relationship Id="rId20" Type="http://schemas.openxmlformats.org/officeDocument/2006/relationships/image" Target="../media/image193.png"/><Relationship Id="rId41" Type="http://schemas.openxmlformats.org/officeDocument/2006/relationships/image" Target="../media/image234.png"/></Relationships>
</file>

<file path=ppt/slides/_rels/slide7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9" Type="http://schemas.openxmlformats.org/officeDocument/2006/relationships/image" Target="../media/image211.png"/><Relationship Id="rId21" Type="http://schemas.openxmlformats.org/officeDocument/2006/relationships/image" Target="../media/image194.png"/><Relationship Id="rId34" Type="http://schemas.openxmlformats.org/officeDocument/2006/relationships/image" Target="../media/image206.png"/><Relationship Id="rId42" Type="http://schemas.openxmlformats.org/officeDocument/2006/relationships/image" Target="../media/image240.png"/><Relationship Id="rId7" Type="http://schemas.openxmlformats.org/officeDocument/2006/relationships/image" Target="../media/image180.png"/><Relationship Id="rId2" Type="http://schemas.openxmlformats.org/officeDocument/2006/relationships/image" Target="../media/image216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170.png"/><Relationship Id="rId41" Type="http://schemas.openxmlformats.org/officeDocument/2006/relationships/image" Target="../media/image2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37" Type="http://schemas.openxmlformats.org/officeDocument/2006/relationships/image" Target="../media/image209.png"/><Relationship Id="rId40" Type="http://schemas.openxmlformats.org/officeDocument/2006/relationships/image" Target="../media/image238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36" Type="http://schemas.openxmlformats.org/officeDocument/2006/relationships/image" Target="../media/image20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21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2.png"/><Relationship Id="rId35" Type="http://schemas.openxmlformats.org/officeDocument/2006/relationships/image" Target="../media/image207.png"/><Relationship Id="rId43" Type="http://schemas.openxmlformats.org/officeDocument/2006/relationships/image" Target="../media/image241.png"/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205.png"/><Relationship Id="rId38" Type="http://schemas.openxmlformats.org/officeDocument/2006/relationships/image" Target="../media/image21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7035800" cy="25781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Lexical Analyzer</a:t>
            </a:r>
          </a:p>
        </p:txBody>
      </p:sp>
    </p:spTree>
    <p:extLst>
      <p:ext uri="{BB962C8B-B14F-4D97-AF65-F5344CB8AC3E}">
        <p14:creationId xmlns:p14="http://schemas.microsoft.com/office/powerpoint/2010/main" val="4432033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endCxn id="6" idx="0"/>
          </p:cNvCxnSpPr>
          <p:nvPr/>
        </p:nvCxnSpPr>
        <p:spPr>
          <a:xfrm flipH="1"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ym typeface="Wingdings 2" panose="05020102010507070707" pitchFamily="18" charset="2"/>
              </a:rPr>
              <a:t>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/>
          <p:nvPr/>
        </p:nvCxnSpPr>
        <p:spPr>
          <a:xfrm flipH="1"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79766" y="195312"/>
            <a:ext cx="8733179" cy="8504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US" sz="3600" b="1" dirty="0">
                <a:solidFill>
                  <a:srgbClr val="0E47A1"/>
                </a:solidFill>
              </a:rPr>
              <a:t>Topics to be covered 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Interaction of scanner &amp; parser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Token, Pattern &amp; Lexemes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Input buffering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Specification of tokens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Regular expression &amp; Regular definition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Transition diagram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Hard coding &amp; automatic generation lexical analyzers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Finite automata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Regular expression to NFA using Thompson's rule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Conversion from NFA to DFA using subset construction method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DFA optimization</a:t>
            </a:r>
          </a:p>
          <a:p>
            <a:pPr marL="914400" lvl="1" indent="-457200">
              <a:lnSpc>
                <a:spcPts val="3700"/>
              </a:lnSpc>
              <a:buFont typeface="+mj-lt"/>
              <a:buAutoNum type="arabicPeriod"/>
            </a:pPr>
            <a:r>
              <a:rPr lang="en-US" sz="2400" dirty="0"/>
              <a:t>Conversion from regular expression to DFA</a:t>
            </a:r>
          </a:p>
          <a:p>
            <a:pPr marL="742950" lvl="1" indent="-285750">
              <a:lnSpc>
                <a:spcPts val="3500"/>
              </a:lnSpc>
              <a:buFont typeface="Arial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ts val="3500"/>
              </a:lnSpc>
              <a:buFont typeface="Arial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ts val="3500"/>
              </a:lnSpc>
              <a:buFont typeface="Arial" pitchFamily="34" charset="0"/>
              <a:buChar char="•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ts val="3500"/>
              </a:lnSpc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ts val="3500"/>
              </a:lnSpc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905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2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3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4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505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6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507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8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9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1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6511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7012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1. Interaction with Scanner &amp; Parser</a:t>
            </a:r>
          </a:p>
        </p:txBody>
      </p:sp>
    </p:spTree>
    <p:extLst>
      <p:ext uri="{BB962C8B-B14F-4D97-AF65-F5344CB8AC3E}">
        <p14:creationId xmlns:p14="http://schemas.microsoft.com/office/powerpoint/2010/main" val="39743630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Interaction of scanner &amp;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941763"/>
            <a:ext cx="11928475" cy="17684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4000"/>
              </a:lnSpc>
            </a:pPr>
            <a:r>
              <a:rPr lang="en-US"/>
              <a:t>Upon receiving a </a:t>
            </a:r>
            <a:r>
              <a:rPr lang="en-US" b="1">
                <a:solidFill>
                  <a:srgbClr val="C00000"/>
                </a:solidFill>
              </a:rPr>
              <a:t>“Get next token” </a:t>
            </a:r>
            <a:r>
              <a:rPr lang="en-US"/>
              <a:t>command from parser, the lexical analyzer reads the input character until it can identify the next token.</a:t>
            </a:r>
          </a:p>
          <a:p>
            <a:pPr>
              <a:lnSpc>
                <a:spcPct val="114000"/>
              </a:lnSpc>
            </a:pPr>
            <a:r>
              <a:rPr lang="en-US"/>
              <a:t>Lexical analyzer also stripping out comments and white space in the form of blanks, tabs, and newline characters from the source program.</a:t>
            </a:r>
          </a:p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46091" y="1300003"/>
            <a:ext cx="1537837" cy="686117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Lexical Analyzer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74700" y="2899945"/>
            <a:ext cx="1843011" cy="537500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Symbol Table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581447" y="1303541"/>
            <a:ext cx="1070317" cy="686116"/>
          </a:xfrm>
          <a:prstGeom prst="rect">
            <a:avLst/>
          </a:prstGeom>
          <a:solidFill>
            <a:srgbClr val="0E47A1"/>
          </a:solidFill>
          <a:ln w="9525">
            <a:solidFill>
              <a:schemeClr val="tx1"/>
            </a:solidFill>
            <a:miter lim="800000"/>
          </a:ln>
        </p:spPr>
        <p:txBody>
          <a:bodyPr rot="0" vert="horz" wrap="square" lIns="91440" tIns="182880" rIns="91440" bIns="9144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Parser</a:t>
            </a:r>
          </a:p>
        </p:txBody>
      </p:sp>
      <p:cxnSp>
        <p:nvCxnSpPr>
          <p:cNvPr id="7" name="AutoShape 7"/>
          <p:cNvCxnSpPr>
            <a:cxnSpLocks noChangeShapeType="1"/>
          </p:cNvCxnSpPr>
          <p:nvPr/>
        </p:nvCxnSpPr>
        <p:spPr bwMode="auto">
          <a:xfrm>
            <a:off x="5672480" y="1765996"/>
            <a:ext cx="91440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1"/>
          <p:cNvCxnSpPr>
            <a:cxnSpLocks noChangeShapeType="1"/>
            <a:stCxn id="4" idx="2"/>
          </p:cNvCxnSpPr>
          <p:nvPr/>
        </p:nvCxnSpPr>
        <p:spPr bwMode="auto">
          <a:xfrm>
            <a:off x="4915010" y="1986120"/>
            <a:ext cx="477355" cy="91426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2"/>
          <p:cNvCxnSpPr>
            <a:cxnSpLocks noChangeShapeType="1"/>
            <a:stCxn id="6" idx="2"/>
          </p:cNvCxnSpPr>
          <p:nvPr/>
        </p:nvCxnSpPr>
        <p:spPr bwMode="auto">
          <a:xfrm flipH="1">
            <a:off x="6589559" y="1989657"/>
            <a:ext cx="527047" cy="910723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729180" y="985360"/>
            <a:ext cx="813570" cy="35382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Token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416685" y="2010583"/>
            <a:ext cx="1497126" cy="400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>
                <a:solidFill>
                  <a:srgbClr val="C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Get next token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99480" y="1285021"/>
            <a:ext cx="1127439" cy="775824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Source Program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516101" y="1646601"/>
            <a:ext cx="633521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650096" y="1646599"/>
            <a:ext cx="633521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AutoShape 7"/>
          <p:cNvCxnSpPr>
            <a:cxnSpLocks noChangeShapeType="1"/>
          </p:cNvCxnSpPr>
          <p:nvPr/>
        </p:nvCxnSpPr>
        <p:spPr bwMode="auto">
          <a:xfrm rot="10800000">
            <a:off x="5682260" y="1473518"/>
            <a:ext cx="91440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/>
          <p:cNvCxnSpPr/>
          <p:nvPr/>
        </p:nvCxnSpPr>
        <p:spPr>
          <a:xfrm>
            <a:off x="187919" y="3751437"/>
            <a:ext cx="11887200" cy="0"/>
          </a:xfrm>
          <a:prstGeom prst="line">
            <a:avLst/>
          </a:prstGeom>
          <a:ln w="127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486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Why to separate lexical analysis &amp; parsing?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Simplicity in </a:t>
            </a:r>
            <a:r>
              <a:rPr lang="en-US">
                <a:solidFill>
                  <a:srgbClr val="C00000"/>
                </a:solidFill>
              </a:rPr>
              <a:t>design.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Improves compiler </a:t>
            </a:r>
            <a:r>
              <a:rPr lang="en-US" altLang="en-US">
                <a:solidFill>
                  <a:srgbClr val="C00000"/>
                </a:solidFill>
              </a:rPr>
              <a:t>efficiency.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altLang="en-US"/>
              <a:t>Enhance compiler </a:t>
            </a:r>
            <a:r>
              <a:rPr lang="en-US" altLang="en-US">
                <a:solidFill>
                  <a:srgbClr val="C00000"/>
                </a:solidFill>
              </a:rPr>
              <a:t>portability.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93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2. Token, Pattern &amp; Lexemes</a:t>
            </a:r>
          </a:p>
        </p:txBody>
      </p:sp>
    </p:spTree>
    <p:extLst>
      <p:ext uri="{BB962C8B-B14F-4D97-AF65-F5344CB8AC3E}">
        <p14:creationId xmlns:p14="http://schemas.microsoft.com/office/powerpoint/2010/main" val="347590572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Token, Pattern &amp; Lexemes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863600"/>
            <a:ext cx="5499100" cy="55911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4000"/>
              </a:lnSpc>
              <a:buNone/>
            </a:pPr>
            <a:endParaRPr lang="en-US" b="1">
              <a:solidFill>
                <a:srgbClr val="0E47A1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/>
              <a:t>Sequence of character having a collective meaning is known as </a:t>
            </a:r>
            <a:r>
              <a:rPr lang="en-US" b="1"/>
              <a:t>token</a:t>
            </a:r>
            <a:r>
              <a:rPr lang="en-US"/>
              <a:t>.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/>
              <a:t>Categories of Tokens:</a:t>
            </a:r>
          </a:p>
          <a:p>
            <a:pPr marL="1257300" defTabSz="571500">
              <a:lnSpc>
                <a:spcPct val="114000"/>
              </a:lnSpc>
              <a:buFont typeface="+mj-lt"/>
              <a:buAutoNum type="arabicPeriod"/>
            </a:pPr>
            <a:r>
              <a:rPr lang="en-US"/>
              <a:t>Identifier</a:t>
            </a:r>
          </a:p>
          <a:p>
            <a:pPr marL="1257300" defTabSz="571500">
              <a:lnSpc>
                <a:spcPct val="114000"/>
              </a:lnSpc>
              <a:buFont typeface="+mj-lt"/>
              <a:buAutoNum type="arabicPeriod"/>
            </a:pPr>
            <a:r>
              <a:rPr lang="en-US"/>
              <a:t>Keyword</a:t>
            </a:r>
          </a:p>
          <a:p>
            <a:pPr marL="1257300" defTabSz="571500">
              <a:lnSpc>
                <a:spcPct val="114000"/>
              </a:lnSpc>
              <a:buFont typeface="+mj-lt"/>
              <a:buAutoNum type="arabicPeriod"/>
            </a:pPr>
            <a:r>
              <a:rPr lang="en-US"/>
              <a:t>Operator</a:t>
            </a:r>
          </a:p>
          <a:p>
            <a:pPr marL="1257300" defTabSz="571500">
              <a:lnSpc>
                <a:spcPct val="114000"/>
              </a:lnSpc>
              <a:buFont typeface="+mj-lt"/>
              <a:buAutoNum type="arabicPeriod"/>
            </a:pPr>
            <a:r>
              <a:rPr lang="en-US"/>
              <a:t>Special symbol</a:t>
            </a:r>
          </a:p>
          <a:p>
            <a:pPr marL="1257300" defTabSz="571500">
              <a:lnSpc>
                <a:spcPct val="114000"/>
              </a:lnSpc>
              <a:buFont typeface="+mj-lt"/>
              <a:buAutoNum type="arabicPeriod"/>
            </a:pPr>
            <a:r>
              <a:rPr lang="en-US"/>
              <a:t>Constant</a:t>
            </a:r>
          </a:p>
          <a:p>
            <a:endParaRPr lang="en-US"/>
          </a:p>
        </p:txBody>
      </p:sp>
      <p:sp>
        <p:nvSpPr>
          <p:cNvPr id="6" name="Content Placeholder 4"/>
          <p:cNvSpPr txBox="1"/>
          <p:nvPr/>
        </p:nvSpPr>
        <p:spPr>
          <a:xfrm>
            <a:off x="6315412" y="863444"/>
            <a:ext cx="549959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14000"/>
              </a:lnSpc>
              <a:buNone/>
            </a:pPr>
            <a:endParaRPr lang="en-US" sz="2400"/>
          </a:p>
          <a:p>
            <a:pPr marL="0" lvl="1" indent="0">
              <a:lnSpc>
                <a:spcPct val="114000"/>
              </a:lnSpc>
              <a:buNone/>
            </a:pPr>
            <a:r>
              <a:rPr lang="en-US" sz="2400"/>
              <a:t>The </a:t>
            </a:r>
            <a:r>
              <a:rPr lang="en-US" sz="2400">
                <a:solidFill>
                  <a:srgbClr val="C00000"/>
                </a:solidFill>
              </a:rPr>
              <a:t>set of rules </a:t>
            </a:r>
            <a:r>
              <a:rPr lang="en-US" sz="2400"/>
              <a:t>called </a:t>
            </a:r>
            <a:r>
              <a:rPr lang="en-US" sz="2400" b="1"/>
              <a:t>pattern</a:t>
            </a:r>
            <a:r>
              <a:rPr lang="en-US" sz="2400" i="1"/>
              <a:t> </a:t>
            </a:r>
            <a:r>
              <a:rPr lang="en-US" sz="2400"/>
              <a:t>associated with a token.</a:t>
            </a:r>
            <a:r>
              <a:rPr lang="en-US" altLang="zh-TW" sz="2400"/>
              <a:t> </a:t>
            </a:r>
          </a:p>
          <a:p>
            <a:pPr marL="0" lvl="1" indent="0">
              <a:lnSpc>
                <a:spcPct val="114000"/>
              </a:lnSpc>
              <a:buNone/>
            </a:pPr>
            <a:r>
              <a:rPr lang="en-US" altLang="zh-TW" sz="2400"/>
              <a:t>Example: </a:t>
            </a:r>
            <a:r>
              <a:rPr lang="en-US" altLang="zh-TW" sz="2400">
                <a:latin typeface="Times New Roman" panose="02020603050405020304" pitchFamily="18" charset="0"/>
              </a:rPr>
              <a:t>“</a:t>
            </a:r>
            <a:r>
              <a:rPr lang="en-US" altLang="zh-TW" sz="2400" i="1">
                <a:latin typeface="Times New Roman" panose="02020603050405020304" pitchFamily="18" charset="0"/>
              </a:rPr>
              <a:t>non-empty sequence of digits</a:t>
            </a:r>
            <a:r>
              <a:rPr lang="en-US" altLang="zh-TW" sz="2400">
                <a:latin typeface="Times New Roman" panose="02020603050405020304" pitchFamily="18" charset="0"/>
              </a:rPr>
              <a:t>”,  “</a:t>
            </a:r>
            <a:r>
              <a:rPr lang="en-US" altLang="zh-TW" sz="2400" i="1">
                <a:latin typeface="Times New Roman" panose="02020603050405020304" pitchFamily="18" charset="0"/>
              </a:rPr>
              <a:t>letter followed by letters and digits”</a:t>
            </a:r>
            <a:r>
              <a:rPr lang="en-US" altLang="zh-TW" sz="2400"/>
              <a:t> </a:t>
            </a:r>
          </a:p>
          <a:p>
            <a:pPr marL="0" indent="0">
              <a:lnSpc>
                <a:spcPct val="114000"/>
              </a:lnSpc>
              <a:buNone/>
            </a:pPr>
            <a:endParaRPr lang="en-US"/>
          </a:p>
          <a:p>
            <a:pPr marL="0" indent="0">
              <a:lnSpc>
                <a:spcPct val="114000"/>
              </a:lnSpc>
              <a:buNone/>
            </a:pPr>
            <a:endParaRPr lang="en-US"/>
          </a:p>
          <a:p>
            <a:pPr marL="0" indent="0">
              <a:lnSpc>
                <a:spcPct val="114000"/>
              </a:lnSpc>
              <a:buNone/>
            </a:pPr>
            <a:r>
              <a:rPr lang="en-US"/>
              <a:t>The </a:t>
            </a:r>
            <a:r>
              <a:rPr lang="en-US">
                <a:solidFill>
                  <a:srgbClr val="C00000"/>
                </a:solidFill>
              </a:rPr>
              <a:t>sequence of character </a:t>
            </a:r>
            <a:r>
              <a:rPr lang="en-US"/>
              <a:t>in a source program </a:t>
            </a:r>
            <a:r>
              <a:rPr lang="en-US">
                <a:solidFill>
                  <a:srgbClr val="C00000"/>
                </a:solidFill>
              </a:rPr>
              <a:t>matched with a pattern </a:t>
            </a:r>
            <a:r>
              <a:rPr lang="en-US"/>
              <a:t>for a </a:t>
            </a:r>
            <a:r>
              <a:rPr lang="en-US">
                <a:solidFill>
                  <a:srgbClr val="C00000"/>
                </a:solidFill>
              </a:rPr>
              <a:t>token</a:t>
            </a:r>
            <a:r>
              <a:rPr lang="en-US"/>
              <a:t> is called lexeme.</a:t>
            </a:r>
          </a:p>
          <a:p>
            <a:pPr marL="0" lvl="1" indent="0">
              <a:lnSpc>
                <a:spcPct val="114000"/>
              </a:lnSpc>
              <a:buNone/>
            </a:pPr>
            <a:r>
              <a:rPr lang="en-US" altLang="zh-TW" sz="2400"/>
              <a:t>Example:  Rate,  DIET, </a:t>
            </a:r>
            <a:r>
              <a:rPr lang="en-US" sz="2400"/>
              <a:t>count, Flag</a:t>
            </a:r>
            <a:endParaRPr lang="en-US" altLang="zh-TW" sz="2400"/>
          </a:p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07930" y="1371616"/>
            <a:ext cx="557784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15951" y="908593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Token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60378" y="1312796"/>
            <a:ext cx="576072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52357" y="849773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Pattern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260378" y="4122255"/>
            <a:ext cx="576072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68399" y="3659232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Lexemes</a:t>
            </a:r>
          </a:p>
        </p:txBody>
      </p:sp>
      <p:sp>
        <p:nvSpPr>
          <p:cNvPr id="2" name="Rectangle 1"/>
          <p:cNvSpPr/>
          <p:nvPr/>
        </p:nvSpPr>
        <p:spPr>
          <a:xfrm>
            <a:off x="7587916" y="5662863"/>
            <a:ext cx="2871537" cy="385011"/>
          </a:xfrm>
          <a:prstGeom prst="rect">
            <a:avLst/>
          </a:prstGeom>
          <a:solidFill>
            <a:srgbClr val="0E47A1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urved Connector 12"/>
          <p:cNvCxnSpPr/>
          <p:nvPr/>
        </p:nvCxnSpPr>
        <p:spPr>
          <a:xfrm rot="5400000" flipH="1" flipV="1">
            <a:off x="8849034" y="5196488"/>
            <a:ext cx="583408" cy="349342"/>
          </a:xfrm>
          <a:prstGeom prst="curvedConnector3">
            <a:avLst>
              <a:gd name="adj1" fmla="val 27959"/>
            </a:avLst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 rot="5400000" flipH="1" flipV="1">
            <a:off x="8097541" y="3744553"/>
            <a:ext cx="1645306" cy="441091"/>
          </a:xfrm>
          <a:prstGeom prst="curvedConnector3">
            <a:avLst>
              <a:gd name="adj1" fmla="val 50000"/>
            </a:avLst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0800000" flipV="1">
            <a:off x="2812658" y="2871989"/>
            <a:ext cx="3502754" cy="270456"/>
          </a:xfrm>
          <a:prstGeom prst="curvedConnector3">
            <a:avLst>
              <a:gd name="adj1" fmla="val 41176"/>
            </a:avLst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715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Example: Token, Pattern &amp; Lexemes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Example: total = sum + 45</a:t>
            </a:r>
          </a:p>
          <a:p>
            <a:pPr marL="0" indent="0">
              <a:buNone/>
            </a:pPr>
            <a:r>
              <a:rPr lang="en-US" b="1">
                <a:solidFill>
                  <a:srgbClr val="0E47A1"/>
                </a:solidFill>
              </a:rPr>
              <a:t>Tokens: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z="2600"/>
              <a:t>total 		</a:t>
            </a:r>
          </a:p>
          <a:p>
            <a:pPr marL="0" indent="0">
              <a:buNone/>
            </a:pPr>
            <a:r>
              <a:rPr lang="en-US" sz="2600"/>
              <a:t>	= 	</a:t>
            </a:r>
          </a:p>
          <a:p>
            <a:pPr marL="0" indent="0">
              <a:buNone/>
            </a:pPr>
            <a:r>
              <a:rPr lang="en-US" sz="2600"/>
              <a:t>	sum 	</a:t>
            </a:r>
          </a:p>
          <a:p>
            <a:pPr marL="0" indent="0">
              <a:buNone/>
            </a:pPr>
            <a:r>
              <a:rPr lang="en-US" sz="2600"/>
              <a:t>	+ 	</a:t>
            </a:r>
          </a:p>
          <a:p>
            <a:pPr marL="0" indent="0">
              <a:buNone/>
            </a:pPr>
            <a:r>
              <a:rPr lang="en-US" sz="2600"/>
              <a:t>	45</a:t>
            </a:r>
          </a:p>
          <a:p>
            <a:pPr marL="0" indent="0"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0E47A1"/>
                </a:solidFill>
              </a:rPr>
              <a:t>Lexemes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/>
              <a:t>Lexemes of identifier: total, sum</a:t>
            </a:r>
          </a:p>
          <a:p>
            <a:pPr marL="0" indent="0">
              <a:buNone/>
            </a:pPr>
            <a:r>
              <a:rPr lang="en-US"/>
              <a:t>	Lexemes of operator: =, +</a:t>
            </a:r>
          </a:p>
          <a:p>
            <a:pPr marL="0" indent="0">
              <a:buNone/>
            </a:pPr>
            <a:r>
              <a:rPr lang="en-US"/>
              <a:t>	Lexemes of constant: 45</a:t>
            </a: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96771" y="1833354"/>
            <a:ext cx="1524000" cy="304800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Identifier1</a:t>
            </a:r>
          </a:p>
        </p:txBody>
      </p:sp>
      <p:cxnSp>
        <p:nvCxnSpPr>
          <p:cNvPr id="5" name="Straight Arrow Connector 4"/>
          <p:cNvCxnSpPr>
            <a:stCxn id="4" idx="1"/>
          </p:cNvCxnSpPr>
          <p:nvPr/>
        </p:nvCxnSpPr>
        <p:spPr>
          <a:xfrm flipH="1">
            <a:off x="1758571" y="1985754"/>
            <a:ext cx="838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592003" y="2285798"/>
            <a:ext cx="1524000" cy="304800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Operator1</a:t>
            </a:r>
          </a:p>
        </p:txBody>
      </p:sp>
      <p:cxnSp>
        <p:nvCxnSpPr>
          <p:cNvPr id="7" name="Straight Arrow Connector 6"/>
          <p:cNvCxnSpPr>
            <a:stCxn id="6" idx="1"/>
          </p:cNvCxnSpPr>
          <p:nvPr/>
        </p:nvCxnSpPr>
        <p:spPr>
          <a:xfrm flipH="1">
            <a:off x="1753803" y="2438198"/>
            <a:ext cx="838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572947" y="2809682"/>
            <a:ext cx="1524000" cy="304800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Identifier2</a:t>
            </a:r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1734747" y="2962082"/>
            <a:ext cx="838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87235" y="3295457"/>
            <a:ext cx="1524000" cy="304800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Operator2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749035" y="3447857"/>
            <a:ext cx="838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72951" y="3738374"/>
            <a:ext cx="1524000" cy="304800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Constant1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734751" y="3890774"/>
            <a:ext cx="838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/>
          <p:cNvSpPr/>
          <p:nvPr/>
        </p:nvSpPr>
        <p:spPr>
          <a:xfrm>
            <a:off x="4112119" y="1515356"/>
            <a:ext cx="666732" cy="2743200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858414" y="2625014"/>
            <a:ext cx="1416854" cy="523883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/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13086422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3. Input buffering</a:t>
            </a:r>
          </a:p>
        </p:txBody>
      </p:sp>
    </p:spTree>
    <p:extLst>
      <p:ext uri="{BB962C8B-B14F-4D97-AF65-F5344CB8AC3E}">
        <p14:creationId xmlns:p14="http://schemas.microsoft.com/office/powerpoint/2010/main" val="4904168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There are mainly two techniques for input buffering: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Buffer pairs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Sentinels</a:t>
            </a:r>
          </a:p>
          <a:p>
            <a:pPr marL="457200" indent="0">
              <a:buNone/>
            </a:pPr>
            <a:endParaRPr lang="en-US">
              <a:solidFill>
                <a:srgbClr val="0E47A1"/>
              </a:solidFill>
            </a:endParaRPr>
          </a:p>
          <a:p>
            <a:pPr marL="457200" indent="0">
              <a:buNone/>
            </a:pPr>
            <a:endParaRPr lang="en-US">
              <a:solidFill>
                <a:srgbClr val="0E47A1"/>
              </a:solidFill>
            </a:endParaRPr>
          </a:p>
          <a:p>
            <a:r>
              <a:rPr lang="en-US"/>
              <a:t>The lexical analysis scans the input string from left to right one character at a time.</a:t>
            </a:r>
          </a:p>
          <a:p>
            <a:r>
              <a:rPr lang="en-US"/>
              <a:t>Buffer divided into two N-character halves, where N is the number of character on one disk block.</a:t>
            </a:r>
          </a:p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40963" y="4830996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 :  : E :  : = :  : Mi : * :  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903163" y="4831957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:  :  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39201" y="2945250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1180" y="2485390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Buffer Pair</a:t>
            </a:r>
          </a:p>
        </p:txBody>
      </p:sp>
    </p:spTree>
    <p:extLst>
      <p:ext uri="{BB962C8B-B14F-4D97-AF65-F5344CB8AC3E}">
        <p14:creationId xmlns:p14="http://schemas.microsoft.com/office/powerpoint/2010/main" val="2108212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Buffer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022600"/>
            <a:ext cx="11928475" cy="34321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Pointer </a:t>
            </a:r>
            <a:r>
              <a:rPr lang="en-US" i="1">
                <a:solidFill>
                  <a:srgbClr val="0E47A1"/>
                </a:solidFill>
              </a:rPr>
              <a:t>Lexeme Begin</a:t>
            </a:r>
            <a:r>
              <a:rPr lang="en-US"/>
              <a:t>, marks the beginning of the current lexeme.</a:t>
            </a:r>
          </a:p>
          <a:p>
            <a:r>
              <a:rPr lang="en-US"/>
              <a:t>Pointer</a:t>
            </a:r>
            <a:r>
              <a:rPr lang="en-US" i="1"/>
              <a:t> </a:t>
            </a:r>
            <a:r>
              <a:rPr lang="en-US" i="1">
                <a:solidFill>
                  <a:srgbClr val="0E47A1"/>
                </a:solidFill>
              </a:rPr>
              <a:t>Forward</a:t>
            </a:r>
            <a:r>
              <a:rPr lang="en-US" i="1"/>
              <a:t>, </a:t>
            </a:r>
            <a:r>
              <a:rPr lang="en-US"/>
              <a:t>scans ahead until a pattern match is found.</a:t>
            </a:r>
          </a:p>
          <a:p>
            <a:r>
              <a:rPr lang="en-US"/>
              <a:t>Once the next lexeme is determined, </a:t>
            </a:r>
            <a:r>
              <a:rPr lang="en-US" i="1"/>
              <a:t>forward</a:t>
            </a:r>
            <a:r>
              <a:rPr lang="en-US"/>
              <a:t> is set to character at its right end.</a:t>
            </a:r>
          </a:p>
          <a:p>
            <a:r>
              <a:rPr lang="en-US"/>
              <a:t>Lexeme Begin is set to the character immediately after the lexeme just found.</a:t>
            </a:r>
          </a:p>
          <a:p>
            <a:r>
              <a:rPr lang="en-US"/>
              <a:t>If forward pointer is at the end of first buffer half then second is filled with N input character.</a:t>
            </a:r>
          </a:p>
          <a:p>
            <a:r>
              <a:rPr lang="en-US"/>
              <a:t>If forward pointer is at the end of second buffer half then first is filled with N input character.</a:t>
            </a:r>
          </a:p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684450" y="1046575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:  : E :  : = :  : </a:t>
            </a:r>
            <a:r>
              <a:rPr lang="en-US" b="1" err="1">
                <a:solidFill>
                  <a:srgbClr val="0E47A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</a:t>
            </a:r>
            <a:r>
              <a:rPr lang="en-US">
                <a:solidFill>
                  <a:srgbClr val="0E47A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* :  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46650" y="1044664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:  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65550" y="1436779"/>
            <a:ext cx="1390589" cy="640107"/>
            <a:chOff x="3325508" y="1517615"/>
            <a:chExt cx="1390589" cy="640107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325508" y="1765601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 flipV="1">
              <a:off x="3776750" y="1517615"/>
              <a:ext cx="0" cy="30288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002335" y="1429762"/>
            <a:ext cx="2359356" cy="1014223"/>
            <a:chOff x="2462293" y="1509972"/>
            <a:chExt cx="2359356" cy="1014223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462293" y="2098438"/>
              <a:ext cx="2359356" cy="4257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      </a:t>
              </a:r>
              <a:r>
                <a:rPr lang="en-US" i="1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lexeme_beginnig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3624350" y="1509972"/>
              <a:ext cx="0" cy="64712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7874883" y="1447860"/>
            <a:ext cx="1390589" cy="640107"/>
            <a:chOff x="3325508" y="1517615"/>
            <a:chExt cx="1390589" cy="640107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325508" y="1765601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3810000" y="1517615"/>
              <a:ext cx="0" cy="30288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046650" y="1043464"/>
            <a:ext cx="2362200" cy="391446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:  :</a:t>
            </a:r>
          </a:p>
        </p:txBody>
      </p:sp>
    </p:spTree>
    <p:extLst>
      <p:ext uri="{BB962C8B-B14F-4D97-AF65-F5344CB8AC3E}">
        <p14:creationId xmlns:p14="http://schemas.microsoft.com/office/powerpoint/2010/main" val="3585767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-0.00209 L 0.03711 0.00509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1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07 1.48148E-06 L 0.05703 -0.0007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Buffer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085975"/>
            <a:ext cx="11928475" cy="436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E47A1"/>
                </a:solidFill>
              </a:rPr>
              <a:t>Code to advance forward pointer</a:t>
            </a:r>
          </a:p>
          <a:p>
            <a:pPr marL="0" indent="0">
              <a:buNone/>
            </a:pPr>
            <a:r>
              <a:rPr lang="en-US" b="1" i="1"/>
              <a:t>	if</a:t>
            </a:r>
            <a:r>
              <a:rPr lang="en-US" i="1"/>
              <a:t> forward at end of first half </a:t>
            </a:r>
            <a:r>
              <a:rPr lang="en-US" b="1" i="1"/>
              <a:t>then begin</a:t>
            </a:r>
            <a:endParaRPr lang="en-US"/>
          </a:p>
          <a:p>
            <a:pPr marL="0" indent="0">
              <a:buNone/>
            </a:pPr>
            <a:r>
              <a:rPr lang="en-US" b="1" i="1"/>
              <a:t>		</a:t>
            </a:r>
            <a:r>
              <a:rPr lang="en-US" i="1"/>
              <a:t>reload second half;</a:t>
            </a:r>
            <a:endParaRPr lang="en-US"/>
          </a:p>
          <a:p>
            <a:pPr marL="0" indent="0">
              <a:buNone/>
            </a:pPr>
            <a:r>
              <a:rPr lang="en-US" b="1" i="1"/>
              <a:t>		</a:t>
            </a:r>
            <a:r>
              <a:rPr lang="en-US" i="1"/>
              <a:t>forward := forward + 1;</a:t>
            </a:r>
            <a:endParaRPr lang="en-US"/>
          </a:p>
          <a:p>
            <a:pPr marL="0" indent="0">
              <a:buNone/>
            </a:pPr>
            <a:r>
              <a:rPr lang="en-US" b="1" i="1"/>
              <a:t>	end</a:t>
            </a:r>
            <a:endParaRPr lang="en-US"/>
          </a:p>
          <a:p>
            <a:pPr marL="0" indent="0">
              <a:buNone/>
            </a:pPr>
            <a:r>
              <a:rPr lang="en-US" b="1" i="1"/>
              <a:t>	else if </a:t>
            </a:r>
            <a:r>
              <a:rPr lang="en-US" i="1"/>
              <a:t>forward</a:t>
            </a:r>
            <a:r>
              <a:rPr lang="en-US" b="1" i="1"/>
              <a:t> </a:t>
            </a:r>
            <a:r>
              <a:rPr lang="en-US" i="1"/>
              <a:t>at end of second half</a:t>
            </a:r>
            <a:r>
              <a:rPr lang="en-US" b="1" i="1"/>
              <a:t> then begin</a:t>
            </a:r>
            <a:endParaRPr lang="en-US"/>
          </a:p>
          <a:p>
            <a:pPr marL="0" indent="0">
              <a:buNone/>
            </a:pPr>
            <a:r>
              <a:rPr lang="en-US" b="1" i="1"/>
              <a:t>		</a:t>
            </a:r>
            <a:r>
              <a:rPr lang="en-US" i="1"/>
              <a:t>reload first half;</a:t>
            </a:r>
            <a:endParaRPr lang="en-US"/>
          </a:p>
          <a:p>
            <a:pPr marL="0" indent="0">
              <a:buNone/>
            </a:pPr>
            <a:r>
              <a:rPr lang="en-US" i="1"/>
              <a:t>		move forward to beginning of first half;</a:t>
            </a:r>
            <a:endParaRPr lang="en-US"/>
          </a:p>
          <a:p>
            <a:pPr marL="0" indent="0">
              <a:buNone/>
            </a:pPr>
            <a:r>
              <a:rPr lang="en-US" b="1" i="1"/>
              <a:t>	end</a:t>
            </a:r>
            <a:endParaRPr lang="en-US"/>
          </a:p>
          <a:p>
            <a:pPr marL="0" indent="0">
              <a:buNone/>
            </a:pPr>
            <a:r>
              <a:rPr lang="en-US" b="1" i="1"/>
              <a:t>	else </a:t>
            </a:r>
            <a:r>
              <a:rPr lang="en-US" i="1"/>
              <a:t>forward := forward + 1;</a:t>
            </a:r>
            <a:endParaRPr lang="en-US"/>
          </a:p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780702" y="934280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:  : E :  : = :  : Mi : * :  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37263" y="941673"/>
            <a:ext cx="2362200" cy="393192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:  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48753" y="1333142"/>
            <a:ext cx="1367250" cy="575145"/>
            <a:chOff x="3410011" y="1553069"/>
            <a:chExt cx="1367250" cy="575145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410011" y="1720096"/>
              <a:ext cx="1367250" cy="4081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 flipV="1">
              <a:off x="4201496" y="1553069"/>
              <a:ext cx="0" cy="302884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/>
          <p:cNvCxnSpPr/>
          <p:nvPr/>
        </p:nvCxnSpPr>
        <p:spPr>
          <a:xfrm flipH="1" flipV="1">
            <a:off x="5536802" y="1326401"/>
            <a:ext cx="0" cy="6471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395594" y="1855002"/>
            <a:ext cx="2359356" cy="42575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i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lexeme_beginnig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929277" y="1317831"/>
            <a:ext cx="1390589" cy="581663"/>
            <a:chOff x="6021129" y="1510336"/>
            <a:chExt cx="1390589" cy="581663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021129" y="1699878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6591316" y="1510336"/>
              <a:ext cx="0" cy="302884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114089" y="1507373"/>
            <a:ext cx="1390589" cy="39212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i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forward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98580" y="1317831"/>
            <a:ext cx="0" cy="30288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137263" y="937961"/>
            <a:ext cx="2362200" cy="391469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:  :</a:t>
            </a:r>
          </a:p>
        </p:txBody>
      </p:sp>
    </p:spTree>
    <p:extLst>
      <p:ext uri="{BB962C8B-B14F-4D97-AF65-F5344CB8AC3E}">
        <p14:creationId xmlns:p14="http://schemas.microsoft.com/office/powerpoint/2010/main" val="28992733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06 -2.59259E-06 L 0.03034 -2.59259E-06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06 -7.40741E-07 L -0.41784 0.00185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9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Sentinels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967038"/>
            <a:ext cx="11928475" cy="3487737"/>
          </a:xfrm>
        </p:spPr>
        <p:txBody>
          <a:bodyPr>
            <a:normAutofit lnSpcReduction="10000"/>
          </a:bodyPr>
          <a:lstStyle/>
          <a:p>
            <a:r>
              <a:rPr lang="en-US"/>
              <a:t>In buffer pairs we must check, each time we move the forward pointer that we have not moved off one of the buffers. </a:t>
            </a:r>
          </a:p>
          <a:p>
            <a:r>
              <a:rPr lang="en-US"/>
              <a:t>Thus, for each character read, we make two tests.</a:t>
            </a:r>
          </a:p>
          <a:p>
            <a:r>
              <a:rPr lang="en-US"/>
              <a:t>We can combine the buffer-end test with the test for the current character.</a:t>
            </a:r>
          </a:p>
          <a:p>
            <a:r>
              <a:rPr lang="en-US"/>
              <a:t>We can reduce the two tests to one if we extend each buffer to hold a sentinel character at the end. </a:t>
            </a:r>
          </a:p>
          <a:p>
            <a:r>
              <a:rPr lang="en-US"/>
              <a:t>The sentinel is a special character that cannot be part of the source program, and a natural choice is the character </a:t>
            </a:r>
            <a:r>
              <a:rPr lang="en-US" b="1">
                <a:solidFill>
                  <a:srgbClr val="C00000"/>
                </a:solidFill>
              </a:rPr>
              <a:t>EOF</a:t>
            </a:r>
            <a:r>
              <a:rPr lang="en-US" b="1"/>
              <a:t>.</a:t>
            </a:r>
            <a:endParaRPr lang="en-US"/>
          </a:p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347566" y="1206996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: E :  : = :  : Mi : * : </a:t>
            </a:r>
            <a:r>
              <a:rPr lang="en-US" b="1" i="1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 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09766" y="1207957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: </a:t>
            </a:r>
            <a:r>
              <a:rPr lang="en-US" b="1" i="1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AutoShape 5"/>
          <p:cNvCxnSpPr>
            <a:cxnSpLocks noChangeShapeType="1"/>
          </p:cNvCxnSpPr>
          <p:nvPr/>
        </p:nvCxnSpPr>
        <p:spPr bwMode="auto">
          <a:xfrm flipH="1">
            <a:off x="6126635" y="2172210"/>
            <a:ext cx="313" cy="20712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6"/>
          <p:cNvCxnSpPr>
            <a:cxnSpLocks noChangeShapeType="1"/>
          </p:cNvCxnSpPr>
          <p:nvPr/>
        </p:nvCxnSpPr>
        <p:spPr bwMode="auto">
          <a:xfrm flipH="1">
            <a:off x="6522553" y="1838200"/>
            <a:ext cx="0" cy="7554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95571" y="1780089"/>
            <a:ext cx="1390589" cy="39212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i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forward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70358" y="2137450"/>
            <a:ext cx="2359356" cy="42575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i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lexeme_beginnig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765758" y="1590547"/>
            <a:ext cx="0" cy="30288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5927558" y="1614359"/>
            <a:ext cx="0" cy="6471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978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Sentinels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179638"/>
            <a:ext cx="11928475" cy="40624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C00000"/>
                </a:solidFill>
                <a:ea typeface="ヒラギノ角ゴ Pro W3"/>
                <a:cs typeface="Times New Roman" panose="02020603050405020304" pitchFamily="18" charset="0"/>
              </a:rPr>
              <a:t>forward  := forward + 1;</a:t>
            </a:r>
            <a:endParaRPr lang="en-US" sz="2000">
              <a:solidFill>
                <a:srgbClr val="C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solidFill>
                  <a:srgbClr val="C00000"/>
                </a:solidFill>
                <a:ea typeface="ヒラギノ角ゴ Pro W3"/>
                <a:cs typeface="Times New Roman" panose="02020603050405020304" pitchFamily="18" charset="0"/>
              </a:rPr>
              <a:t>	if</a:t>
            </a:r>
            <a:r>
              <a:rPr lang="en-US" sz="2000" i="1">
                <a:solidFill>
                  <a:srgbClr val="C00000"/>
                </a:solidFill>
                <a:ea typeface="ヒラギノ角ゴ Pro W3"/>
                <a:cs typeface="Times New Roman" panose="02020603050405020304" pitchFamily="18" charset="0"/>
              </a:rPr>
              <a:t> forward  = eof </a:t>
            </a:r>
            <a:r>
              <a:rPr lang="en-US" sz="2000" b="1" i="1">
                <a:solidFill>
                  <a:srgbClr val="C00000"/>
                </a:solidFill>
                <a:ea typeface="ヒラギノ角ゴ Pro W3"/>
                <a:cs typeface="Times New Roman" panose="02020603050405020304" pitchFamily="18" charset="0"/>
              </a:rPr>
              <a:t>then begin</a:t>
            </a:r>
            <a:endParaRPr lang="en-US" sz="2000">
              <a:solidFill>
                <a:srgbClr val="C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if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 forward at end of first half 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then begin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	reload second half;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	forward  := forward + 1;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end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else if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 forward at the second half 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then begin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	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reload first half;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	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move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 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forward to beginning of first half;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</a:t>
            </a: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end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		else </a:t>
            </a:r>
            <a:r>
              <a:rPr lang="en-US" sz="2000" i="1">
                <a:solidFill>
                  <a:srgbClr val="000000"/>
                </a:solidFill>
                <a:ea typeface="ヒラギノ角ゴ Pro W3"/>
                <a:cs typeface="Times New Roman" panose="02020603050405020304" pitchFamily="18" charset="0"/>
              </a:rPr>
              <a:t>terminate lexical analysis;</a:t>
            </a:r>
            <a:endParaRPr lang="en-US" sz="2000">
              <a:solidFill>
                <a:srgbClr val="000000"/>
              </a:solidFill>
              <a:ea typeface="ヒラギノ角ゴ Pro W3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b="1" i="1">
                <a:ea typeface="Calibri" panose="020F0502020204030204" pitchFamily="34" charset="0"/>
                <a:cs typeface="Times New Roman" panose="02020603050405020304" pitchFamily="18" charset="0"/>
              </a:rPr>
              <a:t>	end</a:t>
            </a:r>
            <a:endParaRPr lang="en-US" sz="2000"/>
          </a:p>
          <a:p>
            <a:pPr>
              <a:lnSpc>
                <a:spcPct val="80000"/>
              </a:lnSpc>
            </a:pPr>
            <a:endParaRPr lang="en-US" sz="200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56113" y="1034062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: E :  : = :  : Mi : * 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918239" y="1034601"/>
            <a:ext cx="2362200" cy="392121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: </a:t>
            </a:r>
            <a:r>
              <a:rPr lang="en-US" b="1" i="1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350158" y="1964516"/>
            <a:ext cx="2359356" cy="42575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lexeme_beginnig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661035" y="1417613"/>
            <a:ext cx="1390589" cy="581663"/>
            <a:chOff x="3206466" y="1510336"/>
            <a:chExt cx="1390589" cy="581663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206466" y="1699878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 flipV="1">
              <a:off x="3776653" y="1510336"/>
              <a:ext cx="0" cy="302884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/>
          <p:cNvCxnSpPr/>
          <p:nvPr/>
        </p:nvCxnSpPr>
        <p:spPr>
          <a:xfrm flipH="1" flipV="1">
            <a:off x="4907374" y="1441425"/>
            <a:ext cx="0" cy="6471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13156" y="1017216"/>
            <a:ext cx="598792" cy="387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rgbClr val="0E47A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endParaRPr lang="en-US">
              <a:solidFill>
                <a:srgbClr val="0E47A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633219" y="1417426"/>
            <a:ext cx="1390589" cy="581663"/>
            <a:chOff x="3206466" y="1510336"/>
            <a:chExt cx="1390589" cy="581663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206466" y="1699878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3776653" y="1510336"/>
              <a:ext cx="0" cy="302884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7435329" y="1419287"/>
            <a:ext cx="1390589" cy="581663"/>
            <a:chOff x="3206466" y="1510336"/>
            <a:chExt cx="1390589" cy="581663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206466" y="1699878"/>
              <a:ext cx="1390589" cy="392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100000"/>
                  <a:lumOff val="0"/>
                </a:schemeClr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</a:t>
              </a:r>
              <a:r>
                <a:rPr lang="en-US" i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forward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3776653" y="1510336"/>
              <a:ext cx="0" cy="302884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918239" y="1034063"/>
            <a:ext cx="2362200" cy="393192"/>
          </a:xfrm>
          <a:prstGeom prst="rect">
            <a:avLst/>
          </a:prstGeom>
          <a:solidFill>
            <a:srgbClr val="FFFFFF"/>
          </a:solidFill>
          <a:ln w="22225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C: * : * : 2 :  </a:t>
            </a:r>
            <a:r>
              <a:rPr lang="en-US" b="1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: </a:t>
            </a:r>
            <a:r>
              <a:rPr lang="en-US" b="1" i="1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eof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93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06 -4.07407E-06 L 0.04857 0.00186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2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7 -4.07407E-06 L 0.14792 0.00024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96" y="93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06 4.44444E-06 L -0.36029 0.0037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2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4. Specification of tokens</a:t>
            </a:r>
          </a:p>
        </p:txBody>
      </p:sp>
    </p:spTree>
    <p:extLst>
      <p:ext uri="{BB962C8B-B14F-4D97-AF65-F5344CB8AC3E}">
        <p14:creationId xmlns:p14="http://schemas.microsoft.com/office/powerpoint/2010/main" val="13830330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Strings and languages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3812885259"/>
              </p:ext>
            </p:extLst>
          </p:nvPr>
        </p:nvGraphicFramePr>
        <p:xfrm>
          <a:off x="1828796" y="977365"/>
          <a:ext cx="864870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Term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Definition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263033026"/>
              </p:ext>
            </p:extLst>
          </p:nvPr>
        </p:nvGraphicFramePr>
        <p:xfrm>
          <a:off x="1828796" y="1405049"/>
          <a:ext cx="8648701" cy="10008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>
                          <a:latin typeface="+mj-lt"/>
                        </a:rPr>
                        <a:t>Prefix</a:t>
                      </a:r>
                      <a:r>
                        <a:rPr lang="en-US" sz="2000" b="0" i="1" baseline="0">
                          <a:latin typeface="+mj-lt"/>
                        </a:rPr>
                        <a:t> of s</a:t>
                      </a:r>
                      <a:endParaRPr lang="en-US" sz="2000" b="0" i="1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string obtained by removing </a:t>
                      </a:r>
                      <a:r>
                        <a:rPr lang="en-US" sz="1800" b="1">
                          <a:solidFill>
                            <a:srgbClr val="0E47A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zero or more trailing symbol </a:t>
                      </a: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 string S.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e.g.,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ban</a:t>
                      </a:r>
                      <a:r>
                        <a:rPr lang="en-US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is prefix of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banana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en-US" sz="1800" b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/>
          <p:nvPr>
            <p:extLst>
              <p:ext uri="{D42A27DB-BD31-4B8C-83A1-F6EECF244321}">
                <p14:modId xmlns:p14="http://schemas.microsoft.com/office/powerpoint/2010/main" val="2171685176"/>
              </p:ext>
            </p:extLst>
          </p:nvPr>
        </p:nvGraphicFramePr>
        <p:xfrm>
          <a:off x="1828797" y="2428617"/>
          <a:ext cx="8648701" cy="10008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Suffix of S</a:t>
                      </a:r>
                      <a:endParaRPr lang="en-US" sz="2000" b="0" i="1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string obtained by removing </a:t>
                      </a:r>
                      <a:r>
                        <a:rPr lang="en-US" sz="1800" b="1">
                          <a:solidFill>
                            <a:srgbClr val="0E47A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zero or more leading symbol </a:t>
                      </a: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 string S.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e.g.,</a:t>
                      </a:r>
                      <a:r>
                        <a:rPr lang="en-US" sz="1800" b="0" kern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nana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is suffix of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banana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en-US" sz="1800" b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49766"/>
              </p:ext>
            </p:extLst>
          </p:nvPr>
        </p:nvGraphicFramePr>
        <p:xfrm>
          <a:off x="1828797" y="3451221"/>
          <a:ext cx="8648701" cy="68541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7769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Sub string of S</a:t>
                      </a:r>
                      <a:endParaRPr lang="en-US" sz="2000" b="0" i="1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string obtained by </a:t>
                      </a:r>
                      <a:r>
                        <a:rPr lang="en-US" sz="1800" b="1">
                          <a:solidFill>
                            <a:srgbClr val="0E47A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removing prefix and suffix</a:t>
                      </a:r>
                      <a:r>
                        <a:rPr lang="en-US" sz="18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 S.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e.g.,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nan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is substring of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banana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87242"/>
              </p:ext>
            </p:extLst>
          </p:nvPr>
        </p:nvGraphicFramePr>
        <p:xfrm>
          <a:off x="1828797" y="4159321"/>
          <a:ext cx="8648701" cy="701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 prefix, suffix and substring of S</a:t>
                      </a:r>
                      <a:endParaRPr lang="en-US" sz="2000" b="0" i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nonempty string x that is respectively proper prefix, suffix or substring of S, such that </a:t>
                      </a:r>
                      <a:r>
                        <a:rPr lang="en-US" sz="1800" b="1" kern="120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s≠x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b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167176"/>
              </p:ext>
            </p:extLst>
          </p:nvPr>
        </p:nvGraphicFramePr>
        <p:xfrm>
          <a:off x="1828796" y="4860361"/>
          <a:ext cx="8648701" cy="100088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Subsequence of S</a:t>
                      </a:r>
                      <a:endParaRPr lang="en-US" sz="2000" b="0" i="1"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string obtained by removing </a:t>
                      </a:r>
                      <a:r>
                        <a:rPr lang="en-US" sz="1800" b="1">
                          <a:solidFill>
                            <a:srgbClr val="0E47A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zero or more not necessarily contiguous symbol</a:t>
                      </a:r>
                      <a:r>
                        <a:rPr lang="en-US" sz="18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 S.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e.g., </a:t>
                      </a:r>
                      <a:r>
                        <a:rPr lang="en-US" sz="1800" b="0" kern="1200" err="1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baaa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is subsequence of </a:t>
                      </a:r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banana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en-US" sz="1800" b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7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Write prefix, suffix, substring, proper prefix, proper suffix and subsequence of following string:</a:t>
            </a:r>
          </a:p>
          <a:p>
            <a:pPr marL="0" indent="0" defTabSz="342900">
              <a:buNone/>
            </a:pPr>
            <a:r>
              <a:rPr lang="en-US"/>
              <a:t>	String: </a:t>
            </a:r>
            <a:r>
              <a:rPr lang="en-US">
                <a:solidFill>
                  <a:srgbClr val="C00000"/>
                </a:solidFill>
              </a:rPr>
              <a:t>Compiler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647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Operations on languages</a:t>
            </a:r>
          </a:p>
        </p:txBody>
      </p:sp>
      <p:graphicFrame>
        <p:nvGraphicFramePr>
          <p:cNvPr id="4" name="Content Placeholder 3"/>
          <p:cNvGraphicFramePr/>
          <p:nvPr/>
        </p:nvGraphicFramePr>
        <p:xfrm>
          <a:off x="1828801" y="990600"/>
          <a:ext cx="864870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Operation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Definition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3211598172"/>
                  </p:ext>
                </p:extLst>
              </p:nvPr>
            </p:nvGraphicFramePr>
            <p:xfrm>
              <a:off x="1828800" y="1417320"/>
              <a:ext cx="8648701" cy="7010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Union of L and M</a:t>
                          </a:r>
                          <a:endParaRPr lang="en-US" sz="2000" b="0" i="1">
                            <a:latin typeface="+mj-lt"/>
                          </a:endParaRPr>
                        </a:p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0" baseline="0">
                              <a:latin typeface="+mj-lt"/>
                            </a:rPr>
                            <a:t> U M</a:t>
                          </a:r>
                          <a:endParaRPr lang="en-US" sz="2000" b="0" i="1" baseline="0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ct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𝑈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= {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|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𝑜𝑟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}</m:t>
                                </m:r>
                              </m:oMath>
                            </m:oMathPara>
                          </a14:m>
                          <a:endParaRPr lang="en-US" sz="2000" b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3211598172"/>
                  </p:ext>
                </p:extLst>
              </p:nvPr>
            </p:nvGraphicFramePr>
            <p:xfrm>
              <a:off x="1828800" y="1417320"/>
              <a:ext cx="8648701" cy="7010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Union of L and M</a:t>
                          </a:r>
                          <a:endParaRPr lang="en-US" sz="2000" b="0" i="1">
                            <a:latin typeface="+mj-lt"/>
                          </a:endParaRPr>
                        </a:p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0" baseline="0">
                              <a:latin typeface="+mj-lt"/>
                            </a:rPr>
                            <a:t> U M</a:t>
                          </a:r>
                          <a:endParaRPr lang="en-US" sz="2000" b="0" i="1" baseline="0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 anchor="ctr">
                        <a:blipFill>
                          <a:blip r:embed="rId2"/>
                          <a:stretch>
                            <a:fillRect l="-37827" t="-3448" r="-194" b="-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1447563817"/>
                  </p:ext>
                </p:extLst>
              </p:nvPr>
            </p:nvGraphicFramePr>
            <p:xfrm>
              <a:off x="1828800" y="2118360"/>
              <a:ext cx="8648701" cy="1005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1">
                              <a:latin typeface="+mj-lt"/>
                            </a:rPr>
                            <a:t>Concatenation of L and M</a:t>
                          </a:r>
                        </a:p>
                        <a:p>
                          <a:pPr algn="ctr"/>
                          <a:r>
                            <a:rPr lang="en-US" sz="2000" b="0" i="1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1" baseline="0">
                              <a:latin typeface="+mj-lt"/>
                            </a:rPr>
                            <a:t>M</a:t>
                          </a:r>
                          <a:endParaRPr lang="en-US" sz="2000" b="0" i="1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𝐿𝑀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= {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𝑠𝑡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|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𝑎𝑛𝑑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}</m:t>
                                </m:r>
                              </m:oMath>
                            </m:oMathPara>
                          </a14:m>
                          <a:endParaRPr lang="en-US" sz="2000" b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1447563817"/>
                  </p:ext>
                </p:extLst>
              </p:nvPr>
            </p:nvGraphicFramePr>
            <p:xfrm>
              <a:off x="1828800" y="2118360"/>
              <a:ext cx="8648701" cy="1005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1">
                              <a:latin typeface="+mj-lt"/>
                            </a:rPr>
                            <a:t>Concatenation of L and M</a:t>
                          </a:r>
                        </a:p>
                        <a:p>
                          <a:pPr algn="ctr"/>
                          <a:r>
                            <a:rPr lang="en-US" sz="2000" b="0" i="1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1" baseline="0">
                              <a:latin typeface="+mj-lt"/>
                            </a:rPr>
                            <a:t>M</a:t>
                          </a:r>
                          <a:endParaRPr lang="en-US" sz="2000" b="0" i="1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 anchor="ctr">
                        <a:blipFill>
                          <a:blip r:embed="rId3"/>
                          <a:stretch>
                            <a:fillRect l="-37827" t="-2410" r="-194" b="-10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75372"/>
                  </p:ext>
                </p:extLst>
              </p:nvPr>
            </p:nvGraphicFramePr>
            <p:xfrm>
              <a:off x="1828799" y="3122546"/>
              <a:ext cx="8648701" cy="7010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Kleene closure of L </a:t>
                          </a:r>
                          <a:endParaRPr lang="en-US" sz="2000" b="0" i="1">
                            <a:latin typeface="+mj-lt"/>
                          </a:endParaRPr>
                        </a:p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0" baseline="30000">
                              <a:latin typeface="+mj-lt"/>
                            </a:rPr>
                            <a:t>∗</a:t>
                          </a:r>
                          <a:endParaRPr lang="en-US" sz="2000" b="0" i="1" baseline="30000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ct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baseline="300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∗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𝑑𝑒𝑛𝑜𝑡𝑒𝑠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“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𝑧𝑒𝑟𝑜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𝑜𝑟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𝑚𝑜𝑟𝑒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𝑐𝑜𝑛𝑐𝑎𝑡𝑒𝑛𝑎𝑡𝑖𝑜𝑛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𝑜𝑓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”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75372"/>
                  </p:ext>
                </p:extLst>
              </p:nvPr>
            </p:nvGraphicFramePr>
            <p:xfrm>
              <a:off x="1828799" y="3122546"/>
              <a:ext cx="8648701" cy="7010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Kleene closure of L </a:t>
                          </a:r>
                          <a:endParaRPr lang="en-US" sz="2000" b="0" i="1">
                            <a:latin typeface="+mj-lt"/>
                          </a:endParaRPr>
                        </a:p>
                        <a:p>
                          <a:pPr algn="ctr"/>
                          <a:r>
                            <a:rPr lang="en-US" sz="2000" b="0" i="0">
                              <a:latin typeface="+mj-lt"/>
                            </a:rPr>
                            <a:t>Written L</a:t>
                          </a:r>
                          <a:r>
                            <a:rPr lang="en-US" sz="2000" b="0" i="0" baseline="30000">
                              <a:latin typeface="+mj-lt"/>
                            </a:rPr>
                            <a:t>∗</a:t>
                          </a:r>
                          <a:endParaRPr lang="en-US" sz="2000" b="0" i="1" baseline="30000">
                            <a:latin typeface="+mj-lt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 anchor="ctr">
                        <a:blipFill>
                          <a:blip r:embed="rId4"/>
                          <a:stretch>
                            <a:fillRect l="-37694" t="-3448" r="-194" b="-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735273"/>
                  </p:ext>
                </p:extLst>
              </p:nvPr>
            </p:nvGraphicFramePr>
            <p:xfrm>
              <a:off x="1828799" y="3823586"/>
              <a:ext cx="8648701" cy="7010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1"/>
                            <a:t>Positive closure of L </a:t>
                          </a:r>
                        </a:p>
                        <a:p>
                          <a:pPr algn="ctr"/>
                          <a:r>
                            <a:rPr lang="en-US" sz="2000" b="0" i="1"/>
                            <a:t>Written L</a:t>
                          </a:r>
                          <a:r>
                            <a:rPr lang="en-US" sz="2000" b="0" i="1" baseline="30000"/>
                            <a:t>+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ct val="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baseline="300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𝑑𝑒𝑛𝑜𝑡𝑒𝑠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“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𝑜𝑛𝑒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𝑜𝑟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𝑚𝑜𝑟𝑒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𝑐𝑜𝑛𝑐𝑎𝑡𝑒𝑛𝑎𝑡𝑖𝑜𝑛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𝑜𝑓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” 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𝐿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0" marR="114300" marT="0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735273"/>
                  </p:ext>
                </p:extLst>
              </p:nvPr>
            </p:nvGraphicFramePr>
            <p:xfrm>
              <a:off x="1828799" y="3823586"/>
              <a:ext cx="8648701" cy="1005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1"/>
                            <a:t>Positive closure of L </a:t>
                          </a:r>
                        </a:p>
                        <a:p>
                          <a:pPr algn="ctr"/>
                          <a:r>
                            <a:rPr lang="en-US" sz="2000" b="0" i="1"/>
                            <a:t>Written L</a:t>
                          </a:r>
                          <a:r>
                            <a:rPr lang="en-US" sz="2000" b="0" i="1" baseline="30000"/>
                            <a:t>+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 anchor="ctr">
                        <a:blipFill>
                          <a:blip r:embed="rId5"/>
                          <a:stretch>
                            <a:fillRect l="-37694" t="-2410" r="-194" b="-10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775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5. Regular Expression &amp; Regular Definition</a:t>
            </a:r>
          </a:p>
        </p:txBody>
      </p:sp>
    </p:spTree>
    <p:extLst>
      <p:ext uri="{BB962C8B-B14F-4D97-AF65-F5344CB8AC3E}">
        <p14:creationId xmlns:p14="http://schemas.microsoft.com/office/powerpoint/2010/main" val="387770259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A regular expression is a sequence of characters that define a pattern.</a:t>
            </a:r>
          </a:p>
          <a:p>
            <a:pPr marL="0" indent="0">
              <a:buNone/>
            </a:pPr>
            <a:r>
              <a:rPr lang="en-US" b="1">
                <a:solidFill>
                  <a:srgbClr val="0E47A1"/>
                </a:solidFill>
              </a:rPr>
              <a:t>Notational shorthand's</a:t>
            </a:r>
            <a:endParaRPr lang="en-US" altLang="en-US" b="1">
              <a:solidFill>
                <a:srgbClr val="0E47A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One or more instances:  +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Zero or more instances:  *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Zero or one instances:  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Alphabets: </a:t>
            </a:r>
            <a:r>
              <a:rPr lang="el-GR" altLang="en-US"/>
              <a:t>Σ</a:t>
            </a:r>
            <a:endParaRPr lang="en-US" alt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057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Rules to define regular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altLang="en-US">
                    <a:latin typeface="+mj-lt"/>
                  </a:rPr>
                  <a:t>is a regular expression that denotes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{∈}</m:t>
                    </m:r>
                  </m:oMath>
                </a14:m>
                <a:r>
                  <a:rPr lang="en-US" altLang="en-US">
                    <a:latin typeface="+mj-lt"/>
                  </a:rPr>
                  <a:t>, the set containing empty string.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>
                    <a:latin typeface="+mj-lt"/>
                  </a:rPr>
                  <a:t>If </a:t>
                </a:r>
                <a:r>
                  <a:rPr lang="en-US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>
                    <a:latin typeface="+mj-lt"/>
                  </a:rPr>
                  <a:t> is a symbol in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𝑎</m:t>
                    </m:r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 is a regular expression,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𝐿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𝑎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={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𝑎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}</m:t>
                    </m:r>
                  </m:oMath>
                </a14:m>
                <a:endParaRPr lang="en-US" altLang="en-US">
                  <a:latin typeface="+mj-lt"/>
                  <a:ea typeface="MS Mincho" panose="02020609040205080304" pitchFamily="49" charset="-128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𝑟</m:t>
                    </m:r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𝑠</m:t>
                    </m:r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are regular expression denoting the languages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 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𝐿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𝐿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. Then,</a:t>
                </a:r>
              </a:p>
              <a:p>
                <a:pPr marL="968375" indent="-457200" defTabSz="108585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|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s</m:t>
                        </m:r>
                      </m:e>
                    </m:d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 </m:t>
                    </m:r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 is a regular expression denoting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L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U</m:t>
                    </m:r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L</m:t>
                    </m:r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s</m:t>
                    </m:r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)</m:t>
                    </m:r>
                  </m:oMath>
                </a14:m>
                <a:endParaRPr lang="en-US" altLang="en-US">
                  <a:latin typeface="+mj-lt"/>
                  <a:ea typeface="MS Mincho" panose="02020609040205080304" pitchFamily="49" charset="-128"/>
                </a:endParaRPr>
              </a:p>
              <a:p>
                <a:pPr marL="968375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s</m:t>
                        </m:r>
                      </m:e>
                    </m:d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 is a regular expression denoting </a:t>
                </a:r>
                <a14:m>
                  <m:oMath xmlns:m="http://schemas.openxmlformats.org/officeDocument/2006/math"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L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L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s</m:t>
                        </m:r>
                      </m:e>
                    </m:d>
                  </m:oMath>
                </a14:m>
                <a:endParaRPr lang="en-US" altLang="en-US">
                  <a:latin typeface="+mj-lt"/>
                  <a:ea typeface="MS Mincho" panose="02020609040205080304" pitchFamily="49" charset="-128"/>
                </a:endParaRPr>
              </a:p>
              <a:p>
                <a:pPr marL="968375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* is a regular expression denoting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L</m:t>
                        </m:r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i="0"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r</m:t>
                            </m:r>
                          </m:e>
                        </m:d>
                      </m:e>
                    </m:d>
                    <m:r>
                      <a:rPr lang="en-US" altLang="en-US" i="0" baseline="3000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∗</m:t>
                    </m:r>
                  </m:oMath>
                </a14:m>
                <a:endParaRPr lang="en-US" altLang="en-US" baseline="30000">
                  <a:latin typeface="+mj-lt"/>
                  <a:ea typeface="MS Mincho" panose="02020609040205080304" pitchFamily="49" charset="-128"/>
                </a:endParaRPr>
              </a:p>
              <a:p>
                <a:pPr marL="968375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en-US">
                    <a:latin typeface="+mj-lt"/>
                    <a:ea typeface="MS Mincho" panose="02020609040205080304" pitchFamily="49" charset="-128"/>
                  </a:rPr>
                  <a:t> is a regular expression denoting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L</m:t>
                    </m:r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(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r</m:t>
                        </m:r>
                      </m:e>
                    </m:d>
                    <m:r>
                      <a:rPr lang="en-US" altLang="en-US" i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)</m:t>
                    </m:r>
                  </m:oMath>
                </a14:m>
                <a:endParaRPr lang="en-US" altLang="en-US" baseline="30000">
                  <a:latin typeface="+mj-lt"/>
                </a:endParaRPr>
              </a:p>
              <a:p>
                <a:pPr marL="511175" indent="0">
                  <a:buNone/>
                </a:pPr>
                <a:endParaRPr lang="en-US" altLang="en-US" baseline="3000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+mj-lt"/>
                  </a:rPr>
                  <a:t>The language denoted by regular expression is said to be a </a:t>
                </a:r>
                <a:r>
                  <a:rPr lang="en-US" altLang="en-US">
                    <a:solidFill>
                      <a:srgbClr val="C00000"/>
                    </a:solidFill>
                    <a:latin typeface="+mj-lt"/>
                  </a:rPr>
                  <a:t>regular set</a:t>
                </a:r>
                <a:r>
                  <a:rPr lang="en-US" altLang="en-US">
                    <a:solidFill>
                      <a:schemeClr val="accent1">
                        <a:lumMod val="75000"/>
                      </a:schemeClr>
                    </a:solidFill>
                    <a:latin typeface="+mj-lt"/>
                  </a:rPr>
                  <a:t>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8572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 b="1" baseline="-25000">
                <a:solidFill>
                  <a:srgbClr val="C0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= Zero or More Occurrences of a =</a:t>
            </a:r>
          </a:p>
          <a:p>
            <a:endParaRPr lang="en-US" b="1">
              <a:solidFill>
                <a:srgbClr val="C00000"/>
              </a:solidFill>
            </a:endParaRPr>
          </a:p>
          <a:p>
            <a:endParaRPr lang="en-US" b="1">
              <a:solidFill>
                <a:srgbClr val="C00000"/>
              </a:solidFill>
            </a:endParaRP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8176" y="1385771"/>
            <a:ext cx="2971800" cy="3314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0">
                <a:solidFill>
                  <a:srgbClr val="0E47A1"/>
                </a:solidFill>
              </a:rPr>
              <a:t>*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7261" y="741680"/>
            <a:ext cx="7179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E47A1"/>
                </a:solidFill>
                <a:latin typeface="+mj-lt"/>
              </a:rPr>
              <a:t>a*</a:t>
            </a:r>
            <a:endParaRPr lang="en-US" sz="2600" b="1" baseline="30000" dirty="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59939" y="1966008"/>
            <a:ext cx="7179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  <a:latin typeface="+mj-lt"/>
              </a:rPr>
              <a:t>a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00059" y="2692407"/>
            <a:ext cx="10227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  <a:latin typeface="+mj-lt"/>
              </a:rPr>
              <a:t> aaa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89295" y="2379493"/>
            <a:ext cx="717966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  <a:latin typeface="+mj-lt"/>
              </a:rPr>
              <a:t> aa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29349" y="3097148"/>
            <a:ext cx="981543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err="1">
                <a:solidFill>
                  <a:srgbClr val="0E47A1"/>
                </a:solidFill>
                <a:latin typeface="+mj-lt"/>
              </a:rPr>
              <a:t>aaaa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29349" y="3498758"/>
            <a:ext cx="1474889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err="1">
                <a:solidFill>
                  <a:srgbClr val="0E47A1"/>
                </a:solidFill>
                <a:latin typeface="+mj-lt"/>
              </a:rPr>
              <a:t>aaaaa…..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5966346" y="1932758"/>
            <a:ext cx="762000" cy="2142350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28346" y="2767361"/>
            <a:ext cx="1728392" cy="524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+mj-lt"/>
              </a:rPr>
              <a:t>Infinite …..</a:t>
            </a:r>
          </a:p>
        </p:txBody>
      </p:sp>
      <p:cxnSp>
        <p:nvCxnSpPr>
          <p:cNvPr id="13" name="Curved Connector 12"/>
          <p:cNvCxnSpPr>
            <a:cxnSpLocks/>
          </p:cNvCxnSpPr>
          <p:nvPr/>
        </p:nvCxnSpPr>
        <p:spPr>
          <a:xfrm rot="16200000" flipV="1">
            <a:off x="4954340" y="1385501"/>
            <a:ext cx="1738939" cy="1487618"/>
          </a:xfrm>
          <a:prstGeom prst="curvedConnector3">
            <a:avLst>
              <a:gd name="adj1" fmla="val 50000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46632" y="1624976"/>
            <a:ext cx="7179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 sz="2600" b="1" baseline="30000">
              <a:solidFill>
                <a:srgbClr val="0E47A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5328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 b="1" baseline="-25000">
                <a:solidFill>
                  <a:srgbClr val="C0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= One or More Occurrences of a = </a:t>
            </a: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9823" y="1176171"/>
            <a:ext cx="2971800" cy="3314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3763" y="727877"/>
            <a:ext cx="7179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E47A1"/>
                </a:solidFill>
              </a:rPr>
              <a:t> a</a:t>
            </a:r>
            <a:r>
              <a:rPr lang="en-US" sz="2600" b="1" baseline="30000" dirty="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5797" y="1941294"/>
            <a:ext cx="7179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</a:rPr>
              <a:t>a</a:t>
            </a:r>
            <a:endParaRPr lang="en-US" sz="2600" b="1" baseline="30000">
              <a:solidFill>
                <a:srgbClr val="0E47A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25917" y="2667693"/>
            <a:ext cx="1022766" cy="674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</a:rPr>
              <a:t> aaa</a:t>
            </a:r>
            <a:endParaRPr lang="en-US" sz="2600" b="1" baseline="30000">
              <a:solidFill>
                <a:srgbClr val="0E47A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15153" y="2354779"/>
            <a:ext cx="717966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</a:rPr>
              <a:t> aa</a:t>
            </a:r>
            <a:endParaRPr lang="en-US" sz="2600" b="1" baseline="30000">
              <a:solidFill>
                <a:srgbClr val="0E47A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55207" y="3072434"/>
            <a:ext cx="981543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err="1">
                <a:solidFill>
                  <a:srgbClr val="0E47A1"/>
                </a:solidFill>
              </a:rPr>
              <a:t>aaaa</a:t>
            </a:r>
            <a:endParaRPr lang="en-US" sz="2600" b="1" baseline="30000">
              <a:solidFill>
                <a:srgbClr val="0E47A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55207" y="3474044"/>
            <a:ext cx="1474889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err="1">
                <a:solidFill>
                  <a:srgbClr val="0E47A1"/>
                </a:solidFill>
              </a:rPr>
              <a:t>aaaaa…..</a:t>
            </a:r>
            <a:endParaRPr lang="en-US" sz="2600" b="1" baseline="30000">
              <a:solidFill>
                <a:srgbClr val="0E47A1"/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5875579" y="1941294"/>
            <a:ext cx="762000" cy="2142350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37579" y="2742647"/>
            <a:ext cx="1728392" cy="524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Infinite …..</a:t>
            </a:r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4901875" y="1176172"/>
            <a:ext cx="1541726" cy="1828806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2514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Precedence and associativity of operators</a:t>
            </a:r>
          </a:p>
        </p:txBody>
      </p:sp>
      <p:graphicFrame>
        <p:nvGraphicFramePr>
          <p:cNvPr id="5" name="Group 38"/>
          <p:cNvGraphicFramePr/>
          <p:nvPr>
            <p:extLst>
              <p:ext uri="{D42A27DB-BD31-4B8C-83A1-F6EECF244321}">
                <p14:modId xmlns:p14="http://schemas.microsoft.com/office/powerpoint/2010/main" val="2963929044"/>
              </p:ext>
            </p:extLst>
          </p:nvPr>
        </p:nvGraphicFramePr>
        <p:xfrm>
          <a:off x="1171832" y="1093573"/>
          <a:ext cx="9848336" cy="2187577"/>
        </p:xfrm>
        <a:graphic>
          <a:graphicData uri="http://schemas.openxmlformats.org/drawingml/2006/table">
            <a:tbl>
              <a:tblPr/>
              <a:tblGrid>
                <a:gridCol w="3187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Operator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Precedence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Associative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Kleene </a:t>
                      </a: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*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Concatenation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Union 	</a:t>
                      </a: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|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990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457200" indent="-457200" defTabSz="465138">
                  <a:buFont typeface="+mj-lt"/>
                  <a:buAutoNum type="arabicPeriod"/>
                </a:pPr>
                <a:r>
                  <a:rPr lang="en-US" dirty="0"/>
                  <a:t>0 or 1</a:t>
                </a:r>
              </a:p>
              <a:p>
                <a:pPr marL="0" indent="0" defTabSz="465138">
                  <a:buNone/>
                </a:pPr>
                <a:r>
                  <a:rPr lang="en-US" dirty="0"/>
                  <a:t>	</a:t>
                </a:r>
              </a:p>
              <a:p>
                <a:pPr marL="457200" indent="-457200" defTabSz="465138">
                  <a:buFont typeface="+mj-lt"/>
                  <a:buAutoNum type="arabicPeriod" startAt="2"/>
                </a:pPr>
                <a:r>
                  <a:rPr lang="en-US" dirty="0"/>
                  <a:t>0 or 11 or 111</a:t>
                </a:r>
              </a:p>
              <a:p>
                <a:pPr marL="463550" indent="-457200" defTabSz="465138">
                  <a:buFont typeface="+mj-lt"/>
                  <a:buAutoNum type="arabicPeriod" startAt="2"/>
                </a:pPr>
                <a:endParaRPr lang="en-US" dirty="0"/>
              </a:p>
              <a:p>
                <a:pPr marL="463550" indent="-457200" defTabSz="465138">
                  <a:buFont typeface="+mj-lt"/>
                  <a:buAutoNum type="arabicPeriod" startAt="2"/>
                </a:pPr>
                <a:r>
                  <a:rPr lang="en-US" dirty="0"/>
                  <a:t>String having zero or more </a:t>
                </a:r>
                <a:r>
                  <a:rPr lang="en-US" i="1" dirty="0"/>
                  <a:t>a</a:t>
                </a:r>
                <a:r>
                  <a:rPr lang="en-US" dirty="0"/>
                  <a:t>.</a:t>
                </a:r>
              </a:p>
              <a:p>
                <a:pPr marL="457200" lvl="1" indent="0" defTabSz="465138">
                  <a:buNone/>
                </a:pPr>
                <a:endParaRPr lang="en-US" sz="2200" dirty="0"/>
              </a:p>
              <a:p>
                <a:pPr marL="463550" indent="-457200" defTabSz="465138">
                  <a:buFont typeface="+mj-lt"/>
                  <a:buAutoNum type="arabicPeriod" startAt="2"/>
                </a:pPr>
                <a:r>
                  <a:rPr lang="en-US" dirty="0"/>
                  <a:t>String having one or more </a:t>
                </a:r>
                <a:r>
                  <a:rPr lang="en-US" i="1" dirty="0"/>
                  <a:t>a</a:t>
                </a:r>
                <a:r>
                  <a:rPr lang="en-US" dirty="0"/>
                  <a:t>.</a:t>
                </a:r>
              </a:p>
              <a:p>
                <a:pPr marL="457200" lvl="1" indent="0" defTabSz="465138">
                  <a:buNone/>
                </a:pPr>
                <a:endParaRPr lang="en-US" sz="2200" dirty="0"/>
              </a:p>
              <a:p>
                <a:pPr marL="463550" indent="-457200" defTabSz="465138">
                  <a:buFont typeface="+mj-lt"/>
                  <a:buAutoNum type="arabicPeriod" startAt="2"/>
                </a:pPr>
                <a:r>
                  <a:rPr lang="en-US" dirty="0"/>
                  <a:t>Regular expression over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that represent all string of length 3.</a:t>
                </a:r>
              </a:p>
              <a:p>
                <a:pPr marL="457200" lvl="1" indent="0" defTabSz="465138">
                  <a:buNone/>
                </a:pPr>
                <a:endParaRPr lang="en-US" sz="2200" dirty="0"/>
              </a:p>
              <a:p>
                <a:pPr marL="463550" indent="-457200" defTabSz="465138">
                  <a:buFont typeface="+mj-lt"/>
                  <a:buAutoNum type="arabicPeriod" startAt="2"/>
                </a:pPr>
                <a:r>
                  <a:rPr lang="en-US" dirty="0"/>
                  <a:t>All binary string</a:t>
                </a:r>
                <a:endParaRPr lang="en-US" sz="2200" dirty="0"/>
              </a:p>
              <a:p>
                <a:pPr marL="6350" indent="0" defTabSz="465138">
                  <a:buNone/>
                </a:pPr>
                <a:r>
                  <a:rPr lang="en-US" sz="2200" dirty="0"/>
                  <a:t>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80710" y="1192369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1192369"/>
                <a:ext cx="3200400" cy="608533"/>
              </a:xfrm>
              <a:prstGeom prst="rect">
                <a:avLst/>
              </a:prstGeom>
              <a:blipFill rotWithShape="0">
                <a:blip r:embed="rId3"/>
                <a:stretch>
                  <a:fillRect l="-381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0710" y="2180028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2180028"/>
                <a:ext cx="3200400" cy="457200"/>
              </a:xfrm>
              <a:prstGeom prst="rect">
                <a:avLst/>
              </a:prstGeom>
              <a:blipFill rotWithShape="0">
                <a:blip r:embed="rId4"/>
                <a:stretch>
                  <a:fillRect l="-381" r="0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80710" y="3386361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𝛜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𝐚𝐚𝐚𝐚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…..</m:t>
                      </m:r>
                    </m:oMath>
                  </m:oMathPara>
                </a14:m>
                <a:endParaRPr lang="en-US" b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3386361"/>
                <a:ext cx="3200400" cy="457200"/>
              </a:xfrm>
              <a:prstGeom prst="rect">
                <a:avLst/>
              </a:prstGeom>
              <a:blipFill>
                <a:blip r:embed="rId5"/>
                <a:stretch>
                  <a:fillRect l="-381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0710" y="4234774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𝐚𝐚𝐚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𝐚𝐚𝐚𝐚</m:t>
                      </m:r>
                      <m:r>
                        <a:rPr lang="en-US" b="1" i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…..</m:t>
                      </m:r>
                    </m:oMath>
                  </m:oMathPara>
                </a14:m>
                <a:endParaRPr lang="en-US" b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4234774"/>
                <a:ext cx="3200400" cy="457200"/>
              </a:xfrm>
              <a:prstGeom prst="rect">
                <a:avLst/>
              </a:prstGeom>
              <a:blipFill>
                <a:blip r:embed="rId6"/>
                <a:stretch>
                  <a:fillRect l="-381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0710" y="5075602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𝐚𝐛𝐜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𝐛𝐜𝐚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𝐛𝐛𝐛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𝐜𝐚𝐛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𝐚𝐛𝐚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….</m:t>
                      </m:r>
                    </m:oMath>
                  </m:oMathPara>
                </a14:m>
                <a:endParaRPr lang="en-US" b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5075602"/>
                <a:ext cx="3200400" cy="457200"/>
              </a:xfrm>
              <a:prstGeom prst="rect">
                <a:avLst/>
              </a:prstGeom>
              <a:blipFill>
                <a:blip r:embed="rId7"/>
                <a:stretch>
                  <a:fillRect l="-381" r="-10667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0710" y="5993120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𝐒𝐭𝐫𝐢𝐧𝐠𝐬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𝟏𝟎𝟏𝟎𝟏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𝟏𝟏𝟏𝟏</m:t>
                      </m:r>
                      <m:r>
                        <a:rPr lang="en-US" b="1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0" y="5993120"/>
                <a:ext cx="3200400" cy="457200"/>
              </a:xfrm>
              <a:prstGeom prst="rect">
                <a:avLst/>
              </a:prstGeom>
              <a:blipFill>
                <a:blip r:embed="rId8"/>
                <a:stretch>
                  <a:fillRect l="-381" r="-13333" b="-2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922371" y="2044320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𝟏𝟏𝟏</m:t>
                      </m:r>
                    </m:oMath>
                  </m:oMathPara>
                </a14:m>
                <a:endParaRPr lang="en-US" b="1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371" y="2044320"/>
                <a:ext cx="3200400" cy="60853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570259" y="1163845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259" y="1163845"/>
                <a:ext cx="3200400" cy="60853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489053" y="2902163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1" i="0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53" y="2902163"/>
                <a:ext cx="3200400" cy="60853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489053" y="3737389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1" i="0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53" y="3737389"/>
                <a:ext cx="3200400" cy="60853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495800" y="5012186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d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d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012186"/>
                <a:ext cx="3200400" cy="6085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54392" y="5875107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=(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baseline="30000" dirty="0">
                    <a:solidFill>
                      <a:srgbClr val="C00000"/>
                    </a:solidFill>
                    <a:latin typeface="+mj-lt"/>
                  </a:rPr>
                  <a:t>+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392" y="5875107"/>
                <a:ext cx="3200400" cy="60853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714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/>
              <a:t>0 or more occurrence of either a or b or both</a:t>
            </a:r>
          </a:p>
          <a:p>
            <a:pPr marL="0" indent="0">
              <a:buNone/>
            </a:pPr>
            <a:endParaRPr lang="en-US"/>
          </a:p>
          <a:p>
            <a:pPr marL="457200" indent="-457200">
              <a:buFont typeface="+mj-lt"/>
              <a:buAutoNum type="arabicPeriod" startAt="8"/>
            </a:pPr>
            <a:r>
              <a:rPr lang="en-US"/>
              <a:t>1 or more occurrence of either a or b or both</a:t>
            </a:r>
          </a:p>
          <a:p>
            <a:pPr marL="463550" lvl="1" indent="0">
              <a:buNone/>
            </a:pPr>
            <a:endParaRPr lang="en-US" sz="2400"/>
          </a:p>
          <a:p>
            <a:pPr marL="463550" indent="-457200">
              <a:buFont typeface="+mj-lt"/>
              <a:buAutoNum type="arabicPeriod" startAt="9"/>
            </a:pPr>
            <a:r>
              <a:rPr lang="en-US"/>
              <a:t>Binary no. ends with 0</a:t>
            </a:r>
          </a:p>
          <a:p>
            <a:pPr marL="406400" lvl="1" indent="0">
              <a:buNone/>
            </a:pPr>
            <a:endParaRPr lang="en-US" sz="2400"/>
          </a:p>
          <a:p>
            <a:pPr marL="463550" indent="-457200">
              <a:buFont typeface="+mj-lt"/>
              <a:buAutoNum type="arabicPeriod" startAt="10"/>
            </a:pPr>
            <a:r>
              <a:rPr lang="en-US"/>
              <a:t>Binary no. ends with 1</a:t>
            </a:r>
          </a:p>
          <a:p>
            <a:pPr marL="6350" indent="0">
              <a:buNone/>
            </a:pPr>
            <a:endParaRPr lang="en-US"/>
          </a:p>
          <a:p>
            <a:pPr marL="463550" indent="-457200">
              <a:buFont typeface="+mj-lt"/>
              <a:buAutoNum type="arabicPeriod" startAt="11"/>
            </a:pPr>
            <a:r>
              <a:rPr lang="en-US"/>
              <a:t>Binary no. starts and ends with 1</a:t>
            </a:r>
          </a:p>
          <a:p>
            <a:pPr marL="463550" lvl="1" indent="0">
              <a:buNone/>
            </a:pPr>
            <a:endParaRPr lang="en-US" sz="2400"/>
          </a:p>
          <a:p>
            <a:pPr marL="463550" indent="-457200">
              <a:buFont typeface="+mj-lt"/>
              <a:buAutoNum type="arabicPeriod" startAt="12"/>
            </a:pPr>
            <a:r>
              <a:rPr lang="en-IN"/>
              <a:t>String starts and ends with same character</a:t>
            </a:r>
          </a:p>
          <a:p>
            <a:pPr marL="6350" indent="0">
              <a:buNone/>
            </a:pPr>
            <a:r>
              <a:rPr lang="en-IN"/>
              <a:t> </a:t>
            </a:r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56705" y="1170314"/>
                <a:ext cx="3143873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𝒂𝒃𝒂𝒃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𝒃𝒂𝒃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1170314"/>
                <a:ext cx="3143873" cy="608533"/>
              </a:xfrm>
              <a:prstGeom prst="rect">
                <a:avLst/>
              </a:prstGeom>
              <a:blipFill rotWithShape="0">
                <a:blip r:embed="rId2"/>
                <a:stretch>
                  <a:fillRect l="-583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6705" y="2085717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𝒂𝒃𝒂𝒃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𝒃𝒂𝒃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𝒃𝒃𝒃𝒂𝒂𝒂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2085717"/>
                <a:ext cx="3200400" cy="608533"/>
              </a:xfrm>
              <a:prstGeom prst="rect">
                <a:avLst/>
              </a:prstGeom>
              <a:blipFill rotWithShape="0">
                <a:blip r:embed="rId3"/>
                <a:stretch>
                  <a:fillRect l="-571" r="-201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56705" y="2986205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𝟏𝟏𝟏𝟏𝟎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2986205"/>
                <a:ext cx="3200400" cy="457200"/>
              </a:xfrm>
              <a:prstGeom prst="rect">
                <a:avLst/>
              </a:prstGeom>
              <a:blipFill rotWithShape="0">
                <a:blip r:embed="rId4"/>
                <a:stretch>
                  <a:fillRect l="-571" r="-15810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6705" y="3871537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3871537"/>
                <a:ext cx="3200400" cy="457200"/>
              </a:xfrm>
              <a:prstGeom prst="rect">
                <a:avLst/>
              </a:prstGeom>
              <a:blipFill rotWithShape="0">
                <a:blip r:embed="rId5"/>
                <a:stretch>
                  <a:fillRect l="-571" r="-4571" b="-2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56705" y="4729097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4729097"/>
                <a:ext cx="3200400" cy="457200"/>
              </a:xfrm>
              <a:prstGeom prst="rect">
                <a:avLst/>
              </a:prstGeom>
              <a:blipFill rotWithShape="0">
                <a:blip r:embed="rId6"/>
                <a:stretch>
                  <a:fillRect l="-571" r="-10286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56705" y="5590607"/>
                <a:ext cx="3200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𝒂𝒃𝒂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𝒃𝒂𝒂𝒃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" y="5590607"/>
                <a:ext cx="3200400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571" r="0" b="-2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730299" y="1208712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99" y="1208712"/>
                <a:ext cx="3200400" cy="60853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30299" y="2076801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=(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baseline="30000">
                    <a:solidFill>
                      <a:srgbClr val="C00000"/>
                    </a:solidFill>
                    <a:latin typeface="+mj-lt"/>
                  </a:rPr>
                  <a:t>+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99" y="2076801"/>
                <a:ext cx="3200400" cy="60853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30299" y="3703567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99" y="3703567"/>
                <a:ext cx="3200400" cy="60853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730299" y="2841746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=(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rgbClr val="C00000"/>
                    </a:solidFill>
                    <a:latin typeface="+mj-lt"/>
                  </a:rPr>
                  <a:t>*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99" y="2841746"/>
                <a:ext cx="3200400" cy="60853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730299" y="4653430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=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)∗</m:t>
                    </m:r>
                  </m:oMath>
                </a14:m>
                <a:r>
                  <a:rPr lang="en-US" b="1" baseline="30000">
                    <a:solidFill>
                      <a:srgbClr val="C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99" y="4653430"/>
                <a:ext cx="3200400" cy="60853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263311" y="5845476"/>
                <a:ext cx="5318069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𝐨𝐫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        </m:t>
                      </m:r>
                    </m:oMath>
                  </m:oMathPara>
                </a14:m>
                <a:endParaRPr lang="en-US" b="1" i="1">
                  <a:solidFill>
                    <a:srgbClr val="C00000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𝐨𝐫</m:t>
                      </m:r>
                      <m:r>
                        <a:rPr lang="en-US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  <a:p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  <a:p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311" y="5845476"/>
                <a:ext cx="5318069" cy="608533"/>
              </a:xfrm>
              <a:prstGeom prst="rect">
                <a:avLst/>
              </a:prstGeom>
              <a:blipFill rotWithShape="0">
                <a:blip r:embed="rId13"/>
                <a:stretch>
                  <a:fillRect t="-2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993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US" dirty="0"/>
                  <a:t>All string of a and b starting with a </a:t>
                </a:r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IN" dirty="0"/>
              </a:p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IN" dirty="0"/>
                  <a:t>String of 0 and 1 ends with 00</a:t>
                </a:r>
                <a:r>
                  <a:rPr lang="en-IN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IN" dirty="0"/>
                  <a:t>String ends with abb  </a:t>
                </a:r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IN" dirty="0"/>
              </a:p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IN" dirty="0"/>
                  <a:t>String starts with 1 and ends with 0 </a:t>
                </a:r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IN" dirty="0"/>
              </a:p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IN" dirty="0"/>
                  <a:t>All binary string with at least 3 characters and 3</a:t>
                </a:r>
                <a:r>
                  <a:rPr lang="en-IN" baseline="30000" dirty="0"/>
                  <a:t>rd</a:t>
                </a:r>
                <a:r>
                  <a:rPr lang="en-IN" dirty="0"/>
                  <a:t> character should be zero</a:t>
                </a:r>
                <a:endParaRPr lang="en-US" dirty="0"/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463550" indent="-457200">
                  <a:lnSpc>
                    <a:spcPct val="100000"/>
                  </a:lnSpc>
                  <a:buFont typeface="+mj-lt"/>
                  <a:buAutoNum type="arabicPeriod" startAt="13"/>
                </a:pPr>
                <a:r>
                  <a:rPr lang="en-IN" dirty="0"/>
                  <a:t>Language which consist of exactly two b’s over the set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971" t="-1200" b="-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980" y="1241377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𝒂𝒃𝒃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80" y="1241377"/>
                <a:ext cx="3200400" cy="608533"/>
              </a:xfrm>
              <a:prstGeom prst="rect">
                <a:avLst/>
              </a:prstGeom>
              <a:blipFill>
                <a:blip r:embed="rId3"/>
                <a:stretch>
                  <a:fillRect l="-3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514624" y="1270274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=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baseline="30000" dirty="0">
                    <a:solidFill>
                      <a:srgbClr val="C00000"/>
                    </a:solidFill>
                    <a:latin typeface="+mj-lt"/>
                  </a:rPr>
                  <a:t>*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624" y="1270274"/>
                <a:ext cx="3200400" cy="6085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14400" y="2327665"/>
                <a:ext cx="3895551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00" y="2327665"/>
                <a:ext cx="3895551" cy="608533"/>
              </a:xfrm>
              <a:prstGeom prst="rect">
                <a:avLst/>
              </a:prstGeom>
              <a:blipFill>
                <a:blip r:embed="rId5"/>
                <a:stretch>
                  <a:fillRect l="-3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090926" y="2292122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b="1" baseline="300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926" y="2292122"/>
                <a:ext cx="3200400" cy="6085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09526" y="3280392"/>
                <a:ext cx="3672811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𝒃𝒂𝒃𝒃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𝒂𝒃𝒂𝒃𝒃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6" y="3280392"/>
                <a:ext cx="3672811" cy="608533"/>
              </a:xfrm>
              <a:prstGeom prst="rect">
                <a:avLst/>
              </a:prstGeom>
              <a:blipFill>
                <a:blip r:embed="rId7"/>
                <a:stretch>
                  <a:fillRect l="-4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026154" y="2823726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𝒂𝒃𝒃</m:t>
                      </m:r>
                    </m:oMath>
                  </m:oMathPara>
                </a14:m>
                <a:endParaRPr lang="en-US" b="1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154" y="2823726"/>
                <a:ext cx="3200400" cy="60853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92148" y="4165403"/>
                <a:ext cx="4122476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48" y="4165403"/>
                <a:ext cx="4122476" cy="608533"/>
              </a:xfrm>
              <a:prstGeom prst="rect">
                <a:avLst/>
              </a:prstGeom>
              <a:blipFill>
                <a:blip r:embed="rId9"/>
                <a:stretch>
                  <a:fillRect l="-2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171724" y="4122737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300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724" y="4122737"/>
                <a:ext cx="3200400" cy="6085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09526" y="5095040"/>
                <a:ext cx="4358611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6" y="5095040"/>
                <a:ext cx="4358611" cy="608533"/>
              </a:xfrm>
              <a:prstGeom prst="rect">
                <a:avLst/>
              </a:prstGeom>
              <a:blipFill>
                <a:blip r:embed="rId11"/>
                <a:stretch>
                  <a:fillRect l="-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215330" y="5117481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</m:oMath>
                  </m:oMathPara>
                </a14:m>
                <a:endParaRPr lang="en-US" b="1" baseline="300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30" y="5117481"/>
                <a:ext cx="3200400" cy="6085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36166" y="6195933"/>
                <a:ext cx="3489988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𝒃𝒃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𝒃𝒂𝒃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𝒂𝒂𝒃𝒃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𝒂𝒃𝒃𝒂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66" y="6195933"/>
                <a:ext cx="3489988" cy="608533"/>
              </a:xfrm>
              <a:prstGeom prst="rect">
                <a:avLst/>
              </a:prstGeom>
              <a:blipFill>
                <a:blip r:embed="rId13"/>
                <a:stretch>
                  <a:fillRect l="-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090926" y="6190436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baseline="300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926" y="6190436"/>
                <a:ext cx="3200400" cy="60853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664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762466"/>
                <a:ext cx="11928475" cy="5591175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lnSpc>
                    <a:spcPct val="100000"/>
                  </a:lnSpc>
                  <a:buFont typeface="+mj-lt"/>
                  <a:buAutoNum type="arabicPeriod" startAt="19"/>
                </a:pPr>
                <a:r>
                  <a:rPr lang="en-IN" dirty="0"/>
                  <a:t>The language with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 such that 3</a:t>
                </a:r>
                <a:r>
                  <a:rPr lang="en-IN" baseline="30000" dirty="0"/>
                  <a:t>rd</a:t>
                </a:r>
                <a:r>
                  <a:rPr lang="en-IN" dirty="0"/>
                  <a:t> character from right end of the string is always a.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N" dirty="0"/>
                  <a:t>20. Any no.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 followed by any no.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followed by any no.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46355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6350" indent="0">
                  <a:lnSpc>
                    <a:spcPct val="100000"/>
                  </a:lnSpc>
                  <a:buNone/>
                </a:pPr>
                <a:r>
                  <a:rPr lang="en-IN" dirty="0"/>
                  <a:t>21. String should contain at least three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40640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6350" indent="0">
                  <a:lnSpc>
                    <a:spcPct val="100000"/>
                  </a:lnSpc>
                  <a:buNone/>
                </a:pPr>
                <a:r>
                  <a:rPr lang="en-IN" dirty="0"/>
                  <a:t>22. String should contain exactly two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46355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6350" indent="0">
                  <a:lnSpc>
                    <a:spcPct val="100000"/>
                  </a:lnSpc>
                  <a:buNone/>
                </a:pPr>
                <a:r>
                  <a:rPr lang="en-IN" dirty="0"/>
                  <a:t>23.Length of string should be at least 1 and at most 3</a:t>
                </a:r>
              </a:p>
              <a:p>
                <a:pPr marL="46355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63500" indent="0">
                  <a:lnSpc>
                    <a:spcPct val="100000"/>
                  </a:lnSpc>
                  <a:buNone/>
                </a:pPr>
                <a:r>
                  <a:rPr lang="en-IN" dirty="0"/>
                  <a:t>24.No. of zero should be multiple of 3</a:t>
                </a:r>
                <a:endParaRPr lang="en-US" dirty="0"/>
              </a:p>
              <a:p>
                <a:pPr marL="46355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762466"/>
                <a:ext cx="11928475" cy="5591175"/>
              </a:xfrm>
              <a:blipFill>
                <a:blip r:embed="rId2"/>
                <a:stretch>
                  <a:fillRect l="-1022" t="-1854" r="-1124" b="-1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72781" y="1538516"/>
                <a:ext cx="34290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𝒂𝒂𝒂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𝒂𝒃𝒂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𝒂𝒂𝒃𝒂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𝒂𝒃𝒃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81" y="1538516"/>
                <a:ext cx="3429000" cy="608533"/>
              </a:xfrm>
              <a:prstGeom prst="rect">
                <a:avLst/>
              </a:prstGeom>
              <a:blipFill>
                <a:blip r:embed="rId3"/>
                <a:stretch>
                  <a:fillRect l="-3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774562" y="1550393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562" y="1550393"/>
                <a:ext cx="3200400" cy="6085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2977" y="2601870"/>
                <a:ext cx="4028608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𝒂𝒃𝒄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𝒂𝒂𝒃𝒃𝒄𝒄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𝒂𝒂𝒃𝒄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𝒂𝒃𝒃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77" y="2601870"/>
                <a:ext cx="4028608" cy="608533"/>
              </a:xfrm>
              <a:prstGeom prst="rect">
                <a:avLst/>
              </a:prstGeom>
              <a:blipFill>
                <a:blip r:embed="rId5"/>
                <a:stretch>
                  <a:fillRect l="-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51932" y="2610584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932" y="2610584"/>
                <a:ext cx="3200400" cy="6085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2760" y="3500178"/>
                <a:ext cx="5503808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𝟎𝟏𝟏𝟎𝟏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𝟎𝟏𝟎𝟏𝟏𝟏𝟎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60" y="3500178"/>
                <a:ext cx="5503808" cy="608533"/>
              </a:xfrm>
              <a:prstGeom prst="rect">
                <a:avLst/>
              </a:prstGeom>
              <a:blipFill>
                <a:blip r:embed="rId7"/>
                <a:stretch>
                  <a:fillRect l="-3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731619" y="3500177"/>
                <a:ext cx="41610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619" y="3500177"/>
                <a:ext cx="4161064" cy="6085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92192" y="4369012"/>
                <a:ext cx="5503808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𝟎𝟏𝟎𝟎𝟏𝟎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𝟏𝟎𝟎𝟏𝟎𝟎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92" y="4369012"/>
                <a:ext cx="5503808" cy="608533"/>
              </a:xfrm>
              <a:prstGeom prst="rect">
                <a:avLst/>
              </a:prstGeom>
              <a:blipFill>
                <a:blip r:embed="rId9"/>
                <a:stretch>
                  <a:fillRect l="-2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607660" y="4335736"/>
                <a:ext cx="41610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660" y="4335736"/>
                <a:ext cx="4161064" cy="6085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02760" y="5307607"/>
                <a:ext cx="5503808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60" y="5307607"/>
                <a:ext cx="5503808" cy="608533"/>
              </a:xfrm>
              <a:prstGeom prst="rect">
                <a:avLst/>
              </a:prstGeom>
              <a:blipFill>
                <a:blip r:embed="rId11"/>
                <a:stretch>
                  <a:fillRect l="-3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867009" y="5324894"/>
                <a:ext cx="4913302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009" y="5324894"/>
                <a:ext cx="4913302" cy="6085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69262" y="6376338"/>
                <a:ext cx="59055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𝟎𝟏𝟎𝟏𝟎𝟏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𝟏𝟎𝟎𝟎𝟏𝟎𝟎𝟏𝟎</m:t>
                    </m:r>
                  </m:oMath>
                </a14:m>
                <a:r>
                  <a:rPr lang="en-US" b="1" dirty="0">
                    <a:solidFill>
                      <a:srgbClr val="0E47A1"/>
                    </a:solidFill>
                  </a:rPr>
                  <a:t>….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62" y="6376338"/>
                <a:ext cx="5905500" cy="608533"/>
              </a:xfrm>
              <a:prstGeom prst="rect">
                <a:avLst/>
              </a:prstGeom>
              <a:blipFill>
                <a:blip r:embed="rId13"/>
                <a:stretch>
                  <a:fillRect l="-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852132" y="6325072"/>
                <a:ext cx="41610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32" y="6325072"/>
                <a:ext cx="4161064" cy="60853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050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>
                <a:normAutofit lnSpcReduction="10000"/>
              </a:bodyPr>
              <a:lstStyle/>
              <a:p>
                <a:pPr marL="63500" indent="0">
                  <a:buNone/>
                </a:pPr>
                <a:r>
                  <a:rPr lang="en-IN" dirty="0"/>
                  <a:t>25.The language with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 should be multiple of 3</a:t>
                </a:r>
              </a:p>
              <a:p>
                <a:pPr marL="63500" indent="0">
                  <a:buNone/>
                </a:pPr>
                <a:endParaRPr lang="en-IN" sz="2000" dirty="0"/>
              </a:p>
              <a:p>
                <a:pPr marL="63500" indent="0">
                  <a:buNone/>
                </a:pPr>
                <a:r>
                  <a:rPr lang="en-IN" dirty="0"/>
                  <a:t>26. Even no. of 0</a:t>
                </a:r>
              </a:p>
              <a:p>
                <a:pPr marL="463550" lvl="1" indent="0">
                  <a:buNone/>
                </a:pPr>
                <a:endParaRPr lang="en-IN" dirty="0"/>
              </a:p>
              <a:p>
                <a:pPr marL="63500" indent="0">
                  <a:buNone/>
                </a:pPr>
                <a:r>
                  <a:rPr lang="en-IN" dirty="0"/>
                  <a:t>27. String should have odd length</a:t>
                </a:r>
              </a:p>
              <a:p>
                <a:pPr marL="463550" lvl="1" indent="0">
                  <a:buNone/>
                </a:pPr>
                <a:endParaRPr lang="en-IN" dirty="0"/>
              </a:p>
              <a:p>
                <a:pPr marL="63500" indent="0">
                  <a:buNone/>
                </a:pPr>
                <a:r>
                  <a:rPr lang="en-IN" dirty="0"/>
                  <a:t>28. String should have even length</a:t>
                </a:r>
              </a:p>
              <a:p>
                <a:pPr marL="463550" lvl="1" indent="0">
                  <a:buNone/>
                </a:pPr>
                <a:endParaRPr lang="en-IN" dirty="0"/>
              </a:p>
              <a:p>
                <a:pPr marL="63500" indent="0">
                  <a:buNone/>
                </a:pPr>
                <a:r>
                  <a:rPr lang="en-IN" dirty="0"/>
                  <a:t>29. String start with 0 and has odd length</a:t>
                </a:r>
              </a:p>
              <a:p>
                <a:pPr marL="463550" lvl="1" indent="0">
                  <a:buNone/>
                </a:pPr>
                <a:endParaRPr lang="en-IN" dirty="0"/>
              </a:p>
              <a:p>
                <a:pPr marL="63500" indent="0">
                  <a:buNone/>
                </a:pPr>
                <a:r>
                  <a:rPr lang="en-IN" dirty="0"/>
                  <a:t>30. String start with 1 and has even length</a:t>
                </a:r>
              </a:p>
              <a:p>
                <a:pPr marL="63500" indent="0">
                  <a:buNone/>
                </a:pPr>
                <a:endParaRPr lang="en-IN" dirty="0"/>
              </a:p>
              <a:p>
                <a:pPr marL="63500" indent="0">
                  <a:buNone/>
                </a:pPr>
                <a:r>
                  <a:rPr lang="en-IN" dirty="0"/>
                  <a:t>31. All string begins or ends with 00 or 11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511" t="-2617" b="-1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81147" y="1176198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𝒃𝒂𝒂𝒂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𝒃𝒂𝒄𝒂𝒃𝒂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𝒂𝒂𝒂𝒂𝒂𝒂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1176198"/>
                <a:ext cx="3200400" cy="608533"/>
              </a:xfrm>
              <a:prstGeom prst="rect">
                <a:avLst/>
              </a:prstGeom>
              <a:blipFill rotWithShape="0">
                <a:blip r:embed="rId3"/>
                <a:stretch>
                  <a:fillRect l="-571" r="-278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49915" y="1191711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915" y="1191711"/>
                <a:ext cx="4389664" cy="60853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81147" y="2007938"/>
                <a:ext cx="4498905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𝟏𝟎𝟎𝟏𝟎𝟎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….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2007938"/>
                <a:ext cx="4498905" cy="608533"/>
              </a:xfrm>
              <a:prstGeom prst="rect">
                <a:avLst/>
              </a:prstGeom>
              <a:blipFill rotWithShape="0">
                <a:blip r:embed="rId5"/>
                <a:stretch>
                  <a:fillRect l="-407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712741" y="1958621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741" y="1958621"/>
                <a:ext cx="4389664" cy="60853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1147" y="2797648"/>
                <a:ext cx="4498905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….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2797648"/>
                <a:ext cx="4498905" cy="608533"/>
              </a:xfrm>
              <a:prstGeom prst="rect">
                <a:avLst/>
              </a:prstGeom>
              <a:blipFill rotWithShape="0">
                <a:blip r:embed="rId7"/>
                <a:stretch>
                  <a:fillRect l="-407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075301" y="2795184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301" y="2795184"/>
                <a:ext cx="4389664" cy="60853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81148" y="3593932"/>
                <a:ext cx="4498905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𝟎𝟏𝟎𝟏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𝟏𝟎𝟎𝟏𝟎𝟎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….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8" y="3593932"/>
                <a:ext cx="4498905" cy="608533"/>
              </a:xfrm>
              <a:prstGeom prst="rect">
                <a:avLst/>
              </a:prstGeom>
              <a:blipFill rotWithShape="0">
                <a:blip r:embed="rId9"/>
                <a:stretch>
                  <a:fillRect l="-407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712741" y="3569414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741" y="3569414"/>
                <a:ext cx="4389664" cy="60853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81147" y="4395145"/>
                <a:ext cx="4498905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𝟎𝟎𝟎𝟏𝟎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….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4395145"/>
                <a:ext cx="4498905" cy="608533"/>
              </a:xfrm>
              <a:prstGeom prst="rect">
                <a:avLst/>
              </a:prstGeom>
              <a:blipFill rotWithShape="0">
                <a:blip r:embed="rId11"/>
                <a:stretch>
                  <a:fillRect l="-407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901168" y="4367102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168" y="4367102"/>
                <a:ext cx="4389664" cy="60853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81147" y="5195244"/>
                <a:ext cx="4498905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𝑺𝒕𝒓𝒊𝒏𝒈𝒔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𝟏𝟏𝟎𝟎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𝟏𝟎𝟎𝟏𝟎𝟎</m:t>
                    </m:r>
                  </m:oMath>
                </a14:m>
                <a:r>
                  <a:rPr lang="en-US" b="1">
                    <a:solidFill>
                      <a:srgbClr val="0E47A1"/>
                    </a:solidFill>
                    <a:latin typeface="+mj-lt"/>
                  </a:rPr>
                  <a:t>….</a:t>
                </a: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5195244"/>
                <a:ext cx="4498905" cy="608533"/>
              </a:xfrm>
              <a:prstGeom prst="rect">
                <a:avLst/>
              </a:prstGeom>
              <a:blipFill rotWithShape="0">
                <a:blip r:embed="rId13"/>
                <a:stretch>
                  <a:fillRect l="-407" r="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075301" y="5222644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301" y="5222644"/>
                <a:ext cx="4389664" cy="60853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81147" y="6032001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𝟎𝟎𝟏𝟎𝟏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𝟏𝟎𝟏𝟎𝟎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𝟎𝟏𝟎𝟏𝟏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47" y="6032001"/>
                <a:ext cx="3200400" cy="608533"/>
              </a:xfrm>
              <a:prstGeom prst="rect">
                <a:avLst/>
              </a:prstGeom>
              <a:blipFill rotWithShape="0">
                <a:blip r:embed="rId15"/>
                <a:stretch>
                  <a:fillRect l="-571" r="-259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49915" y="6032001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)∗| 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915" y="6032001"/>
                <a:ext cx="4389664" cy="608533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004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63500" indent="0">
              <a:lnSpc>
                <a:spcPct val="100000"/>
              </a:lnSpc>
              <a:buNone/>
            </a:pPr>
            <a:r>
              <a:rPr lang="en-IN" dirty="0"/>
              <a:t>32. Language of all string containing both 11 and 00 as substring </a:t>
            </a:r>
          </a:p>
          <a:p>
            <a:pPr marL="520700" indent="-457200">
              <a:lnSpc>
                <a:spcPct val="100000"/>
              </a:lnSpc>
              <a:buFont typeface="+mj-lt"/>
              <a:buAutoNum type="arabicPeriod" startAt="31"/>
            </a:pPr>
            <a:endParaRPr lang="en-IN" dirty="0"/>
          </a:p>
          <a:p>
            <a:pPr marL="63500" indent="0">
              <a:lnSpc>
                <a:spcPct val="100000"/>
              </a:lnSpc>
              <a:buNone/>
            </a:pPr>
            <a:r>
              <a:rPr lang="en-IN" dirty="0"/>
              <a:t>33. String ending with 1 and not contain 00 </a:t>
            </a:r>
          </a:p>
          <a:p>
            <a:pPr marL="463550" lvl="1" indent="0">
              <a:lnSpc>
                <a:spcPct val="100000"/>
              </a:lnSpc>
              <a:buNone/>
            </a:pPr>
            <a:endParaRPr lang="en-US" sz="2400" dirty="0"/>
          </a:p>
          <a:p>
            <a:pPr marL="63500" indent="0">
              <a:lnSpc>
                <a:spcPct val="100000"/>
              </a:lnSpc>
              <a:buNone/>
            </a:pPr>
            <a:r>
              <a:rPr lang="en-IN" dirty="0"/>
              <a:t>34. Language of C identifier 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97189" y="1304285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𝟎𝟎𝟏𝟏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𝟏𝟏𝟎𝟎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𝟏𝟎𝟎𝟏𝟏𝟎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𝟎𝟏𝟎𝟎𝟏𝟏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89" y="1304285"/>
                <a:ext cx="3200400" cy="608533"/>
              </a:xfrm>
              <a:prstGeom prst="rect">
                <a:avLst/>
              </a:prstGeom>
              <a:blipFill rotWithShape="0">
                <a:blip r:embed="rId2"/>
                <a:stretch>
                  <a:fillRect l="-381" r="-34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96535" y="1304285"/>
                <a:ext cx="6764286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|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>
                  <a:solidFill>
                    <a:srgbClr val="C00000"/>
                  </a:solidFill>
                </a:endParaRPr>
              </a:p>
              <a:p>
                <a:pPr algn="just"/>
                <a:endParaRPr lang="en-US" b="1" baseline="30000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535" y="1304285"/>
                <a:ext cx="6764286" cy="6085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8853" y="2234142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𝟏𝟏𝟎𝟏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𝟏𝟎𝟏𝟏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….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53" y="2234142"/>
                <a:ext cx="3200400" cy="60853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97589" y="2296313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𝟎𝟏</m:t>
                          </m:r>
                        </m:e>
                      </m:d>
                      <m:r>
                        <a:rPr lang="en-US" b="1" i="1" baseline="30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589" y="2296313"/>
                <a:ext cx="4389664" cy="60853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480329" y="3218878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 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(_+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)(_ + 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I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baseline="30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329" y="3218878"/>
                <a:ext cx="4389664" cy="60853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68853" y="3218879"/>
                <a:ext cx="3200400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𝑺𝒕𝒓𝒊𝒏𝒈𝒔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𝒂𝒓𝒆𝒂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𝒓𝒆𝒅𝒊𝒐𝒖𝒔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𝒈𝒓𝒂𝒅𝒆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….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53" y="3218879"/>
                <a:ext cx="3200400" cy="608533"/>
              </a:xfrm>
              <a:prstGeom prst="rect">
                <a:avLst/>
              </a:prstGeom>
              <a:blipFill rotWithShape="0">
                <a:blip r:embed="rId7"/>
                <a:stretch>
                  <a:fillRect l="-381" r="-22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40806" y="3675387"/>
                <a:ext cx="4389664" cy="608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𝒘𝒉𝒆𝒓𝒆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𝑳𝒆𝒕𝒕𝒆𝒓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𝐝𝐢𝐠𝐢𝐭</m:t>
                      </m:r>
                    </m:oMath>
                  </m:oMathPara>
                </a14:m>
                <a:endParaRPr lang="en-US" b="1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806" y="3675387"/>
                <a:ext cx="4389664" cy="60853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04784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/>
                  <a:t>A regular definition gives names to certain regular expressions and uses those names in other regular expressions.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/>
                  <a:t>Regular definition is a sequence of definitions of the form: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/>
              </a:p>
              <a:p>
                <a:pPr marL="914400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en-US"/>
                  <a:t>……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𝑟𝑛</m:t>
                      </m:r>
                    </m:oMath>
                  </m:oMathPara>
                </a14:m>
                <a:endParaRPr lang="en-US" baseline="-25000"/>
              </a:p>
              <a:p>
                <a:pPr marL="514350" lvl="3" indent="0">
                  <a:lnSpc>
                    <a:spcPct val="100000"/>
                  </a:lnSpc>
                  <a:buNone/>
                </a:pPr>
                <a:r>
                  <a:rPr lang="en-US" sz="2200"/>
                  <a:t>	</a:t>
                </a:r>
                <a:r>
                  <a:rPr lang="en-US" sz="2400"/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/>
                  <a:t> is a </a:t>
                </a:r>
                <a:r>
                  <a:rPr lang="en-US" sz="2400" b="1">
                    <a:solidFill>
                      <a:srgbClr val="0E47A1"/>
                    </a:solidFill>
                  </a:rPr>
                  <a:t>distinct name </a:t>
                </a:r>
                <a:r>
                  <a:rPr lang="en-US" sz="2400"/>
                  <a:t>&amp;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is a </a:t>
                </a:r>
                <a:r>
                  <a:rPr lang="en-US" sz="2400" b="1">
                    <a:solidFill>
                      <a:srgbClr val="0E47A1"/>
                    </a:solidFill>
                  </a:rPr>
                  <a:t>regular expression</a:t>
                </a:r>
                <a:r>
                  <a:rPr lang="en-US" sz="2400"/>
                  <a:t>.</a:t>
                </a:r>
              </a:p>
              <a:p>
                <a:pPr marL="285750" lvl="3" indent="-28575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/>
                  <a:t>Example: Regular definition for identifier</a:t>
                </a:r>
              </a:p>
              <a:p>
                <a:pPr marL="0" lvl="3" indent="0">
                  <a:lnSpc>
                    <a:spcPct val="100000"/>
                  </a:lnSpc>
                  <a:buNone/>
                </a:pPr>
                <a:r>
                  <a:rPr lang="en-US" sz="2400"/>
                  <a:t>	</a:t>
                </a:r>
                <a:r>
                  <a:rPr lang="en-US" sz="2400">
                    <a:solidFill>
                      <a:srgbClr val="C00000"/>
                    </a:solidFill>
                  </a:rPr>
                  <a:t>letter</a:t>
                </a:r>
                <a:r>
                  <a:rPr lang="en-US" sz="2400"/>
                  <a:t> </a:t>
                </a:r>
                <a:r>
                  <a:rPr lang="en-US" sz="2400">
                    <a:sym typeface="Wingdings" panose="05000000000000000000" pitchFamily="2" charset="2"/>
                  </a:rPr>
                  <a:t> A|B|C|………..|Z|a|b|………..|z</a:t>
                </a:r>
              </a:p>
              <a:p>
                <a:pPr marL="0" lvl="3" indent="0">
                  <a:lnSpc>
                    <a:spcPct val="100000"/>
                  </a:lnSpc>
                  <a:buNone/>
                </a:pPr>
                <a:r>
                  <a:rPr lang="en-US" sz="2400">
                    <a:sym typeface="Wingdings" panose="05000000000000000000" pitchFamily="2" charset="2"/>
                  </a:rPr>
                  <a:t>	</a:t>
                </a:r>
                <a:r>
                  <a:rPr lang="en-US" sz="2400">
                    <a:solidFill>
                      <a:srgbClr val="0E47A1"/>
                    </a:solidFill>
                    <a:sym typeface="Wingdings" panose="05000000000000000000" pitchFamily="2" charset="2"/>
                  </a:rPr>
                  <a:t>digit</a:t>
                </a:r>
                <a:r>
                  <a:rPr lang="en-US" sz="2400">
                    <a:sym typeface="Wingdings" panose="05000000000000000000" pitchFamily="2" charset="2"/>
                  </a:rPr>
                  <a:t>  0|1|…….|9|</a:t>
                </a:r>
              </a:p>
              <a:p>
                <a:pPr marL="0" lvl="3" indent="0">
                  <a:lnSpc>
                    <a:spcPct val="100000"/>
                  </a:lnSpc>
                  <a:buNone/>
                </a:pPr>
                <a:r>
                  <a:rPr lang="en-US" sz="2400">
                    <a:sym typeface="Wingdings" panose="05000000000000000000" pitchFamily="2" charset="2"/>
                  </a:rPr>
                  <a:t>	</a:t>
                </a:r>
                <a:r>
                  <a:rPr lang="en-US" sz="2400" b="1">
                    <a:solidFill>
                      <a:srgbClr val="03A9F5"/>
                    </a:solidFill>
                    <a:sym typeface="Wingdings" panose="05000000000000000000" pitchFamily="2" charset="2"/>
                  </a:rPr>
                  <a:t>id</a:t>
                </a:r>
                <a:r>
                  <a:rPr lang="en-US" sz="2400" b="1">
                    <a:sym typeface="Wingdings" panose="05000000000000000000" pitchFamily="2" charset="2"/>
                  </a:rPr>
                  <a:t></a:t>
                </a:r>
                <a:r>
                  <a:rPr lang="en-US" sz="2400" b="1" i="1">
                    <a:solidFill>
                      <a:schemeClr val="accent1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 b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letter</a:t>
                </a:r>
                <a:r>
                  <a:rPr lang="en-US" sz="2400" b="1" i="1">
                    <a:solidFill>
                      <a:schemeClr val="accent1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 b="1">
                    <a:sym typeface="Wingdings" panose="05000000000000000000" pitchFamily="2" charset="2"/>
                  </a:rPr>
                  <a:t>(</a:t>
                </a:r>
                <a:r>
                  <a:rPr lang="en-US" sz="2400" b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letter</a:t>
                </a:r>
                <a:r>
                  <a:rPr lang="en-US" sz="2400" b="1" i="1">
                    <a:solidFill>
                      <a:schemeClr val="accent1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 b="1">
                    <a:sym typeface="Wingdings" panose="05000000000000000000" pitchFamily="2" charset="2"/>
                  </a:rPr>
                  <a:t>|</a:t>
                </a:r>
                <a:r>
                  <a:rPr lang="en-US" sz="2400" b="1" i="1">
                    <a:solidFill>
                      <a:schemeClr val="accent1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 b="1">
                    <a:solidFill>
                      <a:srgbClr val="0E47A1"/>
                    </a:solidFill>
                    <a:sym typeface="Wingdings" panose="05000000000000000000" pitchFamily="2" charset="2"/>
                  </a:rPr>
                  <a:t>digit</a:t>
                </a:r>
                <a:r>
                  <a:rPr lang="en-US" sz="2400" b="1">
                    <a:sym typeface="Wingdings" panose="05000000000000000000" pitchFamily="2" charset="2"/>
                  </a:rPr>
                  <a:t>)*</a:t>
                </a:r>
                <a:endParaRPr lang="en-US" sz="2400" b="1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920" t="-1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991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definition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Example: Unsigned Pascal numbers	</a:t>
            </a:r>
          </a:p>
          <a:p>
            <a:pPr marL="0" indent="0">
              <a:buNone/>
            </a:pPr>
            <a:r>
              <a:rPr lang="en-US"/>
              <a:t>	3</a:t>
            </a:r>
          </a:p>
          <a:p>
            <a:pPr marL="0" indent="0">
              <a:buNone/>
            </a:pPr>
            <a:r>
              <a:rPr lang="en-US"/>
              <a:t>	5280</a:t>
            </a:r>
          </a:p>
          <a:p>
            <a:pPr marL="0" indent="0">
              <a:buNone/>
            </a:pPr>
            <a:r>
              <a:rPr lang="en-US"/>
              <a:t>	39.37</a:t>
            </a:r>
          </a:p>
          <a:p>
            <a:pPr marL="914400" lvl="2" indent="0">
              <a:buNone/>
            </a:pPr>
            <a:r>
              <a:rPr lang="en-US" sz="2400"/>
              <a:t>6.336E4</a:t>
            </a:r>
          </a:p>
          <a:p>
            <a:pPr marL="914400" lvl="2" indent="0">
              <a:buNone/>
            </a:pPr>
            <a:r>
              <a:rPr lang="en-US" sz="2400"/>
              <a:t>1.894E-4</a:t>
            </a:r>
          </a:p>
          <a:p>
            <a:pPr marL="914400" lvl="2" indent="0">
              <a:buNone/>
            </a:pPr>
            <a:r>
              <a:rPr lang="en-US" sz="2400"/>
              <a:t>2.56E+7</a:t>
            </a:r>
          </a:p>
          <a:p>
            <a:pPr marL="114300" lvl="2" indent="57150">
              <a:buNone/>
            </a:pPr>
            <a:r>
              <a:rPr lang="en-US" sz="2400" b="1"/>
              <a:t>Regular Definition</a:t>
            </a:r>
          </a:p>
          <a:p>
            <a:pPr marL="114300" lvl="2" indent="57150">
              <a:buNone/>
            </a:pPr>
            <a:r>
              <a:rPr lang="en-US" sz="2400"/>
              <a:t>	digit </a:t>
            </a:r>
            <a:r>
              <a:rPr lang="en-US" sz="2400">
                <a:sym typeface="Wingdings" panose="05000000000000000000" pitchFamily="2" charset="2"/>
              </a:rPr>
              <a:t> 0|1|…..|9</a:t>
            </a:r>
          </a:p>
          <a:p>
            <a:pPr marL="114300" lvl="2" indent="57150">
              <a:buNone/>
            </a:pPr>
            <a:r>
              <a:rPr lang="en-US" sz="2400">
                <a:sym typeface="Wingdings" panose="05000000000000000000" pitchFamily="2" charset="2"/>
              </a:rPr>
              <a:t>	</a:t>
            </a:r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digits</a:t>
            </a:r>
            <a:r>
              <a:rPr lang="en-US" sz="2400">
                <a:sym typeface="Wingdings" panose="05000000000000000000" pitchFamily="2" charset="2"/>
              </a:rPr>
              <a:t>  digit digit*</a:t>
            </a:r>
            <a:endParaRPr lang="en-US" sz="2400" baseline="30000">
              <a:sym typeface="Wingdings" panose="05000000000000000000" pitchFamily="2" charset="2"/>
            </a:endParaRPr>
          </a:p>
          <a:p>
            <a:pPr marL="114300" lvl="2" indent="57150">
              <a:buNone/>
            </a:pPr>
            <a:r>
              <a:rPr lang="en-US" sz="2400" baseline="30000">
                <a:sym typeface="Wingdings" panose="05000000000000000000" pitchFamily="2" charset="2"/>
              </a:rPr>
              <a:t>	</a:t>
            </a:r>
            <a:r>
              <a:rPr lang="en-US" sz="2400" err="1">
                <a:solidFill>
                  <a:srgbClr val="C00000"/>
                </a:solidFill>
                <a:sym typeface="Wingdings" panose="05000000000000000000" pitchFamily="2" charset="2"/>
              </a:rPr>
              <a:t>optional_fraction</a:t>
            </a:r>
            <a:r>
              <a:rPr lang="en-US" sz="2400">
                <a:sym typeface="Wingdings" panose="05000000000000000000" pitchFamily="2" charset="2"/>
              </a:rPr>
              <a:t>  .digits | </a:t>
            </a:r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sz="2400">
              <a:sym typeface="Wingdings" panose="05000000000000000000" pitchFamily="2" charset="2"/>
            </a:endParaRPr>
          </a:p>
          <a:p>
            <a:pPr marL="114300" lvl="2" indent="57150">
              <a:buNone/>
            </a:pPr>
            <a:r>
              <a:rPr lang="en-US" sz="2400">
                <a:sym typeface="Wingdings" panose="05000000000000000000" pitchFamily="2" charset="2"/>
              </a:rPr>
              <a:t>	</a:t>
            </a:r>
            <a:r>
              <a:rPr lang="en-US" sz="2400" err="1">
                <a:solidFill>
                  <a:srgbClr val="7030A0"/>
                </a:solidFill>
                <a:sym typeface="Wingdings" panose="05000000000000000000" pitchFamily="2" charset="2"/>
              </a:rPr>
              <a:t>optional_exponent</a:t>
            </a:r>
            <a:r>
              <a:rPr lang="en-US" sz="2400">
                <a:sym typeface="Wingdings" panose="05000000000000000000" pitchFamily="2" charset="2"/>
              </a:rPr>
              <a:t>  (E(+|-|</a:t>
            </a:r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r>
              <a:rPr lang="en-US" sz="2400">
                <a:sym typeface="Wingdings" panose="05000000000000000000" pitchFamily="2" charset="2"/>
              </a:rPr>
              <a:t>)digits)|</a:t>
            </a:r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sz="2400">
              <a:sym typeface="Wingdings" panose="05000000000000000000" pitchFamily="2" charset="2"/>
            </a:endParaRPr>
          </a:p>
          <a:p>
            <a:pPr marL="114300" lvl="2" indent="57150">
              <a:buNone/>
            </a:pPr>
            <a:r>
              <a:rPr lang="en-US" sz="2400">
                <a:sym typeface="Wingdings" panose="05000000000000000000" pitchFamily="2" charset="2"/>
              </a:rPr>
              <a:t>	num  </a:t>
            </a:r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digits</a:t>
            </a:r>
            <a:r>
              <a:rPr lang="en-US" sz="2400">
                <a:sym typeface="Wingdings" panose="05000000000000000000" pitchFamily="2" charset="2"/>
              </a:rPr>
              <a:t> </a:t>
            </a:r>
            <a:r>
              <a:rPr lang="en-US" sz="2400" err="1">
                <a:solidFill>
                  <a:srgbClr val="C00000"/>
                </a:solidFill>
                <a:sym typeface="Wingdings" panose="05000000000000000000" pitchFamily="2" charset="2"/>
              </a:rPr>
              <a:t>optional_fraction</a:t>
            </a:r>
            <a:r>
              <a:rPr lang="en-US" sz="2400">
                <a:sym typeface="Wingdings" panose="05000000000000000000" pitchFamily="2" charset="2"/>
              </a:rPr>
              <a:t> </a:t>
            </a:r>
            <a:r>
              <a:rPr lang="en-US" sz="2400" err="1">
                <a:solidFill>
                  <a:srgbClr val="7030A0"/>
                </a:solidFill>
                <a:sym typeface="Wingdings" panose="05000000000000000000" pitchFamily="2" charset="2"/>
              </a:rPr>
              <a:t>optional_exponent</a:t>
            </a:r>
            <a:endParaRPr lang="en-US" sz="2400">
              <a:solidFill>
                <a:srgbClr val="7030A0"/>
              </a:solidFill>
            </a:endParaRPr>
          </a:p>
          <a:p>
            <a:pPr marL="914400" lvl="2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05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6. Transition Diagram</a:t>
            </a:r>
          </a:p>
        </p:txBody>
      </p:sp>
    </p:spTree>
    <p:extLst>
      <p:ext uri="{BB962C8B-B14F-4D97-AF65-F5344CB8AC3E}">
        <p14:creationId xmlns:p14="http://schemas.microsoft.com/office/powerpoint/2010/main" val="70348686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Transition Diagram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808038"/>
            <a:ext cx="11928475" cy="5589587"/>
          </a:xfrm>
        </p:spPr>
        <p:txBody>
          <a:bodyPr/>
          <a:lstStyle/>
          <a:p>
            <a:r>
              <a:rPr lang="en-US"/>
              <a:t>A stylized flowchart is called transition diagram.</a:t>
            </a:r>
          </a:p>
          <a:p>
            <a:endParaRPr lang="en-US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700192" y="1684341"/>
            <a:ext cx="647700" cy="649287"/>
          </a:xfrm>
          <a:prstGeom prst="ellipse">
            <a:avLst/>
          </a:prstGeom>
          <a:solidFill>
            <a:srgbClr val="0E47A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sz="2400">
              <a:latin typeface="+mj-lt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781280" y="1684341"/>
            <a:ext cx="127115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>
                <a:latin typeface="+mj-lt"/>
              </a:rPr>
              <a:t>is a state</a:t>
            </a: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4628755" y="3124203"/>
            <a:ext cx="792162" cy="0"/>
          </a:xfrm>
          <a:prstGeom prst="line">
            <a:avLst/>
          </a:prstGeom>
          <a:noFill/>
          <a:ln w="381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 sz="2400">
              <a:latin typeface="+mj-lt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781280" y="2836866"/>
            <a:ext cx="185862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>
                <a:latin typeface="+mj-lt"/>
              </a:rPr>
              <a:t>is a transition</a:t>
            </a: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4700192" y="3989391"/>
            <a:ext cx="647700" cy="649287"/>
          </a:xfrm>
          <a:prstGeom prst="ellipse">
            <a:avLst/>
          </a:prstGeom>
          <a:solidFill>
            <a:srgbClr val="0E47A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sz="2400">
              <a:latin typeface="+mj-lt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3908030" y="4349753"/>
            <a:ext cx="792162" cy="0"/>
          </a:xfrm>
          <a:prstGeom prst="line">
            <a:avLst/>
          </a:prstGeom>
          <a:noFill/>
          <a:ln w="381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 sz="2400">
              <a:latin typeface="+mj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781280" y="3989391"/>
            <a:ext cx="198205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>
                <a:latin typeface="+mj-lt"/>
              </a:rPr>
              <a:t>is a start state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4700191" y="5303520"/>
            <a:ext cx="720725" cy="703583"/>
          </a:xfrm>
          <a:prstGeom prst="ellipse">
            <a:avLst/>
          </a:prstGeom>
          <a:solidFill>
            <a:srgbClr val="0E47A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sz="2400">
              <a:latin typeface="+mj-lt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4799409" y="5399724"/>
            <a:ext cx="522288" cy="511175"/>
          </a:xfrm>
          <a:prstGeom prst="ellipse">
            <a:avLst/>
          </a:prstGeom>
          <a:solidFill>
            <a:srgbClr val="0E47A1"/>
          </a:solidFill>
          <a:ln w="25400">
            <a:solidFill>
              <a:schemeClr val="bg1"/>
            </a:solidFill>
            <a:rou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 sz="2400">
              <a:latin typeface="+mj-lt"/>
            </a:endParaRP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5781280" y="5429253"/>
            <a:ext cx="188510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>
                <a:latin typeface="+mj-lt"/>
              </a:rPr>
              <a:t>is a final state</a:t>
            </a:r>
          </a:p>
        </p:txBody>
      </p:sp>
    </p:spTree>
    <p:extLst>
      <p:ext uri="{BB962C8B-B14F-4D97-AF65-F5344CB8AC3E}">
        <p14:creationId xmlns:p14="http://schemas.microsoft.com/office/powerpoint/2010/main" val="1650431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Transition Diagram : Relational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0596" y="1977101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&lt;</a:t>
            </a:r>
          </a:p>
        </p:txBody>
      </p:sp>
      <p:sp>
        <p:nvSpPr>
          <p:cNvPr id="5" name="Oval 4"/>
          <p:cNvSpPr/>
          <p:nvPr/>
        </p:nvSpPr>
        <p:spPr>
          <a:xfrm>
            <a:off x="6286500" y="4724400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2333812" y="207862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12" y="2078623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3772832" y="450016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832" y="4500167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3787121" y="208121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21" y="2081212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229569" y="2071272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315324" y="2147472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67668" y="285232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5353423" y="2928526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96242" y="3623863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5381997" y="370006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6" idx="2"/>
          </p:cNvCxnSpPr>
          <p:nvPr/>
        </p:nvCxnSpPr>
        <p:spPr>
          <a:xfrm>
            <a:off x="1828800" y="2383423"/>
            <a:ext cx="505012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6"/>
            <a:endCxn id="8" idx="2"/>
          </p:cNvCxnSpPr>
          <p:nvPr/>
        </p:nvCxnSpPr>
        <p:spPr>
          <a:xfrm>
            <a:off x="2943412" y="2383423"/>
            <a:ext cx="843709" cy="25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396721" y="2392948"/>
            <a:ext cx="843709" cy="25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 rot="16200000" flipH="1">
            <a:off x="4460925" y="2336095"/>
            <a:ext cx="466314" cy="1175747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endCxn id="13" idx="2"/>
          </p:cNvCxnSpPr>
          <p:nvPr/>
        </p:nvCxnSpPr>
        <p:spPr>
          <a:xfrm rot="16200000" flipH="1">
            <a:off x="4097674" y="2730095"/>
            <a:ext cx="1221390" cy="1175745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305498" y="343335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3391253" y="3509556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401016" y="544315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5486771" y="5519350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67680" y="4481119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5453435" y="4557319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7" idx="6"/>
          </p:cNvCxnSpPr>
          <p:nvPr/>
        </p:nvCxnSpPr>
        <p:spPr>
          <a:xfrm flipV="1">
            <a:off x="4382432" y="4800185"/>
            <a:ext cx="990008" cy="478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7" idx="5"/>
            <a:endCxn id="22" idx="2"/>
          </p:cNvCxnSpPr>
          <p:nvPr/>
        </p:nvCxnSpPr>
        <p:spPr>
          <a:xfrm rot="16200000" flipH="1">
            <a:off x="4483359" y="4830292"/>
            <a:ext cx="727457" cy="1107858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/>
          <p:nvPr/>
        </p:nvCxnSpPr>
        <p:spPr>
          <a:xfrm rot="16200000" flipH="1">
            <a:off x="2161810" y="3179485"/>
            <a:ext cx="2116744" cy="1134220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6" idx="4"/>
            <a:endCxn id="20" idx="2"/>
          </p:cNvCxnSpPr>
          <p:nvPr/>
        </p:nvCxnSpPr>
        <p:spPr>
          <a:xfrm rot="16200000" flipH="1">
            <a:off x="2447089" y="2879746"/>
            <a:ext cx="1049933" cy="666886"/>
          </a:xfrm>
          <a:prstGeom prst="curvedConnector2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46724" y="2016294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9350" y="3453374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8196" y="2724944"/>
            <a:ext cx="279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331" y="4476947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8424" y="5248288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50000" y="3229917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9953" y="4292932"/>
            <a:ext cx="279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2746" y="2104193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7280" y="2870256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24964" y="3738156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(relop,LT)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015" y="4653845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7766" y="5609390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(relop,GT)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9873" y="3964945"/>
            <a:ext cx="180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return (relop,EQ)</a:t>
            </a:r>
          </a:p>
        </p:txBody>
      </p:sp>
    </p:spTree>
    <p:extLst>
      <p:ext uri="{BB962C8B-B14F-4D97-AF65-F5344CB8AC3E}">
        <p14:creationId xmlns:p14="http://schemas.microsoft.com/office/powerpoint/2010/main" val="3579260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Transition diagram : Unsigned number</a:t>
            </a:r>
          </a:p>
        </p:txBody>
      </p:sp>
      <p:sp>
        <p:nvSpPr>
          <p:cNvPr id="40" name="Content Placeholder 39"/>
          <p:cNvSpPr>
            <a:spLocks noGrp="1"/>
          </p:cNvSpPr>
          <p:nvPr>
            <p:ph idx="4294967295"/>
          </p:nvPr>
        </p:nvSpPr>
        <p:spPr>
          <a:xfrm>
            <a:off x="263525" y="3752850"/>
            <a:ext cx="11928475" cy="2932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/>
              <a:t>	</a:t>
            </a:r>
            <a:r>
              <a:rPr lang="en-US" sz="2400"/>
              <a:t>3</a:t>
            </a:r>
          </a:p>
          <a:p>
            <a:pPr marL="0" indent="0">
              <a:buNone/>
            </a:pPr>
            <a:r>
              <a:rPr lang="en-US" sz="2400"/>
              <a:t>	5280</a:t>
            </a:r>
          </a:p>
          <a:p>
            <a:pPr marL="0" indent="0">
              <a:buNone/>
            </a:pPr>
            <a:r>
              <a:rPr lang="en-US" sz="2400"/>
              <a:t>	39.37</a:t>
            </a:r>
          </a:p>
          <a:p>
            <a:pPr marL="914400" lvl="2" indent="0">
              <a:buNone/>
            </a:pPr>
            <a:r>
              <a:rPr lang="en-US" sz="2400"/>
              <a:t>1.894 </a:t>
            </a:r>
            <a:r>
              <a:rPr lang="en-US" sz="2400" b="1">
                <a:solidFill>
                  <a:srgbClr val="0E47A1"/>
                </a:solidFill>
              </a:rPr>
              <a:t>E</a:t>
            </a:r>
            <a:r>
              <a:rPr lang="en-US" sz="2400" b="1">
                <a:solidFill>
                  <a:srgbClr val="FF0000"/>
                </a:solidFill>
              </a:rPr>
              <a:t> </a:t>
            </a:r>
            <a:r>
              <a:rPr lang="en-US" sz="2400" b="1">
                <a:solidFill>
                  <a:srgbClr val="C00000"/>
                </a:solidFill>
              </a:rPr>
              <a:t>-</a:t>
            </a:r>
            <a:r>
              <a:rPr lang="en-US" sz="2400"/>
              <a:t> 4</a:t>
            </a:r>
          </a:p>
          <a:p>
            <a:pPr marL="914400" lvl="2" indent="0">
              <a:buNone/>
            </a:pPr>
            <a:r>
              <a:rPr lang="en-US" sz="2400"/>
              <a:t>2.56 </a:t>
            </a:r>
            <a:r>
              <a:rPr lang="en-US" sz="2400" b="1">
                <a:solidFill>
                  <a:srgbClr val="0E47A1"/>
                </a:solidFill>
              </a:rPr>
              <a:t>E</a:t>
            </a:r>
            <a:r>
              <a:rPr lang="en-US" sz="2400"/>
              <a:t> </a:t>
            </a:r>
            <a:r>
              <a:rPr lang="en-US" sz="2400" b="1">
                <a:solidFill>
                  <a:srgbClr val="C00000"/>
                </a:solidFill>
              </a:rPr>
              <a:t>+</a:t>
            </a:r>
            <a:r>
              <a:rPr lang="en-US" sz="2400"/>
              <a:t> 7</a:t>
            </a:r>
          </a:p>
          <a:p>
            <a:pPr marL="914400" lvl="2" indent="0">
              <a:buNone/>
            </a:pPr>
            <a:r>
              <a:rPr lang="en-US" sz="2400"/>
              <a:t>45 </a:t>
            </a:r>
            <a:r>
              <a:rPr lang="en-US" sz="2400" b="1">
                <a:solidFill>
                  <a:srgbClr val="0E47A1"/>
                </a:solidFill>
              </a:rPr>
              <a:t>E</a:t>
            </a:r>
            <a:r>
              <a:rPr lang="en-US" sz="2400" b="1">
                <a:solidFill>
                  <a:srgbClr val="FF0000"/>
                </a:solidFill>
              </a:rPr>
              <a:t> </a:t>
            </a:r>
            <a:r>
              <a:rPr lang="en-US" sz="2400" b="1">
                <a:solidFill>
                  <a:srgbClr val="C00000"/>
                </a:solidFill>
              </a:rPr>
              <a:t>+</a:t>
            </a:r>
            <a:r>
              <a:rPr lang="en-US" sz="2400"/>
              <a:t> 6</a:t>
            </a:r>
          </a:p>
          <a:p>
            <a:pPr marL="914400" lvl="2" indent="0">
              <a:buNone/>
            </a:pPr>
            <a:r>
              <a:rPr lang="en-US" sz="2400"/>
              <a:t>96 </a:t>
            </a:r>
            <a:r>
              <a:rPr lang="en-US" sz="2400" b="1">
                <a:solidFill>
                  <a:srgbClr val="0E47A1"/>
                </a:solidFill>
              </a:rPr>
              <a:t>E</a:t>
            </a:r>
            <a:r>
              <a:rPr lang="en-US" sz="2400"/>
              <a:t>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2370698" y="253064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98" y="2530649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3478206" y="253390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206" y="2533902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872916" y="2835449"/>
            <a:ext cx="505012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4" idx="6"/>
            <a:endCxn id="5" idx="2"/>
          </p:cNvCxnSpPr>
          <p:nvPr/>
        </p:nvCxnSpPr>
        <p:spPr>
          <a:xfrm>
            <a:off x="2980298" y="2835449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898956" y="2530261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9975156" y="260646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433702" y="2423515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  <a:ea typeface="Cambria Math" panose="02040503050406030204" pitchFamily="18" charset="0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4828" y="2467961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4585714" y="257242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714" y="2572428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endCxn id="12" idx="2"/>
          </p:cNvCxnSpPr>
          <p:nvPr/>
        </p:nvCxnSpPr>
        <p:spPr>
          <a:xfrm>
            <a:off x="4087806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5653169" y="257242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169" y="2572428"/>
                <a:ext cx="609600" cy="60960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endCxn id="14" idx="2"/>
          </p:cNvCxnSpPr>
          <p:nvPr/>
        </p:nvCxnSpPr>
        <p:spPr>
          <a:xfrm>
            <a:off x="5155261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6752336" y="257242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336" y="2572428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endCxn id="16" idx="2"/>
          </p:cNvCxnSpPr>
          <p:nvPr/>
        </p:nvCxnSpPr>
        <p:spPr>
          <a:xfrm>
            <a:off x="6254428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7851503" y="257242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03" y="2572428"/>
                <a:ext cx="609600" cy="609600"/>
              </a:xfrm>
              <a:prstGeom prst="ellipse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endCxn id="18" idx="2"/>
          </p:cNvCxnSpPr>
          <p:nvPr/>
        </p:nvCxnSpPr>
        <p:spPr>
          <a:xfrm>
            <a:off x="7353595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8950670" y="257242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670" y="2572428"/>
                <a:ext cx="609600" cy="609600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endCxn id="20" idx="2"/>
          </p:cNvCxnSpPr>
          <p:nvPr/>
        </p:nvCxnSpPr>
        <p:spPr>
          <a:xfrm>
            <a:off x="8452762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401048" y="2873975"/>
            <a:ext cx="497908" cy="325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21911" y="1736425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2178" y="2509989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5522" y="1765213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817" y="2498239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+or 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9335" y="1736425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640" y="2471441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  <p:cxnSp>
        <p:nvCxnSpPr>
          <p:cNvPr id="29" name="Curved Connector 28"/>
          <p:cNvCxnSpPr/>
          <p:nvPr/>
        </p:nvCxnSpPr>
        <p:spPr>
          <a:xfrm rot="16200000" flipV="1">
            <a:off x="3781908" y="2459855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/>
          <p:nvPr/>
        </p:nvCxnSpPr>
        <p:spPr>
          <a:xfrm rot="16200000" flipV="1">
            <a:off x="5964597" y="2486843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/>
          <p:nvPr/>
        </p:nvCxnSpPr>
        <p:spPr>
          <a:xfrm rot="16200000" flipV="1">
            <a:off x="9265707" y="2451165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52483" y="2521661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>
                <a:solidFill>
                  <a:srgbClr val="0E47A1"/>
                </a:solidFill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0305" y="2436684"/>
            <a:ext cx="16700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600" b="1"/>
              <a:t>.</a:t>
            </a:r>
          </a:p>
        </p:txBody>
      </p:sp>
      <p:cxnSp>
        <p:nvCxnSpPr>
          <p:cNvPr id="34" name="Curved Connector 33"/>
          <p:cNvCxnSpPr>
            <a:stCxn id="5" idx="4"/>
            <a:endCxn id="16" idx="4"/>
          </p:cNvCxnSpPr>
          <p:nvPr/>
        </p:nvCxnSpPr>
        <p:spPr>
          <a:xfrm rot="16200000" flipH="1">
            <a:off x="5400808" y="1525700"/>
            <a:ext cx="38526" cy="3274130"/>
          </a:xfrm>
          <a:prstGeom prst="curvedConnector3">
            <a:avLst>
              <a:gd name="adj1" fmla="val 1360902"/>
            </a:avLst>
          </a:prstGeom>
          <a:ln w="25400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16" idx="4"/>
            <a:endCxn id="20" idx="4"/>
          </p:cNvCxnSpPr>
          <p:nvPr/>
        </p:nvCxnSpPr>
        <p:spPr>
          <a:xfrm rot="16200000" flipH="1">
            <a:off x="8156303" y="2082861"/>
            <a:ext cx="12700" cy="2198334"/>
          </a:xfrm>
          <a:prstGeom prst="curvedConnector3">
            <a:avLst>
              <a:gd name="adj1" fmla="val 3712496"/>
            </a:avLst>
          </a:prstGeom>
          <a:ln w="25400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32089" y="2466157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2178" y="3675990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>
                <a:solidFill>
                  <a:srgbClr val="0E47A1"/>
                </a:solidFill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303" y="3738545"/>
            <a:ext cx="4854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digit</a:t>
            </a:r>
          </a:p>
        </p:txBody>
      </p:sp>
    </p:spTree>
    <p:extLst>
      <p:ext uri="{BB962C8B-B14F-4D97-AF65-F5344CB8AC3E}">
        <p14:creationId xmlns:p14="http://schemas.microsoft.com/office/powerpoint/2010/main" val="37799991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/>
      <p:bldP spid="11" grpId="0"/>
      <p:bldP spid="12" grpId="0" animBg="1"/>
      <p:bldP spid="14" grpId="0" animBg="1"/>
      <p:bldP spid="16" grpId="0" animBg="1"/>
      <p:bldP spid="18" grpId="0" animBg="1"/>
      <p:bldP spid="20" grpId="0" animBg="1"/>
      <p:bldP spid="23" grpId="0"/>
      <p:bldP spid="24" grpId="0"/>
      <p:bldP spid="25" grpId="0"/>
      <p:bldP spid="26" grpId="0"/>
      <p:bldP spid="27" grpId="0"/>
      <p:bldP spid="28" grpId="0"/>
      <p:bldP spid="32" grpId="0"/>
      <p:bldP spid="33" grpId="0"/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7. Hard coding &amp; automatic generation Lexical analyzers</a:t>
            </a:r>
          </a:p>
        </p:txBody>
      </p:sp>
    </p:spTree>
    <p:extLst>
      <p:ext uri="{BB962C8B-B14F-4D97-AF65-F5344CB8AC3E}">
        <p14:creationId xmlns:p14="http://schemas.microsoft.com/office/powerpoint/2010/main" val="235219212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sz="3600"/>
              <a:t>Hard coding and automatic generation lexical analyzers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381158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Lexical analysis is about identifying the pattern from the input.</a:t>
            </a:r>
          </a:p>
          <a:p>
            <a:r>
              <a:rPr lang="en-US"/>
              <a:t>To recognize the pattern, transition diagram is constructed.</a:t>
            </a:r>
          </a:p>
          <a:p>
            <a:r>
              <a:rPr lang="en-US"/>
              <a:t>It is known as hard coding lexical analyzer.</a:t>
            </a:r>
          </a:p>
          <a:p>
            <a:r>
              <a:rPr lang="en-US"/>
              <a:t>Example: to represent identifier in ‘C’, the first character must be letter and other characters are either letter or digits.</a:t>
            </a:r>
          </a:p>
          <a:p>
            <a:r>
              <a:rPr lang="en-US"/>
              <a:t>To recognize this pattern, hard coding lexical analyzer will work with a transition diagram.</a:t>
            </a:r>
          </a:p>
          <a:p>
            <a:r>
              <a:rPr lang="en-US"/>
              <a:t>The automatic generation lexical analyzer takes special notation as input.</a:t>
            </a:r>
          </a:p>
          <a:p>
            <a:r>
              <a:rPr lang="en-US"/>
              <a:t>For example, lex compiler tool will take regular expression as input and finds out the pattern matching to that regular expression.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407659" y="5892908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7437820" y="5892908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76341" y="6125620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475465" y="6125620"/>
            <a:ext cx="943554" cy="509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64859" y="6125620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60433" y="5748765"/>
            <a:ext cx="1004209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506400" y="5961488"/>
            <a:ext cx="320040" cy="320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Curved Connector 10"/>
          <p:cNvCxnSpPr/>
          <p:nvPr/>
        </p:nvCxnSpPr>
        <p:spPr>
          <a:xfrm rot="16200000" flipV="1">
            <a:off x="6633873" y="5821286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53893" y="5067905"/>
            <a:ext cx="1550974" cy="429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Letter or digit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03670" y="5658061"/>
            <a:ext cx="1030783" cy="429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Letter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35857" y="5890875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6053" y="4868795"/>
            <a:ext cx="114300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36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10" grpId="0" animBg="1"/>
      <p:bldP spid="12" grpId="0"/>
      <p:bldP spid="13" grpId="0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8. 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373049806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r>
                  <a:rPr lang="en-US" altLang="zh-TW"/>
                  <a:t>Finite Automata are recognizers.</a:t>
                </a:r>
              </a:p>
              <a:p>
                <a:pPr lvl="1"/>
                <a:r>
                  <a:rPr lang="en-US" altLang="zh-TW" sz="2400"/>
                  <a:t>FA simply say “Yes” or “No” about each possible input string.</a:t>
                </a:r>
              </a:p>
              <a:p>
                <a:r>
                  <a:rPr lang="en-US"/>
                  <a:t>Finite Automata is a mathematical model consist of:</a:t>
                </a:r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Set of states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Set of input symbol </a:t>
                </a:r>
                <a14:m>
                  <m:oMath xmlns:m="http://schemas.openxmlformats.org/officeDocument/2006/math">
                    <m:r>
                      <a:rPr lang="el-GR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endParaRPr lang="en-US" b="1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A transition function </a:t>
                </a:r>
                <a:r>
                  <a:rPr lang="en-US" b="1" i="1">
                    <a:solidFill>
                      <a:srgbClr val="C00000"/>
                    </a:solidFill>
                  </a:rPr>
                  <a:t>move</a:t>
                </a:r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Initial state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baseline="-25000"/>
              </a:p>
              <a:p>
                <a:pPr marL="914400" indent="-457200">
                  <a:buFont typeface="+mj-lt"/>
                  <a:buAutoNum type="arabicPeriod"/>
                </a:pPr>
                <a:r>
                  <a:rPr lang="en-US"/>
                  <a:t> Final states or accepting states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endParaRPr lang="en-US" b="1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920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179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Types of finite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Types of finite automata are:</a:t>
            </a:r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/>
              <p:nvPr/>
            </p:nvSpPr>
            <p:spPr>
              <a:xfrm>
                <a:off x="142901" y="4322169"/>
                <a:ext cx="5883253" cy="21244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>
                    <a:solidFill>
                      <a:srgbClr val="0E47A1"/>
                    </a:solidFill>
                  </a:rPr>
                  <a:t>Nondeterministic finite automata (NFA): </a:t>
                </a:r>
                <a:r>
                  <a:rPr lang="en-US"/>
                  <a:t>There are </a:t>
                </a:r>
                <a:r>
                  <a:rPr lang="en-US">
                    <a:solidFill>
                      <a:srgbClr val="C00000"/>
                    </a:solidFill>
                  </a:rPr>
                  <a:t>no restrictions </a:t>
                </a:r>
                <a:r>
                  <a:rPr lang="en-US"/>
                  <a:t>on the edges leaving a state. There can be </a:t>
                </a:r>
                <a:r>
                  <a:rPr lang="en-US">
                    <a:solidFill>
                      <a:srgbClr val="C00000"/>
                    </a:solidFill>
                  </a:rPr>
                  <a:t>several with the same symbol as label </a:t>
                </a:r>
                <a:r>
                  <a:rPr lang="en-US"/>
                  <a:t>and some edges can be labeled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01" y="4322169"/>
                <a:ext cx="5883253" cy="2124455"/>
              </a:xfrm>
              <a:prstGeom prst="rect">
                <a:avLst/>
              </a:prstGeom>
              <a:blipFill rotWithShape="0">
                <a:blip r:embed="rId2"/>
                <a:stretch>
                  <a:fillRect l="-1449" t="-3725" r="-1553" b="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7957163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979652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9990521" y="5071216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0979148" y="5061234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397647" y="528983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414407" y="529981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86993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441913" y="529204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551140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447189" y="5291063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547743" y="49456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047728" y="5129814"/>
            <a:ext cx="320040" cy="320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7" name="Curved Connector 16"/>
          <p:cNvCxnSpPr/>
          <p:nvPr/>
        </p:nvCxnSpPr>
        <p:spPr>
          <a:xfrm rot="16200000" flipV="1">
            <a:off x="8201805" y="4998628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 rot="27000000" flipV="1">
            <a:off x="8173600" y="5272139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11550" y="432787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18304" y="595253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42874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8865363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9908316" y="2562052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10945069" y="2552070"/>
            <a:ext cx="457200" cy="4572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365532" y="2780670"/>
            <a:ext cx="466344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292748" y="27906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372704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9320254" y="2766838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436851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0389698" y="276585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0433454" y="24365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010834" y="2615106"/>
            <a:ext cx="320040" cy="320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3" name="Curved Connector 32"/>
          <p:cNvCxnSpPr/>
          <p:nvPr/>
        </p:nvCxnSpPr>
        <p:spPr>
          <a:xfrm rot="27000000" flipV="1">
            <a:off x="9068101" y="2767770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899354" y="342630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cxnSp>
        <p:nvCxnSpPr>
          <p:cNvPr id="35" name="Curved Connector 34"/>
          <p:cNvCxnSpPr>
            <a:stCxn id="23" idx="4"/>
            <a:endCxn id="22" idx="5"/>
          </p:cNvCxnSpPr>
          <p:nvPr/>
        </p:nvCxnSpPr>
        <p:spPr>
          <a:xfrm rot="5400000" flipH="1">
            <a:off x="9657793" y="2540130"/>
            <a:ext cx="76937" cy="881308"/>
          </a:xfrm>
          <a:prstGeom prst="curvedConnector3">
            <a:avLst>
              <a:gd name="adj1" fmla="val -297126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24" idx="4"/>
            <a:endCxn id="22" idx="5"/>
          </p:cNvCxnSpPr>
          <p:nvPr/>
        </p:nvCxnSpPr>
        <p:spPr>
          <a:xfrm rot="5400000" flipH="1">
            <a:off x="10181161" y="2016763"/>
            <a:ext cx="66955" cy="1918061"/>
          </a:xfrm>
          <a:prstGeom prst="curvedConnector3">
            <a:avLst>
              <a:gd name="adj1" fmla="val -1042726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4" idx="0"/>
            <a:endCxn id="21" idx="0"/>
          </p:cNvCxnSpPr>
          <p:nvPr/>
        </p:nvCxnSpPr>
        <p:spPr>
          <a:xfrm rot="16200000" flipV="1">
            <a:off x="9622572" y="1000972"/>
            <a:ext cx="12700" cy="3102195"/>
          </a:xfrm>
          <a:prstGeom prst="curvedConnector3">
            <a:avLst>
              <a:gd name="adj1" fmla="val 8610811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958328" y="304816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735480" y="317722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961487" y="160536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369307" y="3791225"/>
            <a:ext cx="1064147" cy="378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E47A1"/>
                </a:solidFill>
                <a:latin typeface="+mj-lt"/>
              </a:rPr>
              <a:t>DFA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696" y="5885958"/>
            <a:ext cx="1064147" cy="378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E47A1"/>
                </a:solidFill>
                <a:latin typeface="+mj-lt"/>
              </a:rPr>
              <a:t>NFA</a:t>
            </a:r>
          </a:p>
        </p:txBody>
      </p:sp>
      <p:cxnSp>
        <p:nvCxnSpPr>
          <p:cNvPr id="43" name="Curved Connector 42"/>
          <p:cNvCxnSpPr/>
          <p:nvPr/>
        </p:nvCxnSpPr>
        <p:spPr>
          <a:xfrm rot="27000000" flipV="1">
            <a:off x="8063196" y="2763002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880161" y="345011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381000" y="1804320"/>
            <a:ext cx="64008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Content Placeholder 2"/>
          <p:cNvSpPr txBox="1"/>
          <p:nvPr/>
        </p:nvSpPr>
        <p:spPr>
          <a:xfrm>
            <a:off x="118719" y="2024388"/>
            <a:ext cx="5883253" cy="2369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E47A1"/>
                </a:solidFill>
              </a:rPr>
              <a:t>Deterministic finite automata (DFA): </a:t>
            </a:r>
            <a:r>
              <a:rPr lang="en-US"/>
              <a:t>have for each state </a:t>
            </a:r>
            <a:r>
              <a:rPr lang="en-US">
                <a:solidFill>
                  <a:srgbClr val="C00000"/>
                </a:solidFill>
              </a:rPr>
              <a:t>exactly one edge</a:t>
            </a:r>
            <a:r>
              <a:rPr lang="en-US"/>
              <a:t> leaving out for </a:t>
            </a:r>
            <a:r>
              <a:rPr lang="en-US">
                <a:solidFill>
                  <a:srgbClr val="C00000"/>
                </a:solidFill>
              </a:rPr>
              <a:t>each symbol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81000" y="1334810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DFA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81000" y="4177771"/>
            <a:ext cx="64008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81000" y="3708261"/>
            <a:ext cx="1901607" cy="461665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/>
              <a:t>NFA</a:t>
            </a:r>
          </a:p>
        </p:txBody>
      </p:sp>
    </p:spTree>
    <p:extLst>
      <p:ext uri="{BB962C8B-B14F-4D97-AF65-F5344CB8AC3E}">
        <p14:creationId xmlns:p14="http://schemas.microsoft.com/office/powerpoint/2010/main" val="3030101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/>
      <p:bldP spid="13" grpId="0"/>
      <p:bldP spid="15" grpId="0"/>
      <p:bldP spid="16" grpId="0" animBg="1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7" grpId="0"/>
      <p:bldP spid="29" grpId="0"/>
      <p:bldP spid="31" grpId="0"/>
      <p:bldP spid="32" grpId="0" animBg="1"/>
      <p:bldP spid="34" grpId="0"/>
      <p:bldP spid="38" grpId="0"/>
      <p:bldP spid="39" grpId="0"/>
      <p:bldP spid="40" grpId="0"/>
      <p:bldP spid="41" grpId="0"/>
      <p:bldP spid="42" grpId="0"/>
      <p:bldP spid="44" grpId="0"/>
      <p:bldP spid="47" grpId="0" animBg="1"/>
      <p:bldP spid="4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9. Regular expression to NFA using Thompson's rule</a:t>
            </a:r>
          </a:p>
        </p:txBody>
      </p:sp>
    </p:spTree>
    <p:extLst>
      <p:ext uri="{BB962C8B-B14F-4D97-AF65-F5344CB8AC3E}">
        <p14:creationId xmlns:p14="http://schemas.microsoft.com/office/powerpoint/2010/main" val="146715560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to NFA using Thompson's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5457825" cy="5591175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 , construct the NFA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/>
                  <a:t>, construct the NFA</a:t>
                </a:r>
              </a:p>
              <a:p>
                <a:pPr marL="0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5457825" cy="5591175"/>
              </a:xfrm>
              <a:blipFill>
                <a:blip r:embed="rId2"/>
                <a:stretch>
                  <a:fillRect l="-2235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4" idx="2"/>
          </p:cNvCxnSpPr>
          <p:nvPr/>
        </p:nvCxnSpPr>
        <p:spPr>
          <a:xfrm>
            <a:off x="1776017" y="2255286"/>
            <a:ext cx="654914" cy="739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738147" y="2031807"/>
            <a:ext cx="423214" cy="46828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995216" y="2262676"/>
            <a:ext cx="67239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142444" y="1898099"/>
            <a:ext cx="330625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51065" y="1869524"/>
            <a:ext cx="667906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endCxn id="11" idx="2"/>
          </p:cNvCxnSpPr>
          <p:nvPr/>
        </p:nvCxnSpPr>
        <p:spPr>
          <a:xfrm>
            <a:off x="1899436" y="4922302"/>
            <a:ext cx="63340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29100" y="469697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/>
          <p:cNvCxnSpPr>
            <a:stCxn id="11" idx="6"/>
            <a:endCxn id="12" idx="2"/>
          </p:cNvCxnSpPr>
          <p:nvPr/>
        </p:nvCxnSpPr>
        <p:spPr>
          <a:xfrm>
            <a:off x="3142444" y="4922302"/>
            <a:ext cx="61045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63121" y="45651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12877" y="4565106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 txBox="1"/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ab</a:t>
                </a:r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  <a:blipFill rotWithShape="0">
                <a:blip r:embed="rId7"/>
                <a:stretch>
                  <a:fillRect l="-1786" t="-1636" r="0" b="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endCxn id="19" idx="2"/>
          </p:cNvCxnSpPr>
          <p:nvPr/>
        </p:nvCxnSpPr>
        <p:spPr>
          <a:xfrm flipV="1">
            <a:off x="6439411" y="2027386"/>
            <a:ext cx="735843" cy="1933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723994" y="1808598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21524" y="1680004"/>
            <a:ext cx="731520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878438" y="157756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25" name="Oval 24"/>
          <p:cNvSpPr/>
          <p:nvPr/>
        </p:nvSpPr>
        <p:spPr>
          <a:xfrm>
            <a:off x="8228861" y="154978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26" name="Oval 25"/>
          <p:cNvSpPr/>
          <p:nvPr/>
        </p:nvSpPr>
        <p:spPr>
          <a:xfrm>
            <a:off x="6764893" y="4722128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918896" y="471656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9101018" y="4708469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cxnSp>
        <p:nvCxnSpPr>
          <p:cNvPr id="29" name="Straight Arrow Connector 28"/>
          <p:cNvCxnSpPr>
            <a:endCxn id="28" idx="2"/>
          </p:cNvCxnSpPr>
          <p:nvPr/>
        </p:nvCxnSpPr>
        <p:spPr>
          <a:xfrm flipV="1">
            <a:off x="8528874" y="5014793"/>
            <a:ext cx="572144" cy="809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427678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3434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/>
          <p:cNvCxnSpPr>
            <a:stCxn id="26" idx="6"/>
            <a:endCxn id="27" idx="2"/>
          </p:cNvCxnSpPr>
          <p:nvPr/>
        </p:nvCxnSpPr>
        <p:spPr>
          <a:xfrm flipV="1">
            <a:off x="7377541" y="5022886"/>
            <a:ext cx="541355" cy="556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357915" y="5061646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178742" y="478619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2846231" y="3606644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10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0" grpId="0"/>
      <p:bldP spid="11" grpId="0" animBg="1"/>
      <p:bldP spid="12" grpId="0" animBg="1"/>
      <p:bldP spid="14" grpId="0" animBg="1"/>
      <p:bldP spid="16" grpId="0"/>
      <p:bldP spid="17" grpId="0"/>
      <p:bldP spid="19" grpId="0" animBg="1"/>
      <p:bldP spid="20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to NFA using Thompson's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5727700" cy="5591175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(a|b)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5727700" cy="5591175"/>
              </a:xfrm>
              <a:blipFill>
                <a:blip r:embed="rId2"/>
                <a:stretch>
                  <a:fillRect l="-2128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861516" y="2698921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48597" y="245604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3141" y="2313159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Oval 8"/>
          <p:cNvSpPr/>
          <p:nvPr/>
        </p:nvSpPr>
        <p:spPr>
          <a:xfrm>
            <a:off x="2590253" y="1498835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10" name="Oval 9"/>
          <p:cNvSpPr/>
          <p:nvPr/>
        </p:nvSpPr>
        <p:spPr>
          <a:xfrm>
            <a:off x="2583331" y="2895438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11" name="Oval 10"/>
          <p:cNvSpPr/>
          <p:nvPr/>
        </p:nvSpPr>
        <p:spPr>
          <a:xfrm>
            <a:off x="2857036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973040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57036" y="3091247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973040" y="3076343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/>
          <p:cNvCxnSpPr>
            <a:stCxn id="4" idx="7"/>
            <a:endCxn id="11" idx="2"/>
          </p:cNvCxnSpPr>
          <p:nvPr/>
        </p:nvCxnSpPr>
        <p:spPr>
          <a:xfrm flipV="1">
            <a:off x="1967629" y="1997374"/>
            <a:ext cx="889407" cy="45984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6"/>
            <a:endCxn id="5" idx="0"/>
          </p:cNvCxnSpPr>
          <p:nvPr/>
        </p:nvCxnSpPr>
        <p:spPr>
          <a:xfrm>
            <a:off x="4585688" y="1997374"/>
            <a:ext cx="791509" cy="38246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5"/>
            <a:endCxn id="13" idx="2"/>
          </p:cNvCxnSpPr>
          <p:nvPr/>
        </p:nvCxnSpPr>
        <p:spPr>
          <a:xfrm>
            <a:off x="1967629" y="2888275"/>
            <a:ext cx="889407" cy="50929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6"/>
            <a:endCxn id="5" idx="4"/>
          </p:cNvCxnSpPr>
          <p:nvPr/>
        </p:nvCxnSpPr>
        <p:spPr>
          <a:xfrm flipV="1">
            <a:off x="4585688" y="2989441"/>
            <a:ext cx="791509" cy="39322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28408" y="188898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81542" y="316352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14436" y="173420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14436" y="31915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701377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2694453" y="4241230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3792582" y="574239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3750646" y="423511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2679492" y="5770063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764549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cxnSp>
        <p:nvCxnSpPr>
          <p:cNvPr id="29" name="Straight Arrow Connector 28"/>
          <p:cNvCxnSpPr>
            <a:stCxn id="24" idx="6"/>
            <a:endCxn id="26" idx="2"/>
          </p:cNvCxnSpPr>
          <p:nvPr/>
        </p:nvCxnSpPr>
        <p:spPr>
          <a:xfrm flipV="1">
            <a:off x="3307101" y="4541436"/>
            <a:ext cx="443545" cy="611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24904" y="41765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24904" y="61217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/>
          <p:cNvCxnSpPr>
            <a:stCxn id="26" idx="5"/>
          </p:cNvCxnSpPr>
          <p:nvPr/>
        </p:nvCxnSpPr>
        <p:spPr>
          <a:xfrm>
            <a:off x="4273574" y="4758040"/>
            <a:ext cx="575811" cy="38065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8" idx="3"/>
          </p:cNvCxnSpPr>
          <p:nvPr/>
        </p:nvCxnSpPr>
        <p:spPr>
          <a:xfrm flipV="1">
            <a:off x="4341857" y="5531619"/>
            <a:ext cx="512412" cy="38143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135437" y="569570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63983" y="465623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47415" y="45914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58094" y="57569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/>
          <p:cNvCxnSpPr>
            <a:stCxn id="23" idx="7"/>
            <a:endCxn id="24" idx="3"/>
          </p:cNvCxnSpPr>
          <p:nvPr/>
        </p:nvCxnSpPr>
        <p:spPr>
          <a:xfrm flipV="1">
            <a:off x="2224305" y="4764158"/>
            <a:ext cx="559868" cy="3342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3" idx="5"/>
            <a:endCxn id="27" idx="1"/>
          </p:cNvCxnSpPr>
          <p:nvPr/>
        </p:nvCxnSpPr>
        <p:spPr>
          <a:xfrm>
            <a:off x="2224305" y="5531619"/>
            <a:ext cx="544907" cy="32816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276036" y="5315015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842273" y="508641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2" name="Straight Arrow Connector 41"/>
          <p:cNvCxnSpPr>
            <a:stCxn id="27" idx="6"/>
          </p:cNvCxnSpPr>
          <p:nvPr/>
        </p:nvCxnSpPr>
        <p:spPr>
          <a:xfrm flipV="1">
            <a:off x="3292140" y="6067264"/>
            <a:ext cx="514048" cy="912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ontent Placeholder 2"/>
              <p:cNvSpPr txBox="1"/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5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*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a*</a:t>
                </a:r>
              </a:p>
              <a:p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  <a:blipFill rotWithShape="0">
                <a:blip r:embed="rId5"/>
                <a:stretch>
                  <a:fillRect l="-1702" t="-1636" r="0" b="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/>
              <p:cNvSpPr/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Oval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6483902" y="2561185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0770983" y="231830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25527" y="2175423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312038" y="2121294"/>
            <a:ext cx="2057400" cy="7667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50" name="Oval 49"/>
          <p:cNvSpPr/>
          <p:nvPr/>
        </p:nvSpPr>
        <p:spPr>
          <a:xfrm>
            <a:off x="8622329" y="2323670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598949" y="2330097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2" name="Straight Arrow Connector 51"/>
          <p:cNvCxnSpPr>
            <a:stCxn id="44" idx="6"/>
            <a:endCxn id="50" idx="2"/>
          </p:cNvCxnSpPr>
          <p:nvPr/>
        </p:nvCxnSpPr>
        <p:spPr>
          <a:xfrm flipV="1">
            <a:off x="7679289" y="2527866"/>
            <a:ext cx="943040" cy="714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1" idx="6"/>
            <a:endCxn id="45" idx="2"/>
          </p:cNvCxnSpPr>
          <p:nvPr/>
        </p:nvCxnSpPr>
        <p:spPr>
          <a:xfrm>
            <a:off x="10035493" y="2534293"/>
            <a:ext cx="659290" cy="1261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826046" y="21653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348874" y="216997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6" name="Curved Connector 55"/>
          <p:cNvCxnSpPr>
            <a:stCxn id="51" idx="0"/>
            <a:endCxn id="50" idx="0"/>
          </p:cNvCxnSpPr>
          <p:nvPr/>
        </p:nvCxnSpPr>
        <p:spPr>
          <a:xfrm rot="16200000" flipV="1">
            <a:off x="9325698" y="1838574"/>
            <a:ext cx="6427" cy="976620"/>
          </a:xfrm>
          <a:prstGeom prst="curvedConnector3">
            <a:avLst>
              <a:gd name="adj1" fmla="val 8547565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/>
          <p:cNvCxnSpPr>
            <a:stCxn id="44" idx="4"/>
            <a:endCxn id="45" idx="4"/>
          </p:cNvCxnSpPr>
          <p:nvPr/>
        </p:nvCxnSpPr>
        <p:spPr>
          <a:xfrm rot="16200000" flipH="1">
            <a:off x="9181090" y="1033212"/>
            <a:ext cx="11892" cy="3625094"/>
          </a:xfrm>
          <a:prstGeom prst="curvedConnector3">
            <a:avLst>
              <a:gd name="adj1" fmla="val 609305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040057" y="31981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225862" y="14281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741769" y="466260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/>
              <p:cNvSpPr/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1" name="Oval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>
            <a:off x="6155982" y="4993580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452102" y="4772224"/>
            <a:ext cx="438912" cy="44104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4" name="Straight Arrow Connector 63"/>
          <p:cNvCxnSpPr>
            <a:stCxn id="60" idx="6"/>
            <a:endCxn id="71" idx="2"/>
          </p:cNvCxnSpPr>
          <p:nvPr/>
        </p:nvCxnSpPr>
        <p:spPr>
          <a:xfrm>
            <a:off x="7351369" y="4967408"/>
            <a:ext cx="601643" cy="1189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72" idx="6"/>
            <a:endCxn id="61" idx="2"/>
          </p:cNvCxnSpPr>
          <p:nvPr/>
        </p:nvCxnSpPr>
        <p:spPr>
          <a:xfrm>
            <a:off x="9734255" y="4980853"/>
            <a:ext cx="632608" cy="1189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49812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83196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68" name="Curved Connector 67"/>
          <p:cNvCxnSpPr/>
          <p:nvPr/>
        </p:nvCxnSpPr>
        <p:spPr>
          <a:xfrm rot="16200000" flipH="1">
            <a:off x="8853170" y="3465607"/>
            <a:ext cx="11892" cy="3625094"/>
          </a:xfrm>
          <a:prstGeom prst="curvedConnector3">
            <a:avLst>
              <a:gd name="adj1" fmla="val 6347477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8680528" y="56443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625474" y="38222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953012" y="467450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72" name="Oval 71"/>
          <p:cNvSpPr/>
          <p:nvPr/>
        </p:nvSpPr>
        <p:spPr>
          <a:xfrm>
            <a:off x="9124655" y="4676053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73" name="Straight Arrow Connector 72"/>
          <p:cNvCxnSpPr>
            <a:stCxn id="71" idx="6"/>
            <a:endCxn id="72" idx="2"/>
          </p:cNvCxnSpPr>
          <p:nvPr/>
        </p:nvCxnSpPr>
        <p:spPr>
          <a:xfrm>
            <a:off x="8562612" y="4979300"/>
            <a:ext cx="562043" cy="15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urved Connector 74"/>
          <p:cNvCxnSpPr>
            <a:stCxn id="72" idx="0"/>
            <a:endCxn id="71" idx="0"/>
          </p:cNvCxnSpPr>
          <p:nvPr/>
        </p:nvCxnSpPr>
        <p:spPr>
          <a:xfrm rot="16200000" flipV="1">
            <a:off x="8842858" y="4089455"/>
            <a:ext cx="1553" cy="1171643"/>
          </a:xfrm>
          <a:prstGeom prst="curvedConnector3">
            <a:avLst>
              <a:gd name="adj1" fmla="val 33869156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rot="5400000">
            <a:off x="3171592" y="3545520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083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/>
      <p:bldP spid="35" grpId="0"/>
      <p:bldP spid="36" grpId="0"/>
      <p:bldP spid="37" grpId="0"/>
      <p:bldP spid="41" grpId="0" animBg="1"/>
      <p:bldP spid="44" grpId="0" animBg="1"/>
      <p:bldP spid="45" grpId="0" animBg="1"/>
      <p:bldP spid="47" grpId="0" animBg="1"/>
      <p:bldP spid="48" grpId="0"/>
      <p:bldP spid="49" grpId="0" animBg="1"/>
      <p:bldP spid="50" grpId="0" animBg="1"/>
      <p:bldP spid="51" grpId="0" animBg="1"/>
      <p:bldP spid="54" grpId="0"/>
      <p:bldP spid="55" grpId="0"/>
      <p:bldP spid="58" grpId="0"/>
      <p:bldP spid="59" grpId="0"/>
      <p:bldP spid="60" grpId="0" animBg="1"/>
      <p:bldP spid="61" grpId="0" animBg="1"/>
      <p:bldP spid="63" grpId="0" animBg="1"/>
      <p:bldP spid="66" grpId="0"/>
      <p:bldP spid="67" grpId="0"/>
      <p:bldP spid="69" grpId="0"/>
      <p:bldP spid="70" grpId="0"/>
      <p:bldP spid="71" grpId="0" animBg="1"/>
      <p:bldP spid="72" grpId="0" animBg="1"/>
      <p:bldP spid="7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Regular expression to NFA using Thompson's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a*b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b*ab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512220" y="187226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926433" y="2185972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5" idx="2"/>
          </p:cNvCxnSpPr>
          <p:nvPr/>
        </p:nvCxnSpPr>
        <p:spPr>
          <a:xfrm>
            <a:off x="5410200" y="2185979"/>
            <a:ext cx="752498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6857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0241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" name="Curved Connector 9"/>
          <p:cNvCxnSpPr>
            <a:stCxn id="4" idx="4"/>
            <a:endCxn id="5" idx="4"/>
          </p:cNvCxnSpPr>
          <p:nvPr/>
        </p:nvCxnSpPr>
        <p:spPr>
          <a:xfrm rot="16200000" flipH="1">
            <a:off x="4637799" y="661081"/>
            <a:ext cx="8920" cy="3650478"/>
          </a:xfrm>
          <a:prstGeom prst="curvedConnector3">
            <a:avLst>
              <a:gd name="adj1" fmla="val 944661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50979" y="285105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729046" y="187820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4945872" y="186928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352092" y="2180032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/>
          <p:nvPr/>
        </p:nvCxnSpPr>
        <p:spPr>
          <a:xfrm rot="16200000" flipH="1" flipV="1">
            <a:off x="4608138" y="1289412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blipFill rotWithShape="0">
                <a:blip r:embed="rId5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7455722" y="195143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128142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760351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643413" y="473812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/>
              <p:cNvSpPr/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Oval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>
            <a:off x="1057626" y="5057229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6"/>
            <a:endCxn id="31" idx="2"/>
          </p:cNvCxnSpPr>
          <p:nvPr/>
        </p:nvCxnSpPr>
        <p:spPr>
          <a:xfrm flipV="1">
            <a:off x="2253013" y="504205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39977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3361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Curved Connector 27"/>
          <p:cNvCxnSpPr>
            <a:stCxn id="22" idx="4"/>
            <a:endCxn id="23" idx="4"/>
          </p:cNvCxnSpPr>
          <p:nvPr/>
        </p:nvCxnSpPr>
        <p:spPr>
          <a:xfrm rot="16200000" flipH="1">
            <a:off x="3757634" y="3538307"/>
            <a:ext cx="23746" cy="3642588"/>
          </a:xfrm>
          <a:prstGeom prst="curvedConnector3">
            <a:avLst>
              <a:gd name="adj1" fmla="val 3610983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90919" y="58144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527118" y="38858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2885785" y="473725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4085252" y="4750001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blipFill rotWithShape="0">
                <a:blip r:embed="rId7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urved Connector 33"/>
          <p:cNvCxnSpPr/>
          <p:nvPr/>
        </p:nvCxnSpPr>
        <p:spPr>
          <a:xfrm rot="16200000" flipH="1" flipV="1">
            <a:off x="3752778" y="4173275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/>
              <p:cNvSpPr/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5" name="Oval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37" idx="6"/>
            <a:endCxn id="35" idx="2"/>
          </p:cNvCxnSpPr>
          <p:nvPr/>
        </p:nvCxnSpPr>
        <p:spPr>
          <a:xfrm>
            <a:off x="7109797" y="5078547"/>
            <a:ext cx="604597" cy="152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500197" y="477374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blipFill rotWithShape="0">
                <a:blip r:embed="rId10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/>
          <p:cNvSpPr/>
          <p:nvPr/>
        </p:nvSpPr>
        <p:spPr>
          <a:xfrm>
            <a:off x="7790594" y="485147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3467209" y="5069843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4696565" y="5075892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906956" y="508543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765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1" grpId="0"/>
      <p:bldP spid="12" grpId="0" animBg="1"/>
      <p:bldP spid="13" grpId="0" animBg="1"/>
      <p:bldP spid="15" grpId="0"/>
      <p:bldP spid="17" grpId="0" animBg="1"/>
      <p:bldP spid="18" grpId="0"/>
      <p:bldP spid="19" grpId="0" animBg="1"/>
      <p:bldP spid="22" grpId="0" animBg="1"/>
      <p:bldP spid="23" grpId="0" animBg="1"/>
      <p:bldP spid="26" grpId="0"/>
      <p:bldP spid="27" grpId="0"/>
      <p:bldP spid="29" grpId="0"/>
      <p:bldP spid="30" grpId="0"/>
      <p:bldP spid="31" grpId="0" animBg="1"/>
      <p:bldP spid="32" grpId="0" animBg="1"/>
      <p:bldP spid="33" grpId="0"/>
      <p:bldP spid="35" grpId="0" animBg="1"/>
      <p:bldP spid="37" grpId="0" animBg="1"/>
      <p:bldP spid="38" grpId="0"/>
      <p:bldP spid="39" grpId="0"/>
      <p:bldP spid="4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0" indent="0">
              <a:buNone/>
            </a:pPr>
            <a:r>
              <a:rPr lang="en-US" sz="2200"/>
              <a:t>Convert following regular expression to NFA: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err="1"/>
              <a:t>abba</a:t>
            </a:r>
            <a:endParaRPr lang="en-US" sz="2200"/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bb(a)*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(a|b)*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a* | 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a(a)*ab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aa*+ bb*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(a+b)*abb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10(0+1)*1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(a+b)*a(a+b)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(0+1)*010(0+1)*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/>
              <a:t>(010+00)*(10)*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100(1)*00(0+1)*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825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10. Conversion from NFA to DFA using subset construction method</a:t>
            </a:r>
          </a:p>
        </p:txBody>
      </p:sp>
    </p:spTree>
    <p:extLst>
      <p:ext uri="{BB962C8B-B14F-4D97-AF65-F5344CB8AC3E}">
        <p14:creationId xmlns:p14="http://schemas.microsoft.com/office/powerpoint/2010/main" val="97748160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E47A1"/>
                    </a:solidFill>
                  </a:rPr>
                  <a:t>Input</a:t>
                </a:r>
                <a:r>
                  <a:rPr lang="en-US" dirty="0">
                    <a:solidFill>
                      <a:srgbClr val="0E47A1"/>
                    </a:solidFill>
                  </a:rPr>
                  <a:t>: </a:t>
                </a:r>
                <a:r>
                  <a:rPr lang="en-US" dirty="0"/>
                  <a:t>An NFA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E47A1"/>
                    </a:solidFill>
                  </a:rPr>
                  <a:t>Output</a:t>
                </a:r>
                <a:r>
                  <a:rPr lang="en-US" dirty="0">
                    <a:solidFill>
                      <a:srgbClr val="0E47A1"/>
                    </a:solidFill>
                  </a:rPr>
                  <a:t>: </a:t>
                </a:r>
                <a:r>
                  <a:rPr lang="en-US" dirty="0"/>
                  <a:t>A DFA  D accepting the same language.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E47A1"/>
                    </a:solidFill>
                  </a:rPr>
                  <a:t>Method</a:t>
                </a:r>
                <a:r>
                  <a:rPr lang="en-US" dirty="0">
                    <a:solidFill>
                      <a:srgbClr val="0E47A1"/>
                    </a:solidFill>
                  </a:rPr>
                  <a:t>: </a:t>
                </a:r>
                <a:r>
                  <a:rPr lang="en-US" dirty="0"/>
                  <a:t>Algorithm construct a transition table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</m:oMath>
                </a14:m>
                <a:r>
                  <a:rPr lang="en-US" dirty="0"/>
                  <a:t> for D. We use the following operation: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3870377501"/>
              </p:ext>
            </p:extLst>
          </p:nvPr>
        </p:nvGraphicFramePr>
        <p:xfrm>
          <a:off x="1064651" y="2417679"/>
          <a:ext cx="8648703" cy="45457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57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OPERATION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4259926974"/>
                  </p:ext>
                </p:extLst>
              </p:nvPr>
            </p:nvGraphicFramePr>
            <p:xfrm>
              <a:off x="1064653" y="2872251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 dirty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 dirty="0">
                              <a:latin typeface="+mj-lt"/>
                            </a:rPr>
                            <a:t> of NFA states reachable from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– transition alone.</a:t>
                          </a:r>
                          <a:endParaRPr lang="en-US" sz="2200" b="0" dirty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4259926974"/>
                  </p:ext>
                </p:extLst>
              </p:nvPr>
            </p:nvGraphicFramePr>
            <p:xfrm>
              <a:off x="1064653" y="2872251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8" t="-4651" r="-266495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694" t="-4651" r="-194" b="-16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3616104818"/>
                  </p:ext>
                </p:extLst>
              </p:nvPr>
            </p:nvGraphicFramePr>
            <p:xfrm>
              <a:off x="1064652" y="3656286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reachable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– transition alone.</a:t>
                          </a:r>
                          <a:endParaRPr lang="en-US" sz="2200" b="0" dirty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3616104818"/>
                  </p:ext>
                </p:extLst>
              </p:nvPr>
            </p:nvGraphicFramePr>
            <p:xfrm>
              <a:off x="1064652" y="3656286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8" t="-3846" r="-266495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7694" t="-3846" r="-194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1333835366"/>
                  </p:ext>
                </p:extLst>
              </p:nvPr>
            </p:nvGraphicFramePr>
            <p:xfrm>
              <a:off x="1064651" y="4440321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609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𝑴𝒐𝒗𝒆</m:t>
                                </m:r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 dirty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 dirty="0">
                              <a:latin typeface="+mj-lt"/>
                            </a:rPr>
                            <a:t> of NFA states to which there is a transition on input symbol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 dirty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 dirty="0">
                              <a:latin typeface="+mj-lt"/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/>
              <p:cNvGraphicFramePr/>
              <p:nvPr>
                <p:extLst>
                  <p:ext uri="{D42A27DB-BD31-4B8C-83A1-F6EECF244321}">
                    <p14:modId xmlns:p14="http://schemas.microsoft.com/office/powerpoint/2010/main" val="1333835366"/>
                  </p:ext>
                </p:extLst>
              </p:nvPr>
            </p:nvGraphicFramePr>
            <p:xfrm>
              <a:off x="1064651" y="4440321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8" t="-3968" r="-26649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7694" t="-3968" r="-194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6122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initially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/>
                  <a:t>be the only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it is unmarked;</a:t>
                </a:r>
              </a:p>
              <a:p>
                <a:pPr marL="0" indent="0">
                  <a:buNone/>
                </a:pPr>
                <a:r>
                  <a:rPr lang="en-US"/>
                  <a:t>while there is unmarked states </a:t>
                </a:r>
                <a:r>
                  <a:rPr lang="en-US" i="1"/>
                  <a:t>T</a:t>
                </a:r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/>
                  <a:t>  </a:t>
                </a:r>
                <a:r>
                  <a:rPr lang="en-US" b="1" i="1"/>
                  <a:t>do begin</a:t>
                </a:r>
              </a:p>
              <a:p>
                <a:pPr marL="0" indent="0" defTabSz="1028700">
                  <a:buNone/>
                </a:pPr>
                <a:r>
                  <a:rPr lang="en-US"/>
                  <a:t>	mark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i="1"/>
                  <a:t>;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		for each input symbol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 </a:t>
                </a:r>
                <a:r>
                  <a:rPr lang="en-US" b="1" i="1"/>
                  <a:t>do begin</a:t>
                </a:r>
              </a:p>
              <a:p>
                <a:pPr marL="0" indent="0">
                  <a:buNone/>
                </a:pPr>
                <a:r>
                  <a:rPr lang="en-US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𝑚𝑜𝑣𝑒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	</a:t>
                </a:r>
                <a:r>
                  <a:rPr lang="en-US" b="1" i="1"/>
                  <a:t>if</a:t>
                </a:r>
                <a:r>
                  <a:rPr lang="en-US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 is not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/>
                  <a:t> </a:t>
                </a:r>
                <a:r>
                  <a:rPr lang="en-US" b="1" i="1"/>
                  <a:t>then</a:t>
                </a:r>
              </a:p>
              <a:p>
                <a:pPr marL="0" indent="0">
                  <a:buNone/>
                </a:pPr>
                <a:r>
                  <a:rPr lang="en-US"/>
                  <a:t>				add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/>
                  <a:t>  as unmarked state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]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</a:t>
                </a:r>
                <a:r>
                  <a:rPr lang="en-US" b="1" i="1"/>
                  <a:t>end</a:t>
                </a:r>
              </a:p>
              <a:p>
                <a:pPr marL="0" indent="0">
                  <a:buNone/>
                </a:pPr>
                <a:r>
                  <a:rPr lang="en-US" b="1" i="1"/>
                  <a:t>	end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4767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3241523" y="28322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307" y="111236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(a|b)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769" y="103947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7" name="Rectangle 6"/>
          <p:cNvSpPr/>
          <p:nvPr/>
        </p:nvSpPr>
        <p:spPr>
          <a:xfrm>
            <a:off x="994322" y="1112367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  <a:latin typeface="+mj-lt"/>
              </a:rPr>
              <a:t>abb</a:t>
            </a: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Oval 7"/>
          <p:cNvSpPr/>
          <p:nvPr/>
        </p:nvSpPr>
        <p:spPr>
          <a:xfrm>
            <a:off x="4013288" y="212974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007152" y="350483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007152" y="2148542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3996431" y="35037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5740629" y="28179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3" name="Oval 12"/>
          <p:cNvSpPr/>
          <p:nvPr/>
        </p:nvSpPr>
        <p:spPr>
          <a:xfrm>
            <a:off x="6763118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4" name="Oval 13"/>
          <p:cNvSpPr/>
          <p:nvPr/>
        </p:nvSpPr>
        <p:spPr>
          <a:xfrm>
            <a:off x="7785607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5" name="Oval 14"/>
          <p:cNvSpPr/>
          <p:nvPr/>
        </p:nvSpPr>
        <p:spPr>
          <a:xfrm>
            <a:off x="8801666" y="28030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6" name="Oval 15"/>
          <p:cNvSpPr/>
          <p:nvPr/>
        </p:nvSpPr>
        <p:spPr>
          <a:xfrm>
            <a:off x="2365231" y="283227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17" name="Oval 16"/>
          <p:cNvSpPr/>
          <p:nvPr/>
        </p:nvSpPr>
        <p:spPr>
          <a:xfrm>
            <a:off x="9824972" y="27919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835530" y="3052261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853399" y="26798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474530" y="2364431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48806" y="194692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22" name="Straight Arrow Connector 21"/>
          <p:cNvCxnSpPr>
            <a:stCxn id="11" idx="6"/>
            <a:endCxn id="9" idx="2"/>
          </p:cNvCxnSpPr>
          <p:nvPr/>
        </p:nvCxnSpPr>
        <p:spPr>
          <a:xfrm>
            <a:off x="4453631" y="3732390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48806" y="374428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/>
          <p:cNvCxnSpPr>
            <a:stCxn id="4" idx="7"/>
            <a:endCxn id="8" idx="3"/>
          </p:cNvCxnSpPr>
          <p:nvPr/>
        </p:nvCxnSpPr>
        <p:spPr>
          <a:xfrm flipV="1">
            <a:off x="3631768" y="2519985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4" idx="5"/>
            <a:endCxn id="11" idx="1"/>
          </p:cNvCxnSpPr>
          <p:nvPr/>
        </p:nvCxnSpPr>
        <p:spPr>
          <a:xfrm>
            <a:off x="3631768" y="3222524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5"/>
            <a:endCxn id="12" idx="1"/>
          </p:cNvCxnSpPr>
          <p:nvPr/>
        </p:nvCxnSpPr>
        <p:spPr>
          <a:xfrm>
            <a:off x="5397397" y="2522408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7"/>
            <a:endCxn id="12" idx="3"/>
          </p:cNvCxnSpPr>
          <p:nvPr/>
        </p:nvCxnSpPr>
        <p:spPr>
          <a:xfrm flipV="1">
            <a:off x="5397397" y="3208235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203602" y="302165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283558" y="26675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212992" y="3031638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29294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240498" y="300782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357095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9266423" y="301973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35369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2122331" y="3060878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70692" y="283765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455831" y="33835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14987" y="238190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536137" y="237150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48806" y="33966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2" name="Curved Connector 41"/>
          <p:cNvCxnSpPr/>
          <p:nvPr/>
        </p:nvCxnSpPr>
        <p:spPr>
          <a:xfrm rot="16200000" flipH="1" flipV="1">
            <a:off x="4697894" y="1553550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548806" y="13073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727394" y="42879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5" name="Curved Connector 44"/>
          <p:cNvCxnSpPr/>
          <p:nvPr/>
        </p:nvCxnSpPr>
        <p:spPr>
          <a:xfrm rot="5400000" flipH="1" flipV="1">
            <a:off x="4773166" y="1070923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771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1" grpId="0"/>
      <p:bldP spid="23" grpId="0"/>
      <p:bldP spid="29" grpId="0"/>
      <p:bldP spid="31" grpId="0"/>
      <p:bldP spid="33" grpId="0"/>
      <p:bldP spid="35" grpId="0"/>
      <p:bldP spid="37" grpId="0" animBg="1"/>
      <p:bldP spid="38" grpId="0"/>
      <p:bldP spid="39" grpId="0"/>
      <p:bldP spid="40" grpId="0"/>
      <p:bldP spid="41" grpId="0"/>
      <p:bldP spid="43" grpId="0"/>
      <p:bldP spid="4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3" name="Oval 12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542699" y="2351552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8" name="Straight Arrow Connector 17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Arrow Connector 19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Curved Connector 35"/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4" idx="5"/>
            <a:endCxn id="8" idx="1"/>
          </p:cNvCxnSpPr>
          <p:nvPr/>
        </p:nvCxnSpPr>
        <p:spPr>
          <a:xfrm>
            <a:off x="1699937" y="3209645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/>
          <p:nvPr/>
        </p:nvCxnSpPr>
        <p:spPr>
          <a:xfrm rot="16200000" flipH="1" flipV="1">
            <a:off x="2766064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45" name="Oval 44"/>
          <p:cNvSpPr/>
          <p:nvPr/>
        </p:nvSpPr>
        <p:spPr>
          <a:xfrm>
            <a:off x="7938861" y="2824779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324646" y="4995319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 {0, 1, 7, 2, 4}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3706" y="5603553"/>
            <a:ext cx="1170319" cy="350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9397" y="4962979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𝜖- </a:t>
            </a:r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Closure(0</a:t>
            </a:r>
            <a:r>
              <a:rPr lang="en-US" sz="2200">
                <a:solidFill>
                  <a:schemeClr val="tx1"/>
                </a:solidFill>
              </a:rPr>
              <a:t>)=</a:t>
            </a:r>
            <a:endParaRPr lang="en-US" sz="2200"/>
          </a:p>
        </p:txBody>
      </p:sp>
      <p:sp>
        <p:nvSpPr>
          <p:cNvPr id="49" name="Rectangle 48"/>
          <p:cNvSpPr/>
          <p:nvPr/>
        </p:nvSpPr>
        <p:spPr>
          <a:xfrm>
            <a:off x="2503771" y="5034250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2896733" y="5050953"/>
            <a:ext cx="563454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473408" y="5016309"/>
            <a:ext cx="630696" cy="416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147290" y="5578274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=  {0,1,2,4,7}</a:t>
            </a:r>
          </a:p>
        </p:txBody>
      </p:sp>
    </p:spTree>
    <p:extLst>
      <p:ext uri="{BB962C8B-B14F-4D97-AF65-F5344CB8AC3E}">
        <p14:creationId xmlns:p14="http://schemas.microsoft.com/office/powerpoint/2010/main" val="1297060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 animBg="1"/>
      <p:bldP spid="50" grpId="0" animBg="1"/>
      <p:bldP spid="51" grpId="0" animBg="1"/>
      <p:bldP spid="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3" name="Oval 12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8" name="Straight Arrow Connector 17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Arrow Connector 19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Curved Connector 36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20701" y="4626954"/>
            <a:ext cx="2167393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Move(A,a)</a:t>
            </a:r>
            <a:endParaRPr lang="en-US" sz="2200">
              <a:latin typeface="+mj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Move(A,a))</a:t>
            </a:r>
            <a:endParaRPr lang="en-US" sz="2200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1748" y="2070186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371748" y="2070186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979067" y="2647785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34274" y="209876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974151" y="5626507"/>
            <a:ext cx="670428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74720" y="5534752"/>
            <a:ext cx="320192" cy="383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5" name="Straight Connector 64"/>
          <p:cNvCxnSpPr>
            <a:stCxn id="47" idx="2"/>
          </p:cNvCxnSpPr>
          <p:nvPr/>
        </p:nvCxnSpPr>
        <p:spPr>
          <a:xfrm>
            <a:off x="14043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0204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5321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286063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16665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Rectangle 75"/>
          <p:cNvSpPr/>
          <p:nvPr/>
        </p:nvSpPr>
        <p:spPr>
          <a:xfrm>
            <a:off x="10661268" y="2542087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21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2" grpId="0"/>
      <p:bldP spid="56" grpId="0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7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/>
          <p:nvPr/>
        </p:nvCxnSpPr>
        <p:spPr>
          <a:xfrm rot="5400000" flipH="1" flipV="1">
            <a:off x="2841333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19703" y="4669492"/>
            <a:ext cx="2167393" cy="393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6367" y="5118443"/>
            <a:ext cx="1726386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Move(A,b) =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74471" y="5177521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0499" y="5534752"/>
            <a:ext cx="3043553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Move(A,b)) =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658359" y="554566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 6, 7, 1, 2, 4}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348762" y="6057409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1516271" y="5063358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718450" y="5161035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{5}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6799" y="5623840"/>
            <a:ext cx="317464" cy="285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478089" y="5631269"/>
            <a:ext cx="211819" cy="236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759689" y="5523375"/>
            <a:ext cx="512589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278623" y="5578886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6" name="Oval 65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36128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29194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73657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71196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11356319" y="252731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4" name="Straight Connector 73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8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9" grpId="0"/>
      <p:bldP spid="53" grpId="0"/>
      <p:bldP spid="58" grpId="0" animBg="1"/>
      <p:bldP spid="59" grpId="0" animBg="1"/>
      <p:bldP spid="60" grpId="0" animBg="1"/>
      <p:bldP spid="61" grpId="0" animBg="1"/>
      <p:bldP spid="62" grpId="0" animBg="1"/>
      <p:bldP spid="5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5" name="Oval 4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3" name="Oval 12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8" name="Straight Arrow Connector 17"/>
          <p:cNvCxnSpPr>
            <a:stCxn id="9" idx="6"/>
            <a:endCxn id="7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" name="Straight Arrow Connector 19"/>
          <p:cNvCxnSpPr>
            <a:stCxn id="5" idx="7"/>
            <a:endCxn id="6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5"/>
            <a:endCxn id="10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7"/>
            <a:endCxn id="10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4"/>
          <p:cNvCxnSpPr>
            <a:stCxn id="13" idx="4"/>
            <a:endCxn id="11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19103" y="4655982"/>
            <a:ext cx="2928189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 = {1, 2, 3, 4, 6, 7, 8}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Move(B,a)</a:t>
            </a:r>
            <a:endParaRPr lang="en-US" sz="220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Move(B,a))</a:t>
            </a:r>
            <a:endParaRPr lang="en-US" sz="2200">
              <a:latin typeface="+mj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flipH="1">
            <a:off x="1193052" y="501469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298154" y="5007902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36128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29194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6656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71196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10779820" y="2856356"/>
            <a:ext cx="163399" cy="241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9132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50" grpId="0"/>
      <p:bldP spid="54" grpId="0"/>
      <p:bldP spid="57" grpId="0" animBg="1"/>
      <p:bldP spid="58" grpId="0" animBg="1"/>
      <p:bldP spid="59" grpId="0" animBg="1"/>
      <p:bldP spid="60" grpId="0" animBg="1"/>
      <p:bldP spid="61" grpId="0" animBg="1"/>
      <p:bldP spid="6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29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38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289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42119" y="4685445"/>
            <a:ext cx="256992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B= {1, 2, 3, 4, 6, 7, 8}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Move(B,b)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{5,9}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Move(B,b))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9}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{1,2,4,5,6,7,9}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1743812" y="5068023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2533667" y="505719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009320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587453" y="5575120"/>
            <a:ext cx="204492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792415" y="5586518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325211" y="554464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907386" y="5544646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5854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48926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4475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85843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91686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" name="Rectangle 76"/>
          <p:cNvSpPr/>
          <p:nvPr/>
        </p:nvSpPr>
        <p:spPr>
          <a:xfrm>
            <a:off x="11411420" y="2903111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105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3" grpId="0"/>
      <p:bldP spid="60" grpId="0" animBg="1"/>
      <p:bldP spid="61" grpId="0" animBg="1"/>
      <p:bldP spid="62" grpId="0" animBg="1"/>
      <p:bldP spid="63" grpId="0" animBg="1"/>
      <p:bldP spid="64" grpId="0" animBg="1"/>
      <p:bldP spid="7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Move(C,a)</a:t>
            </a:r>
            <a:endParaRPr lang="en-US" sz="2200">
              <a:latin typeface="+mj-lt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144829" y="5082311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190173" y="506318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10553" y="4682183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 ,7}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5854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48926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4475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9666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42780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10687453" y="326369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611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4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Move(C,b) =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15556" y="5162230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Move(C,b))=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510583" y="560108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 6, 7, 1, 2, 4}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1231790" y="5049836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718946" y="5133131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974315" y="5610766"/>
            <a:ext cx="354645" cy="370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344171" y="5696543"/>
            <a:ext cx="211819" cy="2365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628329" y="5627375"/>
            <a:ext cx="440753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141421" y="5624191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51207" y="4668836"/>
            <a:ext cx="234316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6, 7}</a:t>
            </a:r>
          </a:p>
        </p:txBody>
      </p:sp>
      <p:sp>
        <p:nvSpPr>
          <p:cNvPr id="67" name="Oval 66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8" name="Oval 67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5854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48926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4475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741114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156614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11331484" y="3247359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400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9" grpId="0"/>
      <p:bldP spid="53" grpId="0"/>
      <p:bldP spid="57" grpId="0" animBg="1"/>
      <p:bldP spid="58" grpId="0" animBg="1"/>
      <p:bldP spid="59" grpId="0" animBg="1"/>
      <p:bldP spid="60" grpId="0" animBg="1"/>
      <p:bldP spid="61" grpId="0" animBg="1"/>
      <p:bldP spid="6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4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Move(D,a)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Move(D,a))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54721" y="5577165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1" name="Straight Connector 60"/>
          <p:cNvCxnSpPr/>
          <p:nvPr/>
        </p:nvCxnSpPr>
        <p:spPr>
          <a:xfrm>
            <a:off x="1131938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202480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66018" y="4708984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58545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48926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4475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741114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09448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Rectangle 66"/>
          <p:cNvSpPr/>
          <p:nvPr/>
        </p:nvSpPr>
        <p:spPr>
          <a:xfrm>
            <a:off x="10664607" y="362945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192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3" grpId="0"/>
      <p:bldP spid="56" grpId="0" animBg="1"/>
      <p:bldP spid="57" grpId="0" animBg="1"/>
      <p:bldP spid="58" grpId="0" animBg="1"/>
      <p:bldP spid="59" grpId="0" animBg="1"/>
      <p:bldP spid="60" grpId="0" animBg="1"/>
      <p:bldP spid="6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8382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747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9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4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14216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Move(D,b)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164676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{5,10}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80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Move(D,b))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10}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{1,2,4,5,6,7,10}</a:t>
            </a:r>
          </a:p>
        </p:txBody>
      </p:sp>
      <p:cxnSp>
        <p:nvCxnSpPr>
          <p:cNvPr id="57" name="Straight Connector 56"/>
          <p:cNvCxnSpPr/>
          <p:nvPr/>
        </p:nvCxnSpPr>
        <p:spPr>
          <a:xfrm flipH="1">
            <a:off x="1398440" y="506760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476180" y="50665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958788" y="5626507"/>
            <a:ext cx="482570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506044" y="5551674"/>
            <a:ext cx="204492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741856" y="5563072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327368" y="5530711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844243" y="5539704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20744" y="4699011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9" name="Oval 68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70" name="Oval 69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34049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52785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72417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01551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29965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347850"/>
              </p:ext>
            </p:extLst>
          </p:nvPr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Rectangle 78"/>
          <p:cNvSpPr/>
          <p:nvPr/>
        </p:nvSpPr>
        <p:spPr>
          <a:xfrm>
            <a:off x="11325252" y="3637230"/>
            <a:ext cx="360179" cy="213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0" name="Straight Connector 79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20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3" grpId="0"/>
      <p:bldP spid="59" grpId="0" animBg="1"/>
      <p:bldP spid="60" grpId="0" animBg="1"/>
      <p:bldP spid="61" grpId="0" animBg="1"/>
      <p:bldP spid="62" grpId="0" animBg="1"/>
      <p:bldP spid="63" grpId="0" animBg="1"/>
      <p:bldP spid="7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4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Move(E,a)</a:t>
            </a:r>
            <a:endParaRPr lang="en-US" sz="220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Move(E,a))</a:t>
            </a:r>
            <a:endParaRPr lang="en-US" sz="2200">
              <a:latin typeface="+mj-lt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089735" y="4978874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{1,2,3,4,6,7,8}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4151" y="5626507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437736" y="5534752"/>
            <a:ext cx="357176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780949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291263" y="55394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60520" y="5559629"/>
            <a:ext cx="570777" cy="400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1" name="Straight Connector 60"/>
          <p:cNvCxnSpPr/>
          <p:nvPr/>
        </p:nvCxnSpPr>
        <p:spPr>
          <a:xfrm>
            <a:off x="1084549" y="497887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159285" y="499956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325095" y="4677269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sp>
        <p:nvSpPr>
          <p:cNvPr id="69" name="Oval 68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70" name="Oval 69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34049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52785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72417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01551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29965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08301"/>
              </p:ext>
            </p:extLst>
          </p:nvPr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10792699" y="3942812"/>
            <a:ext cx="154439" cy="2406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9" name="Straight Connector 78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372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3" grpId="0"/>
      <p:bldP spid="56" grpId="0" animBg="1"/>
      <p:bldP spid="57" grpId="0" animBg="1"/>
      <p:bldP spid="58" grpId="0" animBg="1"/>
      <p:bldP spid="59" grpId="0" animBg="1"/>
      <p:bldP spid="60" grpId="0" animBg="1"/>
      <p:bldP spid="6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p:sp>
        <p:nvSpPr>
          <p:cNvPr id="4" name="Oval 3"/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/>
          <p:cNvCxnSpPr>
            <a:stCxn id="8" idx="6"/>
            <a:endCxn id="6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/>
          <p:cNvCxnSpPr>
            <a:stCxn id="4" idx="7"/>
            <a:endCxn id="5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9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7"/>
            <a:endCxn id="9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/>
          <p:cNvCxnSpPr>
            <a:stCxn id="12" idx="4"/>
            <a:endCxn id="10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Move(E,b)=</a:t>
            </a:r>
            <a:endParaRPr lang="en-US" sz="2200">
              <a:latin typeface="+mj-lt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0635" y="5162502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Move(E,b))=</a:t>
            </a:r>
            <a:endParaRPr lang="en-US" sz="220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455163" y="554566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{5,6,7,1,2,4}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039639" y="4455552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22920"/>
              </p:ext>
            </p:extLst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53228"/>
              </p:ext>
            </p:extLst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Straight Connector 54"/>
          <p:cNvCxnSpPr/>
          <p:nvPr/>
        </p:nvCxnSpPr>
        <p:spPr>
          <a:xfrm>
            <a:off x="1219573" y="502462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665645" y="5146289"/>
            <a:ext cx="536893" cy="42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07793" y="5568987"/>
            <a:ext cx="215906" cy="370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345961" y="5568987"/>
            <a:ext cx="271014" cy="3011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01494" y="5524889"/>
            <a:ext cx="381358" cy="382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989995" y="5608909"/>
            <a:ext cx="499928" cy="36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44806"/>
              </p:ext>
            </p:extLst>
          </p:nvPr>
        </p:nvGraphicFramePr>
        <p:xfrm>
          <a:off x="8724271" y="281894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672609"/>
              </p:ext>
            </p:extLst>
          </p:nvPr>
        </p:nvGraphicFramePr>
        <p:xfrm>
          <a:off x="8724271" y="319202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8303271" y="5913073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69609" y="4705845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35772"/>
              </p:ext>
            </p:extLst>
          </p:nvPr>
        </p:nvGraphicFramePr>
        <p:xfrm>
          <a:off x="8724271" y="35466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319873"/>
              </p:ext>
            </p:extLst>
          </p:nvPr>
        </p:nvGraphicFramePr>
        <p:xfrm>
          <a:off x="8724270" y="39101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Rectangle 66"/>
          <p:cNvSpPr/>
          <p:nvPr/>
        </p:nvSpPr>
        <p:spPr>
          <a:xfrm>
            <a:off x="8448462" y="5907673"/>
            <a:ext cx="188056" cy="216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9" name="Oval 68"/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1412802" y="3976044"/>
            <a:ext cx="154439" cy="2406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74" name="Straight Connector 73"/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933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52" grpId="0"/>
      <p:bldP spid="56" grpId="0" animBg="1"/>
      <p:bldP spid="57" grpId="0" animBg="1"/>
      <p:bldP spid="58" grpId="0" animBg="1"/>
      <p:bldP spid="59" grpId="0" animBg="1"/>
      <p:bldP spid="60" grpId="0" animBg="1"/>
      <p:bldP spid="67" grpId="0" animBg="1"/>
      <p:bldP spid="7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NFA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4" idx="7"/>
            <a:endCxn id="5" idx="2"/>
          </p:cNvCxnSpPr>
          <p:nvPr/>
        </p:nvCxnSpPr>
        <p:spPr>
          <a:xfrm flipV="1">
            <a:off x="7122871" y="2510815"/>
            <a:ext cx="708429" cy="63574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5"/>
            <a:endCxn id="6" idx="2"/>
          </p:cNvCxnSpPr>
          <p:nvPr/>
        </p:nvCxnSpPr>
        <p:spPr>
          <a:xfrm>
            <a:off x="7122871" y="3577615"/>
            <a:ext cx="708429" cy="51136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" idx="1"/>
            <a:endCxn id="5" idx="7"/>
          </p:cNvCxnSpPr>
          <p:nvPr/>
        </p:nvCxnSpPr>
        <p:spPr>
          <a:xfrm rot="5400000" flipH="1" flipV="1">
            <a:off x="8136100" y="2079763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7"/>
          <p:cNvSpPr txBox="1"/>
          <p:nvPr/>
        </p:nvSpPr>
        <p:spPr>
          <a:xfrm>
            <a:off x="7148614" y="246319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11" name="TextBox 38"/>
          <p:cNvSpPr txBox="1"/>
          <p:nvPr/>
        </p:nvSpPr>
        <p:spPr>
          <a:xfrm>
            <a:off x="7062864" y="3740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12" name="TextBox 41"/>
          <p:cNvSpPr txBox="1"/>
          <p:nvPr/>
        </p:nvSpPr>
        <p:spPr>
          <a:xfrm>
            <a:off x="7991607" y="131387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292987" y="3382102"/>
            <a:ext cx="30955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 rot="16200000" flipH="1" flipV="1">
            <a:off x="8143197" y="4072500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1"/>
          <p:cNvSpPr txBox="1"/>
          <p:nvPr/>
        </p:nvSpPr>
        <p:spPr>
          <a:xfrm>
            <a:off x="7994813" y="4916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16" name="Straight Arrow Connector 15"/>
          <p:cNvCxnSpPr>
            <a:stCxn id="6" idx="0"/>
          </p:cNvCxnSpPr>
          <p:nvPr/>
        </p:nvCxnSpPr>
        <p:spPr>
          <a:xfrm flipH="1" flipV="1">
            <a:off x="8136100" y="2822152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37"/>
          <p:cNvSpPr txBox="1"/>
          <p:nvPr/>
        </p:nvSpPr>
        <p:spPr>
          <a:xfrm>
            <a:off x="7859246" y="322691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9550579" y="383966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cxnSp>
        <p:nvCxnSpPr>
          <p:cNvPr id="21" name="Straight Arrow Connector 20"/>
          <p:cNvCxnSpPr>
            <a:stCxn id="5" idx="7"/>
            <a:endCxn id="18" idx="1"/>
          </p:cNvCxnSpPr>
          <p:nvPr/>
        </p:nvCxnSpPr>
        <p:spPr>
          <a:xfrm flipV="1">
            <a:off x="8351626" y="2290526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0800000" flipV="1">
            <a:off x="8376673" y="2639462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41"/>
          <p:cNvSpPr txBox="1"/>
          <p:nvPr/>
        </p:nvSpPr>
        <p:spPr>
          <a:xfrm>
            <a:off x="8776361" y="19072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24" name="TextBox 41"/>
          <p:cNvSpPr txBox="1"/>
          <p:nvPr/>
        </p:nvSpPr>
        <p:spPr>
          <a:xfrm>
            <a:off x="8843471" y="26033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rot="10800000" flipH="1" flipV="1">
            <a:off x="9745821" y="2818011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1"/>
          <p:cNvSpPr txBox="1"/>
          <p:nvPr/>
        </p:nvSpPr>
        <p:spPr>
          <a:xfrm>
            <a:off x="9717273" y="319520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8414403" y="4109532"/>
            <a:ext cx="1087344" cy="5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1"/>
          <p:cNvSpPr txBox="1"/>
          <p:nvPr/>
        </p:nvSpPr>
        <p:spPr>
          <a:xfrm>
            <a:off x="8783796" y="4109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8367668" y="2742383"/>
            <a:ext cx="1212027" cy="112640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1"/>
          <p:cNvSpPr txBox="1"/>
          <p:nvPr/>
        </p:nvSpPr>
        <p:spPr>
          <a:xfrm>
            <a:off x="8735546" y="31987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52407" y="4525594"/>
            <a:ext cx="1936294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Transition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9843" y="5195909"/>
            <a:ext cx="2523418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DFA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8636" y="5094425"/>
            <a:ext cx="3801565" cy="1149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C00000"/>
                </a:solidFill>
                <a:latin typeface="+mj-lt"/>
              </a:rPr>
              <a:t>Note: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Accepting state in NFA is 10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10 is element of 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 So, E is acceptance state in DFA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47133"/>
              </p:ext>
            </p:extLst>
          </p:nvPr>
        </p:nvGraphicFramePr>
        <p:xfrm>
          <a:off x="673808" y="2224917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185645"/>
              </p:ext>
            </p:extLst>
          </p:nvPr>
        </p:nvGraphicFramePr>
        <p:xfrm>
          <a:off x="673809" y="264785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69732"/>
              </p:ext>
            </p:extLst>
          </p:nvPr>
        </p:nvGraphicFramePr>
        <p:xfrm>
          <a:off x="673809" y="301361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220009"/>
              </p:ext>
            </p:extLst>
          </p:nvPr>
        </p:nvGraphicFramePr>
        <p:xfrm>
          <a:off x="673809" y="3386696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168361"/>
              </p:ext>
            </p:extLst>
          </p:nvPr>
        </p:nvGraphicFramePr>
        <p:xfrm>
          <a:off x="673808" y="374521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D = {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53481"/>
              </p:ext>
            </p:extLst>
          </p:nvPr>
        </p:nvGraphicFramePr>
        <p:xfrm>
          <a:off x="673808" y="410719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0"/>
                        <a:t>E = {</a:t>
                      </a:r>
                      <a:r>
                        <a:rPr lang="en-US" sz="17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</a:t>
                      </a:r>
                      <a:r>
                        <a:rPr lang="en-US" sz="1700" b="0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sz="17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748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/>
      <p:bldP spid="11" grpId="0"/>
      <p:bldP spid="12" grpId="0"/>
      <p:bldP spid="15" grpId="0"/>
      <p:bldP spid="17" grpId="0"/>
      <p:bldP spid="18" grpId="0" animBg="1"/>
      <p:bldP spid="19" grpId="0" animBg="1"/>
      <p:bldP spid="20" grpId="0" animBg="1"/>
      <p:bldP spid="23" grpId="0"/>
      <p:bldP spid="24" grpId="0"/>
      <p:bldP spid="26" grpId="0"/>
      <p:bldP spid="28" grpId="0"/>
      <p:bldP spid="30" grpId="0"/>
      <p:bldP spid="3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r>
              <a:rPr lang="en-US"/>
              <a:t>Convert following regular expression to DFA using subset construction method: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/>
              <a:t>(a+b)*a(a+b)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400"/>
              <a:t>(a+b)*ab*a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4367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11. DFA optimization</a:t>
            </a:r>
          </a:p>
        </p:txBody>
      </p:sp>
    </p:spTree>
    <p:extLst>
      <p:ext uri="{BB962C8B-B14F-4D97-AF65-F5344CB8AC3E}">
        <p14:creationId xmlns:p14="http://schemas.microsoft.com/office/powerpoint/2010/main" val="280677898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>
                <a:normAutofit lnSpcReduction="10000"/>
              </a:bodyPr>
              <a:lstStyle/>
              <a:p>
                <a:pPr marL="457200" lvl="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/>
                  <a:t>Construct an initial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/>
                  <a:t> of the set of states with two groups: the accepting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and the non-accepting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. </a:t>
                </a:r>
              </a:p>
              <a:p>
                <a:pPr marL="457200" lvl="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/>
                  <a:t>Apply the repartition procedure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/>
                  <a:t> to construct a new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/>
                  <a:t>. </a:t>
                </a:r>
              </a:p>
              <a:p>
                <a:pPr marL="457200" lvl="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𝑛𝑒𝑤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/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𝑓𝑖𝑛𝑎𝑙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continue with step (4). Otherwise, repeat step (2)   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 defTabSz="600075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/>
                  <a:t>		</a:t>
                </a:r>
                <a:r>
                  <a:rPr lang="en-US" b="1"/>
                  <a:t>for</a:t>
                </a:r>
                <a:r>
                  <a:rPr lang="en-US"/>
                  <a:t> each group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/>
                  <a:t> </a:t>
                </a:r>
                <a:r>
                  <a:rPr lang="en-US" b="1"/>
                  <a:t>do begin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/>
                  <a:t>			partition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into subgroups such that two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/>
              </a:p>
              <a:p>
                <a:pPr marL="0" indent="0" defTabSz="642938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/>
                  <a:t>				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are in the same subgroup if and only if for all </a:t>
                </a:r>
              </a:p>
              <a:p>
                <a:pPr marL="0" indent="0" defTabSz="198438">
                  <a:lnSpc>
                    <a:spcPct val="114000"/>
                  </a:lnSpc>
                  <a:spcBef>
                    <a:spcPct val="0"/>
                  </a:spcBef>
                  <a:buNone/>
                  <a:tabLst>
                    <a:tab pos="2057400" algn="l"/>
                  </a:tabLst>
                </a:pPr>
                <a:r>
                  <a:rPr lang="en-US"/>
                  <a:t>				input symbols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have transitions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/>
              </a:p>
              <a:p>
                <a:pPr marL="0" indent="0" defTabSz="657225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/>
                  <a:t>				to states in the same group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/>
                  <a:t>.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/>
                  <a:t>			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/>
                  <a:t> by the set of all subgroups formed.</a:t>
                </a:r>
              </a:p>
              <a:p>
                <a:pPr marL="1200150" indent="0" defTabSz="704850">
                  <a:lnSpc>
                    <a:spcPct val="114000"/>
                  </a:lnSpc>
                  <a:spcBef>
                    <a:spcPct val="0"/>
                  </a:spcBef>
                  <a:buNone/>
                </a:pPr>
                <a:r>
                  <a:rPr lang="en-US" b="1"/>
                  <a:t>end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1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2300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 marL="457200" lvl="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Choose one state in each group of the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𝑓𝑖𝑛𝑎𝑙</m:t>
                    </m:r>
                  </m:oMath>
                </a14:m>
                <a:r>
                  <a:rPr lang="en-US"/>
                  <a:t> as the representative for that group. The representatives will be the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Let s be a representative state, and suppose on input a there is a transition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be the representative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s group.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transition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 Let the start state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 of the group containing start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, and let the accepting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representatives that are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dead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then remove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Also remove any state not reachable from the start state.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1022" t="-654" r="-1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6917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DFA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4968875"/>
            <a:ext cx="5919788" cy="14859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Now no more splitting is possible.</a:t>
            </a:r>
          </a:p>
          <a:p>
            <a:r>
              <a:rPr lang="en-US"/>
              <a:t>If we chose A as the representative for group (AC), then we obtain reduced transition table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1695"/>
              </p:ext>
            </p:extLst>
          </p:nvPr>
        </p:nvGraphicFramePr>
        <p:xfrm>
          <a:off x="7312486" y="1482516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4277"/>
              </p:ext>
            </p:extLst>
          </p:nvPr>
        </p:nvGraphicFramePr>
        <p:xfrm>
          <a:off x="7312487" y="1848276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156240"/>
              </p:ext>
            </p:extLst>
          </p:nvPr>
        </p:nvGraphicFramePr>
        <p:xfrm>
          <a:off x="7312486" y="2221355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71938"/>
              </p:ext>
            </p:extLst>
          </p:nvPr>
        </p:nvGraphicFramePr>
        <p:xfrm>
          <a:off x="7312486" y="258819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769401"/>
              </p:ext>
            </p:extLst>
          </p:nvPr>
        </p:nvGraphicFramePr>
        <p:xfrm>
          <a:off x="7312486" y="2953958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14162"/>
              </p:ext>
            </p:extLst>
          </p:nvPr>
        </p:nvGraphicFramePr>
        <p:xfrm>
          <a:off x="7312485" y="1113097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blipFill rotWithShape="0">
                <a:blip r:embed="rId2"/>
                <a:stretch>
                  <a:fillRect l="-6800" r="-2800" b="-209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Nonaccepting States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blipFill rotWithShape="0">
                <a:blip r:embed="rId3"/>
                <a:stretch>
                  <a:fillRect b="-1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Accepting States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blipFill rotWithShape="0">
                <a:blip r:embed="rId4"/>
                <a:stretch>
                  <a:fillRect b="-1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2667000" y="1676977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395662" y="1677906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1368618" y="2721064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097280" y="2721993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5145" y="3527869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323807" y="3528798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120033"/>
              </p:ext>
            </p:extLst>
          </p:nvPr>
        </p:nvGraphicFramePr>
        <p:xfrm>
          <a:off x="7314986" y="418323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820509"/>
              </p:ext>
            </p:extLst>
          </p:nvPr>
        </p:nvGraphicFramePr>
        <p:xfrm>
          <a:off x="7314987" y="4548998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398334"/>
              </p:ext>
            </p:extLst>
          </p:nvPr>
        </p:nvGraphicFramePr>
        <p:xfrm>
          <a:off x="7320777" y="4915740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700730"/>
              </p:ext>
            </p:extLst>
          </p:nvPr>
        </p:nvGraphicFramePr>
        <p:xfrm>
          <a:off x="7323673" y="5282482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72030"/>
              </p:ext>
            </p:extLst>
          </p:nvPr>
        </p:nvGraphicFramePr>
        <p:xfrm>
          <a:off x="7314985" y="3813819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542230" y="5643245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Optimized Transition Table</a:t>
            </a: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3861202" y="359893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397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6" grpId="0"/>
      <p:bldP spid="21" grpId="0"/>
      <p:bldP spid="2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 dirty="0"/>
              <a:t>12. Conversion from regular expression to DFA</a:t>
            </a:r>
          </a:p>
        </p:txBody>
      </p:sp>
    </p:spTree>
    <p:extLst>
      <p:ext uri="{BB962C8B-B14F-4D97-AF65-F5344CB8AC3E}">
        <p14:creationId xmlns:p14="http://schemas.microsoft.com/office/powerpoint/2010/main" val="1752696328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altLang="zh-TW"/>
              <a:t>Rules to compute nullable, firstpos, lastpos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</p:spPr>
            <p:txBody>
              <a:bodyPr/>
              <a:lstStyle/>
              <a:p>
                <a:pPr>
                  <a:lnSpc>
                    <a:spcPct val="114000"/>
                  </a:lnSpc>
                </a:pPr>
                <a:r>
                  <a:rPr lang="en-US" altLang="zh-TW" sz="2600">
                    <a:solidFill>
                      <a:srgbClr val="0E47A1"/>
                    </a:solidFill>
                  </a:rPr>
                  <a:t>nullable(n)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/>
                  <a:t>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200"/>
                  <a:t> generates languages including the empty string.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err="1">
                    <a:solidFill>
                      <a:srgbClr val="0E47A1"/>
                    </a:solidFill>
                  </a:rPr>
                  <a:t>firstpos(n)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/>
                  <a:t>The set of positions that can match the first symbol of a string generated by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err="1">
                    <a:solidFill>
                      <a:srgbClr val="0E47A1"/>
                    </a:solidFill>
                  </a:rPr>
                  <a:t>lastpos(n)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/>
                  <a:t>The set of positions that can match the last symbol of a string generated be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err="1">
                    <a:solidFill>
                      <a:srgbClr val="0E47A1"/>
                    </a:solidFill>
                  </a:rPr>
                  <a:t>followpos(i)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/>
                  <a:t> The set of positions that can follow position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200"/>
                  <a:t> in the tree.</a:t>
                </a:r>
                <a:endParaRPr lang="en-US" altLang="zh-TW" sz="2200" i="1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11928475" cy="5591175"/>
              </a:xfrm>
              <a:blipFill>
                <a:blip r:embed="rId2"/>
                <a:stretch>
                  <a:fillRect l="-766" t="-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994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altLang="zh-TW"/>
              <a:t>Rules to compute nullable, firstpos, lastpos</a:t>
            </a: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768210"/>
              </p:ext>
            </p:extLst>
          </p:nvPr>
        </p:nvGraphicFramePr>
        <p:xfrm>
          <a:off x="1054769" y="1062789"/>
          <a:ext cx="8458200" cy="39624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Node n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482415"/>
                  </p:ext>
                </p:extLst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labeled by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  <a:sym typeface="Symbol" pitchFamily="18" charset="2"/>
                                </a:rPr>
                                <m:t>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  <a:sym typeface="Symbol" pitchFamily="18" charset="2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0482415"/>
                  </p:ext>
                </p:extLst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62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576" t="-6061" r="-300576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179625" t="-6061" r="-93566" b="-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300576" t="-6061" r="-576" b="-287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190217"/>
                  </p:ext>
                </p:extLst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with position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𝐢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190217"/>
                  </p:ext>
                </p:extLst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01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576" t="-3448" r="-300576" b="-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179625" t="-3448" r="-93566" b="-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300576" t="-3448" r="-576" b="-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590371"/>
              </p:ext>
            </p:extLst>
          </p:nvPr>
        </p:nvGraphicFramePr>
        <p:xfrm>
          <a:off x="1054769" y="2555398"/>
          <a:ext cx="8458200" cy="13411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or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38506"/>
              </p:ext>
            </p:extLst>
          </p:nvPr>
        </p:nvGraphicFramePr>
        <p:xfrm>
          <a:off x="1054769" y="3895109"/>
          <a:ext cx="8458200" cy="13716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and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</a:t>
                      </a: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 </a:t>
                      </a: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then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</a:t>
                      </a: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82349"/>
              </p:ext>
            </p:extLst>
          </p:nvPr>
        </p:nvGraphicFramePr>
        <p:xfrm>
          <a:off x="1054769" y="5266715"/>
          <a:ext cx="8458200" cy="10951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5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true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lastpos(c</a:t>
                      </a:r>
                      <a:r>
                        <a:rPr kumimoji="1" lang="en-US" altLang="zh-TW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 i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blipFill rotWithShape="0">
                <a:blip r:embed="rId4"/>
                <a:stretch>
                  <a:fillRect b="-89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38"/>
          <p:cNvSpPr txBox="1"/>
          <p:nvPr/>
        </p:nvSpPr>
        <p:spPr>
          <a:xfrm>
            <a:off x="1599893" y="2750959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sp>
        <p:nvSpPr>
          <p:cNvPr id="12" name="Oval 11"/>
          <p:cNvSpPr/>
          <p:nvPr/>
        </p:nvSpPr>
        <p:spPr>
          <a:xfrm>
            <a:off x="1370387" y="33550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b="0" i="1" baseline="-25000">
                <a:latin typeface="+mj-lt"/>
              </a:rPr>
              <a:t>1</a:t>
            </a:r>
            <a:endParaRPr lang="en-US" i="1" baseline="-25000">
              <a:latin typeface="+mj-lt"/>
            </a:endParaRPr>
          </a:p>
        </p:txBody>
      </p:sp>
      <p:cxnSp>
        <p:nvCxnSpPr>
          <p:cNvPr id="13" name="Straight Connector 12"/>
          <p:cNvCxnSpPr>
            <a:stCxn id="10" idx="5"/>
            <a:endCxn id="15" idx="0"/>
          </p:cNvCxnSpPr>
          <p:nvPr/>
        </p:nvCxnSpPr>
        <p:spPr>
          <a:xfrm>
            <a:off x="2370568" y="31331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3"/>
            <a:endCxn id="12" idx="0"/>
          </p:cNvCxnSpPr>
          <p:nvPr/>
        </p:nvCxnSpPr>
        <p:spPr>
          <a:xfrm flipH="1">
            <a:off x="1638387" y="31331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37007" y="33857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i="1" baseline="-25000">
                <a:latin typeface="+mj-lt"/>
              </a:rPr>
              <a:t>2</a:t>
            </a:r>
          </a:p>
        </p:txBody>
      </p:sp>
      <p:sp>
        <p:nvSpPr>
          <p:cNvPr id="16" name="TextBox 38"/>
          <p:cNvSpPr txBox="1"/>
          <p:nvPr/>
        </p:nvSpPr>
        <p:spPr>
          <a:xfrm>
            <a:off x="1632373" y="4057592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38"/>
          <p:cNvSpPr txBox="1"/>
          <p:nvPr/>
        </p:nvSpPr>
        <p:spPr>
          <a:xfrm>
            <a:off x="1639419" y="5361223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cxnSp>
        <p:nvCxnSpPr>
          <p:cNvPr id="19" name="Straight Connector 18"/>
          <p:cNvCxnSpPr>
            <a:stCxn id="17" idx="4"/>
          </p:cNvCxnSpPr>
          <p:nvPr/>
        </p:nvCxnSpPr>
        <p:spPr>
          <a:xfrm>
            <a:off x="2240956" y="5725130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b="1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1417859" y="464672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2" name="Straight Connector 21"/>
          <p:cNvCxnSpPr>
            <a:stCxn id="20" idx="5"/>
            <a:endCxn id="24" idx="0"/>
          </p:cNvCxnSpPr>
          <p:nvPr/>
        </p:nvCxnSpPr>
        <p:spPr>
          <a:xfrm>
            <a:off x="2418040" y="4424795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0" idx="3"/>
            <a:endCxn id="21" idx="0"/>
          </p:cNvCxnSpPr>
          <p:nvPr/>
        </p:nvCxnSpPr>
        <p:spPr>
          <a:xfrm flipH="1">
            <a:off x="1685859" y="4424795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484479" y="467744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i="1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1986797" y="5924379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0923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5" grpId="0" animBg="1"/>
      <p:bldP spid="16" grpId="0"/>
      <p:bldP spid="17" grpId="0" animBg="1"/>
      <p:bldP spid="18" grpId="0"/>
      <p:bldP spid="20" grpId="0" animBg="1"/>
      <p:bldP spid="21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Rules to compute followpos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r>
              <a:rPr lang="en-US" altLang="zh-TW"/>
              <a:t>If n is </a:t>
            </a:r>
            <a:r>
              <a:rPr lang="en-US" altLang="zh-TW" b="1"/>
              <a:t>concatenation</a:t>
            </a:r>
            <a:r>
              <a:rPr lang="en-US" altLang="zh-TW"/>
              <a:t> node with left child c1 and right child c2 and </a:t>
            </a:r>
            <a:r>
              <a:rPr lang="en-US" altLang="zh-TW" b="1" i="1" err="1"/>
              <a:t>i</a:t>
            </a:r>
            <a:r>
              <a:rPr lang="en-US" altLang="zh-TW"/>
              <a:t> is a position in </a:t>
            </a:r>
            <a:r>
              <a:rPr lang="en-US" altLang="zh-TW" err="1">
                <a:solidFill>
                  <a:srgbClr val="0E47A1"/>
                </a:solidFill>
              </a:rPr>
              <a:t>lastpos(c1)</a:t>
            </a:r>
            <a:r>
              <a:rPr lang="en-US" altLang="zh-TW"/>
              <a:t>, then all position in </a:t>
            </a:r>
            <a:r>
              <a:rPr lang="en-US" altLang="zh-TW" err="1">
                <a:solidFill>
                  <a:srgbClr val="0E47A1"/>
                </a:solidFill>
              </a:rPr>
              <a:t>firstpos(c2)</a:t>
            </a:r>
            <a:r>
              <a:rPr lang="en-US" altLang="zh-TW"/>
              <a:t> are in </a:t>
            </a:r>
            <a:r>
              <a:rPr lang="en-US" altLang="zh-TW" err="1">
                <a:solidFill>
                  <a:srgbClr val="C00000"/>
                </a:solidFill>
              </a:rPr>
              <a:t>followpos(i)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TW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en-US" altLang="zh-TW"/>
              <a:t>If n is </a:t>
            </a:r>
            <a:r>
              <a:rPr lang="en-US" altLang="zh-TW" b="1"/>
              <a:t>*</a:t>
            </a:r>
            <a:r>
              <a:rPr lang="en-US" altLang="zh-TW"/>
              <a:t> node and </a:t>
            </a:r>
            <a:r>
              <a:rPr lang="en-US" altLang="zh-TW" b="1" i="1" err="1"/>
              <a:t>i</a:t>
            </a:r>
            <a:r>
              <a:rPr lang="en-US" altLang="zh-TW"/>
              <a:t> is position in </a:t>
            </a:r>
            <a:r>
              <a:rPr lang="en-US" altLang="zh-TW" err="1">
                <a:solidFill>
                  <a:srgbClr val="0E47A1"/>
                </a:solidFill>
              </a:rPr>
              <a:t>lastpos(n)</a:t>
            </a:r>
            <a:r>
              <a:rPr lang="en-US" altLang="zh-TW"/>
              <a:t>, then all position in </a:t>
            </a:r>
            <a:r>
              <a:rPr lang="en-US" altLang="zh-TW" err="1">
                <a:solidFill>
                  <a:srgbClr val="0E47A1"/>
                </a:solidFill>
              </a:rPr>
              <a:t>firstpos(n)</a:t>
            </a:r>
            <a:r>
              <a:rPr lang="en-US" altLang="zh-TW"/>
              <a:t> are in </a:t>
            </a:r>
            <a:r>
              <a:rPr lang="en-US" altLang="zh-TW" err="1">
                <a:solidFill>
                  <a:srgbClr val="C00000"/>
                </a:solidFill>
              </a:rPr>
              <a:t>followpos(i)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16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6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5185" y="3705087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315879" y="2623916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hlinkClick r:id="" action="ppaction://noaction"/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533400" y="1143000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(a|b)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47776" y="114300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23992" y="1142999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</a:rPr>
              <a:t>abb</a:t>
            </a:r>
            <a:endParaRPr lang="en-US" sz="2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1990776" y="1152554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#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6377" y="1794948"/>
            <a:ext cx="3760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2: Nullable node</a:t>
            </a:r>
          </a:p>
          <a:p>
            <a:endParaRPr lang="en-US" sz="2400"/>
          </a:p>
          <a:p>
            <a:r>
              <a:rPr lang="en-US" sz="2400"/>
              <a:t>Here, </a:t>
            </a:r>
            <a:r>
              <a:rPr lang="en-US" sz="2400">
                <a:solidFill>
                  <a:srgbClr val="C00000"/>
                </a:solidFill>
              </a:rPr>
              <a:t>*</a:t>
            </a:r>
            <a:r>
              <a:rPr lang="en-US" sz="2400"/>
              <a:t> is only nullable node</a:t>
            </a:r>
          </a:p>
        </p:txBody>
      </p:sp>
      <p:sp>
        <p:nvSpPr>
          <p:cNvPr id="39" name="Oval 38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43140" y="1136512"/>
            <a:ext cx="382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1: Construct Syntax Tree</a:t>
            </a:r>
          </a:p>
        </p:txBody>
      </p:sp>
    </p:spTree>
    <p:extLst>
      <p:ext uri="{BB962C8B-B14F-4D97-AF65-F5344CB8AC3E}">
        <p14:creationId xmlns:p14="http://schemas.microsoft.com/office/powerpoint/2010/main" val="1043484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3" grpId="0"/>
      <p:bldP spid="14" grpId="0"/>
      <p:bldP spid="15" grpId="0"/>
      <p:bldP spid="16" grpId="0"/>
      <p:bldP spid="17" grpId="0"/>
      <p:bldP spid="20" grpId="0"/>
      <p:bldP spid="23" grpId="0"/>
      <p:bldP spid="26" grpId="0"/>
      <p:bldP spid="27" grpId="0"/>
      <p:bldP spid="28" grpId="0"/>
      <p:bldP spid="29" grpId="0"/>
      <p:bldP spid="31" grpId="0"/>
      <p:bldP spid="33" grpId="0"/>
      <p:bldP spid="34" grpId="0"/>
      <p:bldP spid="35" grpId="0"/>
      <p:bldP spid="36" grpId="0"/>
      <p:bldP spid="37" grpId="0"/>
      <p:bldP spid="3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6934"/>
            <a:ext cx="12192000" cy="711200"/>
          </a:xfrm>
        </p:spPr>
        <p:txBody>
          <a:bodyPr/>
          <a:lstStyle/>
          <a:p>
            <a:r>
              <a:rPr lang="en-US" dirty="0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476122" y="5259038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firstpos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49590" y="1154872"/>
            <a:ext cx="2140820" cy="633971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</a:rPr>
              <a:t>Firstpos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8101762" y="1477683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>
                    <a:latin typeface="+mj-lt"/>
                  </a:rPr>
                  <a:t>A leaf with position</a:t>
                </a:r>
                <a:r>
                  <a:rPr kumimoji="1" lang="en-US" altLang="zh-TW" b="1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221" t="-8333" r="0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blipFill rotWithShape="0">
                <a:blip r:embed="rId23"/>
                <a:stretch>
                  <a:fillRect b="-89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38"/>
          <p:cNvSpPr txBox="1"/>
          <p:nvPr/>
        </p:nvSpPr>
        <p:spPr>
          <a:xfrm>
            <a:off x="6500388" y="29916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46" name="Oval 45"/>
          <p:cNvSpPr/>
          <p:nvPr/>
        </p:nvSpPr>
        <p:spPr>
          <a:xfrm>
            <a:off x="6249127" y="366518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7" name="Straight Connector 46"/>
          <p:cNvCxnSpPr>
            <a:stCxn id="44" idx="5"/>
            <a:endCxn id="49" idx="0"/>
          </p:cNvCxnSpPr>
          <p:nvPr/>
        </p:nvCxnSpPr>
        <p:spPr>
          <a:xfrm>
            <a:off x="7249308" y="344325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44" idx="3"/>
            <a:endCxn id="46" idx="0"/>
          </p:cNvCxnSpPr>
          <p:nvPr/>
        </p:nvCxnSpPr>
        <p:spPr>
          <a:xfrm flipH="1">
            <a:off x="6517127" y="344325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315747" y="369590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30717" y="3283418"/>
            <a:ext cx="2584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  <a:r>
              <a:rPr kumimoji="1" lang="en-US" altLang="zh-TW" b="1">
                <a:latin typeface="+mj-lt"/>
                <a:sym typeface="Symbol" pitchFamily="18" charset="2"/>
              </a:rPr>
              <a:t></a:t>
            </a:r>
            <a:r>
              <a:rPr kumimoji="1" lang="en-US" altLang="zh-TW">
                <a:latin typeface="+mj-lt"/>
              </a:rPr>
              <a:t> </a:t>
            </a: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2</a:t>
            </a:r>
            <a:r>
              <a:rPr kumimoji="1" lang="en-US" altLang="zh-TW">
                <a:latin typeface="+mj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blipFill rotWithShape="0"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38"/>
          <p:cNvSpPr txBox="1"/>
          <p:nvPr/>
        </p:nvSpPr>
        <p:spPr>
          <a:xfrm>
            <a:off x="6509561" y="41940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cxnSp>
        <p:nvCxnSpPr>
          <p:cNvPr id="53" name="Straight Connector 52"/>
          <p:cNvCxnSpPr>
            <a:stCxn id="51" idx="4"/>
          </p:cNvCxnSpPr>
          <p:nvPr/>
        </p:nvCxnSpPr>
        <p:spPr>
          <a:xfrm>
            <a:off x="7034359" y="4571644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780200" y="4770893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591766" y="4430156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/>
              <p:cNvSpPr/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Oval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blipFill rotWithShape="0"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38"/>
          <p:cNvSpPr txBox="1"/>
          <p:nvPr/>
        </p:nvSpPr>
        <p:spPr>
          <a:xfrm>
            <a:off x="6457965" y="52422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58" name="Oval 57"/>
          <p:cNvSpPr/>
          <p:nvPr/>
        </p:nvSpPr>
        <p:spPr>
          <a:xfrm>
            <a:off x="6206704" y="591573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59" name="Straight Connector 58"/>
          <p:cNvCxnSpPr>
            <a:stCxn id="56" idx="5"/>
            <a:endCxn id="61" idx="0"/>
          </p:cNvCxnSpPr>
          <p:nvPr/>
        </p:nvCxnSpPr>
        <p:spPr>
          <a:xfrm>
            <a:off x="7206885" y="5693809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6" idx="3"/>
            <a:endCxn id="58" idx="0"/>
          </p:cNvCxnSpPr>
          <p:nvPr/>
        </p:nvCxnSpPr>
        <p:spPr>
          <a:xfrm flipH="1">
            <a:off x="6474704" y="5693809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273324" y="594645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/>
          <p:cNvSpPr/>
          <p:nvPr/>
        </p:nvSpPr>
        <p:spPr>
          <a:xfrm>
            <a:off x="7558101" y="5167300"/>
            <a:ext cx="2551938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</a:p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 err="1"/>
              <a:t>then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831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9" grpId="0"/>
      <p:bldP spid="20" grpId="0"/>
      <p:bldP spid="24" grpId="0"/>
      <p:bldP spid="25" grpId="0"/>
      <p:bldP spid="29" grpId="0"/>
      <p:bldP spid="30" grpId="0"/>
      <p:bldP spid="34" grpId="0"/>
      <p:bldP spid="41" grpId="0" animBg="1"/>
      <p:bldP spid="43" grpId="0"/>
      <p:bldP spid="44" grpId="0" animBg="1"/>
      <p:bldP spid="45" grpId="0"/>
      <p:bldP spid="46" grpId="0" animBg="1"/>
      <p:bldP spid="49" grpId="0" animBg="1"/>
      <p:bldP spid="50" grpId="0"/>
      <p:bldP spid="51" grpId="0" animBg="1"/>
      <p:bldP spid="52" grpId="0"/>
      <p:bldP spid="54" grpId="0" animBg="1"/>
      <p:bldP spid="55" grpId="0"/>
      <p:bldP spid="56" grpId="0" animBg="1"/>
      <p:bldP spid="57" grpId="0"/>
      <p:bldP spid="58" grpId="0" animBg="1"/>
      <p:bldP spid="61" grpId="0" animBg="1"/>
      <p:bldP spid="7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471298" y="5258643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652699" y="3135762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84551" y="1038503"/>
            <a:ext cx="441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lastpos</a:t>
            </a:r>
          </a:p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/>
          <p:cNvSpPr/>
          <p:nvPr/>
        </p:nvSpPr>
        <p:spPr>
          <a:xfrm>
            <a:off x="6613945" y="1215510"/>
            <a:ext cx="2140820" cy="71462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009644"/>
                </a:solidFill>
              </a:rPr>
              <a:t>Lastpos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8206984" y="1588558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/>
                  <a:t>A leaf with position</a:t>
                </a:r>
                <a:r>
                  <a:rPr kumimoji="1" lang="en-US" altLang="zh-TW" b="1"/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221" t="-8333" r="0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blipFill rotWithShape="0">
                <a:blip r:embed="rId41"/>
                <a:stretch>
                  <a:fillRect b="-89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38"/>
          <p:cNvSpPr txBox="1"/>
          <p:nvPr/>
        </p:nvSpPr>
        <p:spPr>
          <a:xfrm>
            <a:off x="6659756" y="29547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64" name="Oval 63"/>
          <p:cNvSpPr/>
          <p:nvPr/>
        </p:nvSpPr>
        <p:spPr>
          <a:xfrm>
            <a:off x="6408495" y="36282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65" name="Straight Connector 64"/>
          <p:cNvCxnSpPr>
            <a:stCxn id="62" idx="5"/>
            <a:endCxn id="67" idx="0"/>
          </p:cNvCxnSpPr>
          <p:nvPr/>
        </p:nvCxnSpPr>
        <p:spPr>
          <a:xfrm>
            <a:off x="7408676" y="34063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2" idx="3"/>
            <a:endCxn id="64" idx="0"/>
          </p:cNvCxnSpPr>
          <p:nvPr/>
        </p:nvCxnSpPr>
        <p:spPr>
          <a:xfrm flipH="1">
            <a:off x="6676495" y="34063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475115" y="36589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5731" y="5208377"/>
            <a:ext cx="2584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sz="2000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 sz="2000">
                <a:ea typeface="新細明體" panose="02020500000000000000" pitchFamily="18" charset="-120"/>
              </a:rPr>
              <a:t>(</a:t>
            </a:r>
            <a:r>
              <a:rPr kumimoji="1" lang="en-US" altLang="zh-TW" sz="2000" i="1">
                <a:ea typeface="新細明體" panose="02020500000000000000" pitchFamily="18" charset="-120"/>
              </a:rPr>
              <a:t>c</a:t>
            </a:r>
            <a:r>
              <a:rPr kumimoji="1" lang="en-US" altLang="zh-TW" sz="2000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  <a:r>
              <a:rPr kumimoji="1" lang="en-US" altLang="zh-TW" b="1">
                <a:ea typeface="新細明體" panose="02020500000000000000" pitchFamily="18" charset="-120"/>
              </a:rPr>
              <a:t>then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b="1" i="1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/>
              <p:cNvSpPr/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9" name="Oval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blipFill rotWithShape="0">
                <a:blip r:embed="rId4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38"/>
          <p:cNvSpPr txBox="1"/>
          <p:nvPr/>
        </p:nvSpPr>
        <p:spPr>
          <a:xfrm>
            <a:off x="6668929" y="41571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cxnSp>
        <p:nvCxnSpPr>
          <p:cNvPr id="71" name="Straight Connector 70"/>
          <p:cNvCxnSpPr>
            <a:stCxn id="69" idx="4"/>
          </p:cNvCxnSpPr>
          <p:nvPr/>
        </p:nvCxnSpPr>
        <p:spPr>
          <a:xfrm>
            <a:off x="7193727" y="4534733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39568" y="4733982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sp>
        <p:nvSpPr>
          <p:cNvPr id="73" name="Rectangle 72"/>
          <p:cNvSpPr/>
          <p:nvPr/>
        </p:nvSpPr>
        <p:spPr>
          <a:xfrm>
            <a:off x="7563115" y="4381197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/>
              <a:t>lastpos</a:t>
            </a:r>
            <a:r>
              <a:rPr kumimoji="1" lang="en-US" altLang="zh-TW"/>
              <a:t>(</a:t>
            </a:r>
            <a:r>
              <a:rPr kumimoji="1" lang="en-US" altLang="zh-TW" i="1"/>
              <a:t>c</a:t>
            </a:r>
            <a:r>
              <a:rPr kumimoji="1" lang="en-US" altLang="zh-TW" baseline="-25000"/>
              <a:t>1</a:t>
            </a:r>
            <a:r>
              <a:rPr kumimoji="1" lang="en-US" altLang="zh-TW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/>
              <p:cNvSpPr/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4" name="Oval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blipFill rotWithShape="0">
                <a:blip r:embed="rId4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38"/>
          <p:cNvSpPr txBox="1"/>
          <p:nvPr/>
        </p:nvSpPr>
        <p:spPr>
          <a:xfrm>
            <a:off x="6617333" y="5205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76" name="Oval 75"/>
          <p:cNvSpPr/>
          <p:nvPr/>
        </p:nvSpPr>
        <p:spPr>
          <a:xfrm>
            <a:off x="6366072" y="587882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77" name="Straight Connector 76"/>
          <p:cNvCxnSpPr>
            <a:stCxn id="74" idx="5"/>
            <a:endCxn id="79" idx="0"/>
          </p:cNvCxnSpPr>
          <p:nvPr/>
        </p:nvCxnSpPr>
        <p:spPr>
          <a:xfrm>
            <a:off x="7366253" y="565689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4" idx="3"/>
            <a:endCxn id="76" idx="0"/>
          </p:cNvCxnSpPr>
          <p:nvPr/>
        </p:nvCxnSpPr>
        <p:spPr>
          <a:xfrm flipH="1">
            <a:off x="6634072" y="565689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432692" y="590954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56756" y="3302130"/>
            <a:ext cx="2626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655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4" grpId="0"/>
      <p:bldP spid="26" grpId="0"/>
      <p:bldP spid="31" grpId="0"/>
      <p:bldP spid="33" grpId="0"/>
      <p:bldP spid="38" grpId="0"/>
      <p:bldP spid="45" grpId="0"/>
      <p:bldP spid="47" grpId="0"/>
      <p:bldP spid="59" grpId="0" animBg="1"/>
      <p:bldP spid="61" grpId="0"/>
      <p:bldP spid="62" grpId="0" animBg="1"/>
      <p:bldP spid="63" grpId="0"/>
      <p:bldP spid="64" grpId="0" animBg="1"/>
      <p:bldP spid="67" grpId="0" animBg="1"/>
      <p:bldP spid="68" grpId="0"/>
      <p:bldP spid="69" grpId="0" animBg="1"/>
      <p:bldP spid="70" grpId="0"/>
      <p:bldP spid="72" grpId="0" animBg="1"/>
      <p:bldP spid="73" grpId="0"/>
      <p:bldP spid="74" grpId="0" animBg="1"/>
      <p:bldP spid="75" grpId="0"/>
      <p:bldP spid="76" grpId="0" animBg="1"/>
      <p:bldP spid="79" grpId="0" animBg="1"/>
      <p:bldP spid="8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3208997496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Content Placeholder 3"/>
          <p:cNvGraphicFramePr/>
          <p:nvPr>
            <p:extLst>
              <p:ext uri="{D42A27DB-BD31-4B8C-83A1-F6EECF244321}">
                <p14:modId xmlns:p14="http://schemas.microsoft.com/office/powerpoint/2010/main" val="2968890007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 = {5}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/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74"/>
          <p:cNvCxnSpPr/>
          <p:nvPr/>
        </p:nvCxnSpPr>
        <p:spPr>
          <a:xfrm rot="5400000" flipH="1">
            <a:off x="3933206" y="2402197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7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/>
      <p:bldP spid="63" grpId="0"/>
      <p:bldP spid="66" grpId="0"/>
      <p:bldP spid="67" grpId="0"/>
      <p:bldP spid="68" grpId="0"/>
      <p:bldP spid="69" grpId="0"/>
      <p:bldP spid="7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2166340773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67972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Content Placeholder 3"/>
          <p:cNvGraphicFramePr/>
          <p:nvPr>
            <p:extLst>
              <p:ext uri="{D42A27DB-BD31-4B8C-83A1-F6EECF244321}">
                <p14:modId xmlns:p14="http://schemas.microsoft.com/office/powerpoint/2010/main" val="3794428207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Content Placeholder 3"/>
          <p:cNvGraphicFramePr/>
          <p:nvPr>
            <p:extLst>
              <p:ext uri="{D42A27DB-BD31-4B8C-83A1-F6EECF244321}">
                <p14:modId xmlns:p14="http://schemas.microsoft.com/office/powerpoint/2010/main" val="2332249180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" name="Straight Connector 72"/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74"/>
          <p:cNvCxnSpPr/>
          <p:nvPr/>
        </p:nvCxnSpPr>
        <p:spPr>
          <a:xfrm rot="5400000" flipH="1">
            <a:off x="3303526" y="293129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11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/>
      <p:bldP spid="63" grpId="0"/>
      <p:bldP spid="66" grpId="0"/>
      <p:bldP spid="67" grpId="0"/>
      <p:bldP spid="68" grpId="0"/>
      <p:bldP spid="69" grpId="0"/>
      <p:bldP spid="7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3461906145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56506" y="2110987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Content Placeholder 3"/>
          <p:cNvGraphicFramePr/>
          <p:nvPr>
            <p:extLst>
              <p:ext uri="{D42A27DB-BD31-4B8C-83A1-F6EECF244321}">
                <p14:modId xmlns:p14="http://schemas.microsoft.com/office/powerpoint/2010/main" val="525057692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Content Placeholder 3"/>
          <p:cNvGraphicFramePr/>
          <p:nvPr>
            <p:extLst>
              <p:ext uri="{D42A27DB-BD31-4B8C-83A1-F6EECF244321}">
                <p14:modId xmlns:p14="http://schemas.microsoft.com/office/powerpoint/2010/main" val="1194518791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Content Placeholder 3"/>
          <p:cNvGraphicFramePr/>
          <p:nvPr>
            <p:extLst>
              <p:ext uri="{D42A27DB-BD31-4B8C-83A1-F6EECF244321}">
                <p14:modId xmlns:p14="http://schemas.microsoft.com/office/powerpoint/2010/main" val="3250817365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Rectangle 73"/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5" name="Straight Connector 74"/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6"/>
          <p:cNvCxnSpPr/>
          <p:nvPr/>
        </p:nvCxnSpPr>
        <p:spPr>
          <a:xfrm rot="5400000" flipH="1">
            <a:off x="2659380" y="345790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99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/>
      <p:bldP spid="63" grpId="0"/>
      <p:bldP spid="66" grpId="0"/>
      <p:bldP spid="67" grpId="0"/>
      <p:bldP spid="68" grpId="0"/>
      <p:bldP spid="69" grpId="0"/>
      <p:bldP spid="7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1759942844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8825" y="3711900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Content Placeholder 3"/>
          <p:cNvGraphicFramePr/>
          <p:nvPr>
            <p:extLst>
              <p:ext uri="{D42A27DB-BD31-4B8C-83A1-F6EECF244321}">
                <p14:modId xmlns:p14="http://schemas.microsoft.com/office/powerpoint/2010/main" val="3411496967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Content Placeholder 3"/>
          <p:cNvGraphicFramePr/>
          <p:nvPr>
            <p:extLst>
              <p:ext uri="{D42A27DB-BD31-4B8C-83A1-F6EECF244321}">
                <p14:modId xmlns:p14="http://schemas.microsoft.com/office/powerpoint/2010/main" val="3765561106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Content Placeholder 3"/>
          <p:cNvGraphicFramePr/>
          <p:nvPr>
            <p:extLst>
              <p:ext uri="{D42A27DB-BD31-4B8C-83A1-F6EECF244321}">
                <p14:modId xmlns:p14="http://schemas.microsoft.com/office/powerpoint/2010/main" val="3554286069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Content Placeholder 3"/>
          <p:cNvGraphicFramePr/>
          <p:nvPr>
            <p:extLst>
              <p:ext uri="{D42A27DB-BD31-4B8C-83A1-F6EECF244321}">
                <p14:modId xmlns:p14="http://schemas.microsoft.com/office/powerpoint/2010/main" val="897254434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Content Placeholder 3"/>
          <p:cNvGraphicFramePr/>
          <p:nvPr>
            <p:extLst>
              <p:ext uri="{D42A27DB-BD31-4B8C-83A1-F6EECF244321}">
                <p14:modId xmlns:p14="http://schemas.microsoft.com/office/powerpoint/2010/main" val="1169862854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Rectangle 74"/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/>
          <p:cNvCxnSpPr>
            <a:stCxn id="24" idx="2"/>
          </p:cNvCxnSpPr>
          <p:nvPr/>
        </p:nvCxnSpPr>
        <p:spPr>
          <a:xfrm rot="5400000" flipH="1">
            <a:off x="2040595" y="4151377"/>
            <a:ext cx="45311" cy="512249"/>
          </a:xfrm>
          <a:prstGeom prst="curvedConnector4">
            <a:avLst>
              <a:gd name="adj1" fmla="val -504513"/>
              <a:gd name="adj2" fmla="val 90907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:endParaRPr lang="en-US" sz="2000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142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/>
      <p:bldP spid="63" grpId="0"/>
      <p:bldP spid="66" grpId="0"/>
      <p:bldP spid="67" grpId="0"/>
      <p:bldP spid="68" grpId="0"/>
      <p:bldP spid="69" grpId="0"/>
      <p:bldP spid="7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1020892399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stCxn id="5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6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3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28825" y="3712483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52699" y="3147714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09903" y="2611964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51" idx="0"/>
          </p:cNvCxnSpPr>
          <p:nvPr/>
        </p:nvCxnSpPr>
        <p:spPr>
          <a:xfrm>
            <a:off x="3962482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/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1" name="Content Placeholder 3"/>
          <p:cNvGraphicFramePr/>
          <p:nvPr>
            <p:extLst>
              <p:ext uri="{D42A27DB-BD31-4B8C-83A1-F6EECF244321}">
                <p14:modId xmlns:p14="http://schemas.microsoft.com/office/powerpoint/2010/main" val="3796032670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3" name="Content Placeholder 3"/>
          <p:cNvGraphicFramePr/>
          <p:nvPr>
            <p:extLst>
              <p:ext uri="{D42A27DB-BD31-4B8C-83A1-F6EECF244321}">
                <p14:modId xmlns:p14="http://schemas.microsoft.com/office/powerpoint/2010/main" val="3523620578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Content Placeholder 3"/>
          <p:cNvGraphicFramePr/>
          <p:nvPr>
            <p:extLst>
              <p:ext uri="{D42A27DB-BD31-4B8C-83A1-F6EECF244321}">
                <p14:modId xmlns:p14="http://schemas.microsoft.com/office/powerpoint/2010/main" val="2222884044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Content Placeholder 3"/>
          <p:cNvGraphicFramePr/>
          <p:nvPr>
            <p:extLst>
              <p:ext uri="{D42A27DB-BD31-4B8C-83A1-F6EECF244321}">
                <p14:modId xmlns:p14="http://schemas.microsoft.com/office/powerpoint/2010/main" val="2939428877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Content Placeholder 3"/>
          <p:cNvGraphicFramePr/>
          <p:nvPr>
            <p:extLst>
              <p:ext uri="{D42A27DB-BD31-4B8C-83A1-F6EECF244321}">
                <p14:modId xmlns:p14="http://schemas.microsoft.com/office/powerpoint/2010/main" val="1389262367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80952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/>
          <p:cNvSpPr/>
          <p:nvPr/>
        </p:nvSpPr>
        <p:spPr>
          <a:xfrm>
            <a:off x="6459914" y="3824065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94506" y="2686573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94506" y="3079752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2" name="Rectangle 71"/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:endParaRPr lang="en-US" sz="2000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836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0" grpId="0" animBg="1"/>
      <p:bldP spid="62" grpId="0"/>
      <p:bldP spid="67" grpId="0"/>
      <p:bldP spid="68" grpId="0"/>
      <p:bldP spid="69" grpId="0" animBg="1"/>
      <p:bldP spid="70" grpId="0"/>
      <p:bldP spid="7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863600"/>
                <a:ext cx="6284913" cy="55911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+mj-lt"/>
                  </a:rPr>
                  <a:t>Initial state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𝑓𝑖𝑟𝑠𝑡𝑝𝑜𝑠</m:t>
                    </m:r>
                  </m:oMath>
                </a14:m>
                <a:r>
                  <a:rPr lang="en-US">
                    <a:latin typeface="+mj-lt"/>
                  </a:rPr>
                  <a:t> of root = {1,2,3} ----- A</a:t>
                </a:r>
              </a:p>
              <a:p>
                <a:pPr marL="0" indent="0">
                  <a:buNone/>
                </a:pPr>
                <a:r>
                  <a:rPr lang="en-US" b="1" u="sng">
                    <a:latin typeface="+mj-lt"/>
                  </a:rPr>
                  <a:t>State A</a:t>
                </a:r>
              </a:p>
              <a:p>
                <a:pPr marL="0" indent="0"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(1,2,3),a) = followpos(1) U followpos(3)</a:t>
                </a:r>
              </a:p>
              <a:p>
                <a:pPr marL="0" indent="0" defTabSz="742950">
                  <a:buNone/>
                </a:pPr>
                <a:r>
                  <a:rPr lang="en-US">
                    <a:latin typeface="+mj-lt"/>
                  </a:rPr>
                  <a:t>		=(1,2,3) U (4) = {1,2,3,4} ----- B</a:t>
                </a:r>
              </a:p>
              <a:p>
                <a:pPr marL="0" indent="0" defTabSz="742950">
                  <a:buNone/>
                </a:pPr>
                <a:endParaRPr lang="en-US">
                  <a:latin typeface="+mj-lt"/>
                </a:endParaRPr>
              </a:p>
              <a:p>
                <a:pPr marL="0" indent="0"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(1,2,3),b) = followpos(2) </a:t>
                </a:r>
              </a:p>
              <a:p>
                <a:pPr marL="0" indent="0" defTabSz="742950">
                  <a:buNone/>
                </a:pPr>
                <a:r>
                  <a:rPr lang="en-US">
                    <a:latin typeface="+mj-lt"/>
                  </a:rPr>
                  <a:t>		=(1,2,3) ----- 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863600"/>
                <a:ext cx="6284913" cy="5591175"/>
              </a:xfrm>
              <a:blipFill>
                <a:blip r:embed="rId2"/>
                <a:stretch>
                  <a:fillRect l="-1940" t="-1963" r="-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2861236325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1883622172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/>
          <p:nvPr>
            <p:extLst>
              <p:ext uri="{D42A27DB-BD31-4B8C-83A1-F6EECF244321}">
                <p14:modId xmlns:p14="http://schemas.microsoft.com/office/powerpoint/2010/main" val="4284174824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/>
          <p:nvPr>
            <p:extLst>
              <p:ext uri="{D42A27DB-BD31-4B8C-83A1-F6EECF244321}">
                <p14:modId xmlns:p14="http://schemas.microsoft.com/office/powerpoint/2010/main" val="291359805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/>
          <p:nvPr>
            <p:extLst>
              <p:ext uri="{D42A27DB-BD31-4B8C-83A1-F6EECF244321}">
                <p14:modId xmlns:p14="http://schemas.microsoft.com/office/powerpoint/2010/main" val="1773423525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/>
          <p:nvPr>
            <p:extLst>
              <p:ext uri="{D42A27DB-BD31-4B8C-83A1-F6EECF244321}">
                <p14:modId xmlns:p14="http://schemas.microsoft.com/office/powerpoint/2010/main" val="3839517572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607628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6074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959210"/>
              </p:ext>
            </p:extLst>
          </p:nvPr>
        </p:nvGraphicFramePr>
        <p:xfrm>
          <a:off x="6419371" y="4711284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913077" y="4441582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599534" y="4434541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67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/>
              <a:t>State B</a:t>
            </a:r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(1,2,3,4),a) = followpos(1) U followpos(3)</a:t>
            </a:r>
          </a:p>
          <a:p>
            <a:pPr marL="0" indent="0" defTabSz="857250">
              <a:buNone/>
            </a:pPr>
            <a:r>
              <a:rPr lang="en-US"/>
              <a:t>		=(1,2,3) U (4) = {1,2,3,4} ----- B</a:t>
            </a:r>
          </a:p>
          <a:p>
            <a:pPr marL="0" indent="0" defTabSz="742950">
              <a:buNone/>
            </a:pPr>
            <a:endParaRPr lang="en-US"/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(1,2,3,4),b) = followpos(2) U followpos(4)</a:t>
            </a:r>
          </a:p>
          <a:p>
            <a:pPr marL="0" indent="0" defTabSz="857250">
              <a:buNone/>
            </a:pPr>
            <a:r>
              <a:rPr lang="en-US"/>
              <a:t> 		=(1,2,3) U (5) = {1,2,3,5} ----- C</a:t>
            </a:r>
          </a:p>
          <a:p>
            <a:pPr marL="0" indent="0">
              <a:buNone/>
            </a:pPr>
            <a:r>
              <a:rPr lang="en-US" b="1" u="sng"/>
              <a:t>State C</a:t>
            </a:r>
            <a:endParaRPr lang="en-US"/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(1,2,3,5),a) = followpos(1) U followpos(3)</a:t>
            </a:r>
          </a:p>
          <a:p>
            <a:pPr marL="0" indent="0" defTabSz="857250">
              <a:buNone/>
            </a:pPr>
            <a:r>
              <a:rPr lang="en-US"/>
              <a:t>		=(1,2,3) U (4) = {1,2,3,4} ----- B</a:t>
            </a:r>
          </a:p>
          <a:p>
            <a:pPr marL="0" indent="0" defTabSz="742950">
              <a:buNone/>
            </a:pPr>
            <a:endParaRPr lang="en-US"/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(1,2,3,5),b) = followpos(2) U followpos(5)</a:t>
            </a:r>
          </a:p>
          <a:p>
            <a:pPr marL="0" indent="0" defTabSz="857250">
              <a:buNone/>
            </a:pPr>
            <a:r>
              <a:rPr lang="en-US"/>
              <a:t> 		=(1,2,3) U (6) = {1,2,3,6} ----- D</a:t>
            </a:r>
          </a:p>
          <a:p>
            <a:endParaRPr lang="en-US"/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013869950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/>
          <p:nvPr>
            <p:extLst>
              <p:ext uri="{D42A27DB-BD31-4B8C-83A1-F6EECF244321}">
                <p14:modId xmlns:p14="http://schemas.microsoft.com/office/powerpoint/2010/main" val="3659716707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/>
          <p:nvPr>
            <p:extLst>
              <p:ext uri="{D42A27DB-BD31-4B8C-83A1-F6EECF244321}">
                <p14:modId xmlns:p14="http://schemas.microsoft.com/office/powerpoint/2010/main" val="4092579065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/>
          <p:nvPr>
            <p:extLst>
              <p:ext uri="{D42A27DB-BD31-4B8C-83A1-F6EECF244321}">
                <p14:modId xmlns:p14="http://schemas.microsoft.com/office/powerpoint/2010/main" val="1491902710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/>
          <p:nvPr>
            <p:extLst>
              <p:ext uri="{D42A27DB-BD31-4B8C-83A1-F6EECF244321}">
                <p14:modId xmlns:p14="http://schemas.microsoft.com/office/powerpoint/2010/main" val="715894778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/>
          <p:nvPr>
            <p:extLst>
              <p:ext uri="{D42A27DB-BD31-4B8C-83A1-F6EECF244321}">
                <p14:modId xmlns:p14="http://schemas.microsoft.com/office/powerpoint/2010/main" val="2870631494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84657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48265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0491"/>
              </p:ext>
            </p:extLst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75411"/>
              </p:ext>
            </p:extLst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867648" y="4810505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542382" y="4791741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877168" y="5174659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551902" y="5172748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44839"/>
              </p:ext>
            </p:extLst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547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0" indent="0">
              <a:buNone/>
            </a:pPr>
            <a:r>
              <a:rPr lang="en-US" b="1" u="sng"/>
              <a:t>State D</a:t>
            </a:r>
            <a:endParaRPr lang="en-US"/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(1,2,3,6),a) = followpos(1) U followpos(3)</a:t>
            </a:r>
          </a:p>
          <a:p>
            <a:pPr marL="0" indent="0" defTabSz="857250">
              <a:buNone/>
            </a:pPr>
            <a:r>
              <a:rPr lang="en-US"/>
              <a:t>		=(1,2,3) U (4) = {1,2,3,4} ----- B</a:t>
            </a:r>
          </a:p>
          <a:p>
            <a:pPr marL="0" indent="0" defTabSz="742950">
              <a:buNone/>
            </a:pPr>
            <a:endParaRPr lang="en-US"/>
          </a:p>
          <a:p>
            <a:pPr marL="0" indent="0">
              <a:buNone/>
            </a:pPr>
            <a:r>
              <a:rPr lang="el-GR"/>
              <a:t>δ</a:t>
            </a:r>
            <a:r>
              <a:rPr lang="en-US"/>
              <a:t>( (1,2,3,6),b) = followpos(2) </a:t>
            </a:r>
          </a:p>
          <a:p>
            <a:pPr marL="0" indent="0" defTabSz="857250">
              <a:buNone/>
            </a:pPr>
            <a:r>
              <a:rPr lang="en-US"/>
              <a:t> 		=(1,2,3)  ----- A</a:t>
            </a:r>
          </a:p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2605409128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1258119565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/>
          <p:nvPr>
            <p:extLst>
              <p:ext uri="{D42A27DB-BD31-4B8C-83A1-F6EECF244321}">
                <p14:modId xmlns:p14="http://schemas.microsoft.com/office/powerpoint/2010/main" val="1054728716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/>
          <p:nvPr>
            <p:extLst>
              <p:ext uri="{D42A27DB-BD31-4B8C-83A1-F6EECF244321}">
                <p14:modId xmlns:p14="http://schemas.microsoft.com/office/powerpoint/2010/main" val="1453443560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/>
          <p:nvPr>
            <p:extLst>
              <p:ext uri="{D42A27DB-BD31-4B8C-83A1-F6EECF244321}">
                <p14:modId xmlns:p14="http://schemas.microsoft.com/office/powerpoint/2010/main" val="1819175755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/>
          <p:nvPr>
            <p:extLst>
              <p:ext uri="{D42A27DB-BD31-4B8C-83A1-F6EECF244321}">
                <p14:modId xmlns:p14="http://schemas.microsoft.com/office/powerpoint/2010/main" val="3861793283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027823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943111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209420"/>
              </p:ext>
            </p:extLst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96932"/>
              </p:ext>
            </p:extLst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9921"/>
              </p:ext>
            </p:extLst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862880" y="5531859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537614" y="5529948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011878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3034367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4060695" y="47856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5080823" y="4775679"/>
            <a:ext cx="548640" cy="54864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D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452362" y="500427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461752" y="501426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4170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89258" y="499044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5855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25452" y="498946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0245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149403" y="4844259"/>
            <a:ext cx="411480" cy="41148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Curved Connector 28"/>
          <p:cNvCxnSpPr/>
          <p:nvPr/>
        </p:nvCxnSpPr>
        <p:spPr>
          <a:xfrm rot="27000000" flipV="1">
            <a:off x="2222698" y="4991379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068239" y="56499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27332" y="527177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04484" y="540083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44097" y="3852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/>
          <p:cNvCxnSpPr/>
          <p:nvPr/>
        </p:nvCxnSpPr>
        <p:spPr>
          <a:xfrm rot="5400000" flipH="1">
            <a:off x="3783930" y="4749473"/>
            <a:ext cx="76937" cy="881308"/>
          </a:xfrm>
          <a:prstGeom prst="curvedConnector3">
            <a:avLst>
              <a:gd name="adj1" fmla="val -44569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/>
          <p:nvPr/>
        </p:nvCxnSpPr>
        <p:spPr>
          <a:xfrm rot="5400000" flipH="1">
            <a:off x="4220891" y="4262638"/>
            <a:ext cx="66955" cy="2011247"/>
          </a:xfrm>
          <a:prstGeom prst="curvedConnector3">
            <a:avLst>
              <a:gd name="adj1" fmla="val -125899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V="1">
            <a:off x="3261161" y="4702758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105866" y="403709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6997" y="6058715"/>
            <a:ext cx="2523418" cy="5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C00000"/>
                </a:solidFill>
                <a:latin typeface="+mj-lt"/>
              </a:rPr>
              <a:t>DFA</a:t>
            </a:r>
          </a:p>
        </p:txBody>
      </p:sp>
      <p:cxnSp>
        <p:nvCxnSpPr>
          <p:cNvPr id="39" name="Curved Connector 38"/>
          <p:cNvCxnSpPr/>
          <p:nvPr/>
        </p:nvCxnSpPr>
        <p:spPr>
          <a:xfrm rot="16200000" flipV="1">
            <a:off x="3838169" y="3177986"/>
            <a:ext cx="12700" cy="3195381"/>
          </a:xfrm>
          <a:prstGeom prst="curvedConnector3">
            <a:avLst>
              <a:gd name="adj1" fmla="val 6524969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018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/>
      <p:bldP spid="25" grpId="0"/>
      <p:bldP spid="27" grpId="0"/>
      <p:bldP spid="28" grpId="0" animBg="1"/>
      <p:bldP spid="30" grpId="0"/>
      <p:bldP spid="31" grpId="0"/>
      <p:bldP spid="32" grpId="0"/>
      <p:bldP spid="33" grpId="0"/>
      <p:bldP spid="37" grpId="0"/>
      <p:bldP spid="3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Construct DFA for following regular expression: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(c | d)*c#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6497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1709738"/>
            <a:ext cx="10515600" cy="2852737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821780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5.0.5"/>
  <p:tag name="AS_OS" val="Microsoft Windows NT 10.0.17763.0"/>
  <p:tag name="AS_RELEASE_DATE" val="2021.09.14"/>
  <p:tag name="AS_TITLE" val="Aspose.Slides for .NET Standard 2.0"/>
  <p:tag name="AS_VERSION" val="21.9"/>
</p:tagLst>
</file>

<file path=ppt/theme/theme1.xml><?xml version="1.0" encoding="utf-8"?>
<a:theme xmlns:a="http://schemas.openxmlformats.org/drawingml/2006/main" name="VIdeo Lecture 16x9 Light Template (2)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Roboto Condensed"/>
        <a:cs typeface="Arial"/>
      </a:majorFont>
      <a:minorFont>
        <a:latin typeface="Roboto Condensed"/>
        <a:ea typeface="Roboto Condensed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 (2)</Template>
  <TotalTime>7945</TotalTime>
  <Words>7086</Words>
  <Application>Microsoft Office PowerPoint</Application>
  <PresentationFormat>Widescreen</PresentationFormat>
  <Paragraphs>1904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Calibri</vt:lpstr>
      <vt:lpstr>Roboto Condensed</vt:lpstr>
      <vt:lpstr>Wingdings</vt:lpstr>
      <vt:lpstr>Times New Roman</vt:lpstr>
      <vt:lpstr>Arial</vt:lpstr>
      <vt:lpstr>Roboto Condensed Light</vt:lpstr>
      <vt:lpstr>Cambria Math</vt:lpstr>
      <vt:lpstr>Wingdings 3</vt:lpstr>
      <vt:lpstr>VIdeo Lecture 16x9 Light Template (2)</vt:lpstr>
      <vt:lpstr> Lexical Analyzer</vt:lpstr>
      <vt:lpstr>PowerPoint Presentation</vt:lpstr>
      <vt:lpstr>1. Interaction with Scanner &amp; Parser</vt:lpstr>
      <vt:lpstr>Interaction of scanner &amp; parser</vt:lpstr>
      <vt:lpstr>Why to separate lexical analysis &amp; parsing?</vt:lpstr>
      <vt:lpstr>2. Token, Pattern &amp; Lexemes</vt:lpstr>
      <vt:lpstr>Token, Pattern &amp; Lexemes</vt:lpstr>
      <vt:lpstr>Example: Token, Pattern &amp; Lexemes</vt:lpstr>
      <vt:lpstr>3. Input buffering</vt:lpstr>
      <vt:lpstr>Input buffering</vt:lpstr>
      <vt:lpstr>Buffer pairs</vt:lpstr>
      <vt:lpstr>Buffer pairs</vt:lpstr>
      <vt:lpstr>Sentinels </vt:lpstr>
      <vt:lpstr>Sentinels </vt:lpstr>
      <vt:lpstr>4. Specification of tokens</vt:lpstr>
      <vt:lpstr>Strings and languages</vt:lpstr>
      <vt:lpstr>Exercise</vt:lpstr>
      <vt:lpstr>Operations on languages</vt:lpstr>
      <vt:lpstr>5. Regular Expression &amp; Regular Definition</vt:lpstr>
      <vt:lpstr>Regular expression</vt:lpstr>
      <vt:lpstr>Rules to define regular expression</vt:lpstr>
      <vt:lpstr>Regular expression</vt:lpstr>
      <vt:lpstr>Regular expression</vt:lpstr>
      <vt:lpstr>Precedence and associativity of operators</vt:lpstr>
      <vt:lpstr>Regular expression examples</vt:lpstr>
      <vt:lpstr>Regular expression examples</vt:lpstr>
      <vt:lpstr>Regular expression examples</vt:lpstr>
      <vt:lpstr>Regular expression examples</vt:lpstr>
      <vt:lpstr>Regular expression examples</vt:lpstr>
      <vt:lpstr>Regular expression examples</vt:lpstr>
      <vt:lpstr>Regular definition</vt:lpstr>
      <vt:lpstr>Regular definition example</vt:lpstr>
      <vt:lpstr>6. Transition Diagram</vt:lpstr>
      <vt:lpstr>Transition Diagram</vt:lpstr>
      <vt:lpstr>Transition Diagram : Relational operator</vt:lpstr>
      <vt:lpstr>Transition diagram : Unsigned number</vt:lpstr>
      <vt:lpstr>7. Hard coding &amp; automatic generation Lexical analyzers</vt:lpstr>
      <vt:lpstr>Hard coding and automatic generation lexical analyzers</vt:lpstr>
      <vt:lpstr>8. Finite Automata</vt:lpstr>
      <vt:lpstr>Finite Automata</vt:lpstr>
      <vt:lpstr>Types of finite automata</vt:lpstr>
      <vt:lpstr>9. Regular expression to NFA using Thompson's rule</vt:lpstr>
      <vt:lpstr>Regular expression to NFA using Thompson's rule</vt:lpstr>
      <vt:lpstr>Regular expression to NFA using Thompson's rule</vt:lpstr>
      <vt:lpstr>Regular expression to NFA using Thompson's rule</vt:lpstr>
      <vt:lpstr>Exercise</vt:lpstr>
      <vt:lpstr>10. Conversion from NFA to DFA using subset construction method</vt:lpstr>
      <vt:lpstr>Subset construction algorithm</vt:lpstr>
      <vt:lpstr>Subset construction algorithm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Conversion from NFA to DFA</vt:lpstr>
      <vt:lpstr>Exercise</vt:lpstr>
      <vt:lpstr>11. DFA optimization</vt:lpstr>
      <vt:lpstr>DFA optimization</vt:lpstr>
      <vt:lpstr>DFA optimization</vt:lpstr>
      <vt:lpstr>DFA optimization</vt:lpstr>
      <vt:lpstr>12. Conversion from regular expression to DFA</vt:lpstr>
      <vt:lpstr>Rules to compute nullable, firstpos, lastpos</vt:lpstr>
      <vt:lpstr>Rules to compute nullable, firstpos, lastpos</vt:lpstr>
      <vt:lpstr>Rules to compute followpos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Conversion from regular expression to DFA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Sahaaya Arul Mary S A</cp:lastModifiedBy>
  <cp:revision>398</cp:revision>
  <dcterms:created xsi:type="dcterms:W3CDTF">2020-05-01T05:09:15Z</dcterms:created>
  <dcterms:modified xsi:type="dcterms:W3CDTF">2023-05-05T07:27:58Z</dcterms:modified>
</cp:coreProperties>
</file>