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42"/>
  </p:notesMasterIdLst>
  <p:sldIdLst>
    <p:sldId id="256" r:id="rId4"/>
    <p:sldId id="257" r:id="rId5"/>
    <p:sldId id="333" r:id="rId6"/>
    <p:sldId id="258" r:id="rId7"/>
    <p:sldId id="304" r:id="rId8"/>
    <p:sldId id="305" r:id="rId9"/>
    <p:sldId id="259" r:id="rId10"/>
    <p:sldId id="260" r:id="rId11"/>
    <p:sldId id="261" r:id="rId12"/>
    <p:sldId id="262" r:id="rId13"/>
    <p:sldId id="263" r:id="rId14"/>
    <p:sldId id="319" r:id="rId15"/>
    <p:sldId id="306" r:id="rId16"/>
    <p:sldId id="320" r:id="rId17"/>
    <p:sldId id="307" r:id="rId18"/>
    <p:sldId id="321" r:id="rId19"/>
    <p:sldId id="308" r:id="rId20"/>
    <p:sldId id="322" r:id="rId21"/>
    <p:sldId id="323" r:id="rId22"/>
    <p:sldId id="310" r:id="rId23"/>
    <p:sldId id="324" r:id="rId24"/>
    <p:sldId id="311" r:id="rId25"/>
    <p:sldId id="325" r:id="rId26"/>
    <p:sldId id="312" r:id="rId27"/>
    <p:sldId id="326" r:id="rId28"/>
    <p:sldId id="313" r:id="rId29"/>
    <p:sldId id="327" r:id="rId30"/>
    <p:sldId id="314" r:id="rId31"/>
    <p:sldId id="328" r:id="rId32"/>
    <p:sldId id="315" r:id="rId33"/>
    <p:sldId id="329" r:id="rId34"/>
    <p:sldId id="316" r:id="rId35"/>
    <p:sldId id="330" r:id="rId36"/>
    <p:sldId id="317" r:id="rId37"/>
    <p:sldId id="331" r:id="rId38"/>
    <p:sldId id="318" r:id="rId39"/>
    <p:sldId id="332" r:id="rId40"/>
    <p:sldId id="303" r:id="rId4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  <p:embeddedFont>
      <p:font typeface="Roboto Black" panose="02000000000000000000" pitchFamily="2" charset="0"/>
      <p:bold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3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69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4.fntdata"/><Relationship Id="rId67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7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290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9370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1834e442a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f1834e442a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834e442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2f1834e442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840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665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35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356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67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80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9179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082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759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458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0357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3896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609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911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211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1897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169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463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0656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649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1590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036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5266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9696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1834e442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2f1834e442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3534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1834e442a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2f1834e442a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Answer: C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</a:rPr>
              <a:t>    Each letter in the word is moved one step backward to obtain the corresponding letter of the code.</a:t>
            </a:r>
            <a:endParaRPr>
              <a:solidFill>
                <a:schemeClr val="dk1"/>
              </a:solidFill>
            </a:endParaRPr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467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VqbiUfE2quWLoPQ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13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SORTED UNIQUE PERMUTATION</a:t>
            </a: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46BFDA4-A6A7-04CF-3ECF-E368C789A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256" y="2182368"/>
            <a:ext cx="2437638" cy="204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015DE6-49B1-2EBF-61BE-2FD4D55A2CF9}"/>
              </a:ext>
            </a:extLst>
          </p:cNvPr>
          <p:cNvSpPr txBox="1"/>
          <p:nvPr/>
        </p:nvSpPr>
        <p:spPr>
          <a:xfrm>
            <a:off x="1286256" y="1577816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 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https://forms.gle/aVqbiUfE2quWLoPQA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7E1F8-E144-2C14-6A4C-4B10AC6EFCBF}"/>
              </a:ext>
            </a:extLst>
          </p:cNvPr>
          <p:cNvSpPr txBox="1"/>
          <p:nvPr/>
        </p:nvSpPr>
        <p:spPr>
          <a:xfrm>
            <a:off x="2286000" y="48550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                  TEST TIME ON MANACHER'S ALGORITHM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br>
              <a:rPr lang="en-US" b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133702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3491252" y="836677"/>
            <a:ext cx="5220300" cy="463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IN" sz="2100" b="0" i="0" u="none" strike="noStrike" cap="none" dirty="0">
                <a:solidFill>
                  <a:srgbClr val="6D9EEB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INTRODUCTION</a:t>
            </a:r>
            <a:endParaRPr sz="2100" b="0" i="0" u="none" strike="noStrike" cap="none" dirty="0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17C09E30-C5FC-9FBB-F629-547DB6826D42}"/>
              </a:ext>
            </a:extLst>
          </p:cNvPr>
          <p:cNvSpPr/>
          <p:nvPr/>
        </p:nvSpPr>
        <p:spPr>
          <a:xfrm>
            <a:off x="2572774" y="387277"/>
            <a:ext cx="3998451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89FA8415-5160-367F-BF42-697035C2287C}"/>
              </a:ext>
            </a:extLst>
          </p:cNvPr>
          <p:cNvSpPr/>
          <p:nvPr/>
        </p:nvSpPr>
        <p:spPr>
          <a:xfrm>
            <a:off x="448161" y="1077551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 this programming problem, we are given a string str.</a:t>
            </a:r>
            <a:endParaRPr dirty="0"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0555F2FC-17BC-2D06-75B4-A10960480057}"/>
              </a:ext>
            </a:extLst>
          </p:cNvPr>
          <p:cNvSpPr/>
          <p:nvPr/>
        </p:nvSpPr>
        <p:spPr>
          <a:xfrm>
            <a:off x="449311" y="1663076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 have to print the distinct sorted permutations of the string elements that can be formed.</a:t>
            </a:r>
            <a:endParaRPr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90AF3089-68F5-F24D-FE9D-88912078458C}"/>
              </a:ext>
            </a:extLst>
          </p:cNvPr>
          <p:cNvSpPr/>
          <p:nvPr/>
        </p:nvSpPr>
        <p:spPr>
          <a:xfrm>
            <a:off x="443586" y="2564851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Condition:</a:t>
            </a: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The string may contain a character that will arise more than one time.</a:t>
            </a:r>
            <a:endParaRPr dirty="0"/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3AA2EA32-0F90-AF7B-9620-4AF206CBB0E9}"/>
              </a:ext>
            </a:extLst>
          </p:cNvPr>
          <p:cNvSpPr/>
          <p:nvPr/>
        </p:nvSpPr>
        <p:spPr>
          <a:xfrm>
            <a:off x="444736" y="3452876"/>
            <a:ext cx="827645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Permutation is rearranging all the elements of a set based on a specific sequence or type. The set may be ordered or may not be ordered.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1;p13">
            <a:extLst>
              <a:ext uri="{FF2B5EF4-FFF2-40B4-BE49-F238E27FC236}">
                <a16:creationId xmlns:a16="http://schemas.microsoft.com/office/drawing/2014/main" id="{B24B48B7-DA52-88F8-ACD6-5B887E8FBE02}"/>
              </a:ext>
            </a:extLst>
          </p:cNvPr>
          <p:cNvSpPr/>
          <p:nvPr/>
        </p:nvSpPr>
        <p:spPr>
          <a:xfrm>
            <a:off x="2619100" y="406781"/>
            <a:ext cx="3905799" cy="449400"/>
          </a:xfrm>
          <a:prstGeom prst="roundRect">
            <a:avLst>
              <a:gd name="adj" fmla="val 44574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846DA961-B832-279D-C9B8-2FF09C4E4A86}"/>
              </a:ext>
            </a:extLst>
          </p:cNvPr>
          <p:cNvSpPr/>
          <p:nvPr/>
        </p:nvSpPr>
        <p:spPr>
          <a:xfrm>
            <a:off x="433771" y="856181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1" dirty="0"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49461CF4-4A5D-732C-9D6F-67678005E656}"/>
              </a:ext>
            </a:extLst>
          </p:cNvPr>
          <p:cNvSpPr/>
          <p:nvPr/>
        </p:nvSpPr>
        <p:spPr>
          <a:xfrm>
            <a:off x="456187" y="107182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1" u="sng"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DA92A07E-868A-A6DB-C0F6-D0384256DCCE}"/>
              </a:ext>
            </a:extLst>
          </p:cNvPr>
          <p:cNvSpPr/>
          <p:nvPr/>
        </p:nvSpPr>
        <p:spPr>
          <a:xfrm>
            <a:off x="4623588" y="108672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b="1" u="sng" dirty="0"/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5C8202CB-C86B-4C94-F0A8-15E296FB1B19}"/>
              </a:ext>
            </a:extLst>
          </p:cNvPr>
          <p:cNvSpPr/>
          <p:nvPr/>
        </p:nvSpPr>
        <p:spPr>
          <a:xfrm>
            <a:off x="457337" y="1574851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RST</a:t>
            </a:r>
            <a:endParaRPr dirty="0"/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296BCABD-BC71-BF9F-5D91-DEB42FA83994}"/>
              </a:ext>
            </a:extLst>
          </p:cNvPr>
          <p:cNvSpPr/>
          <p:nvPr/>
        </p:nvSpPr>
        <p:spPr>
          <a:xfrm>
            <a:off x="4631613" y="1576001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RST, RTS, SRT, STR, TRS, TSR</a:t>
            </a:r>
            <a:endParaRPr dirty="0"/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A332BC93-340F-0A78-0F15-B83238C80AAC}"/>
              </a:ext>
            </a:extLst>
          </p:cNvPr>
          <p:cNvSpPr/>
          <p:nvPr/>
        </p:nvSpPr>
        <p:spPr>
          <a:xfrm>
            <a:off x="456187" y="1990349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Explanation: </a:t>
            </a:r>
            <a:endParaRPr u="sng"/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D4FA553B-FFC8-A57C-7BDA-C7DF4FA1F192}"/>
              </a:ext>
            </a:extLst>
          </p:cNvPr>
          <p:cNvSpPr/>
          <p:nvPr/>
        </p:nvSpPr>
        <p:spPr>
          <a:xfrm>
            <a:off x="456186" y="2404697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From this string total 3! = 6 permutations can be formed.</a:t>
            </a:r>
            <a:endParaRPr dirty="0"/>
          </a:p>
        </p:txBody>
      </p:sp>
      <p:sp>
        <p:nvSpPr>
          <p:cNvPr id="11" name="Google Shape;69;p13">
            <a:extLst>
              <a:ext uri="{FF2B5EF4-FFF2-40B4-BE49-F238E27FC236}">
                <a16:creationId xmlns:a16="http://schemas.microsoft.com/office/drawing/2014/main" id="{3B132BC0-FD8D-FBA2-5190-838A0AE0A605}"/>
              </a:ext>
            </a:extLst>
          </p:cNvPr>
          <p:cNvSpPr/>
          <p:nvPr/>
        </p:nvSpPr>
        <p:spPr>
          <a:xfrm>
            <a:off x="456186" y="2906571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Let’s fix R and find permutations from s and t. This will give 2 strings RST, RTS.</a:t>
            </a:r>
            <a:endParaRPr dirty="0"/>
          </a:p>
        </p:txBody>
      </p:sp>
      <p:sp>
        <p:nvSpPr>
          <p:cNvPr id="12" name="Google Shape;69;p13">
            <a:extLst>
              <a:ext uri="{FF2B5EF4-FFF2-40B4-BE49-F238E27FC236}">
                <a16:creationId xmlns:a16="http://schemas.microsoft.com/office/drawing/2014/main" id="{1D249299-4AB1-48AF-7698-7D9CDC955C6F}"/>
              </a:ext>
            </a:extLst>
          </p:cNvPr>
          <p:cNvSpPr/>
          <p:nvPr/>
        </p:nvSpPr>
        <p:spPr>
          <a:xfrm>
            <a:off x="433770" y="3746598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Similarly fixing S will give SRT, STR. And fixing T will give TRS, TSR.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2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739E635B-84A1-CDCD-6D09-53A2A63EADE2}"/>
              </a:ext>
            </a:extLst>
          </p:cNvPr>
          <p:cNvSpPr/>
          <p:nvPr/>
        </p:nvSpPr>
        <p:spPr>
          <a:xfrm>
            <a:off x="2658267" y="400698"/>
            <a:ext cx="3827466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2E1BA8E2-CBA1-C130-1422-6829D34DE7EE}"/>
              </a:ext>
            </a:extLst>
          </p:cNvPr>
          <p:cNvSpPr/>
          <p:nvPr/>
        </p:nvSpPr>
        <p:spPr>
          <a:xfrm>
            <a:off x="433772" y="852571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few more examples</a:t>
            </a:r>
            <a:endParaRPr b="1" dirty="0"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1E34228B-96DC-23BF-4440-B22990A47328}"/>
              </a:ext>
            </a:extLst>
          </p:cNvPr>
          <p:cNvSpPr/>
          <p:nvPr/>
        </p:nvSpPr>
        <p:spPr>
          <a:xfrm>
            <a:off x="-307743" y="1114750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1" u="sng"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BDDF11C1-EAF8-8A30-655B-DAEE02B8C723}"/>
              </a:ext>
            </a:extLst>
          </p:cNvPr>
          <p:cNvSpPr/>
          <p:nvPr/>
        </p:nvSpPr>
        <p:spPr>
          <a:xfrm>
            <a:off x="4623588" y="108672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b="1" u="sng" dirty="0"/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660AECC0-20C5-53B2-65E1-958BA3466DD3}"/>
              </a:ext>
            </a:extLst>
          </p:cNvPr>
          <p:cNvSpPr/>
          <p:nvPr/>
        </p:nvSpPr>
        <p:spPr>
          <a:xfrm>
            <a:off x="-307743" y="170879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BAC</a:t>
            </a:r>
            <a:endParaRPr dirty="0"/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6ED57F34-AFA4-E911-8DFF-06DBB3CDAB5C}"/>
              </a:ext>
            </a:extLst>
          </p:cNvPr>
          <p:cNvSpPr/>
          <p:nvPr/>
        </p:nvSpPr>
        <p:spPr>
          <a:xfrm>
            <a:off x="4631613" y="156912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ABC, ACB, BAC, BCA, CAB, CBA</a:t>
            </a:r>
            <a:endParaRPr dirty="0"/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A26E86D2-773E-67ED-0C20-72A194F8B99D}"/>
              </a:ext>
            </a:extLst>
          </p:cNvPr>
          <p:cNvSpPr/>
          <p:nvPr/>
        </p:nvSpPr>
        <p:spPr>
          <a:xfrm>
            <a:off x="-307743" y="220277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AAB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99101C49-0FC0-9E04-B6F0-D785919F9526}"/>
              </a:ext>
            </a:extLst>
          </p:cNvPr>
          <p:cNvSpPr/>
          <p:nvPr/>
        </p:nvSpPr>
        <p:spPr>
          <a:xfrm>
            <a:off x="4632763" y="220277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AAB, ABA, BAA</a:t>
            </a:r>
            <a:endParaRPr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Google Shape;69;p13">
            <a:extLst>
              <a:ext uri="{FF2B5EF4-FFF2-40B4-BE49-F238E27FC236}">
                <a16:creationId xmlns:a16="http://schemas.microsoft.com/office/drawing/2014/main" id="{92DC1E5F-9BCC-B26F-E7EA-D2D103FC9B5F}"/>
              </a:ext>
            </a:extLst>
          </p:cNvPr>
          <p:cNvSpPr/>
          <p:nvPr/>
        </p:nvSpPr>
        <p:spPr>
          <a:xfrm>
            <a:off x="-307743" y="328593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DBCA</a:t>
            </a:r>
            <a:endParaRPr dirty="0"/>
          </a:p>
        </p:txBody>
      </p:sp>
      <p:sp>
        <p:nvSpPr>
          <p:cNvPr id="12" name="Google Shape;69;p13">
            <a:extLst>
              <a:ext uri="{FF2B5EF4-FFF2-40B4-BE49-F238E27FC236}">
                <a16:creationId xmlns:a16="http://schemas.microsoft.com/office/drawing/2014/main" id="{087FECBD-7FB7-92EB-D2C8-901A8D9CA487}"/>
              </a:ext>
            </a:extLst>
          </p:cNvPr>
          <p:cNvSpPr/>
          <p:nvPr/>
        </p:nvSpPr>
        <p:spPr>
          <a:xfrm>
            <a:off x="4252254" y="2794488"/>
            <a:ext cx="4425234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ABCD, ABDC, ACBD, ACDB, ADBC, ADCB BACD, BADC, BCAD, BCDA, BDAC, BDCA CABD, CADB, CBAD, CBDA, CDAB, CDBA DABC, DACB, DBAC, DBCA, DCAB, DCBA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06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27600" y="3926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56D5DE7F-2083-26D6-DE97-E93022DCD9B8}"/>
              </a:ext>
            </a:extLst>
          </p:cNvPr>
          <p:cNvSpPr/>
          <p:nvPr/>
        </p:nvSpPr>
        <p:spPr>
          <a:xfrm>
            <a:off x="2550471" y="392650"/>
            <a:ext cx="4043057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4" name="Google Shape;69;p13">
            <a:extLst>
              <a:ext uri="{FF2B5EF4-FFF2-40B4-BE49-F238E27FC236}">
                <a16:creationId xmlns:a16="http://schemas.microsoft.com/office/drawing/2014/main" id="{173E7765-4306-22A5-CABA-502EF5D79498}"/>
              </a:ext>
            </a:extLst>
          </p:cNvPr>
          <p:cNvSpPr/>
          <p:nvPr/>
        </p:nvSpPr>
        <p:spPr>
          <a:xfrm>
            <a:off x="433771" y="842050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Examples For Repetitions</a:t>
            </a:r>
            <a:endParaRPr b="1" dirty="0"/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5C2187B9-023C-EF4D-3E4F-CA6842607AE3}"/>
              </a:ext>
            </a:extLst>
          </p:cNvPr>
          <p:cNvSpPr/>
          <p:nvPr/>
        </p:nvSpPr>
        <p:spPr>
          <a:xfrm>
            <a:off x="-223592" y="1109501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1" u="sng"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BEBB086F-07AA-8025-B412-806453C756A6}"/>
              </a:ext>
            </a:extLst>
          </p:cNvPr>
          <p:cNvSpPr/>
          <p:nvPr/>
        </p:nvSpPr>
        <p:spPr>
          <a:xfrm>
            <a:off x="5437405" y="1109501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b="1" u="sng" dirty="0"/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CF6A3D84-A8BC-6B7D-1DAA-EBF1F8861F03}"/>
              </a:ext>
            </a:extLst>
          </p:cNvPr>
          <p:cNvSpPr/>
          <p:nvPr/>
        </p:nvSpPr>
        <p:spPr>
          <a:xfrm>
            <a:off x="458487" y="1658501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AAL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0AF6A428-B167-89BE-64DF-E48195356548}"/>
              </a:ext>
            </a:extLst>
          </p:cNvPr>
          <p:cNvSpPr/>
          <p:nvPr/>
        </p:nvSpPr>
        <p:spPr>
          <a:xfrm>
            <a:off x="4632763" y="1652776"/>
            <a:ext cx="393018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AAL, ALA, LAA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EDFE8B6A-2100-54F6-98E4-399C1749A11E}"/>
              </a:ext>
            </a:extLst>
          </p:cNvPr>
          <p:cNvSpPr/>
          <p:nvPr/>
        </p:nvSpPr>
        <p:spPr>
          <a:xfrm>
            <a:off x="449311" y="2371201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u="sng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Explanation: </a:t>
            </a:r>
            <a:endParaRPr u="sng" dirty="0"/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FE216BB6-18FB-C6B4-F71E-52FCB5E3FB77}"/>
              </a:ext>
            </a:extLst>
          </p:cNvPr>
          <p:cNvSpPr/>
          <p:nvPr/>
        </p:nvSpPr>
        <p:spPr>
          <a:xfrm>
            <a:off x="443586" y="2922351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Length of Str: 3</a:t>
            </a:r>
            <a:endParaRPr dirty="0"/>
          </a:p>
        </p:txBody>
      </p:sp>
      <p:sp>
        <p:nvSpPr>
          <p:cNvPr id="11" name="Google Shape;69;p13">
            <a:extLst>
              <a:ext uri="{FF2B5EF4-FFF2-40B4-BE49-F238E27FC236}">
                <a16:creationId xmlns:a16="http://schemas.microsoft.com/office/drawing/2014/main" id="{7D65C574-79B5-420C-3EFD-710EB9BDD390}"/>
              </a:ext>
            </a:extLst>
          </p:cNvPr>
          <p:cNvSpPr/>
          <p:nvPr/>
        </p:nvSpPr>
        <p:spPr>
          <a:xfrm>
            <a:off x="444736" y="3432251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is repeated 2 times: 3!/2 = 3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1;p13">
            <a:extLst>
              <a:ext uri="{FF2B5EF4-FFF2-40B4-BE49-F238E27FC236}">
                <a16:creationId xmlns:a16="http://schemas.microsoft.com/office/drawing/2014/main" id="{AE881896-3600-6DE8-E759-92153D76E187}"/>
              </a:ext>
            </a:extLst>
          </p:cNvPr>
          <p:cNvSpPr/>
          <p:nvPr/>
        </p:nvSpPr>
        <p:spPr>
          <a:xfrm>
            <a:off x="2431525" y="420439"/>
            <a:ext cx="4280949" cy="449400"/>
          </a:xfrm>
          <a:prstGeom prst="roundRect">
            <a:avLst>
              <a:gd name="adj" fmla="val 31555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" name="Google Shape;69;p13">
            <a:extLst>
              <a:ext uri="{FF2B5EF4-FFF2-40B4-BE49-F238E27FC236}">
                <a16:creationId xmlns:a16="http://schemas.microsoft.com/office/drawing/2014/main" id="{D9DF1519-CA36-3BCE-6A84-600AF3588DB6}"/>
              </a:ext>
            </a:extLst>
          </p:cNvPr>
          <p:cNvSpPr/>
          <p:nvPr/>
        </p:nvSpPr>
        <p:spPr>
          <a:xfrm>
            <a:off x="433771" y="788702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1" dirty="0"/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E222A800-4629-E3D9-847B-9559D1E6C0CF}"/>
              </a:ext>
            </a:extLst>
          </p:cNvPr>
          <p:cNvSpPr/>
          <p:nvPr/>
        </p:nvSpPr>
        <p:spPr>
          <a:xfrm>
            <a:off x="443586" y="1196726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Sort the string, if the input isn’t sorted already.</a:t>
            </a:r>
            <a:endParaRPr dirty="0"/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0A93EA1C-368C-8798-C9D8-A020C9544709}"/>
              </a:ext>
            </a:extLst>
          </p:cNvPr>
          <p:cNvSpPr/>
          <p:nvPr/>
        </p:nvSpPr>
        <p:spPr>
          <a:xfrm>
            <a:off x="444736" y="1782251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Obtain the total number of permutations which can be formed from that string.</a:t>
            </a:r>
            <a:endParaRPr dirty="0"/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5905BB06-3561-28AE-BD46-E126EDA373F5}"/>
              </a:ext>
            </a:extLst>
          </p:cNvPr>
          <p:cNvSpPr/>
          <p:nvPr/>
        </p:nvSpPr>
        <p:spPr>
          <a:xfrm>
            <a:off x="445886" y="2807776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Print the sorted string and then loop for the number of (permutations-1) times as 1st string is already printed.</a:t>
            </a:r>
            <a:endParaRPr dirty="0"/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355761F5-EBF8-AFD9-BBE2-6DF1FB025270}"/>
              </a:ext>
            </a:extLst>
          </p:cNvPr>
          <p:cNvSpPr/>
          <p:nvPr/>
        </p:nvSpPr>
        <p:spPr>
          <a:xfrm>
            <a:off x="447036" y="3881426"/>
            <a:ext cx="827645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  <a:buFont typeface="Wingdings" pitchFamily="2" charset="2"/>
              <a:buChar char="Ø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Find the next greater string.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FAAB87E5-1408-56B9-AD2E-85111C859419}"/>
              </a:ext>
            </a:extLst>
          </p:cNvPr>
          <p:cNvSpPr/>
          <p:nvPr/>
        </p:nvSpPr>
        <p:spPr>
          <a:xfrm>
            <a:off x="2111298" y="368557"/>
            <a:ext cx="4921404" cy="338579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Google Shape;195;p40">
            <a:extLst>
              <a:ext uri="{FF2B5EF4-FFF2-40B4-BE49-F238E27FC236}">
                <a16:creationId xmlns:a16="http://schemas.microsoft.com/office/drawing/2014/main" id="{B3490B40-E6FF-8138-30FB-4BB88A985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047019"/>
              </p:ext>
            </p:extLst>
          </p:nvPr>
        </p:nvGraphicFramePr>
        <p:xfrm>
          <a:off x="275100" y="760466"/>
          <a:ext cx="8593800" cy="43586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4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4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import java.io.*;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lang="nn-NO" sz="1400" b="0" dirty="0">
                        <a:solidFill>
                          <a:schemeClr val="dk1"/>
                        </a:solidFill>
                        <a:latin typeface="Consolas" pitchFamily="49" charset="0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public class EthCOde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// Calculating factorial of a number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static int factorial(int n)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int f = 1;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(int i = 1; i &lt;= n; i++)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 = f * i;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return f;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// Method to print the array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static void print(char[] temp)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(int i = 0; i &lt; temp.length; i++)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System.out.print(temp[i]);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System.out.println();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nn-NO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// Method to find total number of permutations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static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calculateTotal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(char[] temp,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n)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 = factorial(n);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Building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HashMap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to store frequencies of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all characters.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HashMap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&lt;Character, Integer&gt;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hm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=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   new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HashMap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&lt;Character, Integer&gt;();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= 0;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&lt;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temp.length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++)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hm.containsKey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]))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hm.put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hm.get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]) + 1);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else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hm.put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], 1);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Traversing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hashmap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and finding duplicate elements.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Map.Entry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e :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hm.entrySet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())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Integer x = (Integer)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e.getValue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195;p40">
            <a:extLst>
              <a:ext uri="{FF2B5EF4-FFF2-40B4-BE49-F238E27FC236}">
                <a16:creationId xmlns:a16="http://schemas.microsoft.com/office/drawing/2014/main" id="{304C30BA-D7F0-69B2-3EBB-52D4576613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464800"/>
              </p:ext>
            </p:extLst>
          </p:nvPr>
        </p:nvGraphicFramePr>
        <p:xfrm>
          <a:off x="168279" y="762251"/>
          <a:ext cx="8593800" cy="43047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47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if (x &gt; 1)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temp5 = factorial(x);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f = f / temp5;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return f;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static void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nextPermutation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(char[] temp)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Start traversing from the end and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find position 'i-1' of the first character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which is greater than its successor.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temp.length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- 1;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&gt; 0;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--)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if (temp[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] &gt; 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- 1])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Finding smallest character after 'i-1' and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greater than temp[i-1]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min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j, x = 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- 1];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(j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+ 1; j &lt;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temp.length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; j++)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if ((temp[j] &lt; temp[min]) &amp;&amp; (temp[j] &gt; x))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min = j;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Swapping the above found characters.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char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temp_to_swap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temp_to_swap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= 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- 1];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temp[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- 1] = temp[min];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temp[min]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temp_to_swap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Sort all digits from position next to 'i-1'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to end of the string.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Arrays.sort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temp.length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Print the String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print(temp);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71;p13">
            <a:extLst>
              <a:ext uri="{FF2B5EF4-FFF2-40B4-BE49-F238E27FC236}">
                <a16:creationId xmlns:a16="http://schemas.microsoft.com/office/drawing/2014/main" id="{3E68B239-1112-C254-6CE9-647F8AF4161E}"/>
              </a:ext>
            </a:extLst>
          </p:cNvPr>
          <p:cNvSpPr/>
          <p:nvPr/>
        </p:nvSpPr>
        <p:spPr>
          <a:xfrm>
            <a:off x="2111298" y="294447"/>
            <a:ext cx="4921404" cy="338579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1;p13">
            <a:extLst>
              <a:ext uri="{FF2B5EF4-FFF2-40B4-BE49-F238E27FC236}">
                <a16:creationId xmlns:a16="http://schemas.microsoft.com/office/drawing/2014/main" id="{CE1CD7F0-CEC1-5FE1-8260-2005BEC449C6}"/>
              </a:ext>
            </a:extLst>
          </p:cNvPr>
          <p:cNvSpPr/>
          <p:nvPr/>
        </p:nvSpPr>
        <p:spPr>
          <a:xfrm>
            <a:off x="2483564" y="392979"/>
            <a:ext cx="4176871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Google Shape;195;p40">
            <a:extLst>
              <a:ext uri="{FF2B5EF4-FFF2-40B4-BE49-F238E27FC236}">
                <a16:creationId xmlns:a16="http://schemas.microsoft.com/office/drawing/2014/main" id="{92C50F13-DBCD-6A7E-DDF8-00B0133F30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979638"/>
              </p:ext>
            </p:extLst>
          </p:nvPr>
        </p:nvGraphicFramePr>
        <p:xfrm>
          <a:off x="180471" y="1137061"/>
          <a:ext cx="8593800" cy="315838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83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static void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printAllPermutations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(String s)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Sorting String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char temp[]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s.toCharArray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Arrays.sort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Print first permutation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print(temp);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// Finding the total permutations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total =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calculateTotal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(temp,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temp.length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for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= 1;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&lt; total;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++)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nextPermutation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(temp);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public static void main(String[]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args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 //Input your string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String s = "AAB";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printAllPermutations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(s);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nsolas" pitchFamily="49" charset="0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Consolas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13">
            <a:extLst>
              <a:ext uri="{FF2B5EF4-FFF2-40B4-BE49-F238E27FC236}">
                <a16:creationId xmlns:a16="http://schemas.microsoft.com/office/drawing/2014/main" id="{9541BD6D-CA19-E49C-EBE9-9C6B03F158AC}"/>
              </a:ext>
            </a:extLst>
          </p:cNvPr>
          <p:cNvSpPr/>
          <p:nvPr/>
        </p:nvSpPr>
        <p:spPr>
          <a:xfrm>
            <a:off x="2412940" y="364564"/>
            <a:ext cx="4318120" cy="449400"/>
          </a:xfrm>
          <a:prstGeom prst="roundRect">
            <a:avLst>
              <a:gd name="adj" fmla="val 50000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chemeClr val="bg1"/>
                </a:solidFill>
              </a:rPr>
              <a:t>Sorted Unique Permutation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6" name="Google Shape;69;p13">
            <a:extLst>
              <a:ext uri="{FF2B5EF4-FFF2-40B4-BE49-F238E27FC236}">
                <a16:creationId xmlns:a16="http://schemas.microsoft.com/office/drawing/2014/main" id="{BA622BBF-B9B8-083F-66B4-F8055FFEC1D4}"/>
              </a:ext>
            </a:extLst>
          </p:cNvPr>
          <p:cNvSpPr/>
          <p:nvPr/>
        </p:nvSpPr>
        <p:spPr>
          <a:xfrm>
            <a:off x="587889" y="813964"/>
            <a:ext cx="796822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SzPts val="1800"/>
            </a:pPr>
            <a:r>
              <a:rPr lang="en-U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Complexity</a:t>
            </a:r>
            <a:endParaRPr lang="en-US" b="1" dirty="0"/>
          </a:p>
        </p:txBody>
      </p:sp>
      <p:sp>
        <p:nvSpPr>
          <p:cNvPr id="7" name="Google Shape;69;p13">
            <a:extLst>
              <a:ext uri="{FF2B5EF4-FFF2-40B4-BE49-F238E27FC236}">
                <a16:creationId xmlns:a16="http://schemas.microsoft.com/office/drawing/2014/main" id="{D9127D1A-FA95-8DB3-6371-5C88C37BE10D}"/>
              </a:ext>
            </a:extLst>
          </p:cNvPr>
          <p:cNvSpPr/>
          <p:nvPr/>
        </p:nvSpPr>
        <p:spPr>
          <a:xfrm>
            <a:off x="491385" y="1332882"/>
            <a:ext cx="38431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 :</a:t>
            </a:r>
            <a:endParaRPr lang="en-US" dirty="0"/>
          </a:p>
        </p:txBody>
      </p:sp>
      <p:sp>
        <p:nvSpPr>
          <p:cNvPr id="8" name="Google Shape;69;p13">
            <a:extLst>
              <a:ext uri="{FF2B5EF4-FFF2-40B4-BE49-F238E27FC236}">
                <a16:creationId xmlns:a16="http://schemas.microsoft.com/office/drawing/2014/main" id="{C5FADC4D-77C1-64CA-A540-0CCC44C2CD2E}"/>
              </a:ext>
            </a:extLst>
          </p:cNvPr>
          <p:cNvSpPr/>
          <p:nvPr/>
        </p:nvSpPr>
        <p:spPr>
          <a:xfrm>
            <a:off x="4498279" y="1349575"/>
            <a:ext cx="39807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O(P*Q)</a:t>
            </a:r>
            <a:endParaRPr lang="en-US" dirty="0"/>
          </a:p>
        </p:txBody>
      </p:sp>
      <p:sp>
        <p:nvSpPr>
          <p:cNvPr id="9" name="Google Shape;69;p13">
            <a:extLst>
              <a:ext uri="{FF2B5EF4-FFF2-40B4-BE49-F238E27FC236}">
                <a16:creationId xmlns:a16="http://schemas.microsoft.com/office/drawing/2014/main" id="{2B67B56D-91A1-F385-50BF-74A3F3FDBB5D}"/>
              </a:ext>
            </a:extLst>
          </p:cNvPr>
          <p:cNvSpPr/>
          <p:nvPr/>
        </p:nvSpPr>
        <p:spPr>
          <a:xfrm>
            <a:off x="447036" y="2197051"/>
            <a:ext cx="82764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 P is the size of the string and Q is the number of permutations possible.</a:t>
            </a:r>
            <a:endParaRPr dirty="0"/>
          </a:p>
        </p:txBody>
      </p:sp>
      <p:sp>
        <p:nvSpPr>
          <p:cNvPr id="10" name="Google Shape;69;p13">
            <a:extLst>
              <a:ext uri="{FF2B5EF4-FFF2-40B4-BE49-F238E27FC236}">
                <a16:creationId xmlns:a16="http://schemas.microsoft.com/office/drawing/2014/main" id="{617C9885-5AA6-9917-3A35-DA1FB96335E5}"/>
              </a:ext>
            </a:extLst>
          </p:cNvPr>
          <p:cNvSpPr/>
          <p:nvPr/>
        </p:nvSpPr>
        <p:spPr>
          <a:xfrm>
            <a:off x="578787" y="3236301"/>
            <a:ext cx="384310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Auxiliary Space :</a:t>
            </a:r>
            <a:endParaRPr lang="en-US" dirty="0"/>
          </a:p>
        </p:txBody>
      </p:sp>
      <p:sp>
        <p:nvSpPr>
          <p:cNvPr id="11" name="Google Shape;69;p13">
            <a:extLst>
              <a:ext uri="{FF2B5EF4-FFF2-40B4-BE49-F238E27FC236}">
                <a16:creationId xmlns:a16="http://schemas.microsoft.com/office/drawing/2014/main" id="{B42FC840-588D-8809-E84F-C623B5B4D7FD}"/>
              </a:ext>
            </a:extLst>
          </p:cNvPr>
          <p:cNvSpPr/>
          <p:nvPr/>
        </p:nvSpPr>
        <p:spPr>
          <a:xfrm>
            <a:off x="4511272" y="3237451"/>
            <a:ext cx="39807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en-U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1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 dirty="0">
                <a:solidFill>
                  <a:schemeClr val="dk1"/>
                </a:solidFill>
              </a:rPr>
              <a:t>A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2;p15">
            <a:extLst>
              <a:ext uri="{FF2B5EF4-FFF2-40B4-BE49-F238E27FC236}">
                <a16:creationId xmlns:a16="http://schemas.microsoft.com/office/drawing/2014/main" id="{519567E9-58BC-8751-9E0D-598068BE9E20}"/>
              </a:ext>
            </a:extLst>
          </p:cNvPr>
          <p:cNvSpPr txBox="1"/>
          <p:nvPr/>
        </p:nvSpPr>
        <p:spPr>
          <a:xfrm>
            <a:off x="720000" y="1381679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B5D means B is the father of D; B9D means B is the sister of D;B4D means B is the brother of D; B3D means B is the wife of D. Which of the following means F is the mother of K?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A.F3M5K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B.F5M3K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C.F9M4N3K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D.F10M43</a:t>
            </a:r>
            <a:endParaRPr dirty="0"/>
          </a:p>
          <a:p>
            <a:pPr marL="45720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51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62;p16">
            <a:extLst>
              <a:ext uri="{FF2B5EF4-FFF2-40B4-BE49-F238E27FC236}">
                <a16:creationId xmlns:a16="http://schemas.microsoft.com/office/drawing/2014/main" id="{A05FD823-FB41-9A1E-C4B6-F0B87D9DD5E8}"/>
              </a:ext>
            </a:extLst>
          </p:cNvPr>
          <p:cNvSpPr txBox="1"/>
          <p:nvPr/>
        </p:nvSpPr>
        <p:spPr>
          <a:xfrm>
            <a:off x="681168" y="1137839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F3M → F is the wife of M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M5K → M is the father of K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Therefore, F is the mother of K.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637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Q04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 dirty="0">
                <a:solidFill>
                  <a:schemeClr val="dk1"/>
                </a:solidFill>
              </a:rPr>
              <a:t>D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71;p47">
            <a:extLst>
              <a:ext uri="{FF2B5EF4-FFF2-40B4-BE49-F238E27FC236}">
                <a16:creationId xmlns:a16="http://schemas.microsoft.com/office/drawing/2014/main" id="{EAB93E28-72AC-79C4-737B-7A09E2FF645C}"/>
              </a:ext>
            </a:extLst>
          </p:cNvPr>
          <p:cNvSpPr txBox="1"/>
          <p:nvPr/>
        </p:nvSpPr>
        <p:spPr>
          <a:xfrm>
            <a:off x="720000" y="1430447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is the brother of B. B is the brother of C. D is the father of A. Based on these three statements, which of the following statements cannot be definitely true ?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A.B is the brother of A.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B.B is the son of D.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C.A is the brother of C.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D.C is the brother of A.</a:t>
            </a:r>
            <a:endParaRPr dirty="0"/>
          </a:p>
          <a:p>
            <a:pPr marL="45720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00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81;p48">
            <a:extLst>
              <a:ext uri="{FF2B5EF4-FFF2-40B4-BE49-F238E27FC236}">
                <a16:creationId xmlns:a16="http://schemas.microsoft.com/office/drawing/2014/main" id="{1EA7D520-5AAA-098C-51B0-560A65EB15FB}"/>
              </a:ext>
            </a:extLst>
          </p:cNvPr>
          <p:cNvSpPr txBox="1"/>
          <p:nvPr/>
        </p:nvSpPr>
        <p:spPr>
          <a:xfrm>
            <a:off x="879900" y="1137839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ØA is the brother of B and B is the brother of C. So, C may be the brother or sister of A.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017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Q05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 dirty="0">
                <a:solidFill>
                  <a:schemeClr val="dk1"/>
                </a:solidFill>
              </a:rPr>
              <a:t>B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90;p18">
            <a:extLst>
              <a:ext uri="{FF2B5EF4-FFF2-40B4-BE49-F238E27FC236}">
                <a16:creationId xmlns:a16="http://schemas.microsoft.com/office/drawing/2014/main" id="{C9DA2818-0911-64DA-4602-528184BE03E4}"/>
              </a:ext>
            </a:extLst>
          </p:cNvPr>
          <p:cNvSpPr txBox="1"/>
          <p:nvPr/>
        </p:nvSpPr>
        <p:spPr>
          <a:xfrm>
            <a:off x="720000" y="1369487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family, there are six members A, B, C, D, E and F. A and B are married couple, A being the male member. D is the only son of C, who is the brother of A. E is the sister of D. B is the daughter-in law of F, whose husband has died. How is E related to C ? 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A.Sister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B.Daughter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C.Cousin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D.Mother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543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00;p19">
            <a:extLst>
              <a:ext uri="{FF2B5EF4-FFF2-40B4-BE49-F238E27FC236}">
                <a16:creationId xmlns:a16="http://schemas.microsoft.com/office/drawing/2014/main" id="{53356923-A823-52B5-CFE0-41EBCD8BF38A}"/>
              </a:ext>
            </a:extLst>
          </p:cNvPr>
          <p:cNvSpPr txBox="1"/>
          <p:nvPr/>
        </p:nvSpPr>
        <p:spPr>
          <a:xfrm>
            <a:off x="717744" y="1210991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ØA is a male and married to B. So, A is the husband and B is the wife. C is the brother of A. D is the son of C. E. who is the sister of D will be the daughter of C. B is the daughter-in-law of F whose husband has died means F is the mother of A. ØClearly. E is the daughter of C.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25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26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Q06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 dirty="0">
                <a:solidFill>
                  <a:schemeClr val="dk1"/>
                </a:solidFill>
              </a:rPr>
              <a:t>D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09;p20">
            <a:extLst>
              <a:ext uri="{FF2B5EF4-FFF2-40B4-BE49-F238E27FC236}">
                <a16:creationId xmlns:a16="http://schemas.microsoft.com/office/drawing/2014/main" id="{3C697CC1-D1D7-7252-A67B-2E92C815A9A0}"/>
              </a:ext>
            </a:extLst>
          </p:cNvPr>
          <p:cNvSpPr txBox="1"/>
          <p:nvPr/>
        </p:nvSpPr>
        <p:spPr>
          <a:xfrm>
            <a:off x="720000" y="1278300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six persons A. B, C, D, E and F. C is the sister of F. B is the brother of E's husband. D is the father of A and grandfather of F. There are two fathers, three brothers and a mother in the group. Who is the mother ?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A.A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B.B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C.C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D.E</a:t>
            </a:r>
            <a:r>
              <a:rPr lang="en-GB" sz="14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607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19;p21">
            <a:extLst>
              <a:ext uri="{FF2B5EF4-FFF2-40B4-BE49-F238E27FC236}">
                <a16:creationId xmlns:a16="http://schemas.microsoft.com/office/drawing/2014/main" id="{8F2A1FA1-7384-EA14-167B-ABDC3CB7DBCE}"/>
              </a:ext>
            </a:extLst>
          </p:cNvPr>
          <p:cNvSpPr txBox="1"/>
          <p:nvPr/>
        </p:nvSpPr>
        <p:spPr>
          <a:xfrm>
            <a:off x="879900" y="111345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ØD is father of A and grandfather of F. So, A is father of F. 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ØThus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 and A are the two fathers. C is the sister of F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So.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 is the daughter of A. 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ØSince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there is only one mother, it is evident that E is the wife of A and hence the mother of C and F. 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ØSo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 is brother of A There are three brothers.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So.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 is the brother of C. 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ØClearly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is E's Husband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20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Q07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 dirty="0">
                <a:solidFill>
                  <a:schemeClr val="dk1"/>
                </a:solidFill>
              </a:rPr>
              <a:t>A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28;p22">
            <a:extLst>
              <a:ext uri="{FF2B5EF4-FFF2-40B4-BE49-F238E27FC236}">
                <a16:creationId xmlns:a16="http://schemas.microsoft.com/office/drawing/2014/main" id="{DB6F68FB-5AF3-4500-95F7-E2BC328A4385}"/>
              </a:ext>
            </a:extLst>
          </p:cNvPr>
          <p:cNvSpPr txBox="1"/>
          <p:nvPr/>
        </p:nvSpPr>
        <p:spPr>
          <a:xfrm>
            <a:off x="973776" y="1230450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Looking at a portrait of a man, Harsh said, "His mother is the wife of my father's son. Brothers and sisters I have none." At whose portrait was Harsh looking? 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A.His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son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B.His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cousin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C.His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uncle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D.His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nephew</a:t>
            </a:r>
            <a:r>
              <a:rPr lang="en-GB" sz="14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236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38;p23">
            <a:extLst>
              <a:ext uri="{FF2B5EF4-FFF2-40B4-BE49-F238E27FC236}">
                <a16:creationId xmlns:a16="http://schemas.microsoft.com/office/drawing/2014/main" id="{1DD0EEC8-DE16-B3E2-1EF1-D47CF90B4BFE}"/>
              </a:ext>
            </a:extLst>
          </p:cNvPr>
          <p:cNvSpPr txBox="1"/>
          <p:nvPr/>
        </p:nvSpPr>
        <p:spPr>
          <a:xfrm>
            <a:off x="693360" y="1150031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ØSince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Harsh has no brother or sister, so he is his father's only son. Now, wife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my father's son — my wife. 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Harsh's wife is the man's mother or the man is Harsh's son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563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29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540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553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100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03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564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781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895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653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616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122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214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1834e442a_2_25"/>
          <p:cNvSpPr/>
          <p:nvPr/>
        </p:nvSpPr>
        <p:spPr>
          <a:xfrm>
            <a:off x="720000" y="720600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Question: Q0</a:t>
            </a:r>
            <a:r>
              <a:rPr lang="en-IN" sz="2000" b="1">
                <a:solidFill>
                  <a:srgbClr val="FFFFFF"/>
                </a:solidFill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2f1834e442a_2_2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 : </a:t>
            </a:r>
            <a:r>
              <a:rPr lang="en-IN" sz="1600" b="1">
                <a:solidFill>
                  <a:schemeClr val="dk1"/>
                </a:solidFill>
              </a:rPr>
              <a:t>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448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12">
            <a:extLst>
              <a:ext uri="{FF2B5EF4-FFF2-40B4-BE49-F238E27FC236}">
                <a16:creationId xmlns:a16="http://schemas.microsoft.com/office/drawing/2014/main" id="{7CAC80E3-7555-913C-4402-5FBB3A8F2BC8}"/>
              </a:ext>
            </a:extLst>
          </p:cNvPr>
          <p:cNvSpPr txBox="1"/>
          <p:nvPr/>
        </p:nvSpPr>
        <p:spPr>
          <a:xfrm>
            <a:off x="327600" y="1521708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33400" marR="76200" lvl="0" indent="0" algn="l" rtl="0">
              <a:lnSpc>
                <a:spcPct val="150000"/>
              </a:lnSpc>
              <a:spcBef>
                <a:spcPts val="3600"/>
              </a:spcBef>
              <a:spcAft>
                <a:spcPts val="3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77;g2f1834e442a_2_7">
            <a:extLst>
              <a:ext uri="{FF2B5EF4-FFF2-40B4-BE49-F238E27FC236}">
                <a16:creationId xmlns:a16="http://schemas.microsoft.com/office/drawing/2014/main" id="{C6508C9A-C669-D4E8-056B-216DB609BA33}"/>
              </a:ext>
            </a:extLst>
          </p:cNvPr>
          <p:cNvSpPr/>
          <p:nvPr/>
        </p:nvSpPr>
        <p:spPr>
          <a:xfrm>
            <a:off x="327600" y="481175"/>
            <a:ext cx="2494800" cy="4494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Explanation :</a:t>
            </a:r>
            <a:endParaRPr sz="20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804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2523</Words>
  <Application>Microsoft Office PowerPoint</Application>
  <PresentationFormat>On-screen Show (16:9)</PresentationFormat>
  <Paragraphs>341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Roboto Black</vt:lpstr>
      <vt:lpstr>Wingdings</vt:lpstr>
      <vt:lpstr>Roboto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2</cp:revision>
  <dcterms:created xsi:type="dcterms:W3CDTF">2022-10-05T06:20:26Z</dcterms:created>
  <dcterms:modified xsi:type="dcterms:W3CDTF">2024-09-03T07:06:34Z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