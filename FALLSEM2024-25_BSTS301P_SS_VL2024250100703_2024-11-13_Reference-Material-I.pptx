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28"/>
  </p:notesMasterIdLst>
  <p:sldIdLst>
    <p:sldId id="256" r:id="rId4"/>
    <p:sldId id="257" r:id="rId5"/>
    <p:sldId id="337" r:id="rId6"/>
    <p:sldId id="340" r:id="rId7"/>
    <p:sldId id="258" r:id="rId8"/>
    <p:sldId id="338" r:id="rId9"/>
    <p:sldId id="339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259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03" r:id="rId2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4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2.fntdata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7119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9986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1477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108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9600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7907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1459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4364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2689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2561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307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gh43AnHbnZjrFVgu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  <a:buSzPts val="3200"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Kruskal's Algorithm</a:t>
            </a:r>
            <a:endParaRPr lang="en-US" sz="7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463A575-31D7-17F9-D2BE-A1A09E080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181" y="2292096"/>
            <a:ext cx="2437638" cy="218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0C151E-8B84-5D24-14F5-429D418C4FD9}"/>
              </a:ext>
            </a:extLst>
          </p:cNvPr>
          <p:cNvSpPr txBox="1"/>
          <p:nvPr/>
        </p:nvSpPr>
        <p:spPr>
          <a:xfrm>
            <a:off x="1517904" y="1422892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https://forms.gle/gh43AnHbnZjrFVgu8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651A5-D3F9-F527-1D1D-D733B04E9B9E}"/>
              </a:ext>
            </a:extLst>
          </p:cNvPr>
          <p:cNvSpPr txBox="1"/>
          <p:nvPr/>
        </p:nvSpPr>
        <p:spPr>
          <a:xfrm>
            <a:off x="2151888" y="68422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                  TEST TIME ON HAMILTONIAN CYCLE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799244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;g257e5e2a139_0_1">
            <a:extLst>
              <a:ext uri="{FF2B5EF4-FFF2-40B4-BE49-F238E27FC236}">
                <a16:creationId xmlns:a16="http://schemas.microsoft.com/office/drawing/2014/main" id="{C5F2770D-221B-84BE-39FF-1843C440D310}"/>
              </a:ext>
            </a:extLst>
          </p:cNvPr>
          <p:cNvSpPr/>
          <p:nvPr/>
        </p:nvSpPr>
        <p:spPr>
          <a:xfrm>
            <a:off x="2948850" y="33263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;g257e5e2a139_0_1">
            <a:extLst>
              <a:ext uri="{FF2B5EF4-FFF2-40B4-BE49-F238E27FC236}">
                <a16:creationId xmlns:a16="http://schemas.microsoft.com/office/drawing/2014/main" id="{4CC67BE2-ADAA-A75E-297E-01C9E329D3A1}"/>
              </a:ext>
            </a:extLst>
          </p:cNvPr>
          <p:cNvSpPr txBox="1"/>
          <p:nvPr/>
        </p:nvSpPr>
        <p:spPr>
          <a:xfrm>
            <a:off x="582930" y="895350"/>
            <a:ext cx="79782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Spanning Tree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minimum spanning tree (MST) or minimum weight spanning tree is a subset of the edges of a connected, edge-weighted undirected graph that connects all the vertices together, without any cycles and with the minimum possible total edge weight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minimum spanning tree has (V – 1) edges where V is the number of vertices in the given graph.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70;g257e5e2a139_0_1">
            <a:extLst>
              <a:ext uri="{FF2B5EF4-FFF2-40B4-BE49-F238E27FC236}">
                <a16:creationId xmlns:a16="http://schemas.microsoft.com/office/drawing/2014/main" id="{1B504996-1A94-6F4C-4724-C141D55BC4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2685" y="3237865"/>
            <a:ext cx="2564130" cy="1905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85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;g257e5e2a139_0_1">
            <a:extLst>
              <a:ext uri="{FF2B5EF4-FFF2-40B4-BE49-F238E27FC236}">
                <a16:creationId xmlns:a16="http://schemas.microsoft.com/office/drawing/2014/main" id="{C5F2770D-221B-84BE-39FF-1843C440D310}"/>
              </a:ext>
            </a:extLst>
          </p:cNvPr>
          <p:cNvSpPr/>
          <p:nvPr/>
        </p:nvSpPr>
        <p:spPr>
          <a:xfrm>
            <a:off x="2948850" y="33263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78;g257e5e2a139_0_9">
            <a:extLst>
              <a:ext uri="{FF2B5EF4-FFF2-40B4-BE49-F238E27FC236}">
                <a16:creationId xmlns:a16="http://schemas.microsoft.com/office/drawing/2014/main" id="{15618567-0C8F-3F96-C023-2C9C50C08984}"/>
              </a:ext>
            </a:extLst>
          </p:cNvPr>
          <p:cNvSpPr txBox="1"/>
          <p:nvPr/>
        </p:nvSpPr>
        <p:spPr>
          <a:xfrm>
            <a:off x="582930" y="895350"/>
            <a:ext cx="56388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to find MST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all the edges in non-decreasing order of their weight.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the smallest edge. Check if it forms a cycle with the spanning tree formed so far.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 cycle is not formed, include this edge.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Else discard it.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step-2 until there are (V-1) edges in the spanning tree.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Step #2 uses the Union-Find algorithm to detect cycles.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79;g257e5e2a139_0_9">
            <a:extLst>
              <a:ext uri="{FF2B5EF4-FFF2-40B4-BE49-F238E27FC236}">
                <a16:creationId xmlns:a16="http://schemas.microsoft.com/office/drawing/2014/main" id="{262EA491-6934-0FC2-4951-476D6186A4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1730" y="1504950"/>
            <a:ext cx="2564130" cy="1905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;g257e5e2a139_0_1">
            <a:extLst>
              <a:ext uri="{FF2B5EF4-FFF2-40B4-BE49-F238E27FC236}">
                <a16:creationId xmlns:a16="http://schemas.microsoft.com/office/drawing/2014/main" id="{C5F2770D-221B-84BE-39FF-1843C440D310}"/>
              </a:ext>
            </a:extLst>
          </p:cNvPr>
          <p:cNvSpPr/>
          <p:nvPr/>
        </p:nvSpPr>
        <p:spPr>
          <a:xfrm>
            <a:off x="2948850" y="33263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7;g257e5e2a139_0_17">
            <a:extLst>
              <a:ext uri="{FF2B5EF4-FFF2-40B4-BE49-F238E27FC236}">
                <a16:creationId xmlns:a16="http://schemas.microsoft.com/office/drawing/2014/main" id="{EC22C0F9-1A0E-F5A5-383B-D614BCBEBCE9}"/>
              </a:ext>
            </a:extLst>
          </p:cNvPr>
          <p:cNvSpPr txBox="1"/>
          <p:nvPr/>
        </p:nvSpPr>
        <p:spPr>
          <a:xfrm>
            <a:off x="582930" y="895350"/>
            <a:ext cx="77451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to find MST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all the edges in non-decreasing order of their weight.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the smallest edge. Check if it forms a cycle with the spanning tree formed so far.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 cycle is not formed, include this edge.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Else discard it.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step-2 until there are (V-1) edges in the spanning tree.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Step 2 uses the Union-Find algorithm to detect cycles.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411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;g257e5e2a139_0_1">
            <a:extLst>
              <a:ext uri="{FF2B5EF4-FFF2-40B4-BE49-F238E27FC236}">
                <a16:creationId xmlns:a16="http://schemas.microsoft.com/office/drawing/2014/main" id="{C5F2770D-221B-84BE-39FF-1843C440D310}"/>
              </a:ext>
            </a:extLst>
          </p:cNvPr>
          <p:cNvSpPr/>
          <p:nvPr/>
        </p:nvSpPr>
        <p:spPr>
          <a:xfrm>
            <a:off x="2948850" y="332638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5;g257e5e2a139_0_24">
            <a:extLst>
              <a:ext uri="{FF2B5EF4-FFF2-40B4-BE49-F238E27FC236}">
                <a16:creationId xmlns:a16="http://schemas.microsoft.com/office/drawing/2014/main" id="{F5B0F307-9B06-57E5-76AA-60A1F6FF17DD}"/>
              </a:ext>
            </a:extLst>
          </p:cNvPr>
          <p:cNvSpPr txBox="1"/>
          <p:nvPr/>
        </p:nvSpPr>
        <p:spPr>
          <a:xfrm>
            <a:off x="582930" y="895350"/>
            <a:ext cx="774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in Action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95;g257e5e2a139_0_24">
            <a:extLst>
              <a:ext uri="{FF2B5EF4-FFF2-40B4-BE49-F238E27FC236}">
                <a16:creationId xmlns:a16="http://schemas.microsoft.com/office/drawing/2014/main" id="{68BC8FAB-8777-F481-A01A-64CFDE71EDC8}"/>
              </a:ext>
            </a:extLst>
          </p:cNvPr>
          <p:cNvSpPr txBox="1"/>
          <p:nvPr/>
        </p:nvSpPr>
        <p:spPr>
          <a:xfrm>
            <a:off x="582930" y="895350"/>
            <a:ext cx="774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in Action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97;g257e5e2a139_0_24">
            <a:extLst>
              <a:ext uri="{FF2B5EF4-FFF2-40B4-BE49-F238E27FC236}">
                <a16:creationId xmlns:a16="http://schemas.microsoft.com/office/drawing/2014/main" id="{14563CFD-7800-59A2-21EA-0942E98954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0" y="1911985"/>
            <a:ext cx="2413635" cy="201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g257e5e2a139_0_24">
            <a:extLst>
              <a:ext uri="{FF2B5EF4-FFF2-40B4-BE49-F238E27FC236}">
                <a16:creationId xmlns:a16="http://schemas.microsoft.com/office/drawing/2014/main" id="{F9EFFEA7-AFA8-715E-7ECE-AB321B2466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7530" y="1332230"/>
            <a:ext cx="3828416" cy="353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01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56397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5;g257e5e2a139_0_33">
            <a:extLst>
              <a:ext uri="{FF2B5EF4-FFF2-40B4-BE49-F238E27FC236}">
                <a16:creationId xmlns:a16="http://schemas.microsoft.com/office/drawing/2014/main" id="{A44812AC-66A1-C484-FE1C-66EA420F079E}"/>
              </a:ext>
            </a:extLst>
          </p:cNvPr>
          <p:cNvSpPr txBox="1"/>
          <p:nvPr/>
        </p:nvSpPr>
        <p:spPr>
          <a:xfrm>
            <a:off x="582930" y="895350"/>
            <a:ext cx="77451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Disjoint-Set data structure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disjoint-set data structure that keeps track of a set of elements partitioned into a number of disjoint or non-overlapping subsets.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near-constant-time operations to add new sets, to merge existing sets, and to determine whether elements are in the same set.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a key role in Kruskal’s algorithm for finding the minimum spanning tree of a graph.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can also be used to detect cycle in the graph.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880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56397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3;g257e5e2a139_0_40">
            <a:extLst>
              <a:ext uri="{FF2B5EF4-FFF2-40B4-BE49-F238E27FC236}">
                <a16:creationId xmlns:a16="http://schemas.microsoft.com/office/drawing/2014/main" id="{756B29C4-128C-25E0-96D9-FEF3FD01C5C5}"/>
              </a:ext>
            </a:extLst>
          </p:cNvPr>
          <p:cNvSpPr txBox="1"/>
          <p:nvPr/>
        </p:nvSpPr>
        <p:spPr>
          <a:xfrm>
            <a:off x="400050" y="718497"/>
            <a:ext cx="63594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Disjoint-Set Construction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disjoint-set forest consists of a number of elements each of which stores an id, a parent pointer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parent pointers of elements are arranged to form one or more trees, each representing a set.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 element’s parent pointer points to no other element, then the element is the root of a tree and is the representative member of its set.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may consist of only a single element. However, if the element has a parent, the element is part of whatever set is identified by following the chain of parents upwards until a representative element (one without a parent) is reached at the root of the tree.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14;g257e5e2a139_0_40">
            <a:extLst>
              <a:ext uri="{FF2B5EF4-FFF2-40B4-BE49-F238E27FC236}">
                <a16:creationId xmlns:a16="http://schemas.microsoft.com/office/drawing/2014/main" id="{78A5CF0A-518C-C51E-4C6C-1BF9A118F5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70370" y="2151380"/>
            <a:ext cx="2355850" cy="1886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99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56397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22;g257e5e2a139_0_48">
            <a:extLst>
              <a:ext uri="{FF2B5EF4-FFF2-40B4-BE49-F238E27FC236}">
                <a16:creationId xmlns:a16="http://schemas.microsoft.com/office/drawing/2014/main" id="{DAB086D4-D350-AF9E-AC17-E39811BF7561}"/>
              </a:ext>
            </a:extLst>
          </p:cNvPr>
          <p:cNvSpPr txBox="1"/>
          <p:nvPr/>
        </p:nvSpPr>
        <p:spPr>
          <a:xfrm>
            <a:off x="339090" y="718497"/>
            <a:ext cx="63594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Disjoint-Set Operations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sets shown at the right are disjoint because they have no members in common.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Union-Find supports three basic operations: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Find(A):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Determine which subset an element A is in. For example, find(d) would return the subset [ g, d, c ].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Union(A, B):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Join two subsets that contain A and B into a single subset. For example, union(d, j) would combine [ g, d, c ] and [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 ] into the larger set [ g, d, c,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 ].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AddSet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(A):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 a new subset containing just that element A. For example,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(h) would add a new set [ h ].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23;g257e5e2a139_0_48">
            <a:extLst>
              <a:ext uri="{FF2B5EF4-FFF2-40B4-BE49-F238E27FC236}">
                <a16:creationId xmlns:a16="http://schemas.microsoft.com/office/drawing/2014/main" id="{1284FC2F-CEB7-74D6-8B8B-915E56023E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98490" y="2279904"/>
            <a:ext cx="2262629" cy="1584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586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56397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1;g257e5e2a139_0_56">
            <a:extLst>
              <a:ext uri="{FF2B5EF4-FFF2-40B4-BE49-F238E27FC236}">
                <a16:creationId xmlns:a16="http://schemas.microsoft.com/office/drawing/2014/main" id="{EFA164E7-FBCE-2480-D006-5C65132C6171}"/>
              </a:ext>
            </a:extLst>
          </p:cNvPr>
          <p:cNvSpPr txBox="1"/>
          <p:nvPr/>
        </p:nvSpPr>
        <p:spPr>
          <a:xfrm>
            <a:off x="582930" y="895350"/>
            <a:ext cx="79782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disjset1.java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IO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33;g257e5e2a139_0_56">
            <a:extLst>
              <a:ext uri="{FF2B5EF4-FFF2-40B4-BE49-F238E27FC236}">
                <a16:creationId xmlns:a16="http://schemas.microsoft.com/office/drawing/2014/main" id="{313049B0-2945-77ED-2895-C443C16DD0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8145" y="2884170"/>
            <a:ext cx="2606040" cy="1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g257e5e2a139_0_56">
            <a:extLst>
              <a:ext uri="{FF2B5EF4-FFF2-40B4-BE49-F238E27FC236}">
                <a16:creationId xmlns:a16="http://schemas.microsoft.com/office/drawing/2014/main" id="{D9F8B6DF-E2FD-D890-9F10-EC835240222C}"/>
              </a:ext>
            </a:extLst>
          </p:cNvPr>
          <p:cNvSpPr txBox="1"/>
          <p:nvPr/>
        </p:nvSpPr>
        <p:spPr>
          <a:xfrm>
            <a:off x="3322320" y="2403475"/>
            <a:ext cx="50337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600" b="0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Id: 0 elements: [0, 1, 2, 3]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Id: 4 elements: [4, 5]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Graph is input to the program and it provides a  disjoint set output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154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19821"/>
            <a:ext cx="3246300" cy="301971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Google Shape;143;g257e5e2a139_0_211">
            <a:extLst>
              <a:ext uri="{FF2B5EF4-FFF2-40B4-BE49-F238E27FC236}">
                <a16:creationId xmlns:a16="http://schemas.microsoft.com/office/drawing/2014/main" id="{F03FD643-0FEA-2AE1-70D9-C95095B94F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648949"/>
              </p:ext>
            </p:extLst>
          </p:nvPr>
        </p:nvGraphicFramePr>
        <p:xfrm>
          <a:off x="275100" y="621792"/>
          <a:ext cx="8593800" cy="4124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java.util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.*;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class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DisjointSet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static class Edge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int source;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int destination;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Edge(int source, int destination)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this.source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source;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this.destination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destination;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static class Graph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int vertices;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LinkedList &lt; Edge &gt; []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adjList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Edge &gt;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allEdges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new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&gt; ();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Graph(int vertices)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this.vertices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vertices;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adjList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new LinkedList[vertices];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for (int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vertices;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adjList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 new LinkedList &lt; &gt; ();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}}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void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addEgde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(int source, int destination)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Edge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new Edge(source, destination);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adjList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[source].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addFirst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(edge);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allEdges.add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(edge);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void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makeSet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(int[] parent)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for (int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vertices;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parent[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int find(int[] parent, int vertex)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if (parent[vertex] != vertex)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return find(parent, parent[vertex]);;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return vertex;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22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32013"/>
            <a:ext cx="3246300" cy="326355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Google Shape;152;g257e5e2a139_0_222">
            <a:extLst>
              <a:ext uri="{FF2B5EF4-FFF2-40B4-BE49-F238E27FC236}">
                <a16:creationId xmlns:a16="http://schemas.microsoft.com/office/drawing/2014/main" id="{7B6F26EC-DBF9-8354-96D9-007CA22D21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956765"/>
              </p:ext>
            </p:extLst>
          </p:nvPr>
        </p:nvGraphicFramePr>
        <p:xfrm>
          <a:off x="275100" y="766968"/>
          <a:ext cx="8593800" cy="406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void union(int[] parent, int x, int y)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x_set_parent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find(parent, x);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y_set_parent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find(parent, y);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parent[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y_set_parent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x_set_parent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public void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disjointSets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int[] parent = new int[vertices];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makeSet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(parent);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for (int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allEdges.size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Edge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allEdges.get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x_set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find(parent,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edge.source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y_set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find(parent,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edge.destination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if (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x_set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==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y_set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//do nothing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} else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union(parent,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x_set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,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y_set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printSets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(parent);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void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printSets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(int[] parent)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HashMap &lt; Integer,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Integer &gt;&gt; map = new HashMap &lt; &gt; ();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for (int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parent.length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++)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if (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map.containsKey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(parent[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]))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Integer &gt; list =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map.get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(parent[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list.add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);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map.put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(parent[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], list);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} else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Integer &gt; list = new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ArrayList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&gt; ();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list.add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map.put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(parent[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], list);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83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g257e5e2a139_0_33">
            <a:extLst>
              <a:ext uri="{FF2B5EF4-FFF2-40B4-BE49-F238E27FC236}">
                <a16:creationId xmlns:a16="http://schemas.microsoft.com/office/drawing/2014/main" id="{DBD2ACDA-5B85-4D9A-3327-1D6337253312}"/>
              </a:ext>
            </a:extLst>
          </p:cNvPr>
          <p:cNvSpPr/>
          <p:nvPr/>
        </p:nvSpPr>
        <p:spPr>
          <a:xfrm>
            <a:off x="2948850" y="356397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Union-Find and Disjoint-Set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Google Shape;161;g257e5e2a139_0_233">
            <a:extLst>
              <a:ext uri="{FF2B5EF4-FFF2-40B4-BE49-F238E27FC236}">
                <a16:creationId xmlns:a16="http://schemas.microsoft.com/office/drawing/2014/main" id="{7040021D-39D3-C3DF-ED17-6E545B6D35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9838022"/>
              </p:ext>
            </p:extLst>
          </p:nvPr>
        </p:nvGraphicFramePr>
        <p:xfrm>
          <a:off x="226332" y="931664"/>
          <a:ext cx="8593800" cy="406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//Print the Different sets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Set &lt; Integer &gt; set = map.keySet();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Iterator &lt; Integer &gt; iterator = set.iterator();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while (iterator.hasNext()) {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int key = iterator.next();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System.out.println("Set Id: " + key + " elements: " + map.get(key));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}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}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}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static void main(String[] args) {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int vertices = 6;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 graph = new Graph(vertices);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graph.addEgde(0, 1);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graph.addEgde(0, 2);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graph.addEgde(1, 3);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graph.addEgde(4, 5);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graph.disjointSets();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}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}</a:t>
                      </a: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878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9265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8;g257e5e2a139_0_65">
            <a:extLst>
              <a:ext uri="{FF2B5EF4-FFF2-40B4-BE49-F238E27FC236}">
                <a16:creationId xmlns:a16="http://schemas.microsoft.com/office/drawing/2014/main" id="{DB8E0E4C-6ADF-223F-10F0-7FDC24BF17EB}"/>
              </a:ext>
            </a:extLst>
          </p:cNvPr>
          <p:cNvSpPr txBox="1"/>
          <p:nvPr/>
        </p:nvSpPr>
        <p:spPr>
          <a:xfrm>
            <a:off x="582930" y="895350"/>
            <a:ext cx="77451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Disjoint-Set data structure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disjoint-set data structure that keeps track of a set of elements partitioned into a number of disjoint or non-overlapping subsets.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 near-constant-time operations to add new sets, to merge existing sets, and to determine whether elements are in the same set.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a key role in Kruskal’s algorithm for finding the minimum spanning tree of a graph.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can also be used to detect cycle in the graph.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9265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77;g257e5e2a139_0_72">
            <a:extLst>
              <a:ext uri="{FF2B5EF4-FFF2-40B4-BE49-F238E27FC236}">
                <a16:creationId xmlns:a16="http://schemas.microsoft.com/office/drawing/2014/main" id="{1467D192-5D69-DE68-AE67-77E342EA43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1392" y="1719834"/>
            <a:ext cx="6181344" cy="30310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6;g257e5e2a139_0_72">
            <a:extLst>
              <a:ext uri="{FF2B5EF4-FFF2-40B4-BE49-F238E27FC236}">
                <a16:creationId xmlns:a16="http://schemas.microsoft.com/office/drawing/2014/main" id="{5DBBF4F0-ADCC-584C-C172-37FF2EFC7803}"/>
              </a:ext>
            </a:extLst>
          </p:cNvPr>
          <p:cNvSpPr txBox="1"/>
          <p:nvPr/>
        </p:nvSpPr>
        <p:spPr>
          <a:xfrm>
            <a:off x="699450" y="970350"/>
            <a:ext cx="774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in Action: Another Example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574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49" y="291960"/>
            <a:ext cx="3246300" cy="31764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85;g257e5e2a139_0_80">
            <a:extLst>
              <a:ext uri="{FF2B5EF4-FFF2-40B4-BE49-F238E27FC236}">
                <a16:creationId xmlns:a16="http://schemas.microsoft.com/office/drawing/2014/main" id="{F77F4BE8-D11B-B365-4FAE-14562E9D8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059" y="630250"/>
            <a:ext cx="4565032" cy="4513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9176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43882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93;g257e5e2a139_0_87">
            <a:extLst>
              <a:ext uri="{FF2B5EF4-FFF2-40B4-BE49-F238E27FC236}">
                <a16:creationId xmlns:a16="http://schemas.microsoft.com/office/drawing/2014/main" id="{B06BC0B8-1E99-91D3-047D-EB83BD798BE9}"/>
              </a:ext>
            </a:extLst>
          </p:cNvPr>
          <p:cNvSpPr txBox="1"/>
          <p:nvPr/>
        </p:nvSpPr>
        <p:spPr>
          <a:xfrm>
            <a:off x="582930" y="895350"/>
            <a:ext cx="79782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kruskal1.java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IO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4;g257e5e2a139_0_87">
            <a:extLst>
              <a:ext uri="{FF2B5EF4-FFF2-40B4-BE49-F238E27FC236}">
                <a16:creationId xmlns:a16="http://schemas.microsoft.com/office/drawing/2014/main" id="{33D87032-8A3C-9014-FDB3-4C95D028643C}"/>
              </a:ext>
            </a:extLst>
          </p:cNvPr>
          <p:cNvSpPr txBox="1"/>
          <p:nvPr/>
        </p:nvSpPr>
        <p:spPr>
          <a:xfrm>
            <a:off x="3281172" y="895350"/>
            <a:ext cx="50337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6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Following are the edges in the constructed MST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2 -- 3 == 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0 -- 3 == 5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0 -- 1 == 10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Cost Spanning Tree: 19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endParaRPr sz="16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O(ELogE)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95;g257e5e2a139_0_87">
            <a:extLst>
              <a:ext uri="{FF2B5EF4-FFF2-40B4-BE49-F238E27FC236}">
                <a16:creationId xmlns:a16="http://schemas.microsoft.com/office/drawing/2014/main" id="{65E6D159-59F4-468F-8DED-5A2AA4D58A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870" y="2901046"/>
            <a:ext cx="2139442" cy="1841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3625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22004"/>
            <a:ext cx="3246300" cy="326678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205;g257da5d1a8a_0_266">
            <a:extLst>
              <a:ext uri="{FF2B5EF4-FFF2-40B4-BE49-F238E27FC236}">
                <a16:creationId xmlns:a16="http://schemas.microsoft.com/office/drawing/2014/main" id="{CE69E34B-42DF-8FCF-9798-7A157DC21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5811918"/>
              </p:ext>
            </p:extLst>
          </p:nvPr>
        </p:nvGraphicFramePr>
        <p:xfrm>
          <a:off x="177033" y="867850"/>
          <a:ext cx="9113271" cy="4123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0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39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java.util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.*;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java.lang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.*;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import java.io.*;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class Graph 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class Edge implements Comparable&lt;Edge&gt;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src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,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dest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, weight;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public 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compareTo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(Edge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compareEdge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return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this.weight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-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compareEdge.weight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}};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class subset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int parent, rank;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int V, E;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Edge edge[];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Graph(int v, int e)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V = v;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E = e;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edge = new Edge[E];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for (int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&lt; e; ++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edge[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] = new Edge();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}</a:t>
                      </a:r>
                      <a:endParaRPr lang="en-US"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n-NO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for (int i = 0; i &lt; e; ++i)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n-NO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edge[i] = new Edge();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n-NO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find(subset subsets[], 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if (subsets[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].parent !=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subsets[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].parent= find(subsets, subsets[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].parent);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return subsets[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].parent;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void Union(subset subsets[], int x, int y)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xroot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= find(subsets, x);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int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yroot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= find(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subsets,Y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856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9265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EA755-E38C-5294-48E9-9F6D2DECFE0D}"/>
              </a:ext>
            </a:extLst>
          </p:cNvPr>
          <p:cNvSpPr txBox="1"/>
          <p:nvPr/>
        </p:nvSpPr>
        <p:spPr>
          <a:xfrm>
            <a:off x="1194816" y="1167327"/>
            <a:ext cx="7120128" cy="2808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(subsets[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].rank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&lt; 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].rank)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].parent =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else if (subsets[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].rank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&gt; 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].rank)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].parent =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else 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].parent =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xroot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].rank++;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}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463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9265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58942-0464-4018-E863-5CE1F10962D6}"/>
              </a:ext>
            </a:extLst>
          </p:cNvPr>
          <p:cNvSpPr txBox="1"/>
          <p:nvPr/>
        </p:nvSpPr>
        <p:spPr>
          <a:xfrm>
            <a:off x="121920" y="754750"/>
            <a:ext cx="4645152" cy="404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KruskalMST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Edge result[] = new Edge[V];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int e = 0;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int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for (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V; ++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result[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new Edge();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Arrays.sort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(edge);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subset subsets[] = new subset[V];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for (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V; ++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subsets[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new subset();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for (int v = 0; v &lt; V; ++v)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subsets[v].parent = v;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subsets[v].rank = 0;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42845-DA2E-5973-47FD-1DF60EE81F51}"/>
              </a:ext>
            </a:extLst>
          </p:cNvPr>
          <p:cNvSpPr txBox="1"/>
          <p:nvPr/>
        </p:nvSpPr>
        <p:spPr>
          <a:xfrm>
            <a:off x="4767072" y="1290822"/>
            <a:ext cx="7053816" cy="2561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 (e &lt; V - 1)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Edge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next_edge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edge[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++];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 x = find(subsets,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next_edge.src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 y = find(subsets,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next_edge.dest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 (x != y) 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result[e++] =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next_edge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Union(subsets, x, y);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085217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9265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DB20F-C785-5BBB-FEC7-B848448756F7}"/>
              </a:ext>
            </a:extLst>
          </p:cNvPr>
          <p:cNvSpPr txBox="1"/>
          <p:nvPr/>
        </p:nvSpPr>
        <p:spPr>
          <a:xfrm>
            <a:off x="670560" y="1300288"/>
            <a:ext cx="8302752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("Following are the edges in the constructed MST");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int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minimumCost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for (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e; ++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(result[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" -- "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+ result[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" == " + result[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].weight);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minimumCost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+= result[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].weight;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}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("Minimum Cost Spanning Tree "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+</a:t>
            </a:r>
            <a:r>
              <a:rPr lang="en-US" sz="1400" b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minimumCost</a:t>
            </a: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473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0;g257e5e2a139_0_65">
            <a:extLst>
              <a:ext uri="{FF2B5EF4-FFF2-40B4-BE49-F238E27FC236}">
                <a16:creationId xmlns:a16="http://schemas.microsoft.com/office/drawing/2014/main" id="{734FF479-26A4-0442-5E87-3BC48FA030F3}"/>
              </a:ext>
            </a:extLst>
          </p:cNvPr>
          <p:cNvSpPr/>
          <p:nvPr/>
        </p:nvSpPr>
        <p:spPr>
          <a:xfrm>
            <a:off x="2948850" y="39265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Kruskal’s Algorithm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223;g257e5e2a139_0_201">
            <a:extLst>
              <a:ext uri="{FF2B5EF4-FFF2-40B4-BE49-F238E27FC236}">
                <a16:creationId xmlns:a16="http://schemas.microsoft.com/office/drawing/2014/main" id="{B976D7F4-14BC-F473-83D8-40CA03B13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9878866"/>
              </p:ext>
            </p:extLst>
          </p:nvPr>
        </p:nvGraphicFramePr>
        <p:xfrm>
          <a:off x="220613" y="980432"/>
          <a:ext cx="8428300" cy="406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public static void main(String[]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args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)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{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int V = 4;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int E = 5; 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Graph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new Graph(V, E);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[0].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src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[0].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dest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1;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[0].weight = 10;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[1].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src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[1].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dest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2;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[1].weight = 6;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[2].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src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0;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[2].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dest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3;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[2].weight = 5;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[3].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src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1;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[3].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dest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3;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[3].weight = 15;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[4].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src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2;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[4].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dest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= 3;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	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graph.edge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[4].weight = 4;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           </a:t>
                      </a:r>
                      <a:r>
                        <a:rPr lang="en-US" sz="105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graph.KruskalMST</a:t>
                      </a: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();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	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urier New"/>
                        </a:rPr>
                        <a:t>}</a:t>
                      </a: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5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207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2472</Words>
  <Application>Microsoft Office PowerPoint</Application>
  <PresentationFormat>On-screen Show (16:9)</PresentationFormat>
  <Paragraphs>398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Roboto</vt:lpstr>
      <vt:lpstr>Courier New</vt:lpstr>
      <vt:lpstr>Arial</vt:lpstr>
      <vt:lpstr>Simple Light</vt:lpstr>
      <vt:lpstr>Simple Light</vt:lpstr>
      <vt:lpstr>Simple Light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2</cp:revision>
  <dcterms:created xsi:type="dcterms:W3CDTF">2022-10-05T06:20:26Z</dcterms:created>
  <dcterms:modified xsi:type="dcterms:W3CDTF">2024-09-04T09:47:40Z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