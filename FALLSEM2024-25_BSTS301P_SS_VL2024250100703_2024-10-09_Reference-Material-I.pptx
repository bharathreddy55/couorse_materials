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9" r:id="rId3"/>
  </p:sldMasterIdLst>
  <p:notesMasterIdLst>
    <p:notesMasterId r:id="rId23"/>
  </p:notesMasterIdLst>
  <p:sldIdLst>
    <p:sldId id="256" r:id="rId4"/>
    <p:sldId id="257" r:id="rId5"/>
    <p:sldId id="337" r:id="rId6"/>
    <p:sldId id="258" r:id="rId7"/>
    <p:sldId id="259"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03" r:id="rId22"/>
  </p:sldIdLst>
  <p:sldSz cx="9144000" cy="5143500" type="screen16x9"/>
  <p:notesSz cx="6858000" cy="9144000"/>
  <p:embeddedFontLst>
    <p:embeddedFont>
      <p:font typeface="Consolas" panose="020B0609020204030204" pitchFamily="49" charset="0"/>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HiSzDa0vTNjS1xHGCbJH/tB5Z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2" y="480"/>
      </p:cViewPr>
      <p:guideLst>
        <p:guide pos="454"/>
        <p:guide orient="horz" pos="2755"/>
        <p:guide orient="horz" pos="907"/>
        <p:guide pos="5272"/>
        <p:guide orient="horz" pos="737"/>
        <p:guide orient="horz" pos="3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slide" Target="slides/slide18.xml"/><Relationship Id="rId68"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6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66"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69"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2770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774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5661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55196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4939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4611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0343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0860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5223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4675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8943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541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1347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6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14" name="Google Shape;14;p66"/>
          <p:cNvPicPr preferRelativeResize="0"/>
          <p:nvPr/>
        </p:nvPicPr>
        <p:blipFill rotWithShape="1">
          <a:blip r:embed="rId2">
            <a:alphaModFix/>
          </a:blip>
          <a:srcRect/>
          <a:stretch/>
        </p:blipFill>
        <p:spPr>
          <a:xfrm>
            <a:off x="-1" y="7219"/>
            <a:ext cx="9144001" cy="51362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5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5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5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5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6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6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0" name="Google Shape;6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7" name="Google Shape;6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1" name="Google Shape;71;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2" name="Google Shape;72;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3" name="Google Shape;73;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4"/>
        <p:cNvGrpSpPr/>
        <p:nvPr/>
      </p:nvGrpSpPr>
      <p:grpSpPr>
        <a:xfrm>
          <a:off x="0" y="0"/>
          <a:ext cx="0" cy="0"/>
          <a:chOff x="0" y="0"/>
          <a:chExt cx="0" cy="0"/>
        </a:xfrm>
      </p:grpSpPr>
      <p:sp>
        <p:nvSpPr>
          <p:cNvPr id="75" name="Google Shape;75;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76" name="Google Shape;76;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80" name="Google Shape;8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81"/>
        <p:cNvGrpSpPr/>
        <p:nvPr/>
      </p:nvGrpSpPr>
      <p:grpSpPr>
        <a:xfrm>
          <a:off x="0" y="0"/>
          <a:ext cx="0" cy="0"/>
          <a:chOff x="0" y="0"/>
          <a:chExt cx="0" cy="0"/>
        </a:xfrm>
      </p:grpSpPr>
      <p:pic>
        <p:nvPicPr>
          <p:cNvPr id="82" name="Google Shape;82;p44"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83" name="Google Shape;83;p44" descr="A picture containing colorful, colored&#10;&#10;Description generated with very high confidence"/>
          <p:cNvPicPr preferRelativeResize="0"/>
          <p:nvPr/>
        </p:nvPicPr>
        <p:blipFill rotWithShape="1">
          <a:blip r:embed="rId3">
            <a:alphaModFix/>
          </a:blip>
          <a:srcRect t="55602" b="37530"/>
          <a:stretch/>
        </p:blipFill>
        <p:spPr>
          <a:xfrm>
            <a:off x="0" y="4849200"/>
            <a:ext cx="9144000" cy="294300"/>
          </a:xfrm>
          <a:prstGeom prst="rect">
            <a:avLst/>
          </a:prstGeom>
          <a:noFill/>
          <a:ln>
            <a:noFill/>
          </a:ln>
        </p:spPr>
      </p:pic>
      <p:sp>
        <p:nvSpPr>
          <p:cNvPr id="84" name="Google Shape;84;p44"/>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5" name="Google Shape;85;p44"/>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6" name="Google Shape;86;p44"/>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7" name="Google Shape;87;p44"/>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3"/>
        <p:cNvGrpSpPr/>
        <p:nvPr/>
      </p:nvGrpSpPr>
      <p:grpSpPr>
        <a:xfrm>
          <a:off x="0" y="0"/>
          <a:ext cx="0" cy="0"/>
          <a:chOff x="0" y="0"/>
          <a:chExt cx="0" cy="0"/>
        </a:xfrm>
      </p:grpSpPr>
      <p:sp>
        <p:nvSpPr>
          <p:cNvPr id="94" name="Google Shape;94;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5" name="Google Shape;95;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96" name="Google Shape;96;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6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4" name="Google Shape;104;p6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5" name="Google Shape;105;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p:cSld name="TITLE 2">
    <p:spTree>
      <p:nvGrpSpPr>
        <p:cNvPr id="1"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0"/>
        <p:cNvGrpSpPr/>
        <p:nvPr/>
      </p:nvGrpSpPr>
      <p:grpSpPr>
        <a:xfrm>
          <a:off x="0" y="0"/>
          <a:ext cx="0" cy="0"/>
          <a:chOff x="0" y="0"/>
          <a:chExt cx="0" cy="0"/>
        </a:xfrm>
      </p:grpSpPr>
      <p:sp>
        <p:nvSpPr>
          <p:cNvPr id="111" name="Google Shape;111;p4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12" name="Google Shape;11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4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6" name="Google Shape;116;p4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7" name="Google Shape;117;p4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18" name="Google Shape;11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4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21" name="Google Shape;121;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2"/>
        <p:cNvGrpSpPr/>
        <p:nvPr/>
      </p:nvGrpSpPr>
      <p:grpSpPr>
        <a:xfrm>
          <a:off x="0" y="0"/>
          <a:ext cx="0" cy="0"/>
          <a:chOff x="0" y="0"/>
          <a:chExt cx="0" cy="0"/>
        </a:xfrm>
      </p:grpSpPr>
      <p:sp>
        <p:nvSpPr>
          <p:cNvPr id="123" name="Google Shape;123;p5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4" name="Google Shape;124;p5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25" name="Google Shape;12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126"/>
        <p:cNvGrpSpPr/>
        <p:nvPr/>
      </p:nvGrpSpPr>
      <p:grpSpPr>
        <a:xfrm>
          <a:off x="0" y="0"/>
          <a:ext cx="0" cy="0"/>
          <a:chOff x="0" y="0"/>
          <a:chExt cx="0" cy="0"/>
        </a:xfrm>
      </p:grpSpPr>
      <p:pic>
        <p:nvPicPr>
          <p:cNvPr id="127" name="Google Shape;127;p51"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128" name="Google Shape;128;p51" descr="A picture containing colorful, colored&#10;&#10;Description generated with very high confidence"/>
          <p:cNvPicPr preferRelativeResize="0"/>
          <p:nvPr/>
        </p:nvPicPr>
        <p:blipFill rotWithShape="1">
          <a:blip r:embed="rId3">
            <a:alphaModFix/>
          </a:blip>
          <a:srcRect t="55603" b="37530"/>
          <a:stretch/>
        </p:blipFill>
        <p:spPr>
          <a:xfrm>
            <a:off x="0" y="4849200"/>
            <a:ext cx="9144000" cy="294300"/>
          </a:xfrm>
          <a:prstGeom prst="rect">
            <a:avLst/>
          </a:prstGeom>
          <a:noFill/>
          <a:ln>
            <a:noFill/>
          </a:ln>
        </p:spPr>
      </p:pic>
      <p:sp>
        <p:nvSpPr>
          <p:cNvPr id="129" name="Google Shape;129;p51"/>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 name="Google Shape;130;p51"/>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1" name="Google Shape;131;p51"/>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2" name="Google Shape;132;p51"/>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3"/>
        <p:cNvGrpSpPr/>
        <p:nvPr/>
      </p:nvGrpSpPr>
      <p:grpSpPr>
        <a:xfrm>
          <a:off x="0" y="0"/>
          <a:ext cx="0" cy="0"/>
          <a:chOff x="0" y="0"/>
          <a:chExt cx="0" cy="0"/>
        </a:xfrm>
      </p:grpSpPr>
      <p:sp>
        <p:nvSpPr>
          <p:cNvPr id="134" name="Google Shape;134;g2f1834e442a_2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5" name="Google Shape;135;g2f1834e442a_2_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jp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1.jp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 name="Google Shape;9;p24"/>
          <p:cNvPicPr preferRelativeResize="0"/>
          <p:nvPr/>
        </p:nvPicPr>
        <p:blipFill rotWithShape="1">
          <a:blip r:embed="rId13">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
        <p:cNvGrpSpPr/>
        <p:nvPr/>
      </p:nvGrpSpPr>
      <p:grpSpPr>
        <a:xfrm>
          <a:off x="0" y="0"/>
          <a:ext cx="0" cy="0"/>
          <a:chOff x="0" y="0"/>
          <a:chExt cx="0" cy="0"/>
        </a:xfrm>
      </p:grpSpPr>
      <p:sp>
        <p:nvSpPr>
          <p:cNvPr id="53" name="Google Shape;5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56" name="Google Shape;56;p26"/>
          <p:cNvPicPr preferRelativeResize="0"/>
          <p:nvPr/>
        </p:nvPicPr>
        <p:blipFill rotWithShape="1">
          <a:blip r:embed="rId10">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0" name="Google Shape;90;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1" name="Google Shape;9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2" name="Google Shape;92;p29"/>
          <p:cNvPicPr preferRelativeResize="0"/>
          <p:nvPr/>
        </p:nvPicPr>
        <p:blipFill rotWithShape="1">
          <a:blip r:embed="rId12">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eujGZJtiSaQ9aKbz5"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41" name="Google Shape;141;p6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142" name="Google Shape;142;p62"/>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143" name="Google Shape;143;p62"/>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144" name="Google Shape;144;p62"/>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50" name="Google Shape;150;p6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51" name="Google Shape;151;p63"/>
          <p:cNvPicPr preferRelativeResize="0"/>
          <p:nvPr/>
        </p:nvPicPr>
        <p:blipFill rotWithShape="1">
          <a:blip r:embed="rId3">
            <a:alphaModFix/>
          </a:blip>
          <a:srcRect/>
          <a:stretch/>
        </p:blipFill>
        <p:spPr>
          <a:xfrm>
            <a:off x="2" y="4"/>
            <a:ext cx="9144003" cy="5143501"/>
          </a:xfrm>
          <a:prstGeom prst="rect">
            <a:avLst/>
          </a:prstGeom>
          <a:noFill/>
          <a:ln>
            <a:noFill/>
          </a:ln>
        </p:spPr>
      </p:pic>
      <p:sp>
        <p:nvSpPr>
          <p:cNvPr id="152" name="Google Shape;152;p63"/>
          <p:cNvSpPr txBox="1"/>
          <p:nvPr/>
        </p:nvSpPr>
        <p:spPr>
          <a:xfrm>
            <a:off x="163133" y="1771546"/>
            <a:ext cx="4690800" cy="1883562"/>
          </a:xfrm>
          <a:prstGeom prst="rect">
            <a:avLst/>
          </a:prstGeom>
          <a:noFill/>
          <a:ln>
            <a:noFill/>
          </a:ln>
        </p:spPr>
        <p:txBody>
          <a:bodyPr spcFirstLastPara="1" wrap="square" lIns="91425" tIns="91425" rIns="91425" bIns="91425" anchor="t" anchorCtr="0">
            <a:spAutoFit/>
          </a:bodyPr>
          <a:lstStyle/>
          <a:p>
            <a:pPr algn="ctr">
              <a:lnSpc>
                <a:spcPct val="115000"/>
              </a:lnSpc>
              <a:buSzPts val="3200"/>
            </a:pPr>
            <a:r>
              <a:rPr lang="en-US" sz="3200" b="1" dirty="0">
                <a:solidFill>
                  <a:schemeClr val="bg1"/>
                </a:solidFill>
              </a:rPr>
              <a:t>MANACHER’S ALGORITHM</a:t>
            </a:r>
            <a:endParaRPr lang="en-IN" sz="3200" b="1" dirty="0">
              <a:solidFill>
                <a:schemeClr val="bg1"/>
              </a:solidFill>
            </a:endParaRPr>
          </a:p>
          <a:p>
            <a:pPr marL="0" marR="0" lvl="0" indent="0" algn="ctr" rtl="0">
              <a:lnSpc>
                <a:spcPct val="115000"/>
              </a:lnSpc>
              <a:spcBef>
                <a:spcPts val="0"/>
              </a:spcBef>
              <a:spcAft>
                <a:spcPts val="0"/>
              </a:spcAft>
              <a:buClr>
                <a:srgbClr val="000000"/>
              </a:buClr>
              <a:buSzPts val="3200"/>
              <a:buFont typeface="Arial"/>
              <a:buNone/>
            </a:pPr>
            <a:endParaRPr sz="3200" b="1" i="0" u="none" strike="noStrike" cap="none" dirty="0">
              <a:solidFill>
                <a:schemeClr val="lt1"/>
              </a:solidFill>
              <a:latin typeface="Roboto"/>
              <a:ea typeface="Roboto"/>
              <a:cs typeface="Roboto"/>
              <a:sym typeface="Roboto"/>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B87CED6-C1DF-BC52-3A2D-8567F2A25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685" y="2132838"/>
            <a:ext cx="2754630" cy="21823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311E519-7428-105F-1540-C6DDE544B82A}"/>
              </a:ext>
            </a:extLst>
          </p:cNvPr>
          <p:cNvSpPr txBox="1"/>
          <p:nvPr/>
        </p:nvSpPr>
        <p:spPr>
          <a:xfrm>
            <a:off x="908685" y="1372844"/>
            <a:ext cx="4572000" cy="1169551"/>
          </a:xfrm>
          <a:prstGeom prst="rect">
            <a:avLst/>
          </a:prstGeom>
          <a:noFill/>
        </p:spPr>
        <p:txBody>
          <a:bodyPr wrap="square">
            <a:spAutoFit/>
          </a:bodyPr>
          <a:lstStyle/>
          <a:p>
            <a:pPr rtl="0">
              <a:spcBef>
                <a:spcPts val="0"/>
              </a:spcBef>
              <a:spcAft>
                <a:spcPts val="0"/>
              </a:spcAft>
            </a:pPr>
            <a:r>
              <a:rPr lang="en-IN" sz="1400" b="1" i="0" u="none" strike="noStrike" dirty="0">
                <a:solidFill>
                  <a:srgbClr val="000000"/>
                </a:solidFill>
                <a:effectLst/>
                <a:latin typeface="Roboto" panose="02000000000000000000" pitchFamily="2" charset="0"/>
              </a:rPr>
              <a:t>URL</a:t>
            </a:r>
            <a:r>
              <a:rPr lang="en-IN" sz="1400" b="1" i="0" u="none" strike="noStrike" dirty="0">
                <a:solidFill>
                  <a:srgbClr val="373737"/>
                </a:solidFill>
                <a:effectLst/>
                <a:latin typeface="Roboto" panose="02000000000000000000" pitchFamily="2" charset="0"/>
              </a:rPr>
              <a:t>: </a:t>
            </a:r>
            <a:r>
              <a:rPr lang="en-IN" sz="1400" b="1" i="0" u="sng" strike="noStrike" dirty="0">
                <a:solidFill>
                  <a:srgbClr val="0097A7"/>
                </a:solidFill>
                <a:effectLst/>
                <a:latin typeface="Roboto" panose="02000000000000000000" pitchFamily="2" charset="0"/>
                <a:hlinkClick r:id="rId3"/>
              </a:rPr>
              <a:t>https://forms.gle/eujGZJtiSaQ9aKbz5</a:t>
            </a:r>
            <a:endParaRPr lang="en-IN" b="0" dirty="0">
              <a:effectLst/>
            </a:endParaRPr>
          </a:p>
          <a:p>
            <a:pPr rtl="0">
              <a:spcBef>
                <a:spcPts val="0"/>
              </a:spcBef>
              <a:spcAft>
                <a:spcPts val="0"/>
              </a:spcAft>
            </a:pPr>
            <a:br>
              <a:rPr lang="en-IN" b="0" dirty="0">
                <a:effectLst/>
              </a:rPr>
            </a:br>
            <a:r>
              <a:rPr lang="en-IN" sz="1400" b="1" i="0" u="none" strike="noStrike" dirty="0">
                <a:solidFill>
                  <a:srgbClr val="000000"/>
                </a:solidFill>
                <a:effectLst/>
                <a:latin typeface="Roboto" panose="02000000000000000000" pitchFamily="2" charset="0"/>
              </a:rPr>
              <a:t>QR CODE</a:t>
            </a:r>
            <a:r>
              <a:rPr lang="en-IN" sz="1400" b="1" i="0" u="none" strike="noStrike" dirty="0">
                <a:solidFill>
                  <a:srgbClr val="373737"/>
                </a:solidFill>
                <a:effectLst/>
                <a:latin typeface="Roboto" panose="02000000000000000000" pitchFamily="2" charset="0"/>
              </a:rPr>
              <a:t>:</a:t>
            </a:r>
            <a:endParaRPr lang="en-IN" b="0" dirty="0">
              <a:effectLst/>
            </a:endParaRPr>
          </a:p>
          <a:p>
            <a:br>
              <a:rPr lang="en-IN" b="0" dirty="0">
                <a:effectLst/>
              </a:rPr>
            </a:br>
            <a:endParaRPr lang="en-IN" dirty="0"/>
          </a:p>
        </p:txBody>
      </p:sp>
      <p:sp>
        <p:nvSpPr>
          <p:cNvPr id="7" name="TextBox 6">
            <a:extLst>
              <a:ext uri="{FF2B5EF4-FFF2-40B4-BE49-F238E27FC236}">
                <a16:creationId xmlns:a16="http://schemas.microsoft.com/office/drawing/2014/main" id="{5579F0B1-365C-5A72-48E4-D72C258E121A}"/>
              </a:ext>
            </a:extLst>
          </p:cNvPr>
          <p:cNvSpPr txBox="1"/>
          <p:nvPr/>
        </p:nvSpPr>
        <p:spPr>
          <a:xfrm>
            <a:off x="1384173" y="572262"/>
            <a:ext cx="5534787" cy="954107"/>
          </a:xfrm>
          <a:prstGeom prst="rect">
            <a:avLst/>
          </a:prstGeom>
          <a:noFill/>
        </p:spPr>
        <p:txBody>
          <a:bodyPr wrap="square">
            <a:spAutoFit/>
          </a:bodyPr>
          <a:lstStyle/>
          <a:p>
            <a:pPr algn="ctr" rtl="0">
              <a:spcBef>
                <a:spcPts val="0"/>
              </a:spcBef>
              <a:spcAft>
                <a:spcPts val="0"/>
              </a:spcAft>
            </a:pPr>
            <a:r>
              <a:rPr lang="en-US" sz="1400" b="1" i="0" u="none" strike="noStrike" dirty="0">
                <a:solidFill>
                  <a:srgbClr val="000000"/>
                </a:solidFill>
                <a:effectLst/>
                <a:latin typeface="Roboto" panose="02000000000000000000" pitchFamily="2" charset="0"/>
              </a:rPr>
              <a:t>                    TEST TIME ON MOVE HYPHEN TO BEGINNING</a:t>
            </a:r>
            <a:endParaRPr lang="en-US" b="0" dirty="0">
              <a:effectLst/>
            </a:endParaRPr>
          </a:p>
          <a:p>
            <a:br>
              <a:rPr lang="en-US" b="0" dirty="0">
                <a:effectLst/>
              </a:rPr>
            </a:br>
            <a:br>
              <a:rPr lang="en-US" b="0" dirty="0">
                <a:effectLst/>
              </a:rPr>
            </a:br>
            <a:endParaRPr lang="en-IN" dirty="0"/>
          </a:p>
        </p:txBody>
      </p:sp>
    </p:spTree>
    <p:extLst>
      <p:ext uri="{BB962C8B-B14F-4D97-AF65-F5344CB8AC3E}">
        <p14:creationId xmlns:p14="http://schemas.microsoft.com/office/powerpoint/2010/main" val="2217326058"/>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1;p13">
            <a:extLst>
              <a:ext uri="{FF2B5EF4-FFF2-40B4-BE49-F238E27FC236}">
                <a16:creationId xmlns:a16="http://schemas.microsoft.com/office/drawing/2014/main" id="{A536BA0E-A864-A5F9-1B22-081064CBBA00}"/>
              </a:ext>
            </a:extLst>
          </p:cNvPr>
          <p:cNvSpPr/>
          <p:nvPr/>
        </p:nvSpPr>
        <p:spPr>
          <a:xfrm>
            <a:off x="2111298" y="523962"/>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4" name="Google Shape;69;p13">
            <a:extLst>
              <a:ext uri="{FF2B5EF4-FFF2-40B4-BE49-F238E27FC236}">
                <a16:creationId xmlns:a16="http://schemas.microsoft.com/office/drawing/2014/main" id="{BCEFFA6E-9EA1-629B-AD28-F7D225DBECC6}"/>
              </a:ext>
            </a:extLst>
          </p:cNvPr>
          <p:cNvSpPr/>
          <p:nvPr/>
        </p:nvSpPr>
        <p:spPr>
          <a:xfrm>
            <a:off x="451611" y="1440980"/>
            <a:ext cx="8276455" cy="415498"/>
          </a:xfrm>
          <a:prstGeom prst="rect">
            <a:avLst/>
          </a:prstGeom>
          <a:noFill/>
          <a:ln>
            <a:noFill/>
          </a:ln>
        </p:spPr>
        <p:txBody>
          <a:bodyPr spcFirstLastPara="1" wrap="square" lIns="0" tIns="0" rIns="0" bIns="0" anchor="t" anchorCtr="0">
            <a:spAutoFit/>
          </a:bodyPr>
          <a:lstStyle/>
          <a:p>
            <a:pPr>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a:t>
            </a:r>
            <a:r>
              <a:rPr lang="en-US" sz="1800" dirty="0" err="1">
                <a:solidFill>
                  <a:schemeClr val="dk1"/>
                </a:solidFill>
                <a:latin typeface="Consolas"/>
                <a:ea typeface="Consolas"/>
                <a:cs typeface="Consolas"/>
                <a:sym typeface="Consolas"/>
              </a:rPr>
              <a:t>Manacher’s</a:t>
            </a:r>
            <a:r>
              <a:rPr lang="en-US" sz="1800" dirty="0">
                <a:solidFill>
                  <a:schemeClr val="dk1"/>
                </a:solidFill>
                <a:latin typeface="Consolas"/>
                <a:ea typeface="Consolas"/>
                <a:cs typeface="Consolas"/>
                <a:sym typeface="Consolas"/>
              </a:rPr>
              <a:t> Algorithm to the rescue!</a:t>
            </a:r>
            <a:endParaRPr lang="en-US" sz="1800" dirty="0"/>
          </a:p>
        </p:txBody>
      </p:sp>
      <p:sp>
        <p:nvSpPr>
          <p:cNvPr id="5" name="Google Shape;69;p13">
            <a:extLst>
              <a:ext uri="{FF2B5EF4-FFF2-40B4-BE49-F238E27FC236}">
                <a16:creationId xmlns:a16="http://schemas.microsoft.com/office/drawing/2014/main" id="{A8B6999E-6176-529B-1814-CD7D43195AB8}"/>
              </a:ext>
            </a:extLst>
          </p:cNvPr>
          <p:cNvSpPr/>
          <p:nvPr/>
        </p:nvSpPr>
        <p:spPr>
          <a:xfrm>
            <a:off x="451611" y="2091626"/>
            <a:ext cx="8276455" cy="830997"/>
          </a:xfrm>
          <a:prstGeom prst="rect">
            <a:avLst/>
          </a:prstGeom>
          <a:noFill/>
          <a:ln>
            <a:noFill/>
          </a:ln>
        </p:spPr>
        <p:txBody>
          <a:bodyPr spcFirstLastPara="1" wrap="square" lIns="0" tIns="0" rIns="0" bIns="0" anchor="t" anchorCtr="0">
            <a:spAutoFit/>
          </a:bodyPr>
          <a:lstStyle/>
          <a:p>
            <a:pPr>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a:t>
            </a:r>
            <a:r>
              <a:rPr lang="en-US" sz="1800" dirty="0" err="1">
                <a:solidFill>
                  <a:schemeClr val="dk1"/>
                </a:solidFill>
                <a:latin typeface="Consolas"/>
                <a:ea typeface="Consolas"/>
                <a:cs typeface="Consolas"/>
                <a:sym typeface="Consolas"/>
              </a:rPr>
              <a:t>Manacher’s</a:t>
            </a:r>
            <a:r>
              <a:rPr lang="en-US" sz="1800" dirty="0">
                <a:solidFill>
                  <a:schemeClr val="dk1"/>
                </a:solidFill>
                <a:latin typeface="Consolas"/>
                <a:ea typeface="Consolas"/>
                <a:cs typeface="Consolas"/>
                <a:sym typeface="Consolas"/>
              </a:rPr>
              <a:t> Algorithm helps us find the longest </a:t>
            </a:r>
            <a:r>
              <a:rPr lang="en-US" sz="1800" dirty="0" err="1">
                <a:solidFill>
                  <a:schemeClr val="dk1"/>
                </a:solidFill>
                <a:latin typeface="Consolas"/>
                <a:ea typeface="Consolas"/>
                <a:cs typeface="Consolas"/>
                <a:sym typeface="Consolas"/>
              </a:rPr>
              <a:t>palindromic</a:t>
            </a:r>
            <a:r>
              <a:rPr lang="en-US" sz="1800" dirty="0">
                <a:solidFill>
                  <a:schemeClr val="dk1"/>
                </a:solidFill>
                <a:latin typeface="Consolas"/>
                <a:ea typeface="Consolas"/>
                <a:cs typeface="Consolas"/>
                <a:sym typeface="Consolas"/>
              </a:rPr>
              <a:t> substring in the given string.</a:t>
            </a:r>
            <a:endParaRPr lang="en-US" sz="1800" dirty="0"/>
          </a:p>
        </p:txBody>
      </p:sp>
      <p:sp>
        <p:nvSpPr>
          <p:cNvPr id="6" name="Google Shape;69;p13">
            <a:extLst>
              <a:ext uri="{FF2B5EF4-FFF2-40B4-BE49-F238E27FC236}">
                <a16:creationId xmlns:a16="http://schemas.microsoft.com/office/drawing/2014/main" id="{495CD62A-A943-0FFD-4B66-999C7A98BEFE}"/>
              </a:ext>
            </a:extLst>
          </p:cNvPr>
          <p:cNvSpPr/>
          <p:nvPr/>
        </p:nvSpPr>
        <p:spPr>
          <a:xfrm>
            <a:off x="452761" y="3069026"/>
            <a:ext cx="8276455"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a:t>
            </a:r>
            <a:r>
              <a:rPr lang="en-US" sz="1800" dirty="0" err="1">
                <a:solidFill>
                  <a:schemeClr val="dk1"/>
                </a:solidFill>
                <a:latin typeface="Consolas"/>
                <a:ea typeface="Consolas"/>
                <a:cs typeface="Consolas"/>
                <a:sym typeface="Consolas"/>
              </a:rPr>
              <a:t>Manacher’s</a:t>
            </a:r>
            <a:r>
              <a:rPr lang="en-US" sz="1800" dirty="0">
                <a:solidFill>
                  <a:schemeClr val="dk1"/>
                </a:solidFill>
                <a:latin typeface="Consolas"/>
                <a:ea typeface="Consolas"/>
                <a:cs typeface="Consolas"/>
                <a:sym typeface="Consolas"/>
              </a:rPr>
              <a:t> algorithm solves this task in Linear Time.</a:t>
            </a:r>
            <a:endParaRPr lang="en-US" sz="1800" dirty="0"/>
          </a:p>
        </p:txBody>
      </p:sp>
      <p:sp>
        <p:nvSpPr>
          <p:cNvPr id="7" name="Google Shape;69;p13">
            <a:extLst>
              <a:ext uri="{FF2B5EF4-FFF2-40B4-BE49-F238E27FC236}">
                <a16:creationId xmlns:a16="http://schemas.microsoft.com/office/drawing/2014/main" id="{2ECF22D0-3F20-5F5C-3ABE-3ABE529FD913}"/>
              </a:ext>
            </a:extLst>
          </p:cNvPr>
          <p:cNvSpPr/>
          <p:nvPr/>
        </p:nvSpPr>
        <p:spPr>
          <a:xfrm>
            <a:off x="451611" y="3630927"/>
            <a:ext cx="8276455"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It optimizes over the brute force solution by using some insights into how palindromes work.</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41845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4" name="Google Shape;69;p13">
            <a:extLst>
              <a:ext uri="{FF2B5EF4-FFF2-40B4-BE49-F238E27FC236}">
                <a16:creationId xmlns:a16="http://schemas.microsoft.com/office/drawing/2014/main" id="{BB353C32-A435-44F1-A9A4-7BC1C6BAAA47}"/>
              </a:ext>
            </a:extLst>
          </p:cNvPr>
          <p:cNvSpPr/>
          <p:nvPr/>
        </p:nvSpPr>
        <p:spPr>
          <a:xfrm>
            <a:off x="490353" y="867850"/>
            <a:ext cx="7968222"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Notations</a:t>
            </a:r>
            <a:endParaRPr lang="en-US" b="1" dirty="0"/>
          </a:p>
        </p:txBody>
      </p:sp>
      <p:sp>
        <p:nvSpPr>
          <p:cNvPr id="5" name="Google Shape;69;p13">
            <a:extLst>
              <a:ext uri="{FF2B5EF4-FFF2-40B4-BE49-F238E27FC236}">
                <a16:creationId xmlns:a16="http://schemas.microsoft.com/office/drawing/2014/main" id="{1390AD91-D975-6B8C-D9C7-70D573585E8F}"/>
              </a:ext>
            </a:extLst>
          </p:cNvPr>
          <p:cNvSpPr/>
          <p:nvPr/>
        </p:nvSpPr>
        <p:spPr>
          <a:xfrm>
            <a:off x="450461" y="1162351"/>
            <a:ext cx="8276455"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Let’s focus on odd length palindromes for simplicity.</a:t>
            </a:r>
            <a:endParaRPr dirty="0"/>
          </a:p>
        </p:txBody>
      </p:sp>
      <p:sp>
        <p:nvSpPr>
          <p:cNvPr id="6" name="Google Shape;69;p13">
            <a:extLst>
              <a:ext uri="{FF2B5EF4-FFF2-40B4-BE49-F238E27FC236}">
                <a16:creationId xmlns:a16="http://schemas.microsoft.com/office/drawing/2014/main" id="{A0A68FC7-5E6D-707C-8C8F-89EC48D491E2}"/>
              </a:ext>
            </a:extLst>
          </p:cNvPr>
          <p:cNvSpPr/>
          <p:nvPr/>
        </p:nvSpPr>
        <p:spPr>
          <a:xfrm>
            <a:off x="451611" y="1816626"/>
            <a:ext cx="8276455"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Let c be the center of the longest length palindrome we have encountered till now.</a:t>
            </a:r>
            <a:endParaRPr dirty="0"/>
          </a:p>
        </p:txBody>
      </p:sp>
      <p:sp>
        <p:nvSpPr>
          <p:cNvPr id="7" name="Google Shape;69;p13">
            <a:extLst>
              <a:ext uri="{FF2B5EF4-FFF2-40B4-BE49-F238E27FC236}">
                <a16:creationId xmlns:a16="http://schemas.microsoft.com/office/drawing/2014/main" id="{EF6E861D-0853-75F0-5D25-FD8B0BDC9F4F}"/>
              </a:ext>
            </a:extLst>
          </p:cNvPr>
          <p:cNvSpPr/>
          <p:nvPr/>
        </p:nvSpPr>
        <p:spPr>
          <a:xfrm>
            <a:off x="452761" y="2649651"/>
            <a:ext cx="8276455" cy="1246495"/>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Let l and r be the left and right boundaries of this palindrome, i.e., the left-most character index and the right-most character index respectively.</a:t>
            </a:r>
            <a:endParaRPr dirty="0"/>
          </a:p>
        </p:txBody>
      </p:sp>
      <p:sp>
        <p:nvSpPr>
          <p:cNvPr id="8" name="Google Shape;69;p13">
            <a:extLst>
              <a:ext uri="{FF2B5EF4-FFF2-40B4-BE49-F238E27FC236}">
                <a16:creationId xmlns:a16="http://schemas.microsoft.com/office/drawing/2014/main" id="{355311B0-C66C-C633-36CC-4AF10D28383F}"/>
              </a:ext>
            </a:extLst>
          </p:cNvPr>
          <p:cNvSpPr/>
          <p:nvPr/>
        </p:nvSpPr>
        <p:spPr>
          <a:xfrm>
            <a:off x="453911" y="3950176"/>
            <a:ext cx="8276455"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Now, let’s take an example to understand l + c + 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slide(from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lide(from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slide(fromLef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slide(fromLeft)">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1" y="420796"/>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3F44A2FC-6D71-A54D-B057-4F76A225461A}"/>
              </a:ext>
            </a:extLst>
          </p:cNvPr>
          <p:cNvSpPr/>
          <p:nvPr/>
        </p:nvSpPr>
        <p:spPr>
          <a:xfrm>
            <a:off x="336236" y="872541"/>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dirty="0">
                <a:solidFill>
                  <a:schemeClr val="dk1"/>
                </a:solidFill>
                <a:latin typeface="Consolas"/>
                <a:ea typeface="Consolas"/>
                <a:cs typeface="Consolas"/>
                <a:sym typeface="Consolas"/>
              </a:rPr>
              <a:t>Algorithm: Take an example “</a:t>
            </a:r>
            <a:r>
              <a:rPr lang="en-US" sz="1800" b="1" dirty="0" err="1">
                <a:solidFill>
                  <a:schemeClr val="dk1"/>
                </a:solidFill>
                <a:latin typeface="Consolas"/>
                <a:ea typeface="Consolas"/>
                <a:cs typeface="Consolas"/>
                <a:sym typeface="Consolas"/>
              </a:rPr>
              <a:t>abacabacabb</a:t>
            </a:r>
            <a:r>
              <a:rPr lang="en-US" sz="1800" dirty="0">
                <a:solidFill>
                  <a:schemeClr val="dk1"/>
                </a:solidFill>
                <a:latin typeface="Consolas"/>
                <a:ea typeface="Consolas"/>
                <a:cs typeface="Consolas"/>
                <a:sym typeface="Consolas"/>
              </a:rPr>
              <a:t>”</a:t>
            </a:r>
            <a:endParaRPr/>
          </a:p>
        </p:txBody>
      </p:sp>
      <p:sp>
        <p:nvSpPr>
          <p:cNvPr id="4" name="Google Shape;69;p13">
            <a:extLst>
              <a:ext uri="{FF2B5EF4-FFF2-40B4-BE49-F238E27FC236}">
                <a16:creationId xmlns:a16="http://schemas.microsoft.com/office/drawing/2014/main" id="{BA18DD2B-04F2-8D73-7C28-CA7AE4C26D9A}"/>
              </a:ext>
            </a:extLst>
          </p:cNvPr>
          <p:cNvSpPr/>
          <p:nvPr/>
        </p:nvSpPr>
        <p:spPr>
          <a:xfrm>
            <a:off x="451611" y="1229707"/>
            <a:ext cx="4106639" cy="1661993"/>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When going from left to right, when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is at index 1, the longest palindromic substring is “aba” (length = 3)</a:t>
            </a:r>
            <a:endParaRPr dirty="0"/>
          </a:p>
        </p:txBody>
      </p:sp>
      <p:pic>
        <p:nvPicPr>
          <p:cNvPr id="5" name="Google Shape;1674;p165">
            <a:extLst>
              <a:ext uri="{FF2B5EF4-FFF2-40B4-BE49-F238E27FC236}">
                <a16:creationId xmlns:a16="http://schemas.microsoft.com/office/drawing/2014/main" id="{F0B4E7FA-5251-641E-CF0F-CD956DA07D47}"/>
              </a:ext>
            </a:extLst>
          </p:cNvPr>
          <p:cNvPicPr preferRelativeResize="0"/>
          <p:nvPr/>
        </p:nvPicPr>
        <p:blipFill rotWithShape="1">
          <a:blip r:embed="rId3">
            <a:alphaModFix/>
          </a:blip>
          <a:srcRect/>
          <a:stretch/>
        </p:blipFill>
        <p:spPr>
          <a:xfrm>
            <a:off x="4861462" y="1508415"/>
            <a:ext cx="4268470" cy="1049020"/>
          </a:xfrm>
          <a:prstGeom prst="rect">
            <a:avLst/>
          </a:prstGeom>
          <a:noFill/>
          <a:ln>
            <a:noFill/>
          </a:ln>
        </p:spPr>
      </p:pic>
      <p:sp>
        <p:nvSpPr>
          <p:cNvPr id="6" name="Google Shape;69;p13">
            <a:extLst>
              <a:ext uri="{FF2B5EF4-FFF2-40B4-BE49-F238E27FC236}">
                <a16:creationId xmlns:a16="http://schemas.microsoft.com/office/drawing/2014/main" id="{F0996670-1937-C4FF-40A4-23A036658B76}"/>
              </a:ext>
            </a:extLst>
          </p:cNvPr>
          <p:cNvSpPr/>
          <p:nvPr/>
        </p:nvSpPr>
        <p:spPr>
          <a:xfrm>
            <a:off x="452761" y="2961411"/>
            <a:ext cx="4106639" cy="1661993"/>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The answer for the given string is 9 when the palindrome is centered at index 5; c, l, and r are as follows:</a:t>
            </a:r>
            <a:endParaRPr dirty="0"/>
          </a:p>
        </p:txBody>
      </p:sp>
      <p:pic>
        <p:nvPicPr>
          <p:cNvPr id="7" name="Google Shape;1675;p165">
            <a:extLst>
              <a:ext uri="{FF2B5EF4-FFF2-40B4-BE49-F238E27FC236}">
                <a16:creationId xmlns:a16="http://schemas.microsoft.com/office/drawing/2014/main" id="{0523CE91-6456-D750-FA72-A5F9661C2E2F}"/>
              </a:ext>
            </a:extLst>
          </p:cNvPr>
          <p:cNvPicPr preferRelativeResize="0"/>
          <p:nvPr/>
        </p:nvPicPr>
        <p:blipFill rotWithShape="1">
          <a:blip r:embed="rId4">
            <a:alphaModFix/>
          </a:blip>
          <a:srcRect/>
          <a:stretch/>
        </p:blipFill>
        <p:spPr>
          <a:xfrm>
            <a:off x="4880169" y="2944305"/>
            <a:ext cx="4235450" cy="1210945"/>
          </a:xfrm>
          <a:prstGeom prst="rect">
            <a:avLst/>
          </a:prstGeom>
          <a:noFill/>
          <a:ln>
            <a:noFill/>
          </a:ln>
        </p:spPr>
      </p:pic>
    </p:spTree>
    <p:extLst>
      <p:ext uri="{BB962C8B-B14F-4D97-AF65-F5344CB8AC3E}">
        <p14:creationId xmlns:p14="http://schemas.microsoft.com/office/powerpoint/2010/main" val="17818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ou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ox(out)">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01570" y="46511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D466B8D4-80D4-25B0-8B9F-CADA04975171}"/>
              </a:ext>
            </a:extLst>
          </p:cNvPr>
          <p:cNvSpPr/>
          <p:nvPr/>
        </p:nvSpPr>
        <p:spPr>
          <a:xfrm>
            <a:off x="433772" y="961170"/>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Concept: Mirror Index</a:t>
            </a:r>
            <a:endParaRPr dirty="0"/>
          </a:p>
        </p:txBody>
      </p:sp>
      <p:sp>
        <p:nvSpPr>
          <p:cNvPr id="4" name="Google Shape;69;p13">
            <a:extLst>
              <a:ext uri="{FF2B5EF4-FFF2-40B4-BE49-F238E27FC236}">
                <a16:creationId xmlns:a16="http://schemas.microsoft.com/office/drawing/2014/main" id="{7DB00B3B-8656-6709-0AF2-DB60FEA4A7B1}"/>
              </a:ext>
            </a:extLst>
          </p:cNvPr>
          <p:cNvSpPr/>
          <p:nvPr/>
        </p:nvSpPr>
        <p:spPr>
          <a:xfrm>
            <a:off x="450975" y="1268484"/>
            <a:ext cx="825925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For any palindrome centered at a center c, the mirror of index j is j-</a:t>
            </a:r>
            <a:r>
              <a:rPr lang="en-US" sz="1800" baseline="30000" dirty="0">
                <a:solidFill>
                  <a:schemeClr val="dk1"/>
                </a:solidFill>
                <a:latin typeface="Consolas"/>
                <a:ea typeface="Consolas"/>
                <a:cs typeface="Consolas"/>
                <a:sym typeface="Consolas"/>
              </a:rPr>
              <a:t>1</a:t>
            </a:r>
            <a:r>
              <a:rPr lang="en-US" sz="1800" dirty="0">
                <a:solidFill>
                  <a:schemeClr val="dk1"/>
                </a:solidFill>
                <a:latin typeface="Consolas"/>
                <a:ea typeface="Consolas"/>
                <a:cs typeface="Consolas"/>
                <a:sym typeface="Consolas"/>
              </a:rPr>
              <a:t> such that</a:t>
            </a:r>
            <a:endParaRPr dirty="0"/>
          </a:p>
        </p:txBody>
      </p:sp>
      <p:sp>
        <p:nvSpPr>
          <p:cNvPr id="5" name="Google Shape;69;p13">
            <a:extLst>
              <a:ext uri="{FF2B5EF4-FFF2-40B4-BE49-F238E27FC236}">
                <a16:creationId xmlns:a16="http://schemas.microsoft.com/office/drawing/2014/main" id="{F03A1E50-14F7-1756-5FE3-8E8E6AEE811C}"/>
              </a:ext>
            </a:extLst>
          </p:cNvPr>
          <p:cNvSpPr/>
          <p:nvPr/>
        </p:nvSpPr>
        <p:spPr>
          <a:xfrm>
            <a:off x="1050886" y="2015757"/>
            <a:ext cx="174042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i="1" dirty="0">
                <a:solidFill>
                  <a:schemeClr val="dk1"/>
                </a:solidFill>
                <a:latin typeface="Consolas"/>
                <a:ea typeface="Consolas"/>
                <a:cs typeface="Consolas"/>
                <a:sym typeface="Consolas"/>
              </a:rPr>
              <a:t>c-j = j-</a:t>
            </a:r>
            <a:r>
              <a:rPr lang="en-US" sz="1800" baseline="30000" dirty="0">
                <a:solidFill>
                  <a:schemeClr val="dk1"/>
                </a:solidFill>
                <a:latin typeface="Consolas"/>
                <a:ea typeface="Consolas"/>
                <a:cs typeface="Consolas"/>
                <a:sym typeface="Consolas"/>
              </a:rPr>
              <a:t>1</a:t>
            </a:r>
            <a:r>
              <a:rPr lang="en-US" sz="1800" i="1" dirty="0">
                <a:solidFill>
                  <a:schemeClr val="dk1"/>
                </a:solidFill>
                <a:latin typeface="Consolas"/>
                <a:ea typeface="Consolas"/>
                <a:cs typeface="Consolas"/>
                <a:sym typeface="Consolas"/>
              </a:rPr>
              <a:t> - c.</a:t>
            </a:r>
            <a:endParaRPr i="1" dirty="0"/>
          </a:p>
        </p:txBody>
      </p:sp>
      <p:sp>
        <p:nvSpPr>
          <p:cNvPr id="6" name="Google Shape;69;p13">
            <a:extLst>
              <a:ext uri="{FF2B5EF4-FFF2-40B4-BE49-F238E27FC236}">
                <a16:creationId xmlns:a16="http://schemas.microsoft.com/office/drawing/2014/main" id="{82F86BAC-ABE1-D0C0-0655-561A998D2946}"/>
              </a:ext>
            </a:extLst>
          </p:cNvPr>
          <p:cNvSpPr/>
          <p:nvPr/>
        </p:nvSpPr>
        <p:spPr>
          <a:xfrm>
            <a:off x="2774751" y="2015757"/>
            <a:ext cx="344436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i="1" dirty="0">
                <a:solidFill>
                  <a:schemeClr val="dk1"/>
                </a:solidFill>
                <a:latin typeface="Consolas"/>
                <a:ea typeface="Consolas"/>
                <a:cs typeface="Consolas"/>
                <a:sym typeface="Consolas"/>
              </a:rPr>
              <a:t>So, mirror index of j is...</a:t>
            </a:r>
            <a:endParaRPr i="1" dirty="0"/>
          </a:p>
        </p:txBody>
      </p:sp>
      <p:sp>
        <p:nvSpPr>
          <p:cNvPr id="7" name="Google Shape;69;p13">
            <a:extLst>
              <a:ext uri="{FF2B5EF4-FFF2-40B4-BE49-F238E27FC236}">
                <a16:creationId xmlns:a16="http://schemas.microsoft.com/office/drawing/2014/main" id="{45644980-70FF-585F-1857-68C93BCA074B}"/>
              </a:ext>
            </a:extLst>
          </p:cNvPr>
          <p:cNvSpPr/>
          <p:nvPr/>
        </p:nvSpPr>
        <p:spPr>
          <a:xfrm>
            <a:off x="6285060" y="2015757"/>
            <a:ext cx="2281423"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i="1" dirty="0">
                <a:solidFill>
                  <a:schemeClr val="dk1"/>
                </a:solidFill>
                <a:latin typeface="Consolas"/>
                <a:ea typeface="Consolas"/>
                <a:cs typeface="Consolas"/>
                <a:sym typeface="Consolas"/>
              </a:rPr>
              <a:t>j-</a:t>
            </a:r>
            <a:r>
              <a:rPr lang="en-US" sz="1800" baseline="30000" dirty="0">
                <a:solidFill>
                  <a:schemeClr val="dk1"/>
                </a:solidFill>
                <a:latin typeface="Consolas"/>
                <a:ea typeface="Consolas"/>
                <a:cs typeface="Consolas"/>
                <a:sym typeface="Consolas"/>
              </a:rPr>
              <a:t>1</a:t>
            </a:r>
            <a:r>
              <a:rPr lang="en-US" sz="1800" i="1" dirty="0">
                <a:solidFill>
                  <a:schemeClr val="dk1"/>
                </a:solidFill>
                <a:latin typeface="Consolas"/>
                <a:ea typeface="Consolas"/>
                <a:cs typeface="Consolas"/>
                <a:sym typeface="Consolas"/>
              </a:rPr>
              <a:t> = (2 X c) - j</a:t>
            </a:r>
            <a:endParaRPr i="1" dirty="0"/>
          </a:p>
        </p:txBody>
      </p:sp>
      <p:sp>
        <p:nvSpPr>
          <p:cNvPr id="8" name="Google Shape;69;p13">
            <a:extLst>
              <a:ext uri="{FF2B5EF4-FFF2-40B4-BE49-F238E27FC236}">
                <a16:creationId xmlns:a16="http://schemas.microsoft.com/office/drawing/2014/main" id="{9156CE4B-B5C2-EA39-49E2-F1E79CB70F80}"/>
              </a:ext>
            </a:extLst>
          </p:cNvPr>
          <p:cNvSpPr/>
          <p:nvPr/>
        </p:nvSpPr>
        <p:spPr>
          <a:xfrm>
            <a:off x="452761" y="2872036"/>
            <a:ext cx="4106639" cy="1246495"/>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For palindrome “</a:t>
            </a:r>
            <a:r>
              <a:rPr lang="en-US" sz="1800" dirty="0" err="1">
                <a:solidFill>
                  <a:schemeClr val="dk1"/>
                </a:solidFill>
                <a:latin typeface="Consolas"/>
                <a:ea typeface="Consolas"/>
                <a:cs typeface="Consolas"/>
                <a:sym typeface="Consolas"/>
              </a:rPr>
              <a:t>abacaba</a:t>
            </a:r>
            <a:r>
              <a:rPr lang="en-US" sz="1800" dirty="0">
                <a:solidFill>
                  <a:schemeClr val="dk1"/>
                </a:solidFill>
                <a:latin typeface="Consolas"/>
                <a:ea typeface="Consolas"/>
                <a:cs typeface="Consolas"/>
                <a:sym typeface="Consolas"/>
              </a:rPr>
              <a:t>”, the mirror of j is j-</a:t>
            </a:r>
            <a:r>
              <a:rPr lang="en-US" sz="1800" baseline="30000" dirty="0">
                <a:solidFill>
                  <a:schemeClr val="dk1"/>
                </a:solidFill>
                <a:latin typeface="Consolas"/>
                <a:ea typeface="Consolas"/>
                <a:cs typeface="Consolas"/>
                <a:sym typeface="Consolas"/>
              </a:rPr>
              <a:t>1</a:t>
            </a:r>
            <a:r>
              <a:rPr lang="en-US" sz="1800" dirty="0">
                <a:solidFill>
                  <a:schemeClr val="dk1"/>
                </a:solidFill>
                <a:latin typeface="Consolas"/>
                <a:ea typeface="Consolas"/>
                <a:cs typeface="Consolas"/>
                <a:sym typeface="Consolas"/>
              </a:rPr>
              <a:t> and the mirror of j-</a:t>
            </a:r>
            <a:r>
              <a:rPr lang="en-US" sz="1800" baseline="30000" dirty="0">
                <a:solidFill>
                  <a:schemeClr val="dk1"/>
                </a:solidFill>
                <a:latin typeface="Consolas"/>
                <a:ea typeface="Consolas"/>
                <a:cs typeface="Consolas"/>
                <a:sym typeface="Consolas"/>
              </a:rPr>
              <a:t>1</a:t>
            </a:r>
            <a:r>
              <a:rPr lang="en-US" sz="1800" dirty="0">
                <a:solidFill>
                  <a:schemeClr val="dk1"/>
                </a:solidFill>
                <a:latin typeface="Consolas"/>
                <a:ea typeface="Consolas"/>
                <a:cs typeface="Consolas"/>
                <a:sym typeface="Consolas"/>
              </a:rPr>
              <a:t> is j.</a:t>
            </a:r>
            <a:endParaRPr dirty="0"/>
          </a:p>
        </p:txBody>
      </p:sp>
      <p:pic>
        <p:nvPicPr>
          <p:cNvPr id="9" name="Google Shape;1685;p166">
            <a:extLst>
              <a:ext uri="{FF2B5EF4-FFF2-40B4-BE49-F238E27FC236}">
                <a16:creationId xmlns:a16="http://schemas.microsoft.com/office/drawing/2014/main" id="{6F941385-4BA8-467F-5953-6771A941376B}"/>
              </a:ext>
            </a:extLst>
          </p:cNvPr>
          <p:cNvPicPr preferRelativeResize="0"/>
          <p:nvPr/>
        </p:nvPicPr>
        <p:blipFill rotWithShape="1">
          <a:blip r:embed="rId3">
            <a:alphaModFix/>
          </a:blip>
          <a:srcRect/>
          <a:stretch/>
        </p:blipFill>
        <p:spPr>
          <a:xfrm>
            <a:off x="4636770" y="2743330"/>
            <a:ext cx="4401820" cy="1211580"/>
          </a:xfrm>
          <a:prstGeom prst="rect">
            <a:avLst/>
          </a:prstGeom>
          <a:noFill/>
          <a:ln>
            <a:noFill/>
          </a:ln>
        </p:spPr>
      </p:pic>
      <p:sp>
        <p:nvSpPr>
          <p:cNvPr id="10" name="Google Shape;69;p13">
            <a:extLst>
              <a:ext uri="{FF2B5EF4-FFF2-40B4-BE49-F238E27FC236}">
                <a16:creationId xmlns:a16="http://schemas.microsoft.com/office/drawing/2014/main" id="{A1AA458F-D144-0C62-2B65-A7C3CD709B7E}"/>
              </a:ext>
            </a:extLst>
          </p:cNvPr>
          <p:cNvSpPr/>
          <p:nvPr/>
        </p:nvSpPr>
        <p:spPr>
          <a:xfrm>
            <a:off x="2524906" y="4347532"/>
            <a:ext cx="409418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i="1" dirty="0">
                <a:solidFill>
                  <a:schemeClr val="dk1"/>
                </a:solidFill>
                <a:latin typeface="Consolas"/>
                <a:ea typeface="Consolas"/>
                <a:cs typeface="Consolas"/>
                <a:sym typeface="Consolas"/>
              </a:rPr>
              <a:t>Now, come back to the algorithm</a:t>
            </a:r>
            <a:endParaRPr i="1" dirty="0"/>
          </a:p>
        </p:txBody>
      </p:sp>
    </p:spTree>
    <p:extLst>
      <p:ext uri="{BB962C8B-B14F-4D97-AF65-F5344CB8AC3E}">
        <p14:creationId xmlns:p14="http://schemas.microsoft.com/office/powerpoint/2010/main" val="190721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8"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Left)">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1000" fill="hold"/>
                                        <p:tgtEl>
                                          <p:spTgt spid="9"/>
                                        </p:tgtEl>
                                        <p:attrNameLst>
                                          <p:attrName>ppt_w</p:attrName>
                                        </p:attrNameLst>
                                      </p:cBhvr>
                                      <p:tavLst>
                                        <p:tav tm="0">
                                          <p:val>
                                            <p:strVal val="#ppt_w*0.70"/>
                                          </p:val>
                                        </p:tav>
                                        <p:tav tm="100000">
                                          <p:val>
                                            <p:strVal val="#ppt_w"/>
                                          </p:val>
                                        </p:tav>
                                      </p:tavLst>
                                    </p:anim>
                                    <p:anim calcmode="lin" valueType="num">
                                      <p:cBhvr>
                                        <p:cTn id="40" dur="1000" fill="hold"/>
                                        <p:tgtEl>
                                          <p:spTgt spid="9"/>
                                        </p:tgtEl>
                                        <p:attrNameLst>
                                          <p:attrName>ppt_h</p:attrName>
                                        </p:attrNameLst>
                                      </p:cBhvr>
                                      <p:tavLst>
                                        <p:tav tm="0">
                                          <p:val>
                                            <p:strVal val="#ppt_h"/>
                                          </p:val>
                                        </p:tav>
                                        <p:tav tm="100000">
                                          <p:val>
                                            <p:strVal val="#ppt_h"/>
                                          </p:val>
                                        </p:tav>
                                      </p:tavLst>
                                    </p:anim>
                                    <p:animEffect transition="in" filter="fade">
                                      <p:cBhvr>
                                        <p:cTn id="41" dur="10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lide(fromLeft)">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5117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5DE44174-8617-D9AE-69E6-574A30C40B07}"/>
              </a:ext>
            </a:extLst>
          </p:cNvPr>
          <p:cNvSpPr/>
          <p:nvPr/>
        </p:nvSpPr>
        <p:spPr>
          <a:xfrm>
            <a:off x="451611" y="1057832"/>
            <a:ext cx="8259252" cy="830997"/>
          </a:xfrm>
          <a:prstGeom prst="rect">
            <a:avLst/>
          </a:prstGeom>
          <a:noFill/>
          <a:ln>
            <a:noFill/>
          </a:ln>
        </p:spPr>
        <p:txBody>
          <a:bodyPr spcFirstLastPara="1" wrap="square" lIns="0" tIns="0" rIns="0" bIns="0" anchor="t" anchorCtr="0">
            <a:spAutoFit/>
          </a:bodyPr>
          <a:lstStyle/>
          <a:p>
            <a:pPr lvl="0" algn="just">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When we move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from left to right, we try to “expand” the palindrome at each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
        <p:nvSpPr>
          <p:cNvPr id="4" name="Google Shape;69;p13">
            <a:extLst>
              <a:ext uri="{FF2B5EF4-FFF2-40B4-BE49-F238E27FC236}">
                <a16:creationId xmlns:a16="http://schemas.microsoft.com/office/drawing/2014/main" id="{E2526197-F64B-5763-8D50-8F2F1CCA49EB}"/>
              </a:ext>
            </a:extLst>
          </p:cNvPr>
          <p:cNvSpPr/>
          <p:nvPr/>
        </p:nvSpPr>
        <p:spPr>
          <a:xfrm>
            <a:off x="452761" y="1959607"/>
            <a:ext cx="8259252" cy="1661993"/>
          </a:xfrm>
          <a:prstGeom prst="rect">
            <a:avLst/>
          </a:prstGeom>
          <a:noFill/>
          <a:ln>
            <a:noFill/>
          </a:ln>
        </p:spPr>
        <p:txBody>
          <a:bodyPr spcFirstLastPara="1" wrap="square" lIns="0" tIns="0" rIns="0" bIns="0" anchor="t" anchorCtr="0">
            <a:spAutoFit/>
          </a:bodyPr>
          <a:lstStyle/>
          <a:p>
            <a:pPr lvl="0" algn="just">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Expand means, that we’ll check whether there exists a palindrome centered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and if there exists one, we’ll store the “expansion length” to the left or to the right in a new array called P[] array or (some prefer) LPS[].</a:t>
            </a:r>
            <a:endParaRPr dirty="0"/>
          </a:p>
        </p:txBody>
      </p:sp>
      <p:sp>
        <p:nvSpPr>
          <p:cNvPr id="5" name="Google Shape;69;p13">
            <a:extLst>
              <a:ext uri="{FF2B5EF4-FFF2-40B4-BE49-F238E27FC236}">
                <a16:creationId xmlns:a16="http://schemas.microsoft.com/office/drawing/2014/main" id="{15D41B5F-1064-97D4-0072-D844E34C3E95}"/>
              </a:ext>
            </a:extLst>
          </p:cNvPr>
          <p:cNvSpPr/>
          <p:nvPr/>
        </p:nvSpPr>
        <p:spPr>
          <a:xfrm>
            <a:off x="453911" y="3665757"/>
            <a:ext cx="8259252" cy="1246495"/>
          </a:xfrm>
          <a:prstGeom prst="rect">
            <a:avLst/>
          </a:prstGeom>
          <a:noFill/>
          <a:ln>
            <a:noFill/>
          </a:ln>
        </p:spPr>
        <p:txBody>
          <a:bodyPr spcFirstLastPara="1" wrap="square" lIns="0" tIns="0" rIns="0" bIns="0" anchor="t" anchorCtr="0">
            <a:spAutoFit/>
          </a:bodyPr>
          <a:lstStyle/>
          <a:p>
            <a:pPr lvl="0" algn="just">
              <a:lnSpc>
                <a:spcPct val="150000"/>
              </a:lnSpc>
              <a:buSzPts val="1800"/>
              <a:buFont typeface="Wingdings" pitchFamily="2" charset="2"/>
              <a:buChar char="q"/>
            </a:pPr>
            <a:r>
              <a:rPr lang="en-US" sz="1800" dirty="0">
                <a:solidFill>
                  <a:schemeClr val="dk1"/>
                </a:solidFill>
                <a:latin typeface="Consolas"/>
                <a:ea typeface="Consolas"/>
                <a:cs typeface="Consolas"/>
                <a:sym typeface="Consolas"/>
              </a:rPr>
              <a:t> If the palindrome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expands beyond the current right boundary r, then c is updated to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and new l, r are found and updated.</a:t>
            </a:r>
            <a:endParaRPr dirty="0"/>
          </a:p>
        </p:txBody>
      </p:sp>
    </p:spTree>
    <p:extLst>
      <p:ext uri="{BB962C8B-B14F-4D97-AF65-F5344CB8AC3E}">
        <p14:creationId xmlns:p14="http://schemas.microsoft.com/office/powerpoint/2010/main" val="40659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418450"/>
            <a:ext cx="4921404" cy="415498"/>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A76DEC15-E53B-F5A1-BD38-9FC5440A0E4A}"/>
              </a:ext>
            </a:extLst>
          </p:cNvPr>
          <p:cNvSpPr/>
          <p:nvPr/>
        </p:nvSpPr>
        <p:spPr>
          <a:xfrm>
            <a:off x="416570" y="772062"/>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Example</a:t>
            </a:r>
            <a:endParaRPr dirty="0"/>
          </a:p>
        </p:txBody>
      </p:sp>
      <p:sp>
        <p:nvSpPr>
          <p:cNvPr id="4" name="Google Shape;69;p13">
            <a:extLst>
              <a:ext uri="{FF2B5EF4-FFF2-40B4-BE49-F238E27FC236}">
                <a16:creationId xmlns:a16="http://schemas.microsoft.com/office/drawing/2014/main" id="{4ECDE490-5847-3DE9-64EF-31BFD6A77A8D}"/>
              </a:ext>
            </a:extLst>
          </p:cNvPr>
          <p:cNvSpPr/>
          <p:nvPr/>
        </p:nvSpPr>
        <p:spPr>
          <a:xfrm>
            <a:off x="450975" y="1053433"/>
            <a:ext cx="8259252"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Let’s take the previously discussed palindrome “</a:t>
            </a:r>
            <a:r>
              <a:rPr lang="en-US" sz="1800" dirty="0" err="1">
                <a:solidFill>
                  <a:schemeClr val="dk1"/>
                </a:solidFill>
                <a:latin typeface="Consolas"/>
                <a:ea typeface="Consolas"/>
                <a:cs typeface="Consolas"/>
                <a:sym typeface="Consolas"/>
              </a:rPr>
              <a:t>abacaba</a:t>
            </a:r>
            <a:r>
              <a:rPr lang="en-US" sz="1800" dirty="0">
                <a:solidFill>
                  <a:schemeClr val="dk1"/>
                </a:solidFill>
                <a:latin typeface="Consolas"/>
                <a:ea typeface="Consolas"/>
                <a:cs typeface="Consolas"/>
                <a:sym typeface="Consolas"/>
              </a:rPr>
              <a:t>” which is centered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 3.</a:t>
            </a:r>
            <a:endParaRPr dirty="0"/>
          </a:p>
        </p:txBody>
      </p:sp>
      <p:sp>
        <p:nvSpPr>
          <p:cNvPr id="5" name="Google Shape;69;p13">
            <a:extLst>
              <a:ext uri="{FF2B5EF4-FFF2-40B4-BE49-F238E27FC236}">
                <a16:creationId xmlns:a16="http://schemas.microsoft.com/office/drawing/2014/main" id="{6C149FEF-C9C4-C08D-AABD-28CB57AB49DC}"/>
              </a:ext>
            </a:extLst>
          </p:cNvPr>
          <p:cNvSpPr/>
          <p:nvPr/>
        </p:nvSpPr>
        <p:spPr>
          <a:xfrm>
            <a:off x="445886" y="1842732"/>
            <a:ext cx="4538625" cy="1246495"/>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Therefore, the P[] array stores the expansion. length of the palindrome centered at each index.</a:t>
            </a:r>
            <a:endParaRPr dirty="0"/>
          </a:p>
        </p:txBody>
      </p:sp>
      <p:sp>
        <p:nvSpPr>
          <p:cNvPr id="6" name="Google Shape;69;p13">
            <a:extLst>
              <a:ext uri="{FF2B5EF4-FFF2-40B4-BE49-F238E27FC236}">
                <a16:creationId xmlns:a16="http://schemas.microsoft.com/office/drawing/2014/main" id="{3C3E69E3-32D5-D42E-DACD-AAEF59E122C1}"/>
              </a:ext>
            </a:extLst>
          </p:cNvPr>
          <p:cNvSpPr/>
          <p:nvPr/>
        </p:nvSpPr>
        <p:spPr>
          <a:xfrm>
            <a:off x="452761" y="3045857"/>
            <a:ext cx="8259252"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But we don’t need to manually go to each index and expand to check the expansion length every time.</a:t>
            </a:r>
            <a:endParaRPr dirty="0"/>
          </a:p>
        </p:txBody>
      </p:sp>
      <p:sp>
        <p:nvSpPr>
          <p:cNvPr id="7" name="Google Shape;69;p13">
            <a:extLst>
              <a:ext uri="{FF2B5EF4-FFF2-40B4-BE49-F238E27FC236}">
                <a16:creationId xmlns:a16="http://schemas.microsoft.com/office/drawing/2014/main" id="{AAC39D8D-8FB4-044F-F88B-69E97800C6C8}"/>
              </a:ext>
            </a:extLst>
          </p:cNvPr>
          <p:cNvSpPr/>
          <p:nvPr/>
        </p:nvSpPr>
        <p:spPr>
          <a:xfrm>
            <a:off x="442374" y="3931369"/>
            <a:ext cx="8259252"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This is exactly where </a:t>
            </a:r>
            <a:r>
              <a:rPr lang="en-US" sz="1800" dirty="0" err="1">
                <a:solidFill>
                  <a:schemeClr val="dk1"/>
                </a:solidFill>
                <a:latin typeface="Consolas"/>
                <a:ea typeface="Consolas"/>
                <a:cs typeface="Consolas"/>
                <a:sym typeface="Consolas"/>
              </a:rPr>
              <a:t>Manacher’s</a:t>
            </a:r>
            <a:r>
              <a:rPr lang="en-US" sz="1800" dirty="0">
                <a:solidFill>
                  <a:schemeClr val="dk1"/>
                </a:solidFill>
                <a:latin typeface="Consolas"/>
                <a:ea typeface="Consolas"/>
                <a:cs typeface="Consolas"/>
                <a:sym typeface="Consolas"/>
              </a:rPr>
              <a:t> algorithm optimizes better than brute force, by using some insights on how palindromes work.</a:t>
            </a:r>
            <a:endParaRPr dirty="0"/>
          </a:p>
        </p:txBody>
      </p:sp>
      <p:pic>
        <p:nvPicPr>
          <p:cNvPr id="8" name="Google Shape;1702;p168">
            <a:extLst>
              <a:ext uri="{FF2B5EF4-FFF2-40B4-BE49-F238E27FC236}">
                <a16:creationId xmlns:a16="http://schemas.microsoft.com/office/drawing/2014/main" id="{6F019F27-B399-49D5-DE7C-18F8BB482262}"/>
              </a:ext>
            </a:extLst>
          </p:cNvPr>
          <p:cNvPicPr preferRelativeResize="0"/>
          <p:nvPr/>
        </p:nvPicPr>
        <p:blipFill rotWithShape="1">
          <a:blip r:embed="rId3">
            <a:alphaModFix/>
          </a:blip>
          <a:srcRect/>
          <a:stretch/>
        </p:blipFill>
        <p:spPr>
          <a:xfrm>
            <a:off x="5387907" y="1840352"/>
            <a:ext cx="3322320" cy="1017270"/>
          </a:xfrm>
          <a:prstGeom prst="rect">
            <a:avLst/>
          </a:prstGeom>
          <a:noFill/>
          <a:ln>
            <a:noFill/>
          </a:ln>
        </p:spPr>
      </p:pic>
    </p:spTree>
    <p:extLst>
      <p:ext uri="{BB962C8B-B14F-4D97-AF65-F5344CB8AC3E}">
        <p14:creationId xmlns:p14="http://schemas.microsoft.com/office/powerpoint/2010/main" val="116715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ox(out)">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430028"/>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1989378" y="3795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41FC89A8-4E5C-E39A-E2F4-CA8505C7BAB1}"/>
              </a:ext>
            </a:extLst>
          </p:cNvPr>
          <p:cNvSpPr/>
          <p:nvPr/>
        </p:nvSpPr>
        <p:spPr>
          <a:xfrm>
            <a:off x="433772" y="807041"/>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Optimization Explained</a:t>
            </a:r>
            <a:endParaRPr dirty="0"/>
          </a:p>
        </p:txBody>
      </p:sp>
      <p:sp>
        <p:nvSpPr>
          <p:cNvPr id="4" name="Google Shape;69;p13">
            <a:extLst>
              <a:ext uri="{FF2B5EF4-FFF2-40B4-BE49-F238E27FC236}">
                <a16:creationId xmlns:a16="http://schemas.microsoft.com/office/drawing/2014/main" id="{0A137BFA-907E-FFDD-B9E2-FF2D42575684}"/>
              </a:ext>
            </a:extLst>
          </p:cNvPr>
          <p:cNvSpPr/>
          <p:nvPr/>
        </p:nvSpPr>
        <p:spPr>
          <a:xfrm>
            <a:off x="395671" y="1438412"/>
            <a:ext cx="8259252" cy="1246495"/>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Remember that c indicates the center of the current longest odd length palindrome. And l, r denote the palindrome’s left and right boundaries.</a:t>
            </a:r>
            <a:endParaRPr dirty="0"/>
          </a:p>
        </p:txBody>
      </p:sp>
      <p:sp>
        <p:nvSpPr>
          <p:cNvPr id="5" name="Google Shape;69;p13">
            <a:extLst>
              <a:ext uri="{FF2B5EF4-FFF2-40B4-BE49-F238E27FC236}">
                <a16:creationId xmlns:a16="http://schemas.microsoft.com/office/drawing/2014/main" id="{56681C98-319E-F765-6AAF-4D4ACDD16F46}"/>
              </a:ext>
            </a:extLst>
          </p:cNvPr>
          <p:cNvSpPr/>
          <p:nvPr/>
        </p:nvSpPr>
        <p:spPr>
          <a:xfrm>
            <a:off x="395671" y="2900780"/>
            <a:ext cx="4538625"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Let’s see the P[] array for the string “</a:t>
            </a:r>
            <a:r>
              <a:rPr lang="en-US" sz="1800" dirty="0" err="1">
                <a:solidFill>
                  <a:schemeClr val="dk1"/>
                </a:solidFill>
                <a:latin typeface="Consolas"/>
                <a:ea typeface="Consolas"/>
                <a:cs typeface="Consolas"/>
                <a:sym typeface="Consolas"/>
              </a:rPr>
              <a:t>abacaba</a:t>
            </a:r>
            <a:r>
              <a:rPr lang="en-US" sz="1800" dirty="0">
                <a:solidFill>
                  <a:schemeClr val="dk1"/>
                </a:solidFill>
                <a:latin typeface="Consolas"/>
                <a:ea typeface="Consolas"/>
                <a:cs typeface="Consolas"/>
                <a:sym typeface="Consolas"/>
              </a:rPr>
              <a:t>”.</a:t>
            </a:r>
            <a:endParaRPr dirty="0"/>
          </a:p>
        </p:txBody>
      </p:sp>
      <p:pic>
        <p:nvPicPr>
          <p:cNvPr id="7" name="Google Shape;1711;p169">
            <a:extLst>
              <a:ext uri="{FF2B5EF4-FFF2-40B4-BE49-F238E27FC236}">
                <a16:creationId xmlns:a16="http://schemas.microsoft.com/office/drawing/2014/main" id="{15B3EA8F-FB69-8422-5BDB-8C2F6ABAEA49}"/>
              </a:ext>
            </a:extLst>
          </p:cNvPr>
          <p:cNvPicPr preferRelativeResize="0"/>
          <p:nvPr/>
        </p:nvPicPr>
        <p:blipFill rotWithShape="1">
          <a:blip r:embed="rId3">
            <a:alphaModFix/>
          </a:blip>
          <a:srcRect/>
          <a:stretch/>
        </p:blipFill>
        <p:spPr>
          <a:xfrm>
            <a:off x="4777128" y="3218091"/>
            <a:ext cx="3669030" cy="1067435"/>
          </a:xfrm>
          <a:prstGeom prst="rect">
            <a:avLst/>
          </a:prstGeom>
          <a:noFill/>
          <a:ln>
            <a:noFill/>
          </a:ln>
        </p:spPr>
      </p:pic>
    </p:spTree>
    <p:extLst>
      <p:ext uri="{BB962C8B-B14F-4D97-AF65-F5344CB8AC3E}">
        <p14:creationId xmlns:p14="http://schemas.microsoft.com/office/powerpoint/2010/main" val="142398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ox(out)">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5117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6DBD3CEA-C617-23A6-EEC8-EA890A015757}"/>
              </a:ext>
            </a:extLst>
          </p:cNvPr>
          <p:cNvSpPr/>
          <p:nvPr/>
        </p:nvSpPr>
        <p:spPr>
          <a:xfrm>
            <a:off x="639574" y="1633120"/>
            <a:ext cx="8259252" cy="2077492"/>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When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 4, the index is inside the scope of the current longest palindrome, i.e.,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&lt; r. So, instead of naively expanding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we want to know the minimum expansion length that is certainly possible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so that we can expand on that minimum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and see, instead of doing from start. So, we check for mirror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Tree>
    <p:extLst>
      <p:ext uri="{BB962C8B-B14F-4D97-AF65-F5344CB8AC3E}">
        <p14:creationId xmlns:p14="http://schemas.microsoft.com/office/powerpoint/2010/main" val="256989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39265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4" name="Google Shape;69;p13">
            <a:extLst>
              <a:ext uri="{FF2B5EF4-FFF2-40B4-BE49-F238E27FC236}">
                <a16:creationId xmlns:a16="http://schemas.microsoft.com/office/drawing/2014/main" id="{37E5A7A0-09C4-2E36-006E-CC8891FBBF59}"/>
              </a:ext>
            </a:extLst>
          </p:cNvPr>
          <p:cNvSpPr/>
          <p:nvPr/>
        </p:nvSpPr>
        <p:spPr>
          <a:xfrm>
            <a:off x="433772" y="842050"/>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Optimization</a:t>
            </a:r>
            <a:endParaRPr dirty="0"/>
          </a:p>
        </p:txBody>
      </p:sp>
      <p:sp>
        <p:nvSpPr>
          <p:cNvPr id="5" name="Google Shape;69;p13">
            <a:extLst>
              <a:ext uri="{FF2B5EF4-FFF2-40B4-BE49-F238E27FC236}">
                <a16:creationId xmlns:a16="http://schemas.microsoft.com/office/drawing/2014/main" id="{07CFBFF1-812B-9CFA-FDCD-041904211DB6}"/>
              </a:ext>
            </a:extLst>
          </p:cNvPr>
          <p:cNvSpPr/>
          <p:nvPr/>
        </p:nvSpPr>
        <p:spPr>
          <a:xfrm>
            <a:off x="433772" y="1589805"/>
            <a:ext cx="8259252" cy="1107996"/>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As long as the palindrome at index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does NOT expand beyond the left boundary (l) of the current longest palindrome, we can say that the minimum certainly possible expansion length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is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
        <p:nvSpPr>
          <p:cNvPr id="6" name="Google Shape;69;p13">
            <a:extLst>
              <a:ext uri="{FF2B5EF4-FFF2-40B4-BE49-F238E27FC236}">
                <a16:creationId xmlns:a16="http://schemas.microsoft.com/office/drawing/2014/main" id="{FAC5CA13-852B-64D7-4361-17425C04E69A}"/>
              </a:ext>
            </a:extLst>
          </p:cNvPr>
          <p:cNvSpPr/>
          <p:nvPr/>
        </p:nvSpPr>
        <p:spPr>
          <a:xfrm>
            <a:off x="433772" y="3030059"/>
            <a:ext cx="8259252" cy="1107996"/>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Remember that we are only talking about the minimum possible expansion length, the actual expansion length could be more and, we’ll find that out by expanding later on. In this case, P[4] = P[2] = 0. We try to expand but still, P[4] remains 0.</a:t>
            </a:r>
            <a:endParaRPr/>
          </a:p>
        </p:txBody>
      </p:sp>
    </p:spTree>
    <p:extLst>
      <p:ext uri="{BB962C8B-B14F-4D97-AF65-F5344CB8AC3E}">
        <p14:creationId xmlns:p14="http://schemas.microsoft.com/office/powerpoint/2010/main" val="305531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slide(from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lide(fromLeft)">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1994098" y="41845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E8F99E35-C26F-BFCF-535C-DE7435157640}"/>
              </a:ext>
            </a:extLst>
          </p:cNvPr>
          <p:cNvSpPr/>
          <p:nvPr/>
        </p:nvSpPr>
        <p:spPr>
          <a:xfrm>
            <a:off x="442374" y="1003334"/>
            <a:ext cx="8259252" cy="830997"/>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Now, if the palindrome at index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expands beyond the left boundary (l) of the current longest palindrome, we can say that the minimum certainly possible expansion length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is r-</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
        <p:nvSpPr>
          <p:cNvPr id="4" name="Google Shape;69;p13">
            <a:extLst>
              <a:ext uri="{FF2B5EF4-FFF2-40B4-BE49-F238E27FC236}">
                <a16:creationId xmlns:a16="http://schemas.microsoft.com/office/drawing/2014/main" id="{1C8BB0D9-F8C7-FB59-3F11-7958647FBF63}"/>
              </a:ext>
            </a:extLst>
          </p:cNvPr>
          <p:cNvSpPr/>
          <p:nvPr/>
        </p:nvSpPr>
        <p:spPr>
          <a:xfrm>
            <a:off x="442374" y="2097699"/>
            <a:ext cx="4538625"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 P[4] = 5–4 = 1</a:t>
            </a:r>
            <a:endParaRPr dirty="0"/>
          </a:p>
        </p:txBody>
      </p:sp>
      <p:sp>
        <p:nvSpPr>
          <p:cNvPr id="5" name="Google Shape;69;p13">
            <a:extLst>
              <a:ext uri="{FF2B5EF4-FFF2-40B4-BE49-F238E27FC236}">
                <a16:creationId xmlns:a16="http://schemas.microsoft.com/office/drawing/2014/main" id="{EB7BC2E8-1B04-D302-6D66-D67DA63AA346}"/>
              </a:ext>
            </a:extLst>
          </p:cNvPr>
          <p:cNvSpPr/>
          <p:nvPr/>
        </p:nvSpPr>
        <p:spPr>
          <a:xfrm>
            <a:off x="442374" y="2838052"/>
            <a:ext cx="5749809" cy="1384995"/>
          </a:xfrm>
          <a:prstGeom prst="rect">
            <a:avLst/>
          </a:prstGeom>
          <a:noFill/>
          <a:ln>
            <a:noFill/>
          </a:ln>
        </p:spPr>
        <p:txBody>
          <a:bodyPr spcFirstLastPara="1" wrap="square" lIns="0" tIns="0" rIns="0" bIns="0" anchor="t" anchorCtr="0">
            <a:spAutoFit/>
          </a:bodyPr>
          <a:lstStyle/>
          <a:p>
            <a:pPr lvl="0" algn="just">
              <a:buSzPts val="1800"/>
            </a:pPr>
            <a:r>
              <a:rPr lang="en-US" sz="1800" dirty="0">
                <a:solidFill>
                  <a:schemeClr val="dk1"/>
                </a:solidFill>
                <a:latin typeface="Consolas"/>
                <a:ea typeface="Consolas"/>
                <a:cs typeface="Consolas"/>
                <a:sym typeface="Consolas"/>
              </a:rPr>
              <a:t>You could ask but why can’t the palindrome centered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expand after r in this case? If it did, then it would have already been covered with the current center c only. But, it didn’t. So,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 r-</a:t>
            </a:r>
            <a:r>
              <a:rPr lang="en-US" sz="1800" dirty="0" err="1">
                <a:solidFill>
                  <a:schemeClr val="dk1"/>
                </a:solidFill>
                <a:latin typeface="Consolas"/>
                <a:ea typeface="Consolas"/>
                <a:cs typeface="Consolas"/>
                <a:sym typeface="Consolas"/>
              </a:rPr>
              <a:t>i</a:t>
            </a:r>
            <a:endParaRPr dirty="0"/>
          </a:p>
        </p:txBody>
      </p:sp>
      <p:pic>
        <p:nvPicPr>
          <p:cNvPr id="6" name="Google Shape;1728;p171">
            <a:extLst>
              <a:ext uri="{FF2B5EF4-FFF2-40B4-BE49-F238E27FC236}">
                <a16:creationId xmlns:a16="http://schemas.microsoft.com/office/drawing/2014/main" id="{34B5D107-D551-C3F1-6BA8-4274D2BA4297}"/>
              </a:ext>
            </a:extLst>
          </p:cNvPr>
          <p:cNvPicPr preferRelativeResize="0"/>
          <p:nvPr/>
        </p:nvPicPr>
        <p:blipFill rotWithShape="1">
          <a:blip r:embed="rId3">
            <a:alphaModFix/>
          </a:blip>
          <a:srcRect/>
          <a:stretch/>
        </p:blipFill>
        <p:spPr>
          <a:xfrm>
            <a:off x="6295849" y="2838052"/>
            <a:ext cx="2572148" cy="1029292"/>
          </a:xfrm>
          <a:prstGeom prst="rect">
            <a:avLst/>
          </a:prstGeom>
          <a:noFill/>
          <a:ln>
            <a:noFill/>
          </a:ln>
        </p:spPr>
      </p:pic>
    </p:spTree>
    <p:extLst>
      <p:ext uri="{BB962C8B-B14F-4D97-AF65-F5344CB8AC3E}">
        <p14:creationId xmlns:p14="http://schemas.microsoft.com/office/powerpoint/2010/main" val="281291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ou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5117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D5640C18-DFC2-F751-EA9F-E8B874B55B76}"/>
              </a:ext>
            </a:extLst>
          </p:cNvPr>
          <p:cNvSpPr/>
          <p:nvPr/>
        </p:nvSpPr>
        <p:spPr>
          <a:xfrm>
            <a:off x="442374" y="1280120"/>
            <a:ext cx="8259252" cy="1107996"/>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If palindrome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were to expand beyond r, then the character at index 6 should have been ‘a’. But if that were to happen, the current palindrome centered at c would NOT have been “</a:t>
            </a:r>
            <a:r>
              <a:rPr lang="en-US" sz="1800" dirty="0" err="1">
                <a:solidFill>
                  <a:schemeClr val="dk1"/>
                </a:solidFill>
                <a:latin typeface="Consolas"/>
                <a:ea typeface="Consolas"/>
                <a:cs typeface="Consolas"/>
                <a:sym typeface="Consolas"/>
              </a:rPr>
              <a:t>cacac</a:t>
            </a:r>
            <a:r>
              <a:rPr lang="en-US" sz="1800" dirty="0">
                <a:solidFill>
                  <a:schemeClr val="dk1"/>
                </a:solidFill>
                <a:latin typeface="Consolas"/>
                <a:ea typeface="Consolas"/>
                <a:cs typeface="Consolas"/>
                <a:sym typeface="Consolas"/>
              </a:rPr>
              <a:t>” but “</a:t>
            </a:r>
            <a:r>
              <a:rPr lang="en-US" sz="1800" dirty="0" err="1">
                <a:solidFill>
                  <a:schemeClr val="dk1"/>
                </a:solidFill>
                <a:latin typeface="Consolas"/>
                <a:ea typeface="Consolas"/>
                <a:cs typeface="Consolas"/>
                <a:sym typeface="Consolas"/>
              </a:rPr>
              <a:t>acacaca</a:t>
            </a:r>
            <a:r>
              <a:rPr lang="en-US" sz="1800" dirty="0">
                <a:solidFill>
                  <a:schemeClr val="dk1"/>
                </a:solidFill>
                <a:latin typeface="Consolas"/>
                <a:ea typeface="Consolas"/>
                <a:cs typeface="Consolas"/>
                <a:sym typeface="Consolas"/>
              </a:rPr>
              <a:t>”</a:t>
            </a:r>
            <a:endParaRPr dirty="0"/>
          </a:p>
        </p:txBody>
      </p:sp>
      <p:sp>
        <p:nvSpPr>
          <p:cNvPr id="4" name="Google Shape;69;p13">
            <a:extLst>
              <a:ext uri="{FF2B5EF4-FFF2-40B4-BE49-F238E27FC236}">
                <a16:creationId xmlns:a16="http://schemas.microsoft.com/office/drawing/2014/main" id="{9264978E-6E75-525F-5DA7-DB6164E297B0}"/>
              </a:ext>
            </a:extLst>
          </p:cNvPr>
          <p:cNvSpPr/>
          <p:nvPr/>
        </p:nvSpPr>
        <p:spPr>
          <a:xfrm>
            <a:off x="453397" y="3227729"/>
            <a:ext cx="3272441" cy="553998"/>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So, we can sum the two quoted points above as the</a:t>
            </a:r>
            <a:endParaRPr dirty="0"/>
          </a:p>
        </p:txBody>
      </p:sp>
      <p:pic>
        <p:nvPicPr>
          <p:cNvPr id="5" name="Google Shape;1729;p171">
            <a:extLst>
              <a:ext uri="{FF2B5EF4-FFF2-40B4-BE49-F238E27FC236}">
                <a16:creationId xmlns:a16="http://schemas.microsoft.com/office/drawing/2014/main" id="{C6CBD91C-E5CA-4285-F693-BFFE1B90920A}"/>
              </a:ext>
            </a:extLst>
          </p:cNvPr>
          <p:cNvPicPr preferRelativeResize="0"/>
          <p:nvPr/>
        </p:nvPicPr>
        <p:blipFill rotWithShape="1">
          <a:blip r:embed="rId3">
            <a:alphaModFix/>
          </a:blip>
          <a:srcRect/>
          <a:stretch/>
        </p:blipFill>
        <p:spPr>
          <a:xfrm>
            <a:off x="4572000" y="3227729"/>
            <a:ext cx="3493406" cy="808280"/>
          </a:xfrm>
          <a:prstGeom prst="rect">
            <a:avLst/>
          </a:prstGeom>
          <a:noFill/>
          <a:ln>
            <a:noFill/>
          </a:ln>
        </p:spPr>
      </p:pic>
    </p:spTree>
    <p:extLst>
      <p:ext uri="{BB962C8B-B14F-4D97-AF65-F5344CB8AC3E}">
        <p14:creationId xmlns:p14="http://schemas.microsoft.com/office/powerpoint/2010/main" val="401815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412317"/>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EDBFF59F-0CC0-0540-9F7E-9600745BF6FA}"/>
              </a:ext>
            </a:extLst>
          </p:cNvPr>
          <p:cNvSpPr/>
          <p:nvPr/>
        </p:nvSpPr>
        <p:spPr>
          <a:xfrm>
            <a:off x="433772" y="861717"/>
            <a:ext cx="8276455"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Algorithm Continued</a:t>
            </a:r>
            <a:endParaRPr dirty="0"/>
          </a:p>
        </p:txBody>
      </p:sp>
      <p:sp>
        <p:nvSpPr>
          <p:cNvPr id="4" name="Google Shape;69;p13">
            <a:extLst>
              <a:ext uri="{FF2B5EF4-FFF2-40B4-BE49-F238E27FC236}">
                <a16:creationId xmlns:a16="http://schemas.microsoft.com/office/drawing/2014/main" id="{07136462-1469-2648-85C7-4B0630E30B87}"/>
              </a:ext>
            </a:extLst>
          </p:cNvPr>
          <p:cNvSpPr/>
          <p:nvPr/>
        </p:nvSpPr>
        <p:spPr>
          <a:xfrm>
            <a:off x="433772" y="1277215"/>
            <a:ext cx="8259252" cy="553998"/>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Now the only thing left is to expand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after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so we check characters from index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+ 1) and keep expanding at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
        <p:nvSpPr>
          <p:cNvPr id="5" name="Google Shape;69;p13">
            <a:extLst>
              <a:ext uri="{FF2B5EF4-FFF2-40B4-BE49-F238E27FC236}">
                <a16:creationId xmlns:a16="http://schemas.microsoft.com/office/drawing/2014/main" id="{E28C22DF-3A61-F786-F846-91E33199F501}"/>
              </a:ext>
            </a:extLst>
          </p:cNvPr>
          <p:cNvSpPr/>
          <p:nvPr/>
        </p:nvSpPr>
        <p:spPr>
          <a:xfrm>
            <a:off x="433772" y="1898862"/>
            <a:ext cx="8259252" cy="553998"/>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If this palindrome expands beyond r, update c to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and r to (</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 + P[</a:t>
            </a:r>
            <a:r>
              <a:rPr lang="en-US" sz="1800" dirty="0" err="1">
                <a:solidFill>
                  <a:schemeClr val="dk1"/>
                </a:solidFill>
                <a:latin typeface="Consolas"/>
                <a:ea typeface="Consolas"/>
                <a:cs typeface="Consolas"/>
                <a:sym typeface="Consolas"/>
              </a:rPr>
              <a:t>i</a:t>
            </a:r>
            <a:r>
              <a:rPr lang="en-US" sz="1800" dirty="0">
                <a:solidFill>
                  <a:schemeClr val="dk1"/>
                </a:solidFill>
                <a:latin typeface="Consolas"/>
                <a:ea typeface="Consolas"/>
                <a:cs typeface="Consolas"/>
                <a:sym typeface="Consolas"/>
              </a:rPr>
              <a:t>]).</a:t>
            </a:r>
            <a:endParaRPr dirty="0"/>
          </a:p>
        </p:txBody>
      </p:sp>
      <p:sp>
        <p:nvSpPr>
          <p:cNvPr id="6" name="Google Shape;69;p13">
            <a:extLst>
              <a:ext uri="{FF2B5EF4-FFF2-40B4-BE49-F238E27FC236}">
                <a16:creationId xmlns:a16="http://schemas.microsoft.com/office/drawing/2014/main" id="{CD891DA3-D740-9031-D9FB-B0C43713E631}"/>
              </a:ext>
            </a:extLst>
          </p:cNvPr>
          <p:cNvSpPr/>
          <p:nvPr/>
        </p:nvSpPr>
        <p:spPr>
          <a:xfrm>
            <a:off x="433772" y="2520509"/>
            <a:ext cx="8259252" cy="553998"/>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The P[] array is now filled and the maximum value in this array gives us the longest </a:t>
            </a:r>
            <a:r>
              <a:rPr lang="en-US" sz="1800" dirty="0" err="1">
                <a:solidFill>
                  <a:schemeClr val="dk1"/>
                </a:solidFill>
                <a:latin typeface="Consolas"/>
                <a:ea typeface="Consolas"/>
                <a:cs typeface="Consolas"/>
                <a:sym typeface="Consolas"/>
              </a:rPr>
              <a:t>palindromic</a:t>
            </a:r>
            <a:r>
              <a:rPr lang="en-US" sz="1800" dirty="0">
                <a:solidFill>
                  <a:schemeClr val="dk1"/>
                </a:solidFill>
                <a:latin typeface="Consolas"/>
                <a:ea typeface="Consolas"/>
                <a:cs typeface="Consolas"/>
                <a:sym typeface="Consolas"/>
              </a:rPr>
              <a:t> substring in the given string</a:t>
            </a:r>
          </a:p>
        </p:txBody>
      </p:sp>
      <p:sp>
        <p:nvSpPr>
          <p:cNvPr id="7" name="Google Shape;69;p13">
            <a:extLst>
              <a:ext uri="{FF2B5EF4-FFF2-40B4-BE49-F238E27FC236}">
                <a16:creationId xmlns:a16="http://schemas.microsoft.com/office/drawing/2014/main" id="{50D9213C-422F-9325-04B9-1554E218313D}"/>
              </a:ext>
            </a:extLst>
          </p:cNvPr>
          <p:cNvSpPr/>
          <p:nvPr/>
        </p:nvSpPr>
        <p:spPr>
          <a:xfrm>
            <a:off x="433772" y="3142156"/>
            <a:ext cx="8259252" cy="1107996"/>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This works for odd </a:t>
            </a:r>
            <a:r>
              <a:rPr lang="en-US" sz="1800" dirty="0" err="1">
                <a:solidFill>
                  <a:schemeClr val="dk1"/>
                </a:solidFill>
                <a:latin typeface="Consolas"/>
                <a:ea typeface="Consolas"/>
                <a:cs typeface="Consolas"/>
                <a:sym typeface="Consolas"/>
              </a:rPr>
              <a:t>lengthed</a:t>
            </a:r>
            <a:r>
              <a:rPr lang="en-US" sz="1800" dirty="0">
                <a:solidFill>
                  <a:schemeClr val="dk1"/>
                </a:solidFill>
                <a:latin typeface="Consolas"/>
                <a:ea typeface="Consolas"/>
                <a:cs typeface="Consolas"/>
                <a:sym typeface="Consolas"/>
              </a:rPr>
              <a:t> strings only. we simply append N + 1 special characters (say ‘#’) in between every two characters, just to make sure that our modified string is always of odd length.</a:t>
            </a:r>
          </a:p>
        </p:txBody>
      </p:sp>
      <p:sp>
        <p:nvSpPr>
          <p:cNvPr id="8" name="Google Shape;69;p13">
            <a:extLst>
              <a:ext uri="{FF2B5EF4-FFF2-40B4-BE49-F238E27FC236}">
                <a16:creationId xmlns:a16="http://schemas.microsoft.com/office/drawing/2014/main" id="{7D561CC4-0F88-BEF6-EBC3-217237B5AA3E}"/>
              </a:ext>
            </a:extLst>
          </p:cNvPr>
          <p:cNvSpPr/>
          <p:nvPr/>
        </p:nvSpPr>
        <p:spPr>
          <a:xfrm>
            <a:off x="2523096" y="4001128"/>
            <a:ext cx="8259252" cy="830997"/>
          </a:xfrm>
          <a:prstGeom prst="rect">
            <a:avLst/>
          </a:prstGeom>
          <a:noFill/>
          <a:ln>
            <a:noFill/>
          </a:ln>
        </p:spPr>
        <p:txBody>
          <a:bodyPr spcFirstLastPara="1" wrap="square" lIns="0" tIns="0" rIns="0" bIns="0" anchor="t" anchorCtr="0">
            <a:spAutoFit/>
          </a:bodyPr>
          <a:lstStyle/>
          <a:p>
            <a:pPr lvl="0">
              <a:buSzPts val="1800"/>
            </a:pPr>
            <a:r>
              <a:rPr lang="en-US" sz="1800" dirty="0">
                <a:solidFill>
                  <a:schemeClr val="dk1"/>
                </a:solidFill>
                <a:latin typeface="Consolas"/>
                <a:ea typeface="Consolas"/>
                <a:cs typeface="Consolas"/>
                <a:sym typeface="Consolas"/>
              </a:rPr>
              <a:t>Examples:</a:t>
            </a:r>
          </a:p>
          <a:p>
            <a:pPr lvl="0">
              <a:buSzPts val="1800"/>
            </a:pPr>
            <a:r>
              <a:rPr lang="en-US" sz="1800" dirty="0" err="1">
                <a:solidFill>
                  <a:schemeClr val="dk1"/>
                </a:solidFill>
                <a:latin typeface="Consolas"/>
                <a:ea typeface="Consolas"/>
                <a:cs typeface="Consolas"/>
                <a:sym typeface="Consolas"/>
              </a:rPr>
              <a:t>aba</a:t>
            </a:r>
            <a:r>
              <a:rPr lang="en-US" sz="1800" dirty="0">
                <a:solidFill>
                  <a:schemeClr val="dk1"/>
                </a:solidFill>
                <a:latin typeface="Consolas"/>
                <a:ea typeface="Consolas"/>
                <a:cs typeface="Consolas"/>
                <a:sym typeface="Consolas"/>
              </a:rPr>
              <a:t> -&gt; #</a:t>
            </a:r>
            <a:r>
              <a:rPr lang="en-US" sz="1800" dirty="0" err="1">
                <a:solidFill>
                  <a:schemeClr val="dk1"/>
                </a:solidFill>
                <a:latin typeface="Consolas"/>
                <a:ea typeface="Consolas"/>
                <a:cs typeface="Consolas"/>
                <a:sym typeface="Consolas"/>
              </a:rPr>
              <a:t>a#b#a</a:t>
            </a:r>
            <a:r>
              <a:rPr lang="en-US" sz="1800" dirty="0">
                <a:solidFill>
                  <a:schemeClr val="dk1"/>
                </a:solidFill>
                <a:latin typeface="Consolas"/>
                <a:ea typeface="Consolas"/>
                <a:cs typeface="Consolas"/>
                <a:sym typeface="Consolas"/>
              </a:rPr>
              <a:t>#</a:t>
            </a:r>
          </a:p>
          <a:p>
            <a:pPr lvl="0">
              <a:buSzPts val="1800"/>
            </a:pPr>
            <a:r>
              <a:rPr lang="en-US" sz="1800" dirty="0" err="1">
                <a:solidFill>
                  <a:schemeClr val="dk1"/>
                </a:solidFill>
                <a:latin typeface="Consolas"/>
                <a:ea typeface="Consolas"/>
                <a:cs typeface="Consolas"/>
                <a:sym typeface="Consolas"/>
              </a:rPr>
              <a:t>abba</a:t>
            </a:r>
            <a:r>
              <a:rPr lang="en-US" sz="1800" dirty="0">
                <a:solidFill>
                  <a:schemeClr val="dk1"/>
                </a:solidFill>
                <a:latin typeface="Consolas"/>
                <a:ea typeface="Consolas"/>
                <a:cs typeface="Consolas"/>
                <a:sym typeface="Consolas"/>
              </a:rPr>
              <a:t>-&gt; #</a:t>
            </a:r>
            <a:r>
              <a:rPr lang="en-US" sz="1800" dirty="0" err="1">
                <a:solidFill>
                  <a:schemeClr val="dk1"/>
                </a:solidFill>
                <a:latin typeface="Consolas"/>
                <a:ea typeface="Consolas"/>
                <a:cs typeface="Consolas"/>
                <a:sym typeface="Consolas"/>
              </a:rPr>
              <a:t>a#b#b#a</a:t>
            </a:r>
            <a:r>
              <a:rPr lang="en-US" sz="1800" dirty="0">
                <a:solidFill>
                  <a:schemeClr val="dk1"/>
                </a:solidFill>
                <a:latin typeface="Consolas"/>
                <a:ea typeface="Consolas"/>
                <a:cs typeface="Consolas"/>
                <a:sym typeface="Consolas"/>
              </a:rPr>
              <a:t>#</a:t>
            </a:r>
          </a:p>
        </p:txBody>
      </p:sp>
    </p:spTree>
    <p:extLst>
      <p:ext uri="{BB962C8B-B14F-4D97-AF65-F5344CB8AC3E}">
        <p14:creationId xmlns:p14="http://schemas.microsoft.com/office/powerpoint/2010/main" val="266377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8"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Left)">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39265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graphicFrame>
        <p:nvGraphicFramePr>
          <p:cNvPr id="2" name="Google Shape;195;p40">
            <a:extLst>
              <a:ext uri="{FF2B5EF4-FFF2-40B4-BE49-F238E27FC236}">
                <a16:creationId xmlns:a16="http://schemas.microsoft.com/office/drawing/2014/main" id="{989C1CF9-44DC-15B1-E82E-14DD1707C6F6}"/>
              </a:ext>
            </a:extLst>
          </p:cNvPr>
          <p:cNvGraphicFramePr/>
          <p:nvPr>
            <p:extLst>
              <p:ext uri="{D42A27DB-BD31-4B8C-83A1-F6EECF244321}">
                <p14:modId xmlns:p14="http://schemas.microsoft.com/office/powerpoint/2010/main" val="3980210791"/>
              </p:ext>
            </p:extLst>
          </p:nvPr>
        </p:nvGraphicFramePr>
        <p:xfrm>
          <a:off x="196937" y="867850"/>
          <a:ext cx="8750126" cy="4145290"/>
        </p:xfrm>
        <a:graphic>
          <a:graphicData uri="http://schemas.openxmlformats.org/drawingml/2006/table">
            <a:tbl>
              <a:tblPr firstRow="1" bandRow="1">
                <a:noFill/>
              </a:tblPr>
              <a:tblGrid>
                <a:gridCol w="4599930">
                  <a:extLst>
                    <a:ext uri="{9D8B030D-6E8A-4147-A177-3AD203B41FA5}">
                      <a16:colId xmlns:a16="http://schemas.microsoft.com/office/drawing/2014/main" val="20000"/>
                    </a:ext>
                  </a:extLst>
                </a:gridCol>
                <a:gridCol w="4150196">
                  <a:extLst>
                    <a:ext uri="{9D8B030D-6E8A-4147-A177-3AD203B41FA5}">
                      <a16:colId xmlns:a16="http://schemas.microsoft.com/office/drawing/2014/main" val="20001"/>
                    </a:ext>
                  </a:extLst>
                </a:gridCol>
              </a:tblGrid>
              <a:tr h="3895965">
                <a:tc>
                  <a:txBody>
                    <a:bodyPr/>
                    <a:lstStyle/>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public class EthCode {</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manachersAlgorithm(String s, int N) {</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String str = getModifiedString(s, N);</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len = (2 * N) + 1;</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P = new int[len];</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c = 0; //stores the center of the longest palindromic substring until now</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r = 0; //stores the right boundary of the longest palindromic substring until now</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maxLen = 0;</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for (int i = 0; i &lt; len; i++) {</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//get mirror index of 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int mirror = (2 * c) - i;</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//see if the mirror of </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 is expanding beyond the left boundary of current longest palindrome at center c</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//if it is, then take r - </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 as P[</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//else take P[mirror] as P[</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endParaRPr lang="nn-NO" sz="1400" b="0" dirty="0">
                        <a:solidFill>
                          <a:schemeClr val="dk1"/>
                        </a:solidFill>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pt-BR" sz="1400" b="0" u="none" strike="noStrike" cap="none" dirty="0">
                          <a:solidFill>
                            <a:schemeClr val="dk1"/>
                          </a:solidFill>
                          <a:highlight>
                            <a:schemeClr val="lt1"/>
                          </a:highlight>
                          <a:latin typeface="Consolas" pitchFamily="49" charset="0"/>
                          <a:ea typeface="Consolas"/>
                          <a:cs typeface="Consolas"/>
                          <a:sym typeface="Consolas"/>
                        </a:rPr>
                        <a:t> if (i &lt; r) {</a:t>
                      </a:r>
                    </a:p>
                    <a:p>
                      <a:pPr marL="0" marR="0" lvl="0" indent="0" algn="l" rtl="0">
                        <a:lnSpc>
                          <a:spcPct val="100000"/>
                        </a:lnSpc>
                        <a:spcBef>
                          <a:spcPts val="0"/>
                        </a:spcBef>
                        <a:spcAft>
                          <a:spcPts val="0"/>
                        </a:spcAft>
                        <a:buNone/>
                      </a:pPr>
                      <a:r>
                        <a:rPr lang="pt-BR" sz="1400" b="0" u="none" strike="noStrike" cap="none" dirty="0">
                          <a:solidFill>
                            <a:schemeClr val="dk1"/>
                          </a:solidFill>
                          <a:highlight>
                            <a:schemeClr val="lt1"/>
                          </a:highlight>
                          <a:latin typeface="Consolas" pitchFamily="49" charset="0"/>
                          <a:ea typeface="Consolas"/>
                          <a:cs typeface="Consolas"/>
                          <a:sym typeface="Consolas"/>
                        </a:rPr>
                        <a:t> P[i] = Math.min(r - i, P[mirror]);</a:t>
                      </a:r>
                    </a:p>
                    <a:p>
                      <a:pPr marL="0" marR="0" lvl="0" indent="0" algn="l" rtl="0">
                        <a:lnSpc>
                          <a:spcPct val="100000"/>
                        </a:lnSpc>
                        <a:spcBef>
                          <a:spcPts val="0"/>
                        </a:spcBef>
                        <a:spcAft>
                          <a:spcPts val="0"/>
                        </a:spcAft>
                        <a:buNone/>
                      </a:pPr>
                      <a:r>
                        <a:rPr lang="pt-BR"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//expand at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endParaRPr lang="en-US" sz="1400" b="0" u="none" strike="noStrike" cap="none" dirty="0">
                        <a:solidFill>
                          <a:schemeClr val="dk1"/>
                        </a:solidFill>
                        <a:highlight>
                          <a:schemeClr val="lt1"/>
                        </a:highlight>
                        <a:latin typeface="Consolas" pitchFamily="49" charset="0"/>
                        <a:ea typeface="Consolas"/>
                        <a:cs typeface="Consolas"/>
                        <a:sym typeface="Consolas"/>
                      </a:endParaRP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 =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 (1 + P[</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b =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 (1 + P[</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while (a &lt; </a:t>
                      </a:r>
                      <a:r>
                        <a:rPr lang="en-US" sz="1400" b="0" u="none" strike="noStrike" cap="none" dirty="0" err="1">
                          <a:solidFill>
                            <a:schemeClr val="dk1"/>
                          </a:solidFill>
                          <a:highlight>
                            <a:schemeClr val="lt1"/>
                          </a:highlight>
                          <a:latin typeface="Consolas" pitchFamily="49" charset="0"/>
                          <a:ea typeface="Consolas"/>
                          <a:cs typeface="Consolas"/>
                          <a:sym typeface="Consolas"/>
                        </a:rPr>
                        <a:t>len</a:t>
                      </a:r>
                      <a:r>
                        <a:rPr lang="en-US" sz="1400" b="0" u="none" strike="noStrike" cap="none" dirty="0">
                          <a:solidFill>
                            <a:schemeClr val="dk1"/>
                          </a:solidFill>
                          <a:highlight>
                            <a:schemeClr val="lt1"/>
                          </a:highlight>
                          <a:latin typeface="Consolas" pitchFamily="49" charset="0"/>
                          <a:ea typeface="Consolas"/>
                          <a:cs typeface="Consolas"/>
                          <a:sym typeface="Consolas"/>
                        </a:rPr>
                        <a:t> &amp;&amp; b &gt;= 0 &amp;&amp; </a:t>
                      </a:r>
                      <a:r>
                        <a:rPr lang="en-US" sz="1400" b="0" u="none" strike="noStrike" cap="none" dirty="0" err="1">
                          <a:solidFill>
                            <a:schemeClr val="dk1"/>
                          </a:solidFill>
                          <a:highlight>
                            <a:schemeClr val="lt1"/>
                          </a:highlight>
                          <a:latin typeface="Consolas" pitchFamily="49" charset="0"/>
                          <a:ea typeface="Consolas"/>
                          <a:cs typeface="Consolas"/>
                          <a:sym typeface="Consolas"/>
                        </a:rPr>
                        <a:t>str.charAt</a:t>
                      </a:r>
                      <a:r>
                        <a:rPr lang="en-US" sz="1400" b="0" u="none" strike="noStrike" cap="none" dirty="0">
                          <a:solidFill>
                            <a:schemeClr val="dk1"/>
                          </a:solidFill>
                          <a:highlight>
                            <a:schemeClr val="lt1"/>
                          </a:highlight>
                          <a:latin typeface="Consolas" pitchFamily="49" charset="0"/>
                          <a:ea typeface="Consolas"/>
                          <a:cs typeface="Consolas"/>
                          <a:sym typeface="Consolas"/>
                        </a:rPr>
                        <a:t>(a) == </a:t>
                      </a:r>
                      <a:r>
                        <a:rPr lang="en-US" sz="1400" b="0" u="none" strike="noStrike" cap="none" dirty="0" err="1">
                          <a:solidFill>
                            <a:schemeClr val="dk1"/>
                          </a:solidFill>
                          <a:highlight>
                            <a:schemeClr val="lt1"/>
                          </a:highlight>
                          <a:latin typeface="Consolas" pitchFamily="49" charset="0"/>
                          <a:ea typeface="Consolas"/>
                          <a:cs typeface="Consolas"/>
                          <a:sym typeface="Consolas"/>
                        </a:rPr>
                        <a:t>str.charAt</a:t>
                      </a:r>
                      <a:r>
                        <a:rPr lang="en-US" sz="1400" b="0" u="none" strike="noStrike" cap="none" dirty="0">
                          <a:solidFill>
                            <a:schemeClr val="dk1"/>
                          </a:solidFill>
                          <a:highlight>
                            <a:schemeClr val="lt1"/>
                          </a:highlight>
                          <a:latin typeface="Consolas" pitchFamily="49" charset="0"/>
                          <a:ea typeface="Consolas"/>
                          <a:cs typeface="Consolas"/>
                          <a:sym typeface="Consolas"/>
                        </a:rPr>
                        <a:t>(b))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P[</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b--;</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//check if the expanded palindrome at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is expanding beyond the right boundary of current longest palindrome at center c</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//if it is, the new center is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endParaRPr lang="en-US" sz="1400" b="0" u="none" strike="noStrike" cap="none" dirty="0">
                        <a:solidFill>
                          <a:schemeClr val="dk1"/>
                        </a:solidFill>
                        <a:highlight>
                          <a:schemeClr val="lt1"/>
                        </a:highlight>
                        <a:latin typeface="Consolas" pitchFamily="49" charset="0"/>
                        <a:ea typeface="Consolas"/>
                        <a:cs typeface="Consolas"/>
                        <a:sym typeface="Consolas"/>
                      </a:endParaRPr>
                    </a:p>
                    <a:p>
                      <a:pPr marL="0" marR="0" lvl="0" indent="0" algn="l" rtl="0">
                        <a:lnSpc>
                          <a:spcPct val="100000"/>
                        </a:lnSpc>
                        <a:spcBef>
                          <a:spcPts val="0"/>
                        </a:spcBef>
                        <a:spcAft>
                          <a:spcPts val="0"/>
                        </a:spcAft>
                        <a:buNone/>
                      </a:pPr>
                      <a:endParaRPr sz="1400" b="0" u="none" strike="noStrike" cap="none" dirty="0">
                        <a:solidFill>
                          <a:schemeClr val="dk1"/>
                        </a:solidFill>
                        <a:highlight>
                          <a:schemeClr val="lt1"/>
                        </a:highlight>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32145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04477" y="41845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graphicFrame>
        <p:nvGraphicFramePr>
          <p:cNvPr id="2" name="Google Shape;195;p40">
            <a:extLst>
              <a:ext uri="{FF2B5EF4-FFF2-40B4-BE49-F238E27FC236}">
                <a16:creationId xmlns:a16="http://schemas.microsoft.com/office/drawing/2014/main" id="{3D7AC826-14D6-8B9D-6CA7-E26119D3B5AA}"/>
              </a:ext>
            </a:extLst>
          </p:cNvPr>
          <p:cNvGraphicFramePr/>
          <p:nvPr>
            <p:extLst>
              <p:ext uri="{D42A27DB-BD31-4B8C-83A1-F6EECF244321}">
                <p14:modId xmlns:p14="http://schemas.microsoft.com/office/powerpoint/2010/main" val="3559921896"/>
              </p:ext>
            </p:extLst>
          </p:nvPr>
        </p:nvGraphicFramePr>
        <p:xfrm>
          <a:off x="168279" y="1001632"/>
          <a:ext cx="8593800" cy="3723418"/>
        </p:xfrm>
        <a:graphic>
          <a:graphicData uri="http://schemas.openxmlformats.org/drawingml/2006/table">
            <a:tbl>
              <a:tblPr firstRow="1" bandRow="1">
                <a:noFill/>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723418">
                <a:tc>
                  <a:txBody>
                    <a:bodyPr/>
                    <a:lstStyle/>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if (i + P[i] &gt; r) {</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c = 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r = i + P[i];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if (P[i] &gt; maxLen) { //update maxlen</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maxLen = P[i];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 } }</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return maxLen;</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String </a:t>
                      </a:r>
                      <a:r>
                        <a:rPr lang="en-US" sz="1400" b="0" u="none" strike="noStrike" cap="none" dirty="0" err="1">
                          <a:solidFill>
                            <a:schemeClr val="dk1"/>
                          </a:solidFill>
                          <a:highlight>
                            <a:schemeClr val="lt1"/>
                          </a:highlight>
                          <a:latin typeface="Consolas" pitchFamily="49" charset="0"/>
                          <a:ea typeface="Consolas"/>
                          <a:cs typeface="Consolas"/>
                          <a:sym typeface="Consolas"/>
                        </a:rPr>
                        <a:t>getModifiedString</a:t>
                      </a:r>
                      <a:r>
                        <a:rPr lang="en-US" sz="1400" b="0" u="none" strike="noStrike" cap="none" dirty="0">
                          <a:solidFill>
                            <a:schemeClr val="dk1"/>
                          </a:solidFill>
                          <a:highlight>
                            <a:schemeClr val="lt1"/>
                          </a:highlight>
                          <a:latin typeface="Consolas" pitchFamily="49" charset="0"/>
                          <a:ea typeface="Consolas"/>
                          <a:cs typeface="Consolas"/>
                          <a:sym typeface="Consolas"/>
                        </a:rPr>
                        <a:t>(String s,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N)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StringBuilder</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sb</a:t>
                      </a:r>
                      <a:r>
                        <a:rPr lang="en-US" sz="1400" b="0" u="none" strike="noStrike" cap="none" dirty="0">
                          <a:solidFill>
                            <a:schemeClr val="dk1"/>
                          </a:solidFill>
                          <a:highlight>
                            <a:schemeClr val="lt1"/>
                          </a:highlight>
                          <a:latin typeface="Consolas" pitchFamily="49" charset="0"/>
                          <a:ea typeface="Consolas"/>
                          <a:cs typeface="Consolas"/>
                          <a:sym typeface="Consolas"/>
                        </a:rPr>
                        <a:t> = new </a:t>
                      </a:r>
                      <a:r>
                        <a:rPr lang="en-US" sz="1400" b="0" u="none" strike="noStrike" cap="none" dirty="0" err="1">
                          <a:solidFill>
                            <a:schemeClr val="dk1"/>
                          </a:solidFill>
                          <a:highlight>
                            <a:schemeClr val="lt1"/>
                          </a:highlight>
                          <a:latin typeface="Consolas" pitchFamily="49" charset="0"/>
                          <a:ea typeface="Consolas"/>
                          <a:cs typeface="Consolas"/>
                          <a:sym typeface="Consolas"/>
                        </a:rPr>
                        <a:t>StringBuilder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for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 0;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&lt; N;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sb.append</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sb.append</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s.charAt</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sb.append</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return </a:t>
                      </a:r>
                      <a:r>
                        <a:rPr lang="en-US" sz="1400" b="0" u="none" strike="noStrike" cap="none" dirty="0" err="1">
                          <a:solidFill>
                            <a:schemeClr val="dk1"/>
                          </a:solidFill>
                          <a:highlight>
                            <a:schemeClr val="lt1"/>
                          </a:highlight>
                          <a:latin typeface="Consolas" pitchFamily="49" charset="0"/>
                          <a:ea typeface="Consolas"/>
                          <a:cs typeface="Consolas"/>
                          <a:sym typeface="Consolas"/>
                        </a:rPr>
                        <a:t>sb.toString</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public static void main(String </a:t>
                      </a:r>
                      <a:r>
                        <a:rPr lang="en-US" sz="1400" b="0" u="none" strike="noStrike" cap="none" dirty="0" err="1">
                          <a:solidFill>
                            <a:schemeClr val="dk1"/>
                          </a:solidFill>
                          <a:highlight>
                            <a:schemeClr val="lt1"/>
                          </a:highlight>
                          <a:latin typeface="Consolas" pitchFamily="49" charset="0"/>
                          <a:ea typeface="Consolas"/>
                          <a:cs typeface="Consolas"/>
                          <a:sym typeface="Consolas"/>
                        </a:rPr>
                        <a:t>args</a:t>
                      </a: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String </a:t>
                      </a:r>
                      <a:r>
                        <a:rPr lang="en-US" sz="1400" b="0" u="none" strike="noStrike" cap="none" dirty="0" err="1">
                          <a:solidFill>
                            <a:schemeClr val="dk1"/>
                          </a:solidFill>
                          <a:highlight>
                            <a:schemeClr val="lt1"/>
                          </a:highlight>
                          <a:latin typeface="Consolas" pitchFamily="49" charset="0"/>
                          <a:ea typeface="Consolas"/>
                          <a:cs typeface="Consolas"/>
                          <a:sym typeface="Consolas"/>
                        </a:rPr>
                        <a:t>str</a:t>
                      </a:r>
                      <a:r>
                        <a:rPr lang="en-US" sz="1400" b="0" u="none" strike="noStrike" cap="none" dirty="0">
                          <a:solidFill>
                            <a:schemeClr val="dk1"/>
                          </a:solidFill>
                          <a:highlight>
                            <a:schemeClr val="lt1"/>
                          </a:highlight>
                          <a:latin typeface="Consolas" pitchFamily="49" charset="0"/>
                          <a:ea typeface="Consolas"/>
                          <a:cs typeface="Consolas"/>
                          <a:sym typeface="Consolas"/>
                        </a:rPr>
                        <a:t> = "</a:t>
                      </a:r>
                      <a:r>
                        <a:rPr lang="en-US" sz="1400" b="0" u="none" strike="noStrike" cap="none" dirty="0" err="1">
                          <a:solidFill>
                            <a:schemeClr val="dk1"/>
                          </a:solidFill>
                          <a:highlight>
                            <a:schemeClr val="lt1"/>
                          </a:highlight>
                          <a:latin typeface="Consolas" pitchFamily="49" charset="0"/>
                          <a:ea typeface="Consolas"/>
                          <a:cs typeface="Consolas"/>
                          <a:sym typeface="Consolas"/>
                        </a:rPr>
                        <a:t>inputstring</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System.out.println</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manachersAlgorithm</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str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a:t>
                      </a:r>
                      <a:endParaRPr sz="1400" b="0" u="none" strike="noStrike" cap="none" dirty="0">
                        <a:solidFill>
                          <a:schemeClr val="dk1"/>
                        </a:solidFill>
                        <a:highlight>
                          <a:schemeClr val="lt1"/>
                        </a:highlight>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6965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71;p13">
            <a:extLst>
              <a:ext uri="{FF2B5EF4-FFF2-40B4-BE49-F238E27FC236}">
                <a16:creationId xmlns:a16="http://schemas.microsoft.com/office/drawing/2014/main" id="{3815880A-930B-5D48-18DA-96D839CFA614}"/>
              </a:ext>
            </a:extLst>
          </p:cNvPr>
          <p:cNvSpPr/>
          <p:nvPr/>
        </p:nvSpPr>
        <p:spPr>
          <a:xfrm>
            <a:off x="2013762" y="5117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bg1"/>
                </a:solidFill>
              </a:rPr>
              <a:t>MANACHER’S ALGORITHM</a:t>
            </a:r>
            <a:endParaRPr lang="en-IN" sz="1600" b="1" dirty="0">
              <a:solidFill>
                <a:schemeClr val="bg1"/>
              </a:solidFill>
            </a:endParaRPr>
          </a:p>
        </p:txBody>
      </p:sp>
      <p:sp>
        <p:nvSpPr>
          <p:cNvPr id="2" name="Google Shape;69;p13">
            <a:extLst>
              <a:ext uri="{FF2B5EF4-FFF2-40B4-BE49-F238E27FC236}">
                <a16:creationId xmlns:a16="http://schemas.microsoft.com/office/drawing/2014/main" id="{F6CB1484-ABEC-8B99-EA74-129AE3923779}"/>
              </a:ext>
            </a:extLst>
          </p:cNvPr>
          <p:cNvSpPr/>
          <p:nvPr/>
        </p:nvSpPr>
        <p:spPr>
          <a:xfrm>
            <a:off x="666127" y="986970"/>
            <a:ext cx="7968222"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Complexity</a:t>
            </a:r>
            <a:endParaRPr lang="en-US" b="1" dirty="0"/>
          </a:p>
        </p:txBody>
      </p:sp>
      <p:sp>
        <p:nvSpPr>
          <p:cNvPr id="4" name="Google Shape;69;p13">
            <a:extLst>
              <a:ext uri="{FF2B5EF4-FFF2-40B4-BE49-F238E27FC236}">
                <a16:creationId xmlns:a16="http://schemas.microsoft.com/office/drawing/2014/main" id="{ED6B83B7-8E96-CF9A-B824-053C1FBCA811}"/>
              </a:ext>
            </a:extLst>
          </p:cNvPr>
          <p:cNvSpPr/>
          <p:nvPr/>
        </p:nvSpPr>
        <p:spPr>
          <a:xfrm>
            <a:off x="577636" y="1626401"/>
            <a:ext cx="4830105" cy="738664"/>
          </a:xfrm>
          <a:prstGeom prst="rect">
            <a:avLst/>
          </a:prstGeom>
          <a:noFill/>
          <a:ln>
            <a:noFill/>
          </a:ln>
        </p:spPr>
        <p:txBody>
          <a:bodyPr spcFirstLastPara="1" wrap="square" lIns="0" tIns="0" rIns="0" bIns="0" anchor="t" anchorCtr="0">
            <a:spAutoFit/>
          </a:bodyPr>
          <a:lstStyle/>
          <a:p>
            <a:pPr algn="r">
              <a:lnSpc>
                <a:spcPct val="150000"/>
              </a:lnSpc>
              <a:buSzPts val="1800"/>
            </a:pPr>
            <a:r>
              <a:rPr lang="en-US" sz="1800" dirty="0">
                <a:solidFill>
                  <a:schemeClr val="dk1"/>
                </a:solidFill>
                <a:latin typeface="Consolas"/>
                <a:ea typeface="Consolas"/>
                <a:cs typeface="Consolas"/>
                <a:sym typeface="Consolas"/>
              </a:rPr>
              <a:t>Lenier Time Complexity :O(n)</a:t>
            </a:r>
            <a:endParaRPr lang="en-US" sz="1800" dirty="0"/>
          </a:p>
          <a:p>
            <a:pPr lvl="0" algn="r">
              <a:lnSpc>
                <a:spcPct val="150000"/>
              </a:lnSpc>
              <a:buSzPts val="1800"/>
            </a:pPr>
            <a:endParaRPr lang="en-US" dirty="0"/>
          </a:p>
        </p:txBody>
      </p:sp>
      <p:sp>
        <p:nvSpPr>
          <p:cNvPr id="5" name="Google Shape;69;p13">
            <a:extLst>
              <a:ext uri="{FF2B5EF4-FFF2-40B4-BE49-F238E27FC236}">
                <a16:creationId xmlns:a16="http://schemas.microsoft.com/office/drawing/2014/main" id="{BA277199-EB92-3DB5-87AD-F3FFB53E9E96}"/>
              </a:ext>
            </a:extLst>
          </p:cNvPr>
          <p:cNvSpPr/>
          <p:nvPr/>
        </p:nvSpPr>
        <p:spPr>
          <a:xfrm>
            <a:off x="1564632" y="2173500"/>
            <a:ext cx="3843109"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Auxiliary Space : O(n)</a:t>
            </a:r>
            <a:endParaRPr lang="en-US" dirty="0"/>
          </a:p>
        </p:txBody>
      </p:sp>
    </p:spTree>
    <p:extLst>
      <p:ext uri="{BB962C8B-B14F-4D97-AF65-F5344CB8AC3E}">
        <p14:creationId xmlns:p14="http://schemas.microsoft.com/office/powerpoint/2010/main" val="201940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462" name="Google Shape;462;p6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463" name="Google Shape;463;p65"/>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464" name="Google Shape;464;p65"/>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700"/>
              <a:buFont typeface="Arial"/>
              <a:buNone/>
            </a:pPr>
            <a:r>
              <a:rPr lang="en-IN" sz="3700" b="0" i="0" u="none" strike="noStrike" cap="none">
                <a:solidFill>
                  <a:schemeClr val="lt1"/>
                </a:solidFill>
                <a:latin typeface="Roboto"/>
                <a:ea typeface="Roboto"/>
                <a:cs typeface="Roboto"/>
                <a:sym typeface="Roboto"/>
              </a:rPr>
              <a:t>THANK YOU</a:t>
            </a:r>
            <a:endParaRPr sz="3700" b="0" i="0" u="none" strike="noStrike" cap="none">
              <a:solidFill>
                <a:schemeClr val="lt1"/>
              </a:solidFill>
              <a:latin typeface="Roboto"/>
              <a:ea typeface="Roboto"/>
              <a:cs typeface="Roboto"/>
              <a:sym typeface="Roboto"/>
            </a:endParaRPr>
          </a:p>
        </p:txBody>
      </p:sp>
      <p:pic>
        <p:nvPicPr>
          <p:cNvPr id="465" name="Google Shape;465;p65"/>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466" name="Google Shape;466;p65"/>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467" name="Google Shape;467;p65"/>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+91 78150 95095</a:t>
            </a:r>
            <a:endParaRPr sz="1000" b="0" i="0" u="none" strike="noStrike" cap="none">
              <a:solidFill>
                <a:schemeClr val="lt1"/>
              </a:solidFill>
              <a:latin typeface="Roboto"/>
              <a:ea typeface="Roboto"/>
              <a:cs typeface="Roboto"/>
              <a:sym typeface="Roboto"/>
            </a:endParaRPr>
          </a:p>
        </p:txBody>
      </p:sp>
      <p:cxnSp>
        <p:nvCxnSpPr>
          <p:cNvPr id="468" name="Google Shape;468;p65"/>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469" name="Google Shape;469;p65"/>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codemithra@ethnus.com</a:t>
            </a:r>
            <a:endParaRPr sz="1000" b="0" i="0" u="none" strike="noStrike" cap="none">
              <a:solidFill>
                <a:schemeClr val="lt1"/>
              </a:solidFill>
              <a:latin typeface="Roboto"/>
              <a:ea typeface="Roboto"/>
              <a:cs typeface="Roboto"/>
              <a:sym typeface="Roboto"/>
            </a:endParaRPr>
          </a:p>
        </p:txBody>
      </p:sp>
      <p:pic>
        <p:nvPicPr>
          <p:cNvPr id="470" name="Google Shape;470;p65"/>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471" name="Google Shape;471;p65"/>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www.codemithra.com</a:t>
            </a:r>
            <a:endParaRPr sz="1000" b="0" i="0" u="none" strike="noStrike" cap="none">
              <a:solidFill>
                <a:schemeClr val="lt1"/>
              </a:solidFill>
              <a:latin typeface="Roboto"/>
              <a:ea typeface="Roboto"/>
              <a:cs typeface="Roboto"/>
              <a:sym typeface="Roboto"/>
            </a:endParaRPr>
          </a:p>
        </p:txBody>
      </p:sp>
      <p:cxnSp>
        <p:nvCxnSpPr>
          <p:cNvPr id="472" name="Google Shape;472;p65"/>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1585</Words>
  <Application>Microsoft Office PowerPoint</Application>
  <PresentationFormat>On-screen Show (16:9)</PresentationFormat>
  <Paragraphs>152</Paragraphs>
  <Slides>19</Slides>
  <Notes>18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19</vt:i4>
      </vt:variant>
    </vt:vector>
  </HeadingPairs>
  <TitlesOfParts>
    <vt:vector size="26" baseType="lpstr">
      <vt:lpstr>Wingdings</vt:lpstr>
      <vt:lpstr>Roboto</vt:lpstr>
      <vt:lpstr>Arial</vt:lpstr>
      <vt:lpstr>Consolas</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lastModifiedBy>dheebanrajips@gmail.com</cp:lastModifiedBy>
  <cp:revision>2</cp:revision>
  <dcterms:created xsi:type="dcterms:W3CDTF">2022-10-05T06:20:26Z</dcterms:created>
  <dcterms:modified xsi:type="dcterms:W3CDTF">2024-09-03T05:27:04Z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5AF2CBCEB9C44D759E6C7127A2DBAAD4</vt:lpwstr>
  </property>
  <property fmtid="{D5CDD505-2E9C-101B-9397-08002B2CF9AE}" pid="3" name="KSOProductBuildVer">
    <vt:lpwstr>1033-11.2.0.11341</vt:lpwstr>
  </property>
</Properties>
</file>