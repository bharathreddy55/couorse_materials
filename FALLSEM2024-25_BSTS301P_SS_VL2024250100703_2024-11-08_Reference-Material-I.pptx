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69" r:id="rId3"/>
  </p:sldMasterIdLst>
  <p:notesMasterIdLst>
    <p:notesMasterId r:id="rId19"/>
  </p:notesMasterIdLst>
  <p:sldIdLst>
    <p:sldId id="256" r:id="rId4"/>
    <p:sldId id="257" r:id="rId5"/>
    <p:sldId id="304" r:id="rId6"/>
    <p:sldId id="258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03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iHiSzDa0vTNjS1xHGCbJH/tB5Z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82" y="629"/>
      </p:cViewPr>
      <p:guideLst>
        <p:guide pos="454"/>
        <p:guide orient="horz" pos="2755"/>
        <p:guide orient="horz" pos="907"/>
        <p:guide pos="5272"/>
        <p:guide orient="horz" pos="737"/>
        <p:guide orient="horz" pos="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6.fntdata"/><Relationship Id="rId6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66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6773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770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1733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5470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0891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6420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1498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7280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296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0400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4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2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" name="Google Shape;104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1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1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3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1834e442a_2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g2f1834e442a_2_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" name="Google Shape;92;p2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AEkomEEm51wVk58EA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1" name="Google Shape;14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2" name="Google Shape;14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1" name="Google Shape;15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3"/>
          <p:cNvSpPr txBox="1"/>
          <p:nvPr/>
        </p:nvSpPr>
        <p:spPr>
          <a:xfrm>
            <a:off x="163133" y="1771546"/>
            <a:ext cx="4690800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 QUEENS</a:t>
            </a:r>
            <a:endParaRPr sz="32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57BB2A1-C78A-7641-FBC7-AE1DF68F060F}"/>
              </a:ext>
            </a:extLst>
          </p:cNvPr>
          <p:cNvSpPr txBox="1"/>
          <p:nvPr/>
        </p:nvSpPr>
        <p:spPr>
          <a:xfrm>
            <a:off x="2286000" y="241862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6FB7E3-26CE-57E4-9DE1-59F1CE280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642" y="2418624"/>
            <a:ext cx="2303526" cy="20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52B57B-837D-2B4F-E952-CD4A5509FA21}"/>
              </a:ext>
            </a:extLst>
          </p:cNvPr>
          <p:cNvSpPr txBox="1"/>
          <p:nvPr/>
        </p:nvSpPr>
        <p:spPr>
          <a:xfrm>
            <a:off x="963168" y="1398508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URL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r>
              <a:rPr lang="en-IN" sz="1400" b="1" i="0" u="sng" strike="noStrike" dirty="0">
                <a:solidFill>
                  <a:srgbClr val="0097A7"/>
                </a:solidFill>
                <a:effectLst/>
                <a:latin typeface="Roboto" panose="02000000000000000000" pitchFamily="2" charset="0"/>
                <a:hlinkClick r:id="rId3"/>
              </a:rPr>
              <a:t>https://forms.gle/AEkomEEm51wVk58EA</a:t>
            </a:r>
            <a:endParaRPr lang="en-IN" b="0" dirty="0">
              <a:effectLst/>
            </a:endParaRPr>
          </a:p>
          <a:p>
            <a:br>
              <a:rPr lang="en-IN" b="0" dirty="0">
                <a:effectLst/>
              </a:rPr>
            </a:b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QR CODE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777494-D46E-951D-5155-3CAC0FC8A188}"/>
              </a:ext>
            </a:extLst>
          </p:cNvPr>
          <p:cNvSpPr txBox="1"/>
          <p:nvPr/>
        </p:nvSpPr>
        <p:spPr>
          <a:xfrm>
            <a:off x="1798320" y="519118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                   TEST TIME ON MAZE SOLVING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621407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g257a906caec_0_0">
            <a:extLst>
              <a:ext uri="{FF2B5EF4-FFF2-40B4-BE49-F238E27FC236}">
                <a16:creationId xmlns:a16="http://schemas.microsoft.com/office/drawing/2014/main" id="{1DA0A017-745B-FBC2-E2D1-5BFEFA3D982C}"/>
              </a:ext>
            </a:extLst>
          </p:cNvPr>
          <p:cNvSpPr/>
          <p:nvPr/>
        </p:nvSpPr>
        <p:spPr>
          <a:xfrm>
            <a:off x="3038989" y="39890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N-QUEENS PROBLEM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68;g257a906caec_0_0">
            <a:extLst>
              <a:ext uri="{FF2B5EF4-FFF2-40B4-BE49-F238E27FC236}">
                <a16:creationId xmlns:a16="http://schemas.microsoft.com/office/drawing/2014/main" id="{B1B7B35B-4558-04B5-8393-B5CA4BA7536D}"/>
              </a:ext>
            </a:extLst>
          </p:cNvPr>
          <p:cNvSpPr txBox="1"/>
          <p:nvPr/>
        </p:nvSpPr>
        <p:spPr>
          <a:xfrm>
            <a:off x="673039" y="1236726"/>
            <a:ext cx="7978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N-Queens problem is a classic combinatorial puzzle and a well-known problem in the field of computer science and mathematics. It involves placing N chess queens on an N×N chessboard in such a way that no two queens threaten each other. In other words, no two queens can share the same row, column, or diagonal on the chessboard.</a:t>
            </a:r>
            <a:endParaRPr sz="12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g257a906caec_0_0">
            <a:extLst>
              <a:ext uri="{FF2B5EF4-FFF2-40B4-BE49-F238E27FC236}">
                <a16:creationId xmlns:a16="http://schemas.microsoft.com/office/drawing/2014/main" id="{1DA0A017-745B-FBC2-E2D1-5BFEFA3D982C}"/>
              </a:ext>
            </a:extLst>
          </p:cNvPr>
          <p:cNvSpPr/>
          <p:nvPr/>
        </p:nvSpPr>
        <p:spPr>
          <a:xfrm>
            <a:off x="3038989" y="39890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N-QUEENS PROBLEM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75;p3">
            <a:extLst>
              <a:ext uri="{FF2B5EF4-FFF2-40B4-BE49-F238E27FC236}">
                <a16:creationId xmlns:a16="http://schemas.microsoft.com/office/drawing/2014/main" id="{FCA3D300-7C36-D610-3512-27426C19AA40}"/>
              </a:ext>
            </a:extLst>
          </p:cNvPr>
          <p:cNvSpPr txBox="1"/>
          <p:nvPr/>
        </p:nvSpPr>
        <p:spPr>
          <a:xfrm>
            <a:off x="582930" y="895350"/>
            <a:ext cx="7978200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Key rules of the N-Queens problem: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 Two Queens in the Same Row: There can be at most one queen in each row of the chessboard.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 Two Queens in the Same Column: There can be at most one queen in each column of the chessboard.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 Two Queens in the Same Diagonal: No two queens can be placed in positions where they can attack each other diagonally.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049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g257a906caec_0_0">
            <a:extLst>
              <a:ext uri="{FF2B5EF4-FFF2-40B4-BE49-F238E27FC236}">
                <a16:creationId xmlns:a16="http://schemas.microsoft.com/office/drawing/2014/main" id="{1DA0A017-745B-FBC2-E2D1-5BFEFA3D982C}"/>
              </a:ext>
            </a:extLst>
          </p:cNvPr>
          <p:cNvSpPr/>
          <p:nvPr/>
        </p:nvSpPr>
        <p:spPr>
          <a:xfrm>
            <a:off x="3038989" y="39890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N-QUEENS PROBLEM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82;p4">
            <a:extLst>
              <a:ext uri="{FF2B5EF4-FFF2-40B4-BE49-F238E27FC236}">
                <a16:creationId xmlns:a16="http://schemas.microsoft.com/office/drawing/2014/main" id="{2298FFA3-404C-6F3F-B4FD-042487E20C56}"/>
              </a:ext>
            </a:extLst>
          </p:cNvPr>
          <p:cNvSpPr txBox="1"/>
          <p:nvPr/>
        </p:nvSpPr>
        <p:spPr>
          <a:xfrm>
            <a:off x="679574" y="1371136"/>
            <a:ext cx="7978200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Goal of the N-Queens problem: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goal is to find all possible solutions or configurations in which N queens can be placed on the N×N chessboard without violating these rules.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1077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g257a906caec_0_0">
            <a:extLst>
              <a:ext uri="{FF2B5EF4-FFF2-40B4-BE49-F238E27FC236}">
                <a16:creationId xmlns:a16="http://schemas.microsoft.com/office/drawing/2014/main" id="{1DA0A017-745B-FBC2-E2D1-5BFEFA3D982C}"/>
              </a:ext>
            </a:extLst>
          </p:cNvPr>
          <p:cNvSpPr/>
          <p:nvPr/>
        </p:nvSpPr>
        <p:spPr>
          <a:xfrm>
            <a:off x="3038989" y="39890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N-QUEENS PROBLEM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89;p5">
            <a:extLst>
              <a:ext uri="{FF2B5EF4-FFF2-40B4-BE49-F238E27FC236}">
                <a16:creationId xmlns:a16="http://schemas.microsoft.com/office/drawing/2014/main" id="{8B431E63-C5F6-5D5C-4152-958FB3A4BF73}"/>
              </a:ext>
            </a:extLst>
          </p:cNvPr>
          <p:cNvSpPr txBox="1"/>
          <p:nvPr/>
        </p:nvSpPr>
        <p:spPr>
          <a:xfrm>
            <a:off x="673039" y="1048276"/>
            <a:ext cx="7978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N-Queens problem is named because it can be applied to chessboards of various sizes, where N represents the size of the board (e.g., 4x4, 8x8, etc.). Solving the N-Queens problem efficiently is a challenging task and is often used as an example in algorithm design and optimization. It has applications in artificial intelligence, constraint satisfaction problems, and optimization algorithms.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06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g257a906caec_0_0">
            <a:extLst>
              <a:ext uri="{FF2B5EF4-FFF2-40B4-BE49-F238E27FC236}">
                <a16:creationId xmlns:a16="http://schemas.microsoft.com/office/drawing/2014/main" id="{1DA0A017-745B-FBC2-E2D1-5BFEFA3D982C}"/>
              </a:ext>
            </a:extLst>
          </p:cNvPr>
          <p:cNvSpPr/>
          <p:nvPr/>
        </p:nvSpPr>
        <p:spPr>
          <a:xfrm>
            <a:off x="3038989" y="39890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N-QUEENS PROBLEM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g257a906caec_0_8">
            <a:extLst>
              <a:ext uri="{FF2B5EF4-FFF2-40B4-BE49-F238E27FC236}">
                <a16:creationId xmlns:a16="http://schemas.microsoft.com/office/drawing/2014/main" id="{4FC400BE-9AB9-DDAE-A577-18B3E5CFEE82}"/>
              </a:ext>
            </a:extLst>
          </p:cNvPr>
          <p:cNvSpPr txBox="1"/>
          <p:nvPr/>
        </p:nvSpPr>
        <p:spPr>
          <a:xfrm>
            <a:off x="673039" y="1126998"/>
            <a:ext cx="7978200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Backtracking Method of solving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idea is to place queens one by one in different columns, starting from the leftmost column.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When we place a queen in a column, we check for clashes with already placed queens.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 the current column, if we find a row for which there is no clash, we mark this row and column as part of the solution.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we do not find such a row due to clashes then we backtrack and return false.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03604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g257a906caec_0_0">
            <a:extLst>
              <a:ext uri="{FF2B5EF4-FFF2-40B4-BE49-F238E27FC236}">
                <a16:creationId xmlns:a16="http://schemas.microsoft.com/office/drawing/2014/main" id="{1DA0A017-745B-FBC2-E2D1-5BFEFA3D982C}"/>
              </a:ext>
            </a:extLst>
          </p:cNvPr>
          <p:cNvSpPr/>
          <p:nvPr/>
        </p:nvSpPr>
        <p:spPr>
          <a:xfrm>
            <a:off x="3038989" y="39890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N-QUEENS PROBLEM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03;g257a906caec_0_15">
            <a:extLst>
              <a:ext uri="{FF2B5EF4-FFF2-40B4-BE49-F238E27FC236}">
                <a16:creationId xmlns:a16="http://schemas.microsoft.com/office/drawing/2014/main" id="{3094297E-E367-533F-F84F-CF7A7C810C9E}"/>
              </a:ext>
            </a:extLst>
          </p:cNvPr>
          <p:cNvSpPr txBox="1"/>
          <p:nvPr/>
        </p:nvSpPr>
        <p:spPr>
          <a:xfrm>
            <a:off x="472013" y="877983"/>
            <a:ext cx="79782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Backtracking Algorithm </a:t>
            </a: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1) Start in the leftmost column</a:t>
            </a: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2) If all queens are placed return true</a:t>
            </a: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3) Try all rows in the current column. </a:t>
            </a: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Do following for every tried row.</a:t>
            </a: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a) If the queen can be placed safely in this row then mark this [row, column] as part of the solution and recursively check if placing queen here leads to a solution.</a:t>
            </a: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b) If placing the queen in [row, column] leads to a solution then return true.</a:t>
            </a: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c) If placing queen doesn't lead to a solution then unmark this [row, column] (Backtrack) and go to step (a) to try other rows.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4) If all rows have been tried and nothing worked, return false to trigger backtracking.</a:t>
            </a:r>
            <a:endParaRPr sz="14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983003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g257a906caec_0_0">
            <a:extLst>
              <a:ext uri="{FF2B5EF4-FFF2-40B4-BE49-F238E27FC236}">
                <a16:creationId xmlns:a16="http://schemas.microsoft.com/office/drawing/2014/main" id="{1DA0A017-745B-FBC2-E2D1-5BFEFA3D982C}"/>
              </a:ext>
            </a:extLst>
          </p:cNvPr>
          <p:cNvSpPr/>
          <p:nvPr/>
        </p:nvSpPr>
        <p:spPr>
          <a:xfrm>
            <a:off x="3038989" y="39890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N-QUEENS PROBLEM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E537A-CEB7-B596-802B-DDAAD40F9AB5}"/>
              </a:ext>
            </a:extLst>
          </p:cNvPr>
          <p:cNvSpPr txBox="1"/>
          <p:nvPr/>
        </p:nvSpPr>
        <p:spPr>
          <a:xfrm>
            <a:off x="512064" y="1048801"/>
            <a:ext cx="7936992" cy="304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 lang="en-US" dirty="0"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You are given a Java program that solves the N-Queens problem. The program takes an input integer N representing the size of the chessboard and then attempts to find a valid placement of N queens on an </a:t>
            </a:r>
            <a:r>
              <a:rPr lang="en-US" sz="1400" b="0" i="0" u="none" strike="noStrike" cap="none" dirty="0" err="1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NxN</a:t>
            </a:r>
            <a:r>
              <a:rPr lang="en-US" sz="1400" b="0" i="0" u="none" strike="noStrike" cap="none" dirty="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 chessboard without any two queens threatening each other. If a solution exists, it prints the board with queens represented as 'Q' and empty cells as '-'. If no solution exists, it prints "No solution exists."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74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g257a906caec_0_0">
            <a:extLst>
              <a:ext uri="{FF2B5EF4-FFF2-40B4-BE49-F238E27FC236}">
                <a16:creationId xmlns:a16="http://schemas.microsoft.com/office/drawing/2014/main" id="{1DA0A017-745B-FBC2-E2D1-5BFEFA3D982C}"/>
              </a:ext>
            </a:extLst>
          </p:cNvPr>
          <p:cNvSpPr/>
          <p:nvPr/>
        </p:nvSpPr>
        <p:spPr>
          <a:xfrm>
            <a:off x="3038989" y="39890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N-QUEENS PROBLEM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640C3-7937-39E1-CA61-5741DF50131A}"/>
              </a:ext>
            </a:extLst>
          </p:cNvPr>
          <p:cNvSpPr txBox="1"/>
          <p:nvPr/>
        </p:nvSpPr>
        <p:spPr>
          <a:xfrm>
            <a:off x="1231392" y="1089414"/>
            <a:ext cx="5626608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Sample input</a:t>
            </a:r>
            <a:endParaRPr lang="en-US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Enter the board size (N): 5</a:t>
            </a:r>
            <a:endParaRPr lang="en-US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Solution found:</a:t>
            </a:r>
            <a:endParaRPr lang="en-US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  - -  -  - </a:t>
            </a:r>
            <a:endParaRPr lang="en-US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 -  -  Q  - </a:t>
            </a:r>
            <a:endParaRPr lang="en-US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  Q  -  -  - </a:t>
            </a:r>
            <a:endParaRPr lang="en-US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-  -  -  Q </a:t>
            </a:r>
            <a:endParaRPr lang="en-US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-  Q  -  - </a:t>
            </a:r>
          </a:p>
        </p:txBody>
      </p:sp>
    </p:spTree>
    <p:extLst>
      <p:ext uri="{BB962C8B-B14F-4D97-AF65-F5344CB8AC3E}">
        <p14:creationId xmlns:p14="http://schemas.microsoft.com/office/powerpoint/2010/main" val="3606787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134;g257a906caec_0_172">
            <a:extLst>
              <a:ext uri="{FF2B5EF4-FFF2-40B4-BE49-F238E27FC236}">
                <a16:creationId xmlns:a16="http://schemas.microsoft.com/office/drawing/2014/main" id="{373B435D-E4D9-0092-7433-3A8140A7D8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6456540"/>
              </p:ext>
            </p:extLst>
          </p:nvPr>
        </p:nvGraphicFramePr>
        <p:xfrm>
          <a:off x="178425" y="773192"/>
          <a:ext cx="8787150" cy="4240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0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import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java.util.Scanner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public class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NQueens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public static void main(String[]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args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Scanner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sc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= new Scanner(System.in);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System.out.print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("Enter the board size (N): ");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int n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sc.nextInt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();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char[][] board = new char[n][n];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for (int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= 0;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&lt; n;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++)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    for (int j = 0; j &lt; n;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j++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        board[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][j] = '-';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if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solveNQueens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(board, 0, n))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 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System.out.println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("Solution found:");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    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printSolution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(board, n);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} else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 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System.out.println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("No solution exists.");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public static void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printSolution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(char[][] board, int n)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for (int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= 0;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&lt; n;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++)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    for (int j = 0; j &lt; n;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j++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     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System.out.print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(" " + board[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][j] + " ");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 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System.out.println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();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   public static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boolean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sym typeface="Consolas"/>
                        </a:rPr>
                        <a:t>isSafe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Consolas"/>
                        </a:rPr>
                        <a:t>(char[][] board, int row, int col, int n)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135;g257a906caec_0_172">
            <a:extLst>
              <a:ext uri="{FF2B5EF4-FFF2-40B4-BE49-F238E27FC236}">
                <a16:creationId xmlns:a16="http://schemas.microsoft.com/office/drawing/2014/main" id="{A9A4A729-EDC9-BD0E-046C-14D1FC65F9A5}"/>
              </a:ext>
            </a:extLst>
          </p:cNvPr>
          <p:cNvSpPr/>
          <p:nvPr/>
        </p:nvSpPr>
        <p:spPr>
          <a:xfrm>
            <a:off x="3419850" y="318110"/>
            <a:ext cx="2304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Solution</a:t>
            </a:r>
            <a:endParaRPr sz="1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2033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143;p8">
            <a:extLst>
              <a:ext uri="{FF2B5EF4-FFF2-40B4-BE49-F238E27FC236}">
                <a16:creationId xmlns:a16="http://schemas.microsoft.com/office/drawing/2014/main" id="{3EC72CBF-B92B-F907-EB33-6D230BFD8E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9624765"/>
              </p:ext>
            </p:extLst>
          </p:nvPr>
        </p:nvGraphicFramePr>
        <p:xfrm>
          <a:off x="0" y="761000"/>
          <a:ext cx="8876375" cy="424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0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int i, j;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// Check this row on the left side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for (i = 0; i &lt; col; i++)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    if (board[row][i] == 'Q')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        return false;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    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sym typeface="Consolas"/>
                        </a:rPr>
                        <a:t> // Check upper diagonal on the left side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sym typeface="Consolas"/>
                        </a:rPr>
                        <a:t>for (i = row, j = col; i &gt;= 0 &amp;&amp; j &gt;= 0; i--, j--)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sym typeface="Consolas"/>
                        </a:rPr>
                        <a:t>           if (board[i][j] == 'Q')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sym typeface="Consolas"/>
                        </a:rPr>
                        <a:t>                return false;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sym typeface="Consolas"/>
                        </a:rPr>
                        <a:t>            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sym typeface="Consolas"/>
                        </a:rPr>
                        <a:t>        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sym typeface="Consolas"/>
                        </a:rPr>
                        <a:t>  // Check lower diagonal on the left side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sym typeface="Consolas"/>
                        </a:rPr>
                        <a:t>        for (i = row, j = col; i &lt; n &amp;&amp; j &gt;= 0; i++, j--)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sym typeface="Consolas"/>
                        </a:rPr>
                        <a:t>            if (board[i][j] == 'Q')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sym typeface="Consolas"/>
                        </a:rPr>
                        <a:t>                return false;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sym typeface="Consolas"/>
                        </a:rPr>
                        <a:t>            </a:t>
                      </a: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}}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return true;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public static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boolean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solveNQueens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(char[][] board, int col, int n)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if (col &gt;= n)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    return true;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for (int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= 0;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&lt; n;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++)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 if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isSafe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(board,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, col, n))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        board[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][col] = 'Q';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if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solveNQueens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(board, col + 1, n)) 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            return true;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    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        board[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][col] = '-';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    return false;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    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sym typeface="Consolas"/>
                        </a:rPr>
                        <a:t>}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135;g257a906caec_0_172">
            <a:extLst>
              <a:ext uri="{FF2B5EF4-FFF2-40B4-BE49-F238E27FC236}">
                <a16:creationId xmlns:a16="http://schemas.microsoft.com/office/drawing/2014/main" id="{8936C1C9-A7F1-2190-5EF9-1C6B41AB6FF9}"/>
              </a:ext>
            </a:extLst>
          </p:cNvPr>
          <p:cNvSpPr/>
          <p:nvPr/>
        </p:nvSpPr>
        <p:spPr>
          <a:xfrm>
            <a:off x="3286037" y="398900"/>
            <a:ext cx="2304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Solution</a:t>
            </a:r>
            <a:endParaRPr sz="1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6787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g257a906caec_0_0">
            <a:extLst>
              <a:ext uri="{FF2B5EF4-FFF2-40B4-BE49-F238E27FC236}">
                <a16:creationId xmlns:a16="http://schemas.microsoft.com/office/drawing/2014/main" id="{1DA0A017-745B-FBC2-E2D1-5BFEFA3D982C}"/>
              </a:ext>
            </a:extLst>
          </p:cNvPr>
          <p:cNvSpPr/>
          <p:nvPr/>
        </p:nvSpPr>
        <p:spPr>
          <a:xfrm>
            <a:off x="3038989" y="398900"/>
            <a:ext cx="3246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N-QUEENS PROBLEM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49;g257a906caec_0_30">
            <a:extLst>
              <a:ext uri="{FF2B5EF4-FFF2-40B4-BE49-F238E27FC236}">
                <a16:creationId xmlns:a16="http://schemas.microsoft.com/office/drawing/2014/main" id="{3CF9A0A9-CF21-2B8D-562E-5D61BD65B654}"/>
              </a:ext>
            </a:extLst>
          </p:cNvPr>
          <p:cNvSpPr txBox="1"/>
          <p:nvPr/>
        </p:nvSpPr>
        <p:spPr>
          <a:xfrm>
            <a:off x="582900" y="1294497"/>
            <a:ext cx="7978200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Optimization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idea is not to check every element in right and left diagonal instead use property of diagonals: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The sum of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j is constant and unique for each right diagonal where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is the row of element and j is the column of element.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The difference of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j is constant and unique for each left diagonal where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j are row and column of element respectively.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8277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462" name="Google Shape;462;p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3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5" name="Google Shape;465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6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6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0" name="Google Shape;470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6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1278</Words>
  <Application>Microsoft Office PowerPoint</Application>
  <PresentationFormat>On-screen Show (16:9)</PresentationFormat>
  <Paragraphs>135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Noto Sans Symbols</vt:lpstr>
      <vt:lpstr>Roboto</vt:lpstr>
      <vt:lpstr>Arial</vt:lpstr>
      <vt:lpstr>Consolas</vt:lpstr>
      <vt:lpstr>Simple Light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  <cp:lastModifiedBy>dheebanrajips@gmail.com</cp:lastModifiedBy>
  <cp:revision>1</cp:revision>
  <dcterms:created xsi:type="dcterms:W3CDTF">2022-10-05T06:20:26Z</dcterms:created>
  <dcterms:modified xsi:type="dcterms:W3CDTF">2024-09-04T06:32:31Z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5AF2CBCEB9C44D759E6C7127A2DBAAD4</vt:lpwstr>
  </property>
  <property fmtid="{D5CDD505-2E9C-101B-9397-08002B2CF9AE}" pid="3" name="KSOProductBuildVer">
    <vt:lpwstr>1033-11.2.0.11341</vt:lpwstr>
  </property>
</Properties>
</file>