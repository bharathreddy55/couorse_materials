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9" r:id="rId3"/>
  </p:sldMasterIdLst>
  <p:notesMasterIdLst>
    <p:notesMasterId r:id="rId21"/>
  </p:notesMasterIdLst>
  <p:sldIdLst>
    <p:sldId id="256" r:id="rId4"/>
    <p:sldId id="257" r:id="rId5"/>
    <p:sldId id="349" r:id="rId6"/>
    <p:sldId id="258"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03" r:id="rId20"/>
  </p:sldIdLst>
  <p:sldSz cx="9144000" cy="5143500" type="screen16x9"/>
  <p:notesSz cx="6858000" cy="9144000"/>
  <p:embeddedFontLst>
    <p:embeddedFont>
      <p:font typeface="Consolas" panose="020B0609020204030204" pitchFamily="49" charset="0"/>
      <p:regular r:id="rId22"/>
      <p:bold r:id="rId23"/>
      <p:italic r:id="rId24"/>
      <p:boldItalic r:id="rId25"/>
    </p:embeddedFont>
    <p:embeddedFont>
      <p:font typeface="Roboto"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HiSzDa0vTNjS1xHGCbJH/tB5Z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48" y="600"/>
      </p:cViewPr>
      <p:guideLst>
        <p:guide pos="454"/>
        <p:guide orient="horz" pos="2755"/>
        <p:guide orient="horz" pos="907"/>
        <p:guide pos="5272"/>
        <p:guide orient="horz" pos="737"/>
        <p:guide orient="horz" pos="3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6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66"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69"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7113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500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295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2367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3423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0063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6778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5213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3715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1473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8292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7132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6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14" name="Google Shape;14;p66"/>
          <p:cNvPicPr preferRelativeResize="0"/>
          <p:nvPr/>
        </p:nvPicPr>
        <p:blipFill rotWithShape="1">
          <a:blip r:embed="rId2">
            <a:alphaModFix/>
          </a:blip>
          <a:srcRect/>
          <a:stretch/>
        </p:blipFill>
        <p:spPr>
          <a:xfrm>
            <a:off x="-1" y="7219"/>
            <a:ext cx="9144001" cy="51362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5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5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5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5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6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6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0" name="Google Shape;6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7" name="Google Shape;6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1" name="Google Shape;71;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2" name="Google Shape;72;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3" name="Google Shape;73;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4"/>
        <p:cNvGrpSpPr/>
        <p:nvPr/>
      </p:nvGrpSpPr>
      <p:grpSpPr>
        <a:xfrm>
          <a:off x="0" y="0"/>
          <a:ext cx="0" cy="0"/>
          <a:chOff x="0" y="0"/>
          <a:chExt cx="0" cy="0"/>
        </a:xfrm>
      </p:grpSpPr>
      <p:sp>
        <p:nvSpPr>
          <p:cNvPr id="75" name="Google Shape;75;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76" name="Google Shape;76;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80" name="Google Shape;8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81"/>
        <p:cNvGrpSpPr/>
        <p:nvPr/>
      </p:nvGrpSpPr>
      <p:grpSpPr>
        <a:xfrm>
          <a:off x="0" y="0"/>
          <a:ext cx="0" cy="0"/>
          <a:chOff x="0" y="0"/>
          <a:chExt cx="0" cy="0"/>
        </a:xfrm>
      </p:grpSpPr>
      <p:pic>
        <p:nvPicPr>
          <p:cNvPr id="82" name="Google Shape;82;p44"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83" name="Google Shape;83;p44" descr="A picture containing colorful, colored&#10;&#10;Description generated with very high confidence"/>
          <p:cNvPicPr preferRelativeResize="0"/>
          <p:nvPr/>
        </p:nvPicPr>
        <p:blipFill rotWithShape="1">
          <a:blip r:embed="rId3">
            <a:alphaModFix/>
          </a:blip>
          <a:srcRect t="55602" b="37530"/>
          <a:stretch/>
        </p:blipFill>
        <p:spPr>
          <a:xfrm>
            <a:off x="0" y="4849200"/>
            <a:ext cx="9144000" cy="294300"/>
          </a:xfrm>
          <a:prstGeom prst="rect">
            <a:avLst/>
          </a:prstGeom>
          <a:noFill/>
          <a:ln>
            <a:noFill/>
          </a:ln>
        </p:spPr>
      </p:pic>
      <p:sp>
        <p:nvSpPr>
          <p:cNvPr id="84" name="Google Shape;84;p44"/>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5" name="Google Shape;85;p44"/>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6" name="Google Shape;86;p44"/>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7" name="Google Shape;87;p44"/>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6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4" name="Google Shape;104;p6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5" name="Google Shape;105;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2">
    <p:spTree>
      <p:nvGrpSpPr>
        <p:cNvPr id="1" name="Shape 10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0"/>
        <p:cNvGrpSpPr/>
        <p:nvPr/>
      </p:nvGrpSpPr>
      <p:grpSpPr>
        <a:xfrm>
          <a:off x="0" y="0"/>
          <a:ext cx="0" cy="0"/>
          <a:chOff x="0" y="0"/>
          <a:chExt cx="0" cy="0"/>
        </a:xfrm>
      </p:grpSpPr>
      <p:sp>
        <p:nvSpPr>
          <p:cNvPr id="111" name="Google Shape;111;p4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12" name="Google Shape;11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4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6" name="Google Shape;116;p4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7" name="Google Shape;117;p4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18" name="Google Shape;11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4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21" name="Google Shape;121;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2"/>
        <p:cNvGrpSpPr/>
        <p:nvPr/>
      </p:nvGrpSpPr>
      <p:grpSpPr>
        <a:xfrm>
          <a:off x="0" y="0"/>
          <a:ext cx="0" cy="0"/>
          <a:chOff x="0" y="0"/>
          <a:chExt cx="0" cy="0"/>
        </a:xfrm>
      </p:grpSpPr>
      <p:sp>
        <p:nvSpPr>
          <p:cNvPr id="123" name="Google Shape;123;p5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4" name="Google Shape;124;p5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25" name="Google Shape;12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126"/>
        <p:cNvGrpSpPr/>
        <p:nvPr/>
      </p:nvGrpSpPr>
      <p:grpSpPr>
        <a:xfrm>
          <a:off x="0" y="0"/>
          <a:ext cx="0" cy="0"/>
          <a:chOff x="0" y="0"/>
          <a:chExt cx="0" cy="0"/>
        </a:xfrm>
      </p:grpSpPr>
      <p:pic>
        <p:nvPicPr>
          <p:cNvPr id="127" name="Google Shape;127;p51"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128" name="Google Shape;128;p51" descr="A picture containing colorful, colored&#10;&#10;Description generated with very high confidence"/>
          <p:cNvPicPr preferRelativeResize="0"/>
          <p:nvPr/>
        </p:nvPicPr>
        <p:blipFill rotWithShape="1">
          <a:blip r:embed="rId3">
            <a:alphaModFix/>
          </a:blip>
          <a:srcRect t="55603" b="37530"/>
          <a:stretch/>
        </p:blipFill>
        <p:spPr>
          <a:xfrm>
            <a:off x="0" y="4849200"/>
            <a:ext cx="9144000" cy="294300"/>
          </a:xfrm>
          <a:prstGeom prst="rect">
            <a:avLst/>
          </a:prstGeom>
          <a:noFill/>
          <a:ln>
            <a:noFill/>
          </a:ln>
        </p:spPr>
      </p:pic>
      <p:sp>
        <p:nvSpPr>
          <p:cNvPr id="129" name="Google Shape;129;p51"/>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 name="Google Shape;130;p51"/>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1" name="Google Shape;131;p51"/>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2" name="Google Shape;132;p51"/>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3"/>
        <p:cNvGrpSpPr/>
        <p:nvPr/>
      </p:nvGrpSpPr>
      <p:grpSpPr>
        <a:xfrm>
          <a:off x="0" y="0"/>
          <a:ext cx="0" cy="0"/>
          <a:chOff x="0" y="0"/>
          <a:chExt cx="0" cy="0"/>
        </a:xfrm>
      </p:grpSpPr>
      <p:sp>
        <p:nvSpPr>
          <p:cNvPr id="134" name="Google Shape;134;g2f1834e442a_2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5" name="Google Shape;135;g2f1834e442a_2_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jp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1.jpg"/><Relationship Id="rId5" Type="http://schemas.openxmlformats.org/officeDocument/2006/relationships/slideLayout" Target="../slideLayouts/slideLayout24.xml"/><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 name="Google Shape;9;p24"/>
          <p:cNvPicPr preferRelativeResize="0"/>
          <p:nvPr/>
        </p:nvPicPr>
        <p:blipFill rotWithShape="1">
          <a:blip r:embed="rId13">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
        <p:cNvGrpSpPr/>
        <p:nvPr/>
      </p:nvGrpSpPr>
      <p:grpSpPr>
        <a:xfrm>
          <a:off x="0" y="0"/>
          <a:ext cx="0" cy="0"/>
          <a:chOff x="0" y="0"/>
          <a:chExt cx="0" cy="0"/>
        </a:xfrm>
      </p:grpSpPr>
      <p:sp>
        <p:nvSpPr>
          <p:cNvPr id="53" name="Google Shape;5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56" name="Google Shape;56;p26"/>
          <p:cNvPicPr preferRelativeResize="0"/>
          <p:nvPr/>
        </p:nvPicPr>
        <p:blipFill rotWithShape="1">
          <a:blip r:embed="rId10">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0" name="Google Shape;90;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1" name="Google Shape;9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2" name="Google Shape;92;p29"/>
          <p:cNvPicPr preferRelativeResize="0"/>
          <p:nvPr/>
        </p:nvPicPr>
        <p:blipFill rotWithShape="1">
          <a:blip r:embed="rId11">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fbopASmReiwLuH8L9"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41" name="Google Shape;141;p6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142" name="Google Shape;142;p62"/>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143" name="Google Shape;143;p62"/>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144" name="Google Shape;144;p62"/>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50" name="Google Shape;150;p6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51" name="Google Shape;151;p63"/>
          <p:cNvPicPr preferRelativeResize="0"/>
          <p:nvPr/>
        </p:nvPicPr>
        <p:blipFill rotWithShape="1">
          <a:blip r:embed="rId3">
            <a:alphaModFix/>
          </a:blip>
          <a:srcRect/>
          <a:stretch/>
        </p:blipFill>
        <p:spPr>
          <a:xfrm>
            <a:off x="2" y="4"/>
            <a:ext cx="9144003" cy="5143501"/>
          </a:xfrm>
          <a:prstGeom prst="rect">
            <a:avLst/>
          </a:prstGeom>
          <a:noFill/>
          <a:ln>
            <a:noFill/>
          </a:ln>
        </p:spPr>
      </p:pic>
      <p:sp>
        <p:nvSpPr>
          <p:cNvPr id="152" name="Google Shape;152;p63"/>
          <p:cNvSpPr txBox="1"/>
          <p:nvPr/>
        </p:nvSpPr>
        <p:spPr>
          <a:xfrm>
            <a:off x="163133" y="1771546"/>
            <a:ext cx="4690800" cy="1317253"/>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3200"/>
              <a:buFont typeface="Arial"/>
              <a:buNone/>
            </a:pPr>
            <a:r>
              <a:rPr lang="en-IN" sz="3200" b="1" i="0" u="none" strike="noStrike" cap="none" dirty="0">
                <a:solidFill>
                  <a:schemeClr val="lt1"/>
                </a:solidFill>
                <a:latin typeface="Roboto"/>
                <a:ea typeface="Roboto"/>
                <a:cs typeface="Roboto"/>
                <a:sym typeface="Roboto"/>
              </a:rPr>
              <a:t> </a:t>
            </a:r>
            <a:r>
              <a:rPr lang="en-US" sz="3200" b="1" i="0" u="none" strike="noStrike" cap="none" dirty="0">
                <a:solidFill>
                  <a:schemeClr val="lt1"/>
                </a:solidFill>
                <a:latin typeface="Arial"/>
                <a:ea typeface="Arial"/>
                <a:cs typeface="Arial"/>
                <a:sym typeface="Arial"/>
              </a:rPr>
              <a:t>WARNSDORFF’S ALGORITHM</a:t>
            </a:r>
            <a:endParaRPr sz="3200" b="1" i="0" u="none" strike="noStrike" cap="none" dirty="0">
              <a:solidFill>
                <a:schemeClr val="lt1"/>
              </a:solidFill>
              <a:latin typeface="Roboto"/>
              <a:ea typeface="Roboto"/>
              <a:cs typeface="Roboto"/>
              <a:sym typeface="Roboto"/>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8F3EDD4-A8BC-C579-22CB-07A161A3F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9193" y="2481943"/>
            <a:ext cx="2223407" cy="19920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F471418-2373-5671-865E-860F5922BC0D}"/>
              </a:ext>
            </a:extLst>
          </p:cNvPr>
          <p:cNvSpPr txBox="1"/>
          <p:nvPr/>
        </p:nvSpPr>
        <p:spPr>
          <a:xfrm>
            <a:off x="1053193" y="1557439"/>
            <a:ext cx="4572000" cy="738664"/>
          </a:xfrm>
          <a:prstGeom prst="rect">
            <a:avLst/>
          </a:prstGeom>
          <a:noFill/>
        </p:spPr>
        <p:txBody>
          <a:bodyPr wrap="square">
            <a:spAutoFit/>
          </a:bodyPr>
          <a:lstStyle/>
          <a:p>
            <a:pPr rtl="0">
              <a:spcBef>
                <a:spcPts val="0"/>
              </a:spcBef>
              <a:spcAft>
                <a:spcPts val="0"/>
              </a:spcAft>
            </a:pPr>
            <a:r>
              <a:rPr lang="en-IN" sz="1400" b="1" i="0" u="none" strike="noStrike" dirty="0">
                <a:solidFill>
                  <a:srgbClr val="000000"/>
                </a:solidFill>
                <a:effectLst/>
                <a:latin typeface="Roboto" panose="02000000000000000000" pitchFamily="2" charset="0"/>
              </a:rPr>
              <a:t>URL</a:t>
            </a:r>
            <a:r>
              <a:rPr lang="en-IN" sz="1400" b="1" i="0" u="none" strike="noStrike" dirty="0">
                <a:solidFill>
                  <a:srgbClr val="373737"/>
                </a:solidFill>
                <a:effectLst/>
                <a:latin typeface="Roboto" panose="02000000000000000000" pitchFamily="2" charset="0"/>
              </a:rPr>
              <a:t>:</a:t>
            </a:r>
            <a:r>
              <a:rPr lang="en-IN" sz="1400" b="1" i="0" u="sng" strike="noStrike" dirty="0">
                <a:solidFill>
                  <a:srgbClr val="0097A7"/>
                </a:solidFill>
                <a:effectLst/>
                <a:latin typeface="Roboto" panose="02000000000000000000" pitchFamily="2" charset="0"/>
                <a:hlinkClick r:id="rId3"/>
              </a:rPr>
              <a:t>https://forms.gle/fbopASmReiwLuH8L9</a:t>
            </a:r>
            <a:endParaRPr lang="en-IN" b="0" dirty="0">
              <a:effectLst/>
            </a:endParaRPr>
          </a:p>
          <a:p>
            <a:br>
              <a:rPr lang="en-IN" b="0" dirty="0">
                <a:effectLst/>
              </a:rPr>
            </a:br>
            <a:r>
              <a:rPr lang="en-IN" sz="1400" b="1" i="0" u="none" strike="noStrike" dirty="0">
                <a:solidFill>
                  <a:srgbClr val="000000"/>
                </a:solidFill>
                <a:effectLst/>
                <a:latin typeface="Roboto" panose="02000000000000000000" pitchFamily="2" charset="0"/>
              </a:rPr>
              <a:t>QR CODE</a:t>
            </a:r>
            <a:r>
              <a:rPr lang="en-IN" sz="1400" b="1" i="0" u="none" strike="noStrike" dirty="0">
                <a:solidFill>
                  <a:srgbClr val="373737"/>
                </a:solidFill>
                <a:effectLst/>
                <a:latin typeface="Roboto" panose="02000000000000000000" pitchFamily="2" charset="0"/>
              </a:rPr>
              <a:t>:</a:t>
            </a:r>
            <a:endParaRPr lang="en-IN" dirty="0"/>
          </a:p>
        </p:txBody>
      </p:sp>
      <p:sp>
        <p:nvSpPr>
          <p:cNvPr id="7" name="TextBox 6">
            <a:extLst>
              <a:ext uri="{FF2B5EF4-FFF2-40B4-BE49-F238E27FC236}">
                <a16:creationId xmlns:a16="http://schemas.microsoft.com/office/drawing/2014/main" id="{0133CDEF-E542-5A03-F39F-DD9C7CEB9001}"/>
              </a:ext>
            </a:extLst>
          </p:cNvPr>
          <p:cNvSpPr txBox="1"/>
          <p:nvPr/>
        </p:nvSpPr>
        <p:spPr>
          <a:xfrm>
            <a:off x="1992085" y="523296"/>
            <a:ext cx="4572000" cy="738664"/>
          </a:xfrm>
          <a:prstGeom prst="rect">
            <a:avLst/>
          </a:prstGeom>
          <a:noFill/>
        </p:spPr>
        <p:txBody>
          <a:bodyPr wrap="square">
            <a:spAutoFit/>
          </a:bodyPr>
          <a:lstStyle/>
          <a:p>
            <a:pPr algn="ctr" rtl="0">
              <a:spcBef>
                <a:spcPts val="0"/>
              </a:spcBef>
              <a:spcAft>
                <a:spcPts val="0"/>
              </a:spcAft>
            </a:pPr>
            <a:r>
              <a:rPr lang="en-US" sz="1400" b="1" i="0" u="none" strike="noStrike" dirty="0">
                <a:solidFill>
                  <a:srgbClr val="000000"/>
                </a:solidFill>
                <a:effectLst/>
                <a:latin typeface="Roboto" panose="02000000000000000000" pitchFamily="2" charset="0"/>
              </a:rPr>
              <a:t>                    TEST TIME ON N QUEENS</a:t>
            </a:r>
            <a:endParaRPr lang="en-US" b="0" dirty="0">
              <a:effectLst/>
            </a:endParaRPr>
          </a:p>
          <a:p>
            <a:br>
              <a:rPr lang="en-US" b="0" dirty="0">
                <a:effectLst/>
              </a:rPr>
            </a:br>
            <a:endParaRPr lang="en-IN" dirty="0"/>
          </a:p>
        </p:txBody>
      </p:sp>
    </p:spTree>
    <p:extLst>
      <p:ext uri="{BB962C8B-B14F-4D97-AF65-F5344CB8AC3E}">
        <p14:creationId xmlns:p14="http://schemas.microsoft.com/office/powerpoint/2010/main" val="2842874049"/>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4" name="Google Shape;69;g257a53192e1_0_0">
            <a:extLst>
              <a:ext uri="{FF2B5EF4-FFF2-40B4-BE49-F238E27FC236}">
                <a16:creationId xmlns:a16="http://schemas.microsoft.com/office/drawing/2014/main" id="{B9EBB805-A046-1A9B-66AE-52ABFDEBE1A6}"/>
              </a:ext>
            </a:extLst>
          </p:cNvPr>
          <p:cNvSpPr txBox="1"/>
          <p:nvPr/>
        </p:nvSpPr>
        <p:spPr>
          <a:xfrm>
            <a:off x="582930" y="895350"/>
            <a:ext cx="6018592" cy="3631723"/>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Introduction:</a:t>
            </a:r>
          </a:p>
          <a:p>
            <a:pPr marL="0" marR="0" lvl="0" indent="0" algn="l" rtl="0">
              <a:lnSpc>
                <a:spcPct val="15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A knight's tour refers to a sequence of moves a knight makes on a chessboard, ensuring that it only visits every square once. </a:t>
            </a:r>
          </a:p>
          <a:p>
            <a:pPr marL="0" marR="0" lvl="0" indent="0" algn="l" rtl="0">
              <a:lnSpc>
                <a:spcPct val="15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If the knight ends up on a square exactly one knight's move away from the starting square, the tour is considered closed; otherwise, it is open. </a:t>
            </a:r>
          </a:p>
          <a:p>
            <a:pPr marL="0" marR="0" lvl="0" indent="0" algn="l" rtl="0">
              <a:lnSpc>
                <a:spcPct val="15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The knight's tour problem is essentially the challenge of finding a solution to this problem.</a:t>
            </a: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pic>
        <p:nvPicPr>
          <p:cNvPr id="5" name="Google Shape;70;g257a53192e1_0_0">
            <a:extLst>
              <a:ext uri="{FF2B5EF4-FFF2-40B4-BE49-F238E27FC236}">
                <a16:creationId xmlns:a16="http://schemas.microsoft.com/office/drawing/2014/main" id="{AA3FECAE-E44D-CBC7-137C-47A276719F0D}"/>
              </a:ext>
            </a:extLst>
          </p:cNvPr>
          <p:cNvPicPr preferRelativeResize="0"/>
          <p:nvPr/>
        </p:nvPicPr>
        <p:blipFill rotWithShape="1">
          <a:blip r:embed="rId3">
            <a:alphaModFix/>
          </a:blip>
          <a:srcRect/>
          <a:stretch/>
        </p:blipFill>
        <p:spPr>
          <a:xfrm>
            <a:off x="6601522" y="1749330"/>
            <a:ext cx="2095499" cy="2095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pic>
        <p:nvPicPr>
          <p:cNvPr id="2" name="Google Shape;70;g257a53192e1_0_0">
            <a:extLst>
              <a:ext uri="{FF2B5EF4-FFF2-40B4-BE49-F238E27FC236}">
                <a16:creationId xmlns:a16="http://schemas.microsoft.com/office/drawing/2014/main" id="{30130A72-AE9B-30BA-5527-D522363986B8}"/>
              </a:ext>
            </a:extLst>
          </p:cNvPr>
          <p:cNvPicPr preferRelativeResize="0"/>
          <p:nvPr/>
        </p:nvPicPr>
        <p:blipFill rotWithShape="1">
          <a:blip r:embed="rId3">
            <a:alphaModFix/>
          </a:blip>
          <a:srcRect/>
          <a:stretch/>
        </p:blipFill>
        <p:spPr>
          <a:xfrm>
            <a:off x="6703925" y="1578642"/>
            <a:ext cx="2095499" cy="2095499"/>
          </a:xfrm>
          <a:prstGeom prst="rect">
            <a:avLst/>
          </a:prstGeom>
          <a:noFill/>
          <a:ln>
            <a:noFill/>
          </a:ln>
        </p:spPr>
      </p:pic>
      <p:sp>
        <p:nvSpPr>
          <p:cNvPr id="4" name="Google Shape;69;g257a53192e1_0_0">
            <a:extLst>
              <a:ext uri="{FF2B5EF4-FFF2-40B4-BE49-F238E27FC236}">
                <a16:creationId xmlns:a16="http://schemas.microsoft.com/office/drawing/2014/main" id="{6A1DD830-E7CD-9FB5-362D-E5B27410AD0E}"/>
              </a:ext>
            </a:extLst>
          </p:cNvPr>
          <p:cNvSpPr txBox="1"/>
          <p:nvPr/>
        </p:nvSpPr>
        <p:spPr>
          <a:xfrm>
            <a:off x="725947" y="1430609"/>
            <a:ext cx="6018592" cy="28007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Problem</a:t>
            </a:r>
          </a:p>
          <a:p>
            <a:pPr marL="0" marR="0" lvl="0" indent="0" algn="l" rtl="0">
              <a:lnSpc>
                <a:spcPct val="100000"/>
              </a:lnSpc>
              <a:spcBef>
                <a:spcPts val="0"/>
              </a:spcBef>
              <a:spcAft>
                <a:spcPts val="0"/>
              </a:spcAft>
              <a:buClr>
                <a:srgbClr val="000000"/>
              </a:buClr>
              <a:buSzPts val="2000"/>
              <a:buFont typeface="Arial"/>
              <a:buNone/>
            </a:pPr>
            <a:endParaRPr lang="en-US"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panose="020B0609020204030204" pitchFamily="49" charset="0"/>
                <a:sym typeface="Arial"/>
              </a:rPr>
              <a:t>Given a N*N board with the Knight placed on the first block of an empty board. </a:t>
            </a:r>
          </a:p>
          <a:p>
            <a:pPr marL="0" marR="0" lvl="0" indent="0" algn="l" rtl="0">
              <a:lnSpc>
                <a:spcPct val="100000"/>
              </a:lnSpc>
              <a:spcBef>
                <a:spcPts val="0"/>
              </a:spcBef>
              <a:spcAft>
                <a:spcPts val="0"/>
              </a:spcAft>
              <a:buClr>
                <a:srgbClr val="000000"/>
              </a:buClr>
              <a:buSzPts val="1800"/>
              <a:buFont typeface="Arial"/>
              <a:buNone/>
            </a:pPr>
            <a:endParaRPr lang="en-US"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panose="020B0609020204030204" pitchFamily="49" charset="0"/>
                <a:sym typeface="Arial"/>
              </a:rPr>
              <a:t>Moving according to the rules of chess knight must visit each square exactly once. </a:t>
            </a:r>
          </a:p>
          <a:p>
            <a:pPr marL="0" marR="0" lvl="0" indent="0" algn="l" rtl="0">
              <a:lnSpc>
                <a:spcPct val="100000"/>
              </a:lnSpc>
              <a:spcBef>
                <a:spcPts val="0"/>
              </a:spcBef>
              <a:spcAft>
                <a:spcPts val="0"/>
              </a:spcAft>
              <a:buClr>
                <a:srgbClr val="000000"/>
              </a:buClr>
              <a:buSzPts val="1800"/>
              <a:buFont typeface="Arial"/>
              <a:buNone/>
            </a:pPr>
            <a:endParaRPr lang="en-US"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panose="020B0609020204030204" pitchFamily="49" charset="0"/>
                <a:sym typeface="Arial"/>
              </a:rPr>
              <a:t>Print the order of each cell in which they are visited.</a:t>
            </a:r>
          </a:p>
          <a:p>
            <a:pPr marL="0" marR="0" lvl="0" indent="0" algn="l" rtl="0">
              <a:lnSpc>
                <a:spcPct val="100000"/>
              </a:lnSpc>
              <a:spcBef>
                <a:spcPts val="0"/>
              </a:spcBef>
              <a:spcAft>
                <a:spcPts val="0"/>
              </a:spcAft>
              <a:buClr>
                <a:srgbClr val="000000"/>
              </a:buClr>
              <a:buSzPts val="1800"/>
              <a:buFont typeface="Arial"/>
              <a:buNone/>
            </a:pPr>
            <a:endParaRPr lang="en-US" sz="1600" b="0" i="0" u="none" strike="noStrike" cap="none" dirty="0">
              <a:solidFill>
                <a:schemeClr val="dk1"/>
              </a:solidFill>
              <a:latin typeface="Consolas" panose="020B0609020204030204" pitchFamily="49" charset="0"/>
              <a:sym typeface="Arial"/>
            </a:endParaRPr>
          </a:p>
        </p:txBody>
      </p:sp>
    </p:spTree>
    <p:extLst>
      <p:ext uri="{BB962C8B-B14F-4D97-AF65-F5344CB8AC3E}">
        <p14:creationId xmlns:p14="http://schemas.microsoft.com/office/powerpoint/2010/main" val="94484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89;g257a53192e1_0_16">
            <a:extLst>
              <a:ext uri="{FF2B5EF4-FFF2-40B4-BE49-F238E27FC236}">
                <a16:creationId xmlns:a16="http://schemas.microsoft.com/office/drawing/2014/main" id="{2C84EF21-7AFD-C4F2-0F62-8933A8B920BD}"/>
              </a:ext>
            </a:extLst>
          </p:cNvPr>
          <p:cNvSpPr txBox="1"/>
          <p:nvPr/>
        </p:nvSpPr>
        <p:spPr>
          <a:xfrm>
            <a:off x="582930" y="895350"/>
            <a:ext cx="5632500" cy="181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An open knight's tour of a chessboard</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sp>
        <p:nvSpPr>
          <p:cNvPr id="4" name="Google Shape;89;g257a53192e1_0_16">
            <a:extLst>
              <a:ext uri="{FF2B5EF4-FFF2-40B4-BE49-F238E27FC236}">
                <a16:creationId xmlns:a16="http://schemas.microsoft.com/office/drawing/2014/main" id="{0EC1FF31-E23F-1693-0D9D-A4B1CB7DE4E5}"/>
              </a:ext>
            </a:extLst>
          </p:cNvPr>
          <p:cNvSpPr txBox="1"/>
          <p:nvPr/>
        </p:nvSpPr>
        <p:spPr>
          <a:xfrm>
            <a:off x="582930" y="895350"/>
            <a:ext cx="5632500" cy="181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An open knight's tour of a chessboard</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pic>
        <p:nvPicPr>
          <p:cNvPr id="5" name="Google Shape;90;g257a53192e1_0_16">
            <a:extLst>
              <a:ext uri="{FF2B5EF4-FFF2-40B4-BE49-F238E27FC236}">
                <a16:creationId xmlns:a16="http://schemas.microsoft.com/office/drawing/2014/main" id="{848C7C5A-AA64-FE94-556D-87F2DC3B0CFB}"/>
              </a:ext>
            </a:extLst>
          </p:cNvPr>
          <p:cNvPicPr preferRelativeResize="0"/>
          <p:nvPr/>
        </p:nvPicPr>
        <p:blipFill rotWithShape="1">
          <a:blip r:embed="rId3">
            <a:alphaModFix/>
          </a:blip>
          <a:srcRect/>
          <a:stretch/>
        </p:blipFill>
        <p:spPr>
          <a:xfrm>
            <a:off x="2808605" y="1594485"/>
            <a:ext cx="3261360" cy="2993390"/>
          </a:xfrm>
          <a:prstGeom prst="rect">
            <a:avLst/>
          </a:prstGeom>
          <a:noFill/>
          <a:ln>
            <a:noFill/>
          </a:ln>
        </p:spPr>
      </p:pic>
    </p:spTree>
    <p:extLst>
      <p:ext uri="{BB962C8B-B14F-4D97-AF65-F5344CB8AC3E}">
        <p14:creationId xmlns:p14="http://schemas.microsoft.com/office/powerpoint/2010/main" val="3779277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pic>
        <p:nvPicPr>
          <p:cNvPr id="2" name="Google Shape;100;g257a53192e1_0_24">
            <a:extLst>
              <a:ext uri="{FF2B5EF4-FFF2-40B4-BE49-F238E27FC236}">
                <a16:creationId xmlns:a16="http://schemas.microsoft.com/office/drawing/2014/main" id="{4B950D8D-D8E2-DE05-0063-438375623A64}"/>
              </a:ext>
            </a:extLst>
          </p:cNvPr>
          <p:cNvPicPr preferRelativeResize="0"/>
          <p:nvPr/>
        </p:nvPicPr>
        <p:blipFill rotWithShape="1">
          <a:blip r:embed="rId3">
            <a:alphaModFix/>
          </a:blip>
          <a:srcRect/>
          <a:stretch/>
        </p:blipFill>
        <p:spPr>
          <a:xfrm>
            <a:off x="6510021" y="1630681"/>
            <a:ext cx="2095499" cy="2095499"/>
          </a:xfrm>
          <a:prstGeom prst="rect">
            <a:avLst/>
          </a:prstGeom>
          <a:noFill/>
          <a:ln>
            <a:noFill/>
          </a:ln>
        </p:spPr>
      </p:pic>
      <p:sp>
        <p:nvSpPr>
          <p:cNvPr id="4" name="Google Shape;99;g257a53192e1_0_24">
            <a:extLst>
              <a:ext uri="{FF2B5EF4-FFF2-40B4-BE49-F238E27FC236}">
                <a16:creationId xmlns:a16="http://schemas.microsoft.com/office/drawing/2014/main" id="{3910A5B0-E833-1DCE-3297-D83A50C8D2B0}"/>
              </a:ext>
            </a:extLst>
          </p:cNvPr>
          <p:cNvSpPr txBox="1"/>
          <p:nvPr/>
        </p:nvSpPr>
        <p:spPr>
          <a:xfrm>
            <a:off x="399367" y="835075"/>
            <a:ext cx="5927091" cy="396551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Consolas" panose="020B0609020204030204" pitchFamily="49" charset="0"/>
                <a:sym typeface="Arial"/>
              </a:rPr>
              <a:t>Sample IO</a:t>
            </a:r>
            <a:endParaRPr sz="20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sng" strike="noStrike" cap="none" dirty="0">
                <a:solidFill>
                  <a:schemeClr val="dk1"/>
                </a:solidFill>
                <a:latin typeface="Consolas" panose="020B0609020204030204" pitchFamily="49" charset="0"/>
                <a:sym typeface="Arial"/>
              </a:rPr>
              <a:t>Input</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N = 8</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sng" strike="noStrike" cap="none" dirty="0">
                <a:solidFill>
                  <a:schemeClr val="dk1"/>
                </a:solidFill>
                <a:latin typeface="Consolas" panose="020B0609020204030204" pitchFamily="49" charset="0"/>
                <a:sym typeface="Arial"/>
              </a:rPr>
              <a:t>Output</a:t>
            </a:r>
            <a:endParaRPr sz="1400" b="0" i="0" u="sng"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 1  50  45  62  31  18   9  64</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46  61  32  49  10  63  30  17</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51   2  47  44  33  28  19   8</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60  35  42  27  48  11  16  29</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41  52   3  34  43  24   7  20</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36  59  38  55  26  21  12  15</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53  40  57   4  23  14  25   6</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58  37  54  39  56   5  22  13</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sng" strike="noStrike" cap="none" dirty="0">
                <a:solidFill>
                  <a:schemeClr val="dk1"/>
                </a:solidFill>
                <a:latin typeface="Consolas" panose="020B0609020204030204" pitchFamily="49" charset="0"/>
                <a:sym typeface="Arial"/>
              </a:rPr>
              <a:t>Explanation</a:t>
            </a:r>
            <a:endParaRPr sz="14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panose="020B0609020204030204" pitchFamily="49" charset="0"/>
                <a:sym typeface="Arial"/>
              </a:rPr>
              <a:t>The tour is started from the leftmost corner (marked as 1)</a:t>
            </a:r>
            <a:endParaRPr sz="1400" b="0" i="0" u="none" strike="noStrike" cap="none" dirty="0">
              <a:solidFill>
                <a:schemeClr val="dk1"/>
              </a:solidFill>
              <a:latin typeface="Consolas" panose="020B0609020204030204" pitchFamily="49" charset="0"/>
              <a:sym typeface="Arial"/>
            </a:endParaRPr>
          </a:p>
        </p:txBody>
      </p:sp>
    </p:spTree>
    <p:extLst>
      <p:ext uri="{BB962C8B-B14F-4D97-AF65-F5344CB8AC3E}">
        <p14:creationId xmlns:p14="http://schemas.microsoft.com/office/powerpoint/2010/main" val="3990768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09;g257a53192e1_0_32">
            <a:extLst>
              <a:ext uri="{FF2B5EF4-FFF2-40B4-BE49-F238E27FC236}">
                <a16:creationId xmlns:a16="http://schemas.microsoft.com/office/drawing/2014/main" id="{D5F47BB6-4029-16BF-8F50-F572FFB9A2E4}"/>
              </a:ext>
            </a:extLst>
          </p:cNvPr>
          <p:cNvSpPr txBox="1"/>
          <p:nvPr/>
        </p:nvSpPr>
        <p:spPr>
          <a:xfrm>
            <a:off x="582930" y="895350"/>
            <a:ext cx="5632500" cy="55395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Naive Algorithm</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sng" strike="noStrike" cap="none" dirty="0">
              <a:solidFill>
                <a:schemeClr val="dk1"/>
              </a:solidFill>
              <a:latin typeface="Arial"/>
              <a:ea typeface="Arial"/>
              <a:cs typeface="Arial"/>
              <a:sym typeface="Arial"/>
            </a:endParaRPr>
          </a:p>
        </p:txBody>
      </p:sp>
      <p:pic>
        <p:nvPicPr>
          <p:cNvPr id="4" name="Google Shape;110;g257a53192e1_0_32">
            <a:extLst>
              <a:ext uri="{FF2B5EF4-FFF2-40B4-BE49-F238E27FC236}">
                <a16:creationId xmlns:a16="http://schemas.microsoft.com/office/drawing/2014/main" id="{C179761E-431B-B2CF-93D6-08C54B303A5C}"/>
              </a:ext>
            </a:extLst>
          </p:cNvPr>
          <p:cNvPicPr preferRelativeResize="0"/>
          <p:nvPr/>
        </p:nvPicPr>
        <p:blipFill rotWithShape="1">
          <a:blip r:embed="rId3">
            <a:alphaModFix/>
          </a:blip>
          <a:srcRect/>
          <a:stretch/>
        </p:blipFill>
        <p:spPr>
          <a:xfrm>
            <a:off x="1663065" y="1736090"/>
            <a:ext cx="6190615" cy="2165350"/>
          </a:xfrm>
          <a:prstGeom prst="rect">
            <a:avLst/>
          </a:prstGeom>
          <a:noFill/>
          <a:ln>
            <a:noFill/>
          </a:ln>
        </p:spPr>
      </p:pic>
    </p:spTree>
    <p:extLst>
      <p:ext uri="{BB962C8B-B14F-4D97-AF65-F5344CB8AC3E}">
        <p14:creationId xmlns:p14="http://schemas.microsoft.com/office/powerpoint/2010/main" val="2932591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19;g257a53192e1_0_40">
            <a:extLst>
              <a:ext uri="{FF2B5EF4-FFF2-40B4-BE49-F238E27FC236}">
                <a16:creationId xmlns:a16="http://schemas.microsoft.com/office/drawing/2014/main" id="{3722BEE3-1236-2DA3-A0FA-AA942BFEC614}"/>
              </a:ext>
            </a:extLst>
          </p:cNvPr>
          <p:cNvSpPr txBox="1"/>
          <p:nvPr/>
        </p:nvSpPr>
        <p:spPr>
          <a:xfrm>
            <a:off x="582930" y="895350"/>
            <a:ext cx="5632500" cy="55395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Backtracking Algorithm</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sng" strike="noStrike" cap="none" dirty="0">
              <a:solidFill>
                <a:schemeClr val="dk1"/>
              </a:solidFill>
              <a:latin typeface="Arial"/>
              <a:ea typeface="Arial"/>
              <a:cs typeface="Arial"/>
              <a:sym typeface="Arial"/>
            </a:endParaRPr>
          </a:p>
        </p:txBody>
      </p:sp>
      <p:pic>
        <p:nvPicPr>
          <p:cNvPr id="4" name="Google Shape;120;g257a53192e1_0_40">
            <a:extLst>
              <a:ext uri="{FF2B5EF4-FFF2-40B4-BE49-F238E27FC236}">
                <a16:creationId xmlns:a16="http://schemas.microsoft.com/office/drawing/2014/main" id="{522B1E65-14E4-0438-C4D5-B8A57AB63206}"/>
              </a:ext>
            </a:extLst>
          </p:cNvPr>
          <p:cNvPicPr preferRelativeResize="0"/>
          <p:nvPr/>
        </p:nvPicPr>
        <p:blipFill rotWithShape="1">
          <a:blip r:embed="rId3">
            <a:alphaModFix/>
          </a:blip>
          <a:srcRect/>
          <a:stretch/>
        </p:blipFill>
        <p:spPr>
          <a:xfrm>
            <a:off x="1129030" y="1639645"/>
            <a:ext cx="7252335" cy="2438400"/>
          </a:xfrm>
          <a:prstGeom prst="rect">
            <a:avLst/>
          </a:prstGeom>
          <a:noFill/>
          <a:ln>
            <a:noFill/>
          </a:ln>
        </p:spPr>
      </p:pic>
    </p:spTree>
    <p:extLst>
      <p:ext uri="{BB962C8B-B14F-4D97-AF65-F5344CB8AC3E}">
        <p14:creationId xmlns:p14="http://schemas.microsoft.com/office/powerpoint/2010/main" val="2362712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59;g257a53192e1_0_56">
            <a:extLst>
              <a:ext uri="{FF2B5EF4-FFF2-40B4-BE49-F238E27FC236}">
                <a16:creationId xmlns:a16="http://schemas.microsoft.com/office/drawing/2014/main" id="{05510F0D-4906-8ADA-3596-5E1A5029E149}"/>
              </a:ext>
            </a:extLst>
          </p:cNvPr>
          <p:cNvSpPr txBox="1"/>
          <p:nvPr/>
        </p:nvSpPr>
        <p:spPr>
          <a:xfrm>
            <a:off x="513450" y="822198"/>
            <a:ext cx="8117100" cy="54168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Problem</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err="1">
                <a:solidFill>
                  <a:schemeClr val="dk1"/>
                </a:solidFill>
                <a:latin typeface="Consolas" panose="020B0609020204030204" pitchFamily="49" charset="0"/>
                <a:sym typeface="Arial"/>
              </a:rPr>
              <a:t>Warnsdorff’s</a:t>
            </a:r>
            <a:r>
              <a:rPr lang="en-US" sz="1600" b="0" i="0" u="none" strike="noStrike" cap="none" dirty="0">
                <a:solidFill>
                  <a:schemeClr val="dk1"/>
                </a:solidFill>
                <a:latin typeface="Consolas" panose="020B0609020204030204" pitchFamily="49" charset="0"/>
                <a:sym typeface="Arial"/>
              </a:rPr>
              <a:t> algorithm for Knight’s tour problem</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sng" strike="noStrike" cap="none" dirty="0">
                <a:solidFill>
                  <a:schemeClr val="dk1"/>
                </a:solidFill>
                <a:latin typeface="Consolas" panose="020B0609020204030204" pitchFamily="49" charset="0"/>
                <a:sym typeface="Arial"/>
              </a:rPr>
              <a:t>Same problem statement:</a:t>
            </a:r>
            <a:r>
              <a:rPr lang="en-US" sz="1600" b="0" i="0" u="none" strike="noStrike" cap="none" dirty="0">
                <a:solidFill>
                  <a:schemeClr val="dk1"/>
                </a:solidFill>
                <a:latin typeface="Consolas" panose="020B0609020204030204" pitchFamily="49" charset="0"/>
                <a:sym typeface="Arial"/>
              </a:rPr>
              <a:t> A knight is placed on the first block of an empty board and, moving according to the rules of chess, must visit each square exactly once. </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err="1">
                <a:solidFill>
                  <a:schemeClr val="dk1"/>
                </a:solidFill>
                <a:latin typeface="Consolas" panose="020B0609020204030204" pitchFamily="49" charset="0"/>
                <a:sym typeface="Arial"/>
              </a:rPr>
              <a:t>Warnsdorff's</a:t>
            </a:r>
            <a:r>
              <a:rPr lang="en-US" sz="1600" b="0" i="0" u="none" strike="noStrike" cap="none" dirty="0">
                <a:solidFill>
                  <a:schemeClr val="dk1"/>
                </a:solidFill>
                <a:latin typeface="Consolas" panose="020B0609020204030204" pitchFamily="49" charset="0"/>
                <a:sym typeface="Arial"/>
              </a:rPr>
              <a:t> rule is a heuristic for finding a single knight's tour. The knight is moved so that it always proceeds to the square from which the knight will have the fewest onward moves. </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Consolas" panose="020B0609020204030204" pitchFamily="49" charset="0"/>
                <a:sym typeface="Arial"/>
              </a:rPr>
              <a:t>When calculating the number of onward moves for each candidate square, we do not count moves that revisit any square already visited. It is possible to have two or more choices for which the number of onward moves is equal; there are various methods for breaking such ties</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4736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68;g257a53192e1_0_63">
            <a:extLst>
              <a:ext uri="{FF2B5EF4-FFF2-40B4-BE49-F238E27FC236}">
                <a16:creationId xmlns:a16="http://schemas.microsoft.com/office/drawing/2014/main" id="{696DF8EC-900F-FEBA-A66C-8AA2C58B41E9}"/>
              </a:ext>
            </a:extLst>
          </p:cNvPr>
          <p:cNvSpPr txBox="1"/>
          <p:nvPr/>
        </p:nvSpPr>
        <p:spPr>
          <a:xfrm>
            <a:off x="582930" y="895350"/>
            <a:ext cx="8117100" cy="4154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err="1">
                <a:solidFill>
                  <a:schemeClr val="dk1"/>
                </a:solidFill>
                <a:latin typeface="Consolas" panose="020B0609020204030204" pitchFamily="49" charset="0"/>
                <a:sym typeface="Arial"/>
              </a:rPr>
              <a:t>Warnsdorff’s</a:t>
            </a:r>
            <a:r>
              <a:rPr lang="en-US" sz="1600" b="0" i="0" u="none" strike="noStrike" cap="none" dirty="0">
                <a:solidFill>
                  <a:schemeClr val="dk1"/>
                </a:solidFill>
                <a:latin typeface="Consolas" panose="020B0609020204030204" pitchFamily="49" charset="0"/>
                <a:sym typeface="Arial"/>
              </a:rPr>
              <a:t> Rule</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We can start from any initial position of the knight on the board.</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We always move to an adjacent, unvisited square with minimal degree (minimum number of unvisited adjacent).</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chemeClr val="dk1"/>
              </a:buClr>
              <a:buSzPts val="1800"/>
              <a:buFont typeface="Arial"/>
              <a:buNone/>
            </a:pP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panose="020B0609020204030204" pitchFamily="49" charset="0"/>
                <a:sym typeface="Arial"/>
              </a:rPr>
              <a:t>This algorithm may also more generally be applied to any graph. </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sng" strike="noStrike" cap="none" dirty="0">
                <a:solidFill>
                  <a:schemeClr val="dk1"/>
                </a:solidFill>
                <a:latin typeface="Consolas" panose="020B0609020204030204" pitchFamily="49" charset="0"/>
                <a:sym typeface="Arial"/>
              </a:rPr>
              <a:t>Note</a:t>
            </a:r>
            <a:r>
              <a:rPr lang="en-US" sz="1600" b="0" i="0" u="none" strike="noStrike" cap="none" dirty="0">
                <a:solidFill>
                  <a:schemeClr val="dk1"/>
                </a:solidFill>
                <a:latin typeface="Consolas" panose="020B0609020204030204" pitchFamily="49" charset="0"/>
                <a:sym typeface="Arial"/>
              </a:rPr>
              <a:t>:</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A position Q is accessible from a position P if P can move to Q by a single Knight’s move, and Q has not yet been visited.</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0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The accessibility of a position P is the number of positions accessible from P.</a:t>
            </a:r>
            <a:endParaRPr sz="1600" b="0" i="0" u="none" strike="noStrike" cap="none" dirty="0">
              <a:solidFill>
                <a:schemeClr val="dk1"/>
              </a:solidFill>
              <a:latin typeface="Consolas" panose="020B0609020204030204" pitchFamily="49" charset="0"/>
              <a:sym typeface="Arial"/>
            </a:endParaRPr>
          </a:p>
          <a:p>
            <a:pPr marL="457200" marR="0" lvl="0" indent="-45720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14104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77;g257a53192e1_0_70">
            <a:extLst>
              <a:ext uri="{FF2B5EF4-FFF2-40B4-BE49-F238E27FC236}">
                <a16:creationId xmlns:a16="http://schemas.microsoft.com/office/drawing/2014/main" id="{64F1832B-9C1B-95C0-3500-14014E32A00E}"/>
              </a:ext>
            </a:extLst>
          </p:cNvPr>
          <p:cNvSpPr txBox="1"/>
          <p:nvPr/>
        </p:nvSpPr>
        <p:spPr>
          <a:xfrm>
            <a:off x="582930" y="895350"/>
            <a:ext cx="8117100" cy="378561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000"/>
              <a:buFont typeface="Arial"/>
              <a:buNone/>
            </a:pPr>
            <a:r>
              <a:rPr lang="en-US" sz="1600" b="0" i="0" u="none" strike="noStrike" cap="none" dirty="0" err="1">
                <a:solidFill>
                  <a:schemeClr val="dk1"/>
                </a:solidFill>
                <a:latin typeface="Consolas" panose="020B0609020204030204" pitchFamily="49" charset="0"/>
                <a:sym typeface="Arial"/>
              </a:rPr>
              <a:t>Warnsdorff’s</a:t>
            </a:r>
            <a:r>
              <a:rPr lang="en-US" sz="1600" b="0" i="0" u="none" strike="noStrike" cap="none" dirty="0">
                <a:solidFill>
                  <a:schemeClr val="dk1"/>
                </a:solidFill>
                <a:latin typeface="Consolas" panose="020B0609020204030204" pitchFamily="49" charset="0"/>
                <a:sym typeface="Arial"/>
              </a:rPr>
              <a:t> Rule: Algorithm</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Set P to be a random initial position on the board</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Mark the board at P with the move number “1”</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Do following for each move number from 2 to the number of squares on the board: </a:t>
            </a:r>
            <a:endParaRPr sz="1600" b="0" i="0" u="none" strike="noStrike" cap="none" dirty="0">
              <a:solidFill>
                <a:schemeClr val="dk1"/>
              </a:solidFill>
              <a:latin typeface="Consolas" panose="020B0609020204030204" pitchFamily="49" charset="0"/>
              <a:sym typeface="Arial"/>
            </a:endParaRPr>
          </a:p>
          <a:p>
            <a:pPr marL="800100" marR="0" lvl="1"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let S be the set of positions accessible from P.</a:t>
            </a:r>
            <a:endParaRPr sz="1600" b="0" i="0" u="none" strike="noStrike" cap="none" dirty="0">
              <a:solidFill>
                <a:schemeClr val="dk1"/>
              </a:solidFill>
              <a:latin typeface="Consolas" panose="020B0609020204030204" pitchFamily="49" charset="0"/>
              <a:sym typeface="Arial"/>
            </a:endParaRPr>
          </a:p>
          <a:p>
            <a:pPr marL="800100" marR="0" lvl="1"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Set P to be the position in S with minimum accessibility</a:t>
            </a:r>
            <a:endParaRPr sz="1600" b="0" i="0" u="none" strike="noStrike" cap="none" dirty="0">
              <a:solidFill>
                <a:schemeClr val="dk1"/>
              </a:solidFill>
              <a:latin typeface="Consolas" panose="020B0609020204030204" pitchFamily="49" charset="0"/>
              <a:sym typeface="Arial"/>
            </a:endParaRPr>
          </a:p>
          <a:p>
            <a:pPr marL="800100" marR="0" lvl="1"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Mark the board at P with the current move number</a:t>
            </a:r>
            <a:endParaRPr sz="1600" b="0" i="0" u="none" strike="noStrike" cap="none" dirty="0">
              <a:solidFill>
                <a:schemeClr val="dk1"/>
              </a:solidFill>
              <a:latin typeface="Consolas" panose="020B0609020204030204" pitchFamily="49" charset="0"/>
              <a:sym typeface="Arial"/>
            </a:endParaRPr>
          </a:p>
          <a:p>
            <a:pPr marL="342900" marR="0" lvl="0" indent="-342900" algn="l" rtl="0">
              <a:lnSpc>
                <a:spcPct val="150000"/>
              </a:lnSpc>
              <a:spcBef>
                <a:spcPts val="0"/>
              </a:spcBef>
              <a:spcAft>
                <a:spcPts val="0"/>
              </a:spcAft>
              <a:buClr>
                <a:schemeClr val="dk1"/>
              </a:buClr>
              <a:buSzPts val="1800"/>
              <a:buFont typeface="Arial"/>
              <a:buAutoNum type="arabicPeriod"/>
            </a:pPr>
            <a:r>
              <a:rPr lang="en-US" sz="1600" b="0" i="0" u="none" strike="noStrike" cap="none" dirty="0">
                <a:solidFill>
                  <a:schemeClr val="dk1"/>
                </a:solidFill>
                <a:latin typeface="Consolas" panose="020B0609020204030204" pitchFamily="49" charset="0"/>
                <a:sym typeface="Arial"/>
              </a:rPr>
              <a:t>Return the marked board — each square will be marked with the move number on which it is visited.</a:t>
            </a:r>
            <a:endParaRPr sz="1600" b="0" i="0" u="none" strike="noStrike" cap="none" dirty="0">
              <a:solidFill>
                <a:schemeClr val="dk1"/>
              </a:solidFill>
              <a:latin typeface="Consolas" panose="020B0609020204030204" pitchFamily="49" charset="0"/>
              <a:sym typeface="Arial"/>
            </a:endParaRPr>
          </a:p>
        </p:txBody>
      </p:sp>
    </p:spTree>
    <p:extLst>
      <p:ext uri="{BB962C8B-B14F-4D97-AF65-F5344CB8AC3E}">
        <p14:creationId xmlns:p14="http://schemas.microsoft.com/office/powerpoint/2010/main" val="1470204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sp>
        <p:nvSpPr>
          <p:cNvPr id="2" name="Google Shape;129;g257a53192e1_0_48">
            <a:extLst>
              <a:ext uri="{FF2B5EF4-FFF2-40B4-BE49-F238E27FC236}">
                <a16:creationId xmlns:a16="http://schemas.microsoft.com/office/drawing/2014/main" id="{C2782752-4231-CD5E-F20A-4BFBA86853B6}"/>
              </a:ext>
            </a:extLst>
          </p:cNvPr>
          <p:cNvSpPr txBox="1"/>
          <p:nvPr/>
        </p:nvSpPr>
        <p:spPr>
          <a:xfrm>
            <a:off x="582930" y="895350"/>
            <a:ext cx="7978200" cy="21543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600" b="0" i="0" u="none" strike="noStrike" cap="none" dirty="0">
                <a:solidFill>
                  <a:schemeClr val="dk1"/>
                </a:solidFill>
                <a:latin typeface="Consolas" panose="020B0609020204030204" pitchFamily="49" charset="0"/>
                <a:sym typeface="Arial"/>
              </a:rPr>
              <a:t>Program</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24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none" strike="noStrike" cap="none" dirty="0">
                <a:solidFill>
                  <a:schemeClr val="dk1"/>
                </a:solidFill>
                <a:latin typeface="Consolas" panose="020B0609020204030204" pitchFamily="49" charset="0"/>
                <a:sym typeface="Arial"/>
              </a:rPr>
              <a:t>The board size is fixed to 8 here</a:t>
            </a: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1800"/>
              <a:buFont typeface="Arial"/>
              <a:buNone/>
            </a:pPr>
            <a:r>
              <a:rPr lang="en-US" sz="1600" b="0" i="0" u="sng" strike="noStrike" cap="none" dirty="0">
                <a:solidFill>
                  <a:schemeClr val="dk1"/>
                </a:solidFill>
                <a:latin typeface="Consolas" panose="020B0609020204030204" pitchFamily="49" charset="0"/>
                <a:sym typeface="Arial"/>
              </a:rPr>
              <a:t>Output</a:t>
            </a:r>
            <a:endParaRPr sz="1600" b="0" i="0" u="sng" strike="noStrike" cap="none" dirty="0">
              <a:solidFill>
                <a:schemeClr val="dk1"/>
              </a:solidFill>
              <a:latin typeface="Consolas" panose="020B0609020204030204" pitchFamily="49" charset="0"/>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CF7FA1E8-9AF0-A975-6F16-31539BA7CE7C}"/>
              </a:ext>
            </a:extLst>
          </p:cNvPr>
          <p:cNvPicPr>
            <a:picLocks noChangeAspect="1"/>
          </p:cNvPicPr>
          <p:nvPr/>
        </p:nvPicPr>
        <p:blipFill>
          <a:blip r:embed="rId3"/>
          <a:stretch>
            <a:fillRect/>
          </a:stretch>
        </p:blipFill>
        <p:spPr>
          <a:xfrm>
            <a:off x="2689164" y="2315579"/>
            <a:ext cx="4083343" cy="2293592"/>
          </a:xfrm>
          <a:prstGeom prst="rect">
            <a:avLst/>
          </a:prstGeom>
        </p:spPr>
      </p:pic>
    </p:spTree>
    <p:extLst>
      <p:ext uri="{BB962C8B-B14F-4D97-AF65-F5344CB8AC3E}">
        <p14:creationId xmlns:p14="http://schemas.microsoft.com/office/powerpoint/2010/main" val="2389380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graphicFrame>
        <p:nvGraphicFramePr>
          <p:cNvPr id="2" name="Google Shape;142;g257a53192e1_0_183">
            <a:extLst>
              <a:ext uri="{FF2B5EF4-FFF2-40B4-BE49-F238E27FC236}">
                <a16:creationId xmlns:a16="http://schemas.microsoft.com/office/drawing/2014/main" id="{2AB261B2-56AA-5CD3-B9C0-0D3E070B5B20}"/>
              </a:ext>
            </a:extLst>
          </p:cNvPr>
          <p:cNvGraphicFramePr/>
          <p:nvPr>
            <p:extLst>
              <p:ext uri="{D42A27DB-BD31-4B8C-83A1-F6EECF244321}">
                <p14:modId xmlns:p14="http://schemas.microsoft.com/office/powerpoint/2010/main" val="3559607817"/>
              </p:ext>
            </p:extLst>
          </p:nvPr>
        </p:nvGraphicFramePr>
        <p:xfrm>
          <a:off x="262053" y="781212"/>
          <a:ext cx="8772293" cy="4240500"/>
        </p:xfrm>
        <a:graphic>
          <a:graphicData uri="http://schemas.openxmlformats.org/drawingml/2006/table">
            <a:tbl>
              <a:tblPr firstRow="1" bandRow="1">
                <a:tableStyleId>{616DA210-FB5B-4158-B5E0-FEB733F419BA}</a:tableStyleId>
              </a:tblPr>
              <a:tblGrid>
                <a:gridCol w="4611572">
                  <a:extLst>
                    <a:ext uri="{9D8B030D-6E8A-4147-A177-3AD203B41FA5}">
                      <a16:colId xmlns:a16="http://schemas.microsoft.com/office/drawing/2014/main" val="20000"/>
                    </a:ext>
                  </a:extLst>
                </a:gridCol>
                <a:gridCol w="4160721">
                  <a:extLst>
                    <a:ext uri="{9D8B030D-6E8A-4147-A177-3AD203B41FA5}">
                      <a16:colId xmlns:a16="http://schemas.microsoft.com/office/drawing/2014/main" val="20001"/>
                    </a:ext>
                  </a:extLst>
                </a:gridCol>
              </a:tblGrid>
              <a:tr h="4240500">
                <a:tc>
                  <a:txBody>
                    <a:bodyPr/>
                    <a:lstStyle/>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public class Main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private static final int[] ROW_MOVES = { 2, 1, -1, -2, -2, -1, 1, 2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private static final int[] COL_MOVES = { 1, 2, 2, 1, -1, -2, -2, -1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public static </a:t>
                      </a:r>
                      <a:r>
                        <a:rPr lang="en-IN" sz="1400" b="0" u="none" strike="noStrike" cap="none" dirty="0" err="1">
                          <a:solidFill>
                            <a:schemeClr val="dk1"/>
                          </a:solidFill>
                          <a:sym typeface="Courier New"/>
                        </a:rPr>
                        <a:t>boolean</a:t>
                      </a:r>
                      <a:r>
                        <a:rPr lang="en-IN" sz="1400" b="0" u="none" strike="noStrike" cap="none" dirty="0">
                          <a:solidFill>
                            <a:schemeClr val="dk1"/>
                          </a:solidFill>
                          <a:sym typeface="Courier New"/>
                        </a:rPr>
                        <a:t> </a:t>
                      </a:r>
                      <a:r>
                        <a:rPr lang="en-IN" sz="1400" b="0" u="none" strike="noStrike" cap="none" dirty="0" err="1">
                          <a:solidFill>
                            <a:schemeClr val="dk1"/>
                          </a:solidFill>
                          <a:sym typeface="Courier New"/>
                        </a:rPr>
                        <a:t>isSafe</a:t>
                      </a:r>
                      <a:r>
                        <a:rPr lang="en-IN" sz="1400" b="0" u="none" strike="noStrike" cap="none" dirty="0">
                          <a:solidFill>
                            <a:schemeClr val="dk1"/>
                          </a:solidFill>
                          <a:sym typeface="Courier New"/>
                        </a:rPr>
                        <a:t>(int[][] board, int row, int col, int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return (row &gt;= 0 &amp;&amp; row &lt; N &amp;&amp; col &gt;= 0 &amp;&amp; col &lt; N &amp;&amp; board[row][col] == -1);</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public static void </a:t>
                      </a:r>
                      <a:r>
                        <a:rPr lang="en-IN" sz="1400" b="0" u="none" strike="noStrike" cap="none" dirty="0" err="1">
                          <a:solidFill>
                            <a:schemeClr val="dk1"/>
                          </a:solidFill>
                          <a:sym typeface="Courier New"/>
                        </a:rPr>
                        <a:t>printSolution</a:t>
                      </a:r>
                      <a:r>
                        <a:rPr lang="en-IN" sz="1400" b="0" u="none" strike="noStrike" cap="none" dirty="0">
                          <a:solidFill>
                            <a:schemeClr val="dk1"/>
                          </a:solidFill>
                          <a:sym typeface="Courier New"/>
                        </a:rPr>
                        <a:t>(int[][] board)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int N = </a:t>
                      </a:r>
                      <a:r>
                        <a:rPr lang="en-IN" sz="1400" b="0" u="none" strike="noStrike" cap="none" dirty="0" err="1">
                          <a:solidFill>
                            <a:schemeClr val="dk1"/>
                          </a:solidFill>
                          <a:sym typeface="Courier New"/>
                        </a:rPr>
                        <a:t>board.length</a:t>
                      </a:r>
                      <a:r>
                        <a:rPr lang="en-IN" sz="1400" b="0" u="none" strike="noStrike" cap="none" dirty="0">
                          <a:solidFill>
                            <a:schemeClr val="dk1"/>
                          </a:solidFill>
                          <a:sym typeface="Courier New"/>
                        </a:rPr>
                        <a:t>;</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for (int[] row : board)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for (int cell : row)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sym typeface="Courier New"/>
                        </a:rPr>
                        <a:t>                </a:t>
                      </a:r>
                      <a:r>
                        <a:rPr lang="en-IN" sz="1400" b="0" u="none" strike="noStrike" cap="none" dirty="0" err="1">
                          <a:solidFill>
                            <a:schemeClr val="dk1"/>
                          </a:solidFill>
                          <a:sym typeface="Courier New"/>
                        </a:rPr>
                        <a:t>System.out.print</a:t>
                      </a:r>
                      <a:r>
                        <a:rPr lang="en-IN" sz="1400" b="0" u="none" strike="noStrike" cap="none" dirty="0">
                          <a:solidFill>
                            <a:schemeClr val="dk1"/>
                          </a:solidFill>
                          <a:sym typeface="Courier New"/>
                        </a:rPr>
                        <a:t>(cell + " ");</a:t>
                      </a:r>
                      <a:endParaRPr lang="en-IN" sz="1400" b="0" u="none" strike="noStrike" cap="none" dirty="0">
                        <a:solidFill>
                          <a:schemeClr val="dk1"/>
                        </a:solidFill>
                        <a:latin typeface="Consolas" panose="020B0609020204030204" pitchFamily="49" charset="0"/>
                        <a:ea typeface="Courier New"/>
                        <a:cs typeface="Courier New"/>
                        <a:sym typeface="Courier New"/>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System.out.println</a:t>
                      </a:r>
                      <a:r>
                        <a:rPr lang="en-IN" sz="1400" b="0" u="none" strike="noStrike" cap="none" dirty="0">
                          <a:solidFill>
                            <a:schemeClr val="dk1"/>
                          </a:solidFill>
                          <a:highlight>
                            <a:schemeClr val="lt1"/>
                          </a:highlight>
                          <a:sym typeface="Courier New"/>
                        </a:rPr>
                        <a:t>();</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System.out.println</a:t>
                      </a:r>
                      <a:r>
                        <a:rPr lang="en-IN" sz="1400" b="0" u="none" strike="noStrike" cap="none" dirty="0">
                          <a:solidFill>
                            <a:schemeClr val="dk1"/>
                          </a:solidFill>
                          <a:highlight>
                            <a:schemeClr val="lt1"/>
                          </a:highlight>
                          <a:sym typeface="Courier New"/>
                        </a:rPr>
                        <a:t>();</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public static </a:t>
                      </a:r>
                      <a:r>
                        <a:rPr lang="en-IN" sz="1400" b="0" u="none" strike="noStrike" cap="none" dirty="0" err="1">
                          <a:solidFill>
                            <a:schemeClr val="dk1"/>
                          </a:solidFill>
                          <a:highlight>
                            <a:schemeClr val="lt1"/>
                          </a:highlight>
                          <a:sym typeface="Courier New"/>
                        </a:rPr>
                        <a:t>boolean</a:t>
                      </a: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solveKnightTour</a:t>
                      </a:r>
                      <a:r>
                        <a:rPr lang="en-IN" sz="1400" b="0" u="none" strike="noStrike" cap="none" dirty="0">
                          <a:solidFill>
                            <a:schemeClr val="dk1"/>
                          </a:solidFill>
                          <a:highlight>
                            <a:schemeClr val="lt1"/>
                          </a:highlight>
                          <a:sym typeface="Courier New"/>
                        </a:rPr>
                        <a:t>(int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int[][] board = new int[N][N];</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 Initialize the board with -1 (unvisited)</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for (int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 0;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&lt; N;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for (int j = 0; j &lt; N; </a:t>
                      </a:r>
                      <a:r>
                        <a:rPr lang="en-IN" sz="1400" b="0" u="none" strike="noStrike" cap="none" dirty="0" err="1">
                          <a:solidFill>
                            <a:schemeClr val="dk1"/>
                          </a:solidFill>
                          <a:highlight>
                            <a:schemeClr val="lt1"/>
                          </a:highlight>
                          <a:sym typeface="Courier New"/>
                        </a:rPr>
                        <a:t>j++</a:t>
                      </a: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board[</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][j] = -1;</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latin typeface="Consolas" panose="020B0609020204030204" pitchFamily="49" charset="0"/>
                        <a:ea typeface="Courier New"/>
                        <a:cs typeface="Courier New"/>
                        <a:sym typeface="Courier New"/>
                      </a:endParaRPr>
                    </a:p>
                  </a:txBody>
                  <a:tcPr marL="91450" marR="91450" marT="45725" marB="45725"/>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31172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graphicFrame>
        <p:nvGraphicFramePr>
          <p:cNvPr id="2" name="Google Shape;142;g257a53192e1_0_183">
            <a:extLst>
              <a:ext uri="{FF2B5EF4-FFF2-40B4-BE49-F238E27FC236}">
                <a16:creationId xmlns:a16="http://schemas.microsoft.com/office/drawing/2014/main" id="{4414DF0F-CFE4-94C5-E5E2-283ED903A854}"/>
              </a:ext>
            </a:extLst>
          </p:cNvPr>
          <p:cNvGraphicFramePr/>
          <p:nvPr>
            <p:extLst>
              <p:ext uri="{D42A27DB-BD31-4B8C-83A1-F6EECF244321}">
                <p14:modId xmlns:p14="http://schemas.microsoft.com/office/powerpoint/2010/main" val="2553584035"/>
              </p:ext>
            </p:extLst>
          </p:nvPr>
        </p:nvGraphicFramePr>
        <p:xfrm>
          <a:off x="223024" y="703064"/>
          <a:ext cx="8772293" cy="4240500"/>
        </p:xfrm>
        <a:graphic>
          <a:graphicData uri="http://schemas.openxmlformats.org/drawingml/2006/table">
            <a:tbl>
              <a:tblPr firstRow="1" bandRow="1">
                <a:tableStyleId>{616DA210-FB5B-4158-B5E0-FEB733F419BA}</a:tableStyleId>
              </a:tblPr>
              <a:tblGrid>
                <a:gridCol w="4611572">
                  <a:extLst>
                    <a:ext uri="{9D8B030D-6E8A-4147-A177-3AD203B41FA5}">
                      <a16:colId xmlns:a16="http://schemas.microsoft.com/office/drawing/2014/main" val="20000"/>
                    </a:ext>
                  </a:extLst>
                </a:gridCol>
                <a:gridCol w="4160721">
                  <a:extLst>
                    <a:ext uri="{9D8B030D-6E8A-4147-A177-3AD203B41FA5}">
                      <a16:colId xmlns:a16="http://schemas.microsoft.com/office/drawing/2014/main" val="20001"/>
                    </a:ext>
                  </a:extLst>
                </a:gridCol>
              </a:tblGrid>
              <a:tr h="4240500">
                <a:tc>
                  <a:txBody>
                    <a:bodyPr/>
                    <a:lstStyle/>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 Start the knight's tour from the top-left corner (0, 0)</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board[0][0] = 0;</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 Recursive function to find a solution</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if (</a:t>
                      </a:r>
                      <a:r>
                        <a:rPr lang="en-IN" sz="1400" b="0" u="none" strike="noStrike" cap="none" dirty="0" err="1">
                          <a:solidFill>
                            <a:schemeClr val="dk1"/>
                          </a:solidFill>
                          <a:highlight>
                            <a:schemeClr val="lt1"/>
                          </a:highlight>
                          <a:sym typeface="Courier New"/>
                        </a:rPr>
                        <a:t>solveUtil</a:t>
                      </a:r>
                      <a:r>
                        <a:rPr lang="en-IN" sz="1400" b="0" u="none" strike="noStrike" cap="none" dirty="0">
                          <a:solidFill>
                            <a:schemeClr val="dk1"/>
                          </a:solidFill>
                          <a:highlight>
                            <a:schemeClr val="lt1"/>
                          </a:highlight>
                          <a:sym typeface="Courier New"/>
                        </a:rPr>
                        <a:t>(board, 0, 0, 1,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printSolution</a:t>
                      </a:r>
                      <a:r>
                        <a:rPr lang="en-IN" sz="1400" b="0" u="none" strike="noStrike" cap="none" dirty="0">
                          <a:solidFill>
                            <a:schemeClr val="dk1"/>
                          </a:solidFill>
                          <a:highlight>
                            <a:schemeClr val="lt1"/>
                          </a:highlight>
                          <a:sym typeface="Courier New"/>
                        </a:rPr>
                        <a:t>(board);</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return true;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 else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System.out.println</a:t>
                      </a:r>
                      <a:r>
                        <a:rPr lang="en-IN" sz="1400" b="0" u="none" strike="noStrike" cap="none" dirty="0">
                          <a:solidFill>
                            <a:schemeClr val="dk1"/>
                          </a:solidFill>
                          <a:highlight>
                            <a:schemeClr val="lt1"/>
                          </a:highlight>
                          <a:sym typeface="Courier New"/>
                        </a:rPr>
                        <a:t>("No solution exists.");</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return false;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public static </a:t>
                      </a:r>
                      <a:r>
                        <a:rPr lang="en-IN" sz="1400" b="0" u="none" strike="noStrike" cap="none" dirty="0" err="1">
                          <a:solidFill>
                            <a:schemeClr val="dk1"/>
                          </a:solidFill>
                          <a:highlight>
                            <a:schemeClr val="lt1"/>
                          </a:highlight>
                          <a:sym typeface="Courier New"/>
                        </a:rPr>
                        <a:t>boolean</a:t>
                      </a: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solveUtil</a:t>
                      </a:r>
                      <a:r>
                        <a:rPr lang="en-IN" sz="1400" b="0" u="none" strike="noStrike" cap="none" dirty="0">
                          <a:solidFill>
                            <a:schemeClr val="dk1"/>
                          </a:solidFill>
                          <a:highlight>
                            <a:schemeClr val="lt1"/>
                          </a:highlight>
                          <a:sym typeface="Courier New"/>
                        </a:rPr>
                        <a:t>(int[][] board, int row, int col, int </a:t>
                      </a:r>
                      <a:r>
                        <a:rPr lang="en-IN" sz="1400" b="0" u="none" strike="noStrike" cap="none" dirty="0" err="1">
                          <a:solidFill>
                            <a:schemeClr val="dk1"/>
                          </a:solidFill>
                          <a:highlight>
                            <a:schemeClr val="lt1"/>
                          </a:highlight>
                          <a:sym typeface="Courier New"/>
                        </a:rPr>
                        <a:t>moveCount</a:t>
                      </a:r>
                      <a:r>
                        <a:rPr lang="en-IN" sz="1400" b="0" u="none" strike="noStrike" cap="none" dirty="0">
                          <a:solidFill>
                            <a:schemeClr val="dk1"/>
                          </a:solidFill>
                          <a:highlight>
                            <a:schemeClr val="lt1"/>
                          </a:highlight>
                          <a:sym typeface="Courier New"/>
                        </a:rPr>
                        <a:t>, int N) {</a:t>
                      </a:r>
                      <a:endParaRPr lang="en-IN" sz="1400" b="0" u="none" strike="noStrike" cap="none" dirty="0">
                        <a:solidFill>
                          <a:schemeClr val="dk1"/>
                        </a:solidFill>
                        <a:highlight>
                          <a:schemeClr val="lt1"/>
                        </a:highlight>
                        <a:latin typeface="Consolas" panose="020B0609020204030204" pitchFamily="49" charset="0"/>
                        <a:ea typeface="Courier New"/>
                        <a:cs typeface="Courier New"/>
                        <a:sym typeface="Courier New"/>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if (</a:t>
                      </a:r>
                      <a:r>
                        <a:rPr lang="en-IN" sz="1400" b="0" u="none" strike="noStrike" cap="none" dirty="0" err="1">
                          <a:solidFill>
                            <a:schemeClr val="dk1"/>
                          </a:solidFill>
                          <a:highlight>
                            <a:schemeClr val="lt1"/>
                          </a:highlight>
                          <a:sym typeface="Courier New"/>
                        </a:rPr>
                        <a:t>moveCount</a:t>
                      </a:r>
                      <a:r>
                        <a:rPr lang="en-IN" sz="1400" b="0" u="none" strike="noStrike" cap="none" dirty="0">
                          <a:solidFill>
                            <a:schemeClr val="dk1"/>
                          </a:solidFill>
                          <a:highlight>
                            <a:schemeClr val="lt1"/>
                          </a:highlight>
                          <a:sym typeface="Courier New"/>
                        </a:rPr>
                        <a:t> == N *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return true;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 Try all next moves from the current position</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for (int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 0;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&lt; 8; </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int </a:t>
                      </a:r>
                      <a:r>
                        <a:rPr lang="en-IN" sz="1400" b="0" u="none" strike="noStrike" cap="none" dirty="0" err="1">
                          <a:solidFill>
                            <a:schemeClr val="dk1"/>
                          </a:solidFill>
                          <a:highlight>
                            <a:schemeClr val="lt1"/>
                          </a:highlight>
                          <a:sym typeface="Courier New"/>
                        </a:rPr>
                        <a:t>nextRow</a:t>
                      </a:r>
                      <a:r>
                        <a:rPr lang="en-IN" sz="1400" b="0" u="none" strike="noStrike" cap="none" dirty="0">
                          <a:solidFill>
                            <a:schemeClr val="dk1"/>
                          </a:solidFill>
                          <a:highlight>
                            <a:schemeClr val="lt1"/>
                          </a:highlight>
                          <a:sym typeface="Courier New"/>
                        </a:rPr>
                        <a:t> = row + ROW_MOVES[</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int </a:t>
                      </a:r>
                      <a:r>
                        <a:rPr lang="en-IN" sz="1400" b="0" u="none" strike="noStrike" cap="none" dirty="0" err="1">
                          <a:solidFill>
                            <a:schemeClr val="dk1"/>
                          </a:solidFill>
                          <a:highlight>
                            <a:schemeClr val="lt1"/>
                          </a:highlight>
                          <a:sym typeface="Courier New"/>
                        </a:rPr>
                        <a:t>nextCol</a:t>
                      </a:r>
                      <a:r>
                        <a:rPr lang="en-IN" sz="1400" b="0" u="none" strike="noStrike" cap="none" dirty="0">
                          <a:solidFill>
                            <a:schemeClr val="dk1"/>
                          </a:solidFill>
                          <a:highlight>
                            <a:schemeClr val="lt1"/>
                          </a:highlight>
                          <a:sym typeface="Courier New"/>
                        </a:rPr>
                        <a:t> = col + COL_MOVES[</a:t>
                      </a:r>
                      <a:r>
                        <a:rPr lang="en-IN" sz="1400" b="0" u="none" strike="noStrike" cap="none" dirty="0" err="1">
                          <a:solidFill>
                            <a:schemeClr val="dk1"/>
                          </a:solidFill>
                          <a:highlight>
                            <a:schemeClr val="lt1"/>
                          </a:highlight>
                          <a:sym typeface="Courier New"/>
                        </a:rPr>
                        <a:t>i</a:t>
                      </a:r>
                      <a:r>
                        <a:rPr lang="en-IN" sz="1400" b="0" u="none" strike="noStrike" cap="none" dirty="0">
                          <a:solidFill>
                            <a:schemeClr val="dk1"/>
                          </a:solidFill>
                          <a:highlight>
                            <a:schemeClr val="lt1"/>
                          </a:highlight>
                          <a:sym typeface="Courier New"/>
                        </a:rPr>
                        <a:t>];</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if (</a:t>
                      </a:r>
                      <a:r>
                        <a:rPr lang="en-IN" sz="1400" b="0" u="none" strike="noStrike" cap="none" dirty="0" err="1">
                          <a:solidFill>
                            <a:schemeClr val="dk1"/>
                          </a:solidFill>
                          <a:highlight>
                            <a:schemeClr val="lt1"/>
                          </a:highlight>
                          <a:sym typeface="Courier New"/>
                        </a:rPr>
                        <a:t>isSafe</a:t>
                      </a:r>
                      <a:r>
                        <a:rPr lang="en-IN" sz="1400" b="0" u="none" strike="noStrike" cap="none" dirty="0">
                          <a:solidFill>
                            <a:schemeClr val="dk1"/>
                          </a:solidFill>
                          <a:highlight>
                            <a:schemeClr val="lt1"/>
                          </a:highlight>
                          <a:sym typeface="Courier New"/>
                        </a:rPr>
                        <a:t>(board, </a:t>
                      </a:r>
                      <a:r>
                        <a:rPr lang="en-IN" sz="1400" b="0" u="none" strike="noStrike" cap="none" dirty="0" err="1">
                          <a:solidFill>
                            <a:schemeClr val="dk1"/>
                          </a:solidFill>
                          <a:highlight>
                            <a:schemeClr val="lt1"/>
                          </a:highlight>
                          <a:sym typeface="Courier New"/>
                        </a:rPr>
                        <a:t>nextRow</a:t>
                      </a:r>
                      <a:r>
                        <a:rPr lang="en-IN" sz="1400" b="0" u="none" strike="noStrike" cap="none" dirty="0">
                          <a:solidFill>
                            <a:schemeClr val="dk1"/>
                          </a:solidFill>
                          <a:highlight>
                            <a:schemeClr val="lt1"/>
                          </a:highlight>
                          <a:sym typeface="Courier New"/>
                        </a:rPr>
                        <a:t>, </a:t>
                      </a:r>
                      <a:r>
                        <a:rPr lang="en-IN" sz="1400" b="0" u="none" strike="noStrike" cap="none" dirty="0" err="1">
                          <a:solidFill>
                            <a:schemeClr val="dk1"/>
                          </a:solidFill>
                          <a:highlight>
                            <a:schemeClr val="lt1"/>
                          </a:highlight>
                          <a:sym typeface="Courier New"/>
                        </a:rPr>
                        <a:t>nextCol</a:t>
                      </a:r>
                      <a:r>
                        <a:rPr lang="en-IN" sz="1400" b="0" u="none" strike="noStrike" cap="none" dirty="0">
                          <a:solidFill>
                            <a:schemeClr val="dk1"/>
                          </a:solidFill>
                          <a:highlight>
                            <a:schemeClr val="lt1"/>
                          </a:highlight>
                          <a:sym typeface="Courier New"/>
                        </a:rPr>
                        <a:t>,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chemeClr val="lt1"/>
                          </a:highlight>
                          <a:sym typeface="Courier New"/>
                        </a:rPr>
                        <a:t>                board[</a:t>
                      </a:r>
                      <a:r>
                        <a:rPr lang="en-IN" sz="1400" b="0" u="none" strike="noStrike" cap="none" dirty="0" err="1">
                          <a:solidFill>
                            <a:schemeClr val="dk1"/>
                          </a:solidFill>
                          <a:highlight>
                            <a:schemeClr val="lt1"/>
                          </a:highlight>
                          <a:sym typeface="Courier New"/>
                        </a:rPr>
                        <a:t>nextRow</a:t>
                      </a:r>
                      <a:r>
                        <a:rPr lang="en-IN" sz="1400" b="0" u="none" strike="noStrike" cap="none" dirty="0">
                          <a:solidFill>
                            <a:schemeClr val="dk1"/>
                          </a:solidFill>
                          <a:highlight>
                            <a:schemeClr val="lt1"/>
                          </a:highlight>
                          <a:sym typeface="Courier New"/>
                        </a:rPr>
                        <a:t>][</a:t>
                      </a:r>
                      <a:r>
                        <a:rPr lang="en-IN" sz="1400" b="0" u="none" strike="noStrike" cap="none" dirty="0" err="1">
                          <a:solidFill>
                            <a:schemeClr val="dk1"/>
                          </a:solidFill>
                          <a:highlight>
                            <a:schemeClr val="lt1"/>
                          </a:highlight>
                          <a:sym typeface="Courier New"/>
                        </a:rPr>
                        <a:t>nextCol</a:t>
                      </a:r>
                      <a:r>
                        <a:rPr lang="en-IN" sz="1400" b="0" u="none" strike="noStrike" cap="none" dirty="0">
                          <a:solidFill>
                            <a:schemeClr val="dk1"/>
                          </a:solidFill>
                          <a:highlight>
                            <a:schemeClr val="lt1"/>
                          </a:highlight>
                          <a:sym typeface="Courier New"/>
                        </a:rPr>
                        <a:t>] = </a:t>
                      </a:r>
                      <a:r>
                        <a:rPr lang="en-IN" sz="1400" b="0" u="none" strike="noStrike" cap="none" dirty="0" err="1">
                          <a:solidFill>
                            <a:schemeClr val="dk1"/>
                          </a:solidFill>
                          <a:highlight>
                            <a:schemeClr val="lt1"/>
                          </a:highlight>
                          <a:sym typeface="Courier New"/>
                        </a:rPr>
                        <a:t>moveCount</a:t>
                      </a:r>
                      <a:r>
                        <a:rPr lang="en-IN" sz="1400" b="0" u="none" strike="noStrike" cap="none" dirty="0">
                          <a:solidFill>
                            <a:schemeClr val="dk1"/>
                          </a:solidFill>
                          <a:highlight>
                            <a:schemeClr val="lt1"/>
                          </a:highlight>
                          <a:sym typeface="Courier New"/>
                        </a:rPr>
                        <a:t>;</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chemeClr val="lt1"/>
                        </a:highlight>
                        <a:latin typeface="Consolas" panose="020B0609020204030204" pitchFamily="49" charset="0"/>
                        <a:ea typeface="Courier New"/>
                        <a:cs typeface="Courier New"/>
                        <a:sym typeface="Courier New"/>
                      </a:endParaRPr>
                    </a:p>
                  </a:txBody>
                  <a:tcPr marL="91450" marR="91450" marT="45725" marB="45725"/>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534002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3" name="Google Shape;72;g257a53192e1_0_0">
            <a:extLst>
              <a:ext uri="{FF2B5EF4-FFF2-40B4-BE49-F238E27FC236}">
                <a16:creationId xmlns:a16="http://schemas.microsoft.com/office/drawing/2014/main" id="{0C97221E-98F9-7680-ED6E-2E73BDB085FE}"/>
              </a:ext>
            </a:extLst>
          </p:cNvPr>
          <p:cNvSpPr/>
          <p:nvPr/>
        </p:nvSpPr>
        <p:spPr>
          <a:xfrm>
            <a:off x="2817542" y="342912"/>
            <a:ext cx="3508916" cy="362100"/>
          </a:xfrm>
          <a:prstGeom prst="roundRect">
            <a:avLst>
              <a:gd name="adj" fmla="val 16667"/>
            </a:avLst>
          </a:prstGeom>
          <a:solidFill>
            <a:srgbClr val="9900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600"/>
              <a:buFont typeface="Arial"/>
              <a:buNone/>
            </a:pPr>
            <a:endParaRPr lang="en-IN" sz="1600" b="1" i="0" u="none" strike="noStrike" cap="none" dirty="0">
              <a:solidFill>
                <a:schemeClr val="dk1"/>
              </a:solidFill>
              <a:latin typeface="Consolas" panose="020B0609020204030204" pitchFamily="49" charset="0"/>
              <a:sym typeface="Arial"/>
            </a:endParaRPr>
          </a:p>
          <a:p>
            <a:pPr marL="0" marR="0" lvl="0" indent="0" algn="ctr" rtl="0">
              <a:lnSpc>
                <a:spcPct val="100000"/>
              </a:lnSpc>
              <a:spcBef>
                <a:spcPts val="0"/>
              </a:spcBef>
              <a:spcAft>
                <a:spcPts val="0"/>
              </a:spcAft>
              <a:buClr>
                <a:schemeClr val="dk1"/>
              </a:buClr>
              <a:buSzPts val="1600"/>
              <a:buFont typeface="Arial"/>
              <a:buNone/>
            </a:pPr>
            <a:r>
              <a:rPr lang="en-IN" sz="1600" b="1" i="0" u="none" strike="noStrike" cap="none" dirty="0">
                <a:solidFill>
                  <a:schemeClr val="lt1"/>
                </a:solidFill>
                <a:latin typeface="Consolas" panose="020B0609020204030204" pitchFamily="49" charset="0"/>
                <a:sym typeface="Arial"/>
              </a:rPr>
              <a:t>WARNSDORFF’S ALGORITHM</a:t>
            </a:r>
          </a:p>
          <a:p>
            <a:pPr marL="0" marR="0" lvl="0" indent="0" algn="ctr" rtl="0">
              <a:lnSpc>
                <a:spcPct val="100000"/>
              </a:lnSpc>
              <a:spcBef>
                <a:spcPts val="0"/>
              </a:spcBef>
              <a:spcAft>
                <a:spcPts val="0"/>
              </a:spcAft>
              <a:buClr>
                <a:srgbClr val="000000"/>
              </a:buClr>
              <a:buSzPts val="1600"/>
              <a:buFont typeface="Arial"/>
              <a:buNone/>
            </a:pPr>
            <a:endParaRPr lang="en-IN" sz="1600" b="1" i="0" u="none" strike="noStrike" cap="none" dirty="0">
              <a:solidFill>
                <a:schemeClr val="lt1"/>
              </a:solidFill>
              <a:latin typeface="Consolas" panose="020B0609020204030204" pitchFamily="49" charset="0"/>
              <a:sym typeface="Arial"/>
            </a:endParaRPr>
          </a:p>
        </p:txBody>
      </p:sp>
      <p:graphicFrame>
        <p:nvGraphicFramePr>
          <p:cNvPr id="2" name="Google Shape;152;g257a53192e1_0_239">
            <a:extLst>
              <a:ext uri="{FF2B5EF4-FFF2-40B4-BE49-F238E27FC236}">
                <a16:creationId xmlns:a16="http://schemas.microsoft.com/office/drawing/2014/main" id="{E3981BD5-72DB-51B9-E05F-CE077EFB10E1}"/>
              </a:ext>
            </a:extLst>
          </p:cNvPr>
          <p:cNvGraphicFramePr/>
          <p:nvPr>
            <p:extLst>
              <p:ext uri="{D42A27DB-BD31-4B8C-83A1-F6EECF244321}">
                <p14:modId xmlns:p14="http://schemas.microsoft.com/office/powerpoint/2010/main" val="1929137429"/>
              </p:ext>
            </p:extLst>
          </p:nvPr>
        </p:nvGraphicFramePr>
        <p:xfrm>
          <a:off x="1510920" y="819762"/>
          <a:ext cx="6838423" cy="4247536"/>
        </p:xfrm>
        <a:graphic>
          <a:graphicData uri="http://schemas.openxmlformats.org/drawingml/2006/table">
            <a:tbl>
              <a:tblPr firstRow="1" bandRow="1">
                <a:tableStyleId>{9D7B26C5-4107-4FEC-AEDC-1716B250A1EF}</a:tableStyleId>
              </a:tblPr>
              <a:tblGrid>
                <a:gridCol w="6838423">
                  <a:extLst>
                    <a:ext uri="{9D8B030D-6E8A-4147-A177-3AD203B41FA5}">
                      <a16:colId xmlns:a16="http://schemas.microsoft.com/office/drawing/2014/main" val="20001"/>
                    </a:ext>
                  </a:extLst>
                </a:gridCol>
              </a:tblGrid>
              <a:tr h="4247536">
                <a:tc>
                  <a:txBody>
                    <a:bodyPr/>
                    <a:lstStyle/>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 Recur for the next move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if (</a:t>
                      </a:r>
                      <a:r>
                        <a:rPr lang="en-IN" sz="1400" b="0" u="none" strike="noStrike" cap="none" dirty="0" err="1">
                          <a:solidFill>
                            <a:schemeClr val="dk1"/>
                          </a:solidFill>
                          <a:highlight>
                            <a:srgbClr val="FFFFFF"/>
                          </a:highlight>
                          <a:sym typeface="Courier New"/>
                        </a:rPr>
                        <a:t>solveUtil</a:t>
                      </a:r>
                      <a:r>
                        <a:rPr lang="en-IN" sz="1400" b="0" u="none" strike="noStrike" cap="none" dirty="0">
                          <a:solidFill>
                            <a:schemeClr val="dk1"/>
                          </a:solidFill>
                          <a:highlight>
                            <a:srgbClr val="FFFFFF"/>
                          </a:highlight>
                          <a:sym typeface="Courier New"/>
                        </a:rPr>
                        <a:t>(board, </a:t>
                      </a:r>
                      <a:r>
                        <a:rPr lang="en-IN" sz="1400" b="0" u="none" strike="noStrike" cap="none" dirty="0" err="1">
                          <a:solidFill>
                            <a:schemeClr val="dk1"/>
                          </a:solidFill>
                          <a:highlight>
                            <a:srgbClr val="FFFFFF"/>
                          </a:highlight>
                          <a:sym typeface="Courier New"/>
                        </a:rPr>
                        <a:t>nextRow</a:t>
                      </a:r>
                      <a:r>
                        <a:rPr lang="en-IN" sz="1400" b="0" u="none" strike="noStrike" cap="none" dirty="0">
                          <a:solidFill>
                            <a:schemeClr val="dk1"/>
                          </a:solidFill>
                          <a:highlight>
                            <a:srgbClr val="FFFFFF"/>
                          </a:highlight>
                          <a:sym typeface="Courier New"/>
                        </a:rPr>
                        <a:t>, </a:t>
                      </a:r>
                      <a:r>
                        <a:rPr lang="en-IN" sz="1400" b="0" u="none" strike="noStrike" cap="none" dirty="0" err="1">
                          <a:solidFill>
                            <a:schemeClr val="dk1"/>
                          </a:solidFill>
                          <a:highlight>
                            <a:srgbClr val="FFFFFF"/>
                          </a:highlight>
                          <a:sym typeface="Courier New"/>
                        </a:rPr>
                        <a:t>nextCol</a:t>
                      </a:r>
                      <a:r>
                        <a:rPr lang="en-IN" sz="1400" b="0" u="none" strike="noStrike" cap="none" dirty="0">
                          <a:solidFill>
                            <a:schemeClr val="dk1"/>
                          </a:solidFill>
                          <a:highlight>
                            <a:srgbClr val="FFFFFF"/>
                          </a:highlight>
                          <a:sym typeface="Courier New"/>
                        </a:rPr>
                        <a:t>, </a:t>
                      </a:r>
                      <a:r>
                        <a:rPr lang="en-IN" sz="1400" b="0" u="none" strike="noStrike" cap="none" dirty="0" err="1">
                          <a:solidFill>
                            <a:schemeClr val="dk1"/>
                          </a:solidFill>
                          <a:highlight>
                            <a:srgbClr val="FFFFFF"/>
                          </a:highlight>
                          <a:sym typeface="Courier New"/>
                        </a:rPr>
                        <a:t>moveCount</a:t>
                      </a:r>
                      <a:r>
                        <a:rPr lang="en-IN" sz="1400" b="0" u="none" strike="noStrike" cap="none" dirty="0">
                          <a:solidFill>
                            <a:schemeClr val="dk1"/>
                          </a:solidFill>
                          <a:highlight>
                            <a:srgbClr val="FFFFFF"/>
                          </a:highlight>
                          <a:sym typeface="Courier New"/>
                        </a:rPr>
                        <a:t> + 1, N))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return true;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rgbClr val="FFFFFF"/>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 Backtrack: if the move doesn't lead to a solution, undo it</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board[</a:t>
                      </a:r>
                      <a:r>
                        <a:rPr lang="en-IN" sz="1400" b="0" u="none" strike="noStrike" cap="none" dirty="0" err="1">
                          <a:solidFill>
                            <a:schemeClr val="dk1"/>
                          </a:solidFill>
                          <a:highlight>
                            <a:srgbClr val="FFFFFF"/>
                          </a:highlight>
                          <a:sym typeface="Courier New"/>
                        </a:rPr>
                        <a:t>nextRow</a:t>
                      </a:r>
                      <a:r>
                        <a:rPr lang="en-IN" sz="1400" b="0" u="none" strike="noStrike" cap="none" dirty="0">
                          <a:solidFill>
                            <a:schemeClr val="dk1"/>
                          </a:solidFill>
                          <a:highlight>
                            <a:srgbClr val="FFFFFF"/>
                          </a:highlight>
                          <a:sym typeface="Courier New"/>
                        </a:rPr>
                        <a:t>][</a:t>
                      </a:r>
                      <a:r>
                        <a:rPr lang="en-IN" sz="1400" b="0" u="none" strike="noStrike" cap="none" dirty="0" err="1">
                          <a:solidFill>
                            <a:schemeClr val="dk1"/>
                          </a:solidFill>
                          <a:highlight>
                            <a:srgbClr val="FFFFFF"/>
                          </a:highlight>
                          <a:sym typeface="Courier New"/>
                        </a:rPr>
                        <a:t>nextCol</a:t>
                      </a:r>
                      <a:r>
                        <a:rPr lang="en-IN" sz="1400" b="0" u="none" strike="noStrike" cap="none" dirty="0">
                          <a:solidFill>
                            <a:schemeClr val="dk1"/>
                          </a:solidFill>
                          <a:highlight>
                            <a:srgbClr val="FFFFFF"/>
                          </a:highlight>
                          <a:sym typeface="Courier New"/>
                        </a:rPr>
                        <a:t>] = -1;</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rgbClr val="FFFFFF"/>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 If none of the moves work, the problem has no solution</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return false;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endParaRPr lang="en-IN" sz="1400" b="0" u="none" strike="noStrike" cap="none" dirty="0">
                        <a:solidFill>
                          <a:schemeClr val="dk1"/>
                        </a:solidFill>
                        <a:highlight>
                          <a:srgbClr val="FFFFFF"/>
                        </a:highlight>
                        <a:sym typeface="Courier New"/>
                      </a:endParaRP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public static void main(String[] </a:t>
                      </a:r>
                      <a:r>
                        <a:rPr lang="en-IN" sz="1400" b="0" u="none" strike="noStrike" cap="none" dirty="0" err="1">
                          <a:solidFill>
                            <a:schemeClr val="dk1"/>
                          </a:solidFill>
                          <a:highlight>
                            <a:srgbClr val="FFFFFF"/>
                          </a:highlight>
                          <a:sym typeface="Courier New"/>
                        </a:rPr>
                        <a:t>args</a:t>
                      </a: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int N = 8; // Board size</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r>
                        <a:rPr lang="en-IN" sz="1400" b="0" u="none" strike="noStrike" cap="none" dirty="0" err="1">
                          <a:solidFill>
                            <a:schemeClr val="dk1"/>
                          </a:solidFill>
                          <a:highlight>
                            <a:srgbClr val="FFFFFF"/>
                          </a:highlight>
                          <a:sym typeface="Courier New"/>
                        </a:rPr>
                        <a:t>solveKnightTour</a:t>
                      </a:r>
                      <a:r>
                        <a:rPr lang="en-IN" sz="1400" b="0" u="none" strike="noStrike" cap="none" dirty="0">
                          <a:solidFill>
                            <a:schemeClr val="dk1"/>
                          </a:solidFill>
                          <a:highlight>
                            <a:srgbClr val="FFFFFF"/>
                          </a:highlight>
                          <a:sym typeface="Courier New"/>
                        </a:rPr>
                        <a:t>(N);</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    }</a:t>
                      </a:r>
                    </a:p>
                    <a:p>
                      <a:pPr marL="0" marR="0" lvl="0" indent="0" algn="l" rtl="0">
                        <a:lnSpc>
                          <a:spcPct val="100000"/>
                        </a:lnSpc>
                        <a:spcBef>
                          <a:spcPts val="0"/>
                        </a:spcBef>
                        <a:spcAft>
                          <a:spcPts val="0"/>
                        </a:spcAft>
                        <a:buClr>
                          <a:schemeClr val="dk1"/>
                        </a:buClr>
                        <a:buSzPts val="1400"/>
                        <a:buFont typeface="Arial"/>
                        <a:buNone/>
                      </a:pPr>
                      <a:r>
                        <a:rPr lang="en-IN" sz="1400" b="0" u="none" strike="noStrike" cap="none" dirty="0">
                          <a:solidFill>
                            <a:schemeClr val="dk1"/>
                          </a:solidFill>
                          <a:highlight>
                            <a:srgbClr val="FFFFFF"/>
                          </a:highlight>
                          <a:sym typeface="Courier New"/>
                        </a:rPr>
                        <a:t>}</a:t>
                      </a:r>
                      <a:endParaRPr sz="1400" b="0" u="none" strike="noStrike" cap="none" dirty="0">
                        <a:solidFill>
                          <a:schemeClr val="dk1"/>
                        </a:solidFill>
                        <a:highlight>
                          <a:srgbClr val="FFFFFF"/>
                        </a:highlight>
                        <a:latin typeface="Consolas" panose="020B0609020204030204" pitchFamily="49" charset="0"/>
                        <a:ea typeface="Courier New"/>
                        <a:cs typeface="Courier New"/>
                        <a:sym typeface="Courier New"/>
                      </a:endParaRPr>
                    </a:p>
                  </a:txBody>
                  <a:tcPr marL="91450" marR="91450" marT="45725" marB="45725"/>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45252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462" name="Google Shape;462;p6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463" name="Google Shape;463;p65"/>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464" name="Google Shape;464;p65"/>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700"/>
              <a:buFont typeface="Arial"/>
              <a:buNone/>
            </a:pPr>
            <a:r>
              <a:rPr lang="en-IN" sz="3700" b="0" i="0" u="none" strike="noStrike" cap="none">
                <a:solidFill>
                  <a:schemeClr val="lt1"/>
                </a:solidFill>
                <a:latin typeface="Roboto"/>
                <a:ea typeface="Roboto"/>
                <a:cs typeface="Roboto"/>
                <a:sym typeface="Roboto"/>
              </a:rPr>
              <a:t>THANK YOU</a:t>
            </a:r>
            <a:endParaRPr sz="3700" b="0" i="0" u="none" strike="noStrike" cap="none">
              <a:solidFill>
                <a:schemeClr val="lt1"/>
              </a:solidFill>
              <a:latin typeface="Roboto"/>
              <a:ea typeface="Roboto"/>
              <a:cs typeface="Roboto"/>
              <a:sym typeface="Roboto"/>
            </a:endParaRPr>
          </a:p>
        </p:txBody>
      </p:sp>
      <p:pic>
        <p:nvPicPr>
          <p:cNvPr id="465" name="Google Shape;465;p65"/>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466" name="Google Shape;466;p65"/>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467" name="Google Shape;467;p65"/>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+91 78150 95095</a:t>
            </a:r>
            <a:endParaRPr sz="1000" b="0" i="0" u="none" strike="noStrike" cap="none">
              <a:solidFill>
                <a:schemeClr val="lt1"/>
              </a:solidFill>
              <a:latin typeface="Roboto"/>
              <a:ea typeface="Roboto"/>
              <a:cs typeface="Roboto"/>
              <a:sym typeface="Roboto"/>
            </a:endParaRPr>
          </a:p>
        </p:txBody>
      </p:sp>
      <p:cxnSp>
        <p:nvCxnSpPr>
          <p:cNvPr id="468" name="Google Shape;468;p65"/>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469" name="Google Shape;469;p65"/>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codemithra@ethnus.com</a:t>
            </a:r>
            <a:endParaRPr sz="1000" b="0" i="0" u="none" strike="noStrike" cap="none">
              <a:solidFill>
                <a:schemeClr val="lt1"/>
              </a:solidFill>
              <a:latin typeface="Roboto"/>
              <a:ea typeface="Roboto"/>
              <a:cs typeface="Roboto"/>
              <a:sym typeface="Roboto"/>
            </a:endParaRPr>
          </a:p>
        </p:txBody>
      </p:sp>
      <p:pic>
        <p:nvPicPr>
          <p:cNvPr id="470" name="Google Shape;470;p65"/>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471" name="Google Shape;471;p65"/>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www.codemithra.com</a:t>
            </a:r>
            <a:endParaRPr sz="1000" b="0" i="0" u="none" strike="noStrike" cap="none">
              <a:solidFill>
                <a:schemeClr val="lt1"/>
              </a:solidFill>
              <a:latin typeface="Roboto"/>
              <a:ea typeface="Roboto"/>
              <a:cs typeface="Roboto"/>
              <a:sym typeface="Roboto"/>
            </a:endParaRPr>
          </a:p>
        </p:txBody>
      </p:sp>
      <p:cxnSp>
        <p:nvCxnSpPr>
          <p:cNvPr id="472" name="Google Shape;472;p65"/>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1180</Words>
  <Application>Microsoft Office PowerPoint</Application>
  <PresentationFormat>On-screen Show (16:9)</PresentationFormat>
  <Paragraphs>182</Paragraphs>
  <Slides>17</Slides>
  <Notes>16</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17</vt:i4>
      </vt:variant>
    </vt:vector>
  </HeadingPairs>
  <TitlesOfParts>
    <vt:vector size="24" baseType="lpstr">
      <vt:lpstr>Roboto</vt:lpstr>
      <vt:lpstr>Courier New</vt:lpstr>
      <vt:lpstr>Arial</vt:lpstr>
      <vt:lpstr>Consolas</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lastModifiedBy>dheebanrajips@gmail.com</cp:lastModifiedBy>
  <cp:revision>2</cp:revision>
  <dcterms:created xsi:type="dcterms:W3CDTF">2022-10-05T06:20:26Z</dcterms:created>
  <dcterms:modified xsi:type="dcterms:W3CDTF">2024-09-04T06:49:32Z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5AF2CBCEB9C44D759E6C7127A2DBAAD4</vt:lpwstr>
  </property>
  <property fmtid="{D5CDD505-2E9C-101B-9397-08002B2CF9AE}" pid="3" name="KSOProductBuildVer">
    <vt:lpwstr>1033-11.2.0.11341</vt:lpwstr>
  </property>
</Properties>
</file>