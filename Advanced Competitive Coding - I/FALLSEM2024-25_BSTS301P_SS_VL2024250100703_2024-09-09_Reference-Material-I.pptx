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73" r:id="rId2"/>
    <p:sldId id="274" r:id="rId3"/>
    <p:sldId id="275"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806" r:id="rId19"/>
    <p:sldId id="807" r:id="rId20"/>
  </p:sldIdLst>
  <p:sldSz cx="9144000" cy="5143500" type="screen16x9"/>
  <p:notesSz cx="6858000" cy="9144000"/>
  <p:embeddedFontLst>
    <p:embeddedFont>
      <p:font typeface="Roboto" panose="02000000000000000000" pitchFamily="2" charset="0"/>
      <p:regular r:id="rId22"/>
      <p:bold r:id="rId23"/>
      <p:italic r:id="rId24"/>
      <p:boldItalic r:id="rId25"/>
    </p:embeddedFont>
    <p:embeddedFont>
      <p:font typeface="Roboto Medium" panose="02000000000000000000" pitchFamily="2" charset="0"/>
      <p:regular r:id="rId26"/>
      <p: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pYVKYCGFoqhEHKyvsGTf+ebGz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0D0035-3180-4B7F-B4E2-774F380A473E}">
  <a:tblStyle styleId="{4D0D0035-3180-4B7F-B4E2-774F380A473E}"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4: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 name="Google Shape;60;p34: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3: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3: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1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1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p1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p2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2: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22: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4: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24: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4f98ff5957_0_0: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g24f98ff5957_0_0:notes"/>
          <p:cNvSpPr txBox="1">
            <a:spLocks noGrp="1"/>
          </p:cNvSpPr>
          <p:nvPr>
            <p:ph type="body" idx="1"/>
          </p:nvPr>
        </p:nvSpPr>
        <p:spPr>
          <a:xfrm>
            <a:off x="685800" y="4400640"/>
            <a:ext cx="5486100" cy="36003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Max Product: 10</a:t>
            </a: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4f98ff5957_2_0: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g24f98ff5957_2_0:notes"/>
          <p:cNvSpPr txBox="1">
            <a:spLocks noGrp="1"/>
          </p:cNvSpPr>
          <p:nvPr>
            <p:ph type="body" idx="1"/>
          </p:nvPr>
        </p:nvSpPr>
        <p:spPr>
          <a:xfrm>
            <a:off x="685800" y="4400640"/>
            <a:ext cx="5486100" cy="36003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Max Product: 10</a:t>
            </a: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 name="Google Shape;150;p2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Max Product: 10</a:t>
            </a: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3f307fc55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23f307fc558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3f307fc55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23f307fc558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3f307fc55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23f307fc558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p56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9" name="Google Shape;5199;p56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extLst>
      <p:ext uri="{BB962C8B-B14F-4D97-AF65-F5344CB8AC3E}">
        <p14:creationId xmlns:p14="http://schemas.microsoft.com/office/powerpoint/2010/main" val="2905292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800"/>
              <a:buFont typeface="Calibri"/>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3" name="Google Shape;13;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chemeClr val="dk1"/>
              </a:buClr>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1200"/>
              </a:spcBef>
              <a:spcAft>
                <a:spcPts val="0"/>
              </a:spcAft>
              <a:buClr>
                <a:schemeClr val="dk1"/>
              </a:buClr>
              <a:buSzPts val="1400"/>
              <a:buChar char="○"/>
              <a:defRPr/>
            </a:lvl2pPr>
            <a:lvl3pPr marL="1371600" lvl="2" indent="-317500" algn="l">
              <a:lnSpc>
                <a:spcPct val="115000"/>
              </a:lnSpc>
              <a:spcBef>
                <a:spcPts val="1200"/>
              </a:spcBef>
              <a:spcAft>
                <a:spcPts val="0"/>
              </a:spcAft>
              <a:buClr>
                <a:schemeClr val="dk1"/>
              </a:buClr>
              <a:buSzPts val="1400"/>
              <a:buChar char="■"/>
              <a:defRPr/>
            </a:lvl3pPr>
            <a:lvl4pPr marL="1828800" lvl="3" indent="-317500" algn="l">
              <a:lnSpc>
                <a:spcPct val="115000"/>
              </a:lnSpc>
              <a:spcBef>
                <a:spcPts val="1200"/>
              </a:spcBef>
              <a:spcAft>
                <a:spcPts val="0"/>
              </a:spcAft>
              <a:buClr>
                <a:schemeClr val="dk1"/>
              </a:buClr>
              <a:buSzPts val="1400"/>
              <a:buChar char="●"/>
              <a:defRPr/>
            </a:lvl4pPr>
            <a:lvl5pPr marL="2286000" lvl="4" indent="-317500" algn="l">
              <a:lnSpc>
                <a:spcPct val="115000"/>
              </a:lnSpc>
              <a:spcBef>
                <a:spcPts val="1200"/>
              </a:spcBef>
              <a:spcAft>
                <a:spcPts val="0"/>
              </a:spcAft>
              <a:buClr>
                <a:schemeClr val="dk1"/>
              </a:buClr>
              <a:buSzPts val="1400"/>
              <a:buChar char="○"/>
              <a:defRPr/>
            </a:lvl5pPr>
            <a:lvl6pPr marL="2743200" lvl="5" indent="-317500" algn="l">
              <a:lnSpc>
                <a:spcPct val="115000"/>
              </a:lnSpc>
              <a:spcBef>
                <a:spcPts val="1200"/>
              </a:spcBef>
              <a:spcAft>
                <a:spcPts val="0"/>
              </a:spcAft>
              <a:buClr>
                <a:schemeClr val="dk1"/>
              </a:buClr>
              <a:buSzPts val="1400"/>
              <a:buChar char="■"/>
              <a:defRPr/>
            </a:lvl6pPr>
            <a:lvl7pPr marL="3200400" lvl="6" indent="-317500" algn="l">
              <a:lnSpc>
                <a:spcPct val="115000"/>
              </a:lnSpc>
              <a:spcBef>
                <a:spcPts val="1200"/>
              </a:spcBef>
              <a:spcAft>
                <a:spcPts val="0"/>
              </a:spcAft>
              <a:buClr>
                <a:schemeClr val="dk1"/>
              </a:buClr>
              <a:buSzPts val="1400"/>
              <a:buChar char="●"/>
              <a:defRPr/>
            </a:lvl7pPr>
            <a:lvl8pPr marL="3657600" lvl="7" indent="-317500" algn="l">
              <a:lnSpc>
                <a:spcPct val="115000"/>
              </a:lnSpc>
              <a:spcBef>
                <a:spcPts val="1200"/>
              </a:spcBef>
              <a:spcAft>
                <a:spcPts val="0"/>
              </a:spcAft>
              <a:buClr>
                <a:schemeClr val="dk1"/>
              </a:buClr>
              <a:buSzPts val="1400"/>
              <a:buChar char="○"/>
              <a:defRPr/>
            </a:lvl8pPr>
            <a:lvl9pPr marL="4114800" lvl="8" indent="-317500" algn="l">
              <a:lnSpc>
                <a:spcPct val="115000"/>
              </a:lnSpc>
              <a:spcBef>
                <a:spcPts val="1200"/>
              </a:spcBef>
              <a:spcAft>
                <a:spcPts val="1200"/>
              </a:spcAft>
              <a:buClr>
                <a:schemeClr val="dk1"/>
              </a:buClr>
              <a:buSzPts val="1400"/>
              <a:buChar char="■"/>
              <a:defRPr/>
            </a:lvl9pPr>
          </a:lstStyle>
          <a:p>
            <a:endParaRPr dirty="0"/>
          </a:p>
        </p:txBody>
      </p:sp>
      <p:sp>
        <p:nvSpPr>
          <p:cNvPr id="14" name="Google Shape;1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Roboto" panose="02000000000000000000" pitchFamily="2" charset="0"/>
                <a:ea typeface="Roboto" panose="02000000000000000000" pitchFamily="2" charset="0"/>
                <a:cs typeface="Roboto" panose="02000000000000000000" pitchFamily="2" charset="0"/>
                <a:sym typeface="Calibri"/>
              </a:defRPr>
            </a:lvl1pPr>
            <a:lvl2pPr marL="0" marR="0" lvl="1"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17" name="Google Shape;1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18" name="Google Shape;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dirty="0"/>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4" name="Google Shape;24;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5" name="Google Shape;25;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6" name="Google Shape;2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dirty="0"/>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dirty="0"/>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dirty="0"/>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atin typeface="Roboto" panose="02000000000000000000" pitchFamily="2" charset="0"/>
                <a:ea typeface="Roboto" panose="02000000000000000000" pitchFamily="2" charset="0"/>
                <a:cs typeface="Roboto" panose="02000000000000000000" pitchFamily="2" charset="0"/>
              </a:defRPr>
            </a:lvl1pPr>
          </a:lstStyle>
          <a:p>
            <a:endParaRPr dirty="0"/>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rPr dirty="0"/>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dirty="0"/>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dirty="0"/>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dirty="0"/>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pic>
        <p:nvPicPr>
          <p:cNvPr id="3" name="Google Shape;9;p21">
            <a:extLst>
              <a:ext uri="{FF2B5EF4-FFF2-40B4-BE49-F238E27FC236}">
                <a16:creationId xmlns:a16="http://schemas.microsoft.com/office/drawing/2014/main" id="{C1D76F48-8C3B-F87F-FCF8-C42E3C5AF263}"/>
              </a:ext>
            </a:extLst>
          </p:cNvPr>
          <p:cNvPicPr preferRelativeResize="0"/>
          <p:nvPr userDrawn="1"/>
        </p:nvPicPr>
        <p:blipFill rotWithShape="1">
          <a:blip r:embed="rId13">
            <a:alphaModFix/>
          </a:blip>
          <a:srcRect/>
          <a:stretch/>
        </p:blipFill>
        <p:spPr>
          <a:xfrm>
            <a:off x="0" y="0"/>
            <a:ext cx="9144003" cy="514350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forms.gle/hMidTZ74S5Wg1uvS8"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hyperlink" Target="https://learn.codemithra.c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54" name="Google Shape;54;p3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55" name="Google Shape;55;p33"/>
          <p:cNvPicPr preferRelativeResize="0"/>
          <p:nvPr/>
        </p:nvPicPr>
        <p:blipFill rotWithShape="1">
          <a:blip r:embed="rId3">
            <a:alphaModFix/>
          </a:blip>
          <a:srcRect/>
          <a:stretch/>
        </p:blipFill>
        <p:spPr>
          <a:xfrm>
            <a:off x="1" y="3"/>
            <a:ext cx="9144003" cy="5143501"/>
          </a:xfrm>
          <a:prstGeom prst="rect">
            <a:avLst/>
          </a:prstGeom>
          <a:noFill/>
          <a:ln>
            <a:noFill/>
          </a:ln>
        </p:spPr>
      </p:pic>
      <p:pic>
        <p:nvPicPr>
          <p:cNvPr id="56" name="Google Shape;56;p33"/>
          <p:cNvPicPr preferRelativeResize="0"/>
          <p:nvPr/>
        </p:nvPicPr>
        <p:blipFill rotWithShape="1">
          <a:blip r:embed="rId4">
            <a:alphaModFix/>
          </a:blip>
          <a:srcRect/>
          <a:stretch/>
        </p:blipFill>
        <p:spPr>
          <a:xfrm>
            <a:off x="2504603" y="600290"/>
            <a:ext cx="4134799" cy="2923400"/>
          </a:xfrm>
          <a:prstGeom prst="rect">
            <a:avLst/>
          </a:prstGeom>
          <a:noFill/>
          <a:ln>
            <a:noFill/>
          </a:ln>
        </p:spPr>
      </p:pic>
      <p:pic>
        <p:nvPicPr>
          <p:cNvPr id="57" name="Google Shape;57;p33"/>
          <p:cNvPicPr preferRelativeResize="0"/>
          <p:nvPr/>
        </p:nvPicPr>
        <p:blipFill rotWithShape="1">
          <a:blip r:embed="rId5">
            <a:alphaModFix/>
          </a:blip>
          <a:srcRect/>
          <a:stretch/>
        </p:blipFill>
        <p:spPr>
          <a:xfrm>
            <a:off x="2200053" y="3386140"/>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34"/>
          <p:cNvSpPr txBox="1"/>
          <p:nvPr/>
        </p:nvSpPr>
        <p:spPr>
          <a:xfrm>
            <a:off x="780945" y="1140630"/>
            <a:ext cx="7993626" cy="1012545"/>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SzPts val="1800"/>
              <a:buNone/>
            </a:pPr>
            <a:r>
              <a:rPr lang="en-US" sz="1800" b="1" dirty="0">
                <a:solidFill>
                  <a:schemeClr val="dk1"/>
                </a:solidFill>
                <a:highlight>
                  <a:srgbClr val="FFFFFF"/>
                </a:highlight>
                <a:latin typeface="Roboto" panose="02000000000000000000" pitchFamily="2" charset="0"/>
                <a:ea typeface="Roboto" panose="02000000000000000000" pitchFamily="2" charset="0"/>
                <a:cs typeface="Roboto" panose="02000000000000000000" pitchFamily="2" charset="0"/>
              </a:rPr>
              <a:t>URL</a:t>
            </a:r>
            <a:r>
              <a:rPr lang="en-US" sz="1800" b="1" dirty="0">
                <a:solidFill>
                  <a:srgbClr val="373737"/>
                </a:solidFill>
                <a:highlight>
                  <a:srgbClr val="FFFFFF"/>
                </a:highlight>
                <a:latin typeface="Roboto" panose="02000000000000000000" pitchFamily="2" charset="0"/>
                <a:ea typeface="Roboto" panose="02000000000000000000" pitchFamily="2" charset="0"/>
                <a:cs typeface="Roboto" panose="02000000000000000000" pitchFamily="2" charset="0"/>
              </a:rPr>
              <a:t>:</a:t>
            </a:r>
            <a:r>
              <a:rPr lang="en-US" sz="1800" b="1" u="sng" dirty="0">
                <a:solidFill>
                  <a:schemeClr val="hlink"/>
                </a:solidFill>
                <a:highlight>
                  <a:srgbClr val="FFFFFF"/>
                </a:highlight>
                <a:latin typeface="Roboto" panose="02000000000000000000" pitchFamily="2" charset="0"/>
                <a:ea typeface="Roboto" panose="02000000000000000000" pitchFamily="2" charset="0"/>
                <a:cs typeface="Roboto" panose="02000000000000000000" pitchFamily="2" charset="0"/>
                <a:hlinkClick r:id="rId3"/>
              </a:rPr>
              <a:t> https://forms.gle/hMidTZ74S5Wg1uvS8</a:t>
            </a:r>
            <a:endParaRPr lang="en-US" sz="1400" b="1" dirty="0">
              <a:solidFill>
                <a:schemeClr val="dk1"/>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15000"/>
              </a:lnSpc>
              <a:spcBef>
                <a:spcPts val="0"/>
              </a:spcBef>
              <a:spcAft>
                <a:spcPts val="0"/>
              </a:spcAft>
              <a:buSzPts val="1800"/>
              <a:buNone/>
            </a:pPr>
            <a:r>
              <a:rPr lang="en-US" sz="1600" b="1" dirty="0">
                <a:solidFill>
                  <a:schemeClr val="dk1"/>
                </a:solidFill>
                <a:highlight>
                  <a:srgbClr val="FFFFFF"/>
                </a:highlight>
                <a:latin typeface="Roboto" panose="02000000000000000000" pitchFamily="2" charset="0"/>
                <a:ea typeface="Roboto" panose="02000000000000000000" pitchFamily="2" charset="0"/>
                <a:cs typeface="Roboto" panose="02000000000000000000" pitchFamily="2" charset="0"/>
              </a:rPr>
              <a:t>QR CODE</a:t>
            </a:r>
            <a:r>
              <a:rPr lang="en-US" sz="1600" b="1" dirty="0">
                <a:solidFill>
                  <a:srgbClr val="373737"/>
                </a:solidFill>
                <a:highlight>
                  <a:srgbClr val="FFFFFF"/>
                </a:highlight>
                <a:latin typeface="Roboto" panose="02000000000000000000" pitchFamily="2" charset="0"/>
                <a:ea typeface="Roboto" panose="02000000000000000000" pitchFamily="2" charset="0"/>
                <a:cs typeface="Roboto" panose="02000000000000000000" pitchFamily="2" charset="0"/>
              </a:rPr>
              <a:t>:</a:t>
            </a:r>
          </a:p>
          <a:p>
            <a:pPr marL="0" marR="0" lvl="0" indent="0" algn="l" rtl="0">
              <a:lnSpc>
                <a:spcPct val="115000"/>
              </a:lnSpc>
              <a:spcBef>
                <a:spcPts val="0"/>
              </a:spcBef>
              <a:spcAft>
                <a:spcPts val="0"/>
              </a:spcAft>
              <a:buNone/>
            </a:pPr>
            <a:endParaRPr lang="en-IN" sz="1800" b="0" i="0" u="none" strike="noStrike" cap="none" dirty="0">
              <a:solidFill>
                <a:srgbClr val="00B0F0"/>
              </a:solidFill>
              <a:latin typeface="Roboto"/>
              <a:ea typeface="Roboto"/>
              <a:cs typeface="Roboto"/>
              <a:sym typeface="Roboto"/>
            </a:endParaRPr>
          </a:p>
        </p:txBody>
      </p:sp>
      <p:sp>
        <p:nvSpPr>
          <p:cNvPr id="63" name="Google Shape;63;p34"/>
          <p:cNvSpPr txBox="1"/>
          <p:nvPr/>
        </p:nvSpPr>
        <p:spPr>
          <a:xfrm>
            <a:off x="1494264" y="540486"/>
            <a:ext cx="5828371" cy="400069"/>
          </a:xfrm>
          <a:prstGeom prst="rect">
            <a:avLst/>
          </a:prstGeom>
          <a:noFill/>
          <a:ln>
            <a:noFill/>
          </a:ln>
        </p:spPr>
        <p:txBody>
          <a:bodyPr spcFirstLastPara="1" wrap="square" lIns="91425" tIns="45700" rIns="91425" bIns="45700" anchor="t" anchorCtr="0">
            <a:spAutoFit/>
          </a:bodyPr>
          <a:lstStyle/>
          <a:p>
            <a:pPr algn="ctr" rtl="0">
              <a:spcBef>
                <a:spcPts val="0"/>
              </a:spcBef>
              <a:spcAft>
                <a:spcPts val="0"/>
              </a:spcAft>
            </a:pPr>
            <a:r>
              <a:rPr lang="en-US" sz="2000" b="1" i="0" u="none" strike="noStrike" dirty="0">
                <a:solidFill>
                  <a:schemeClr val="accent1"/>
                </a:solidFill>
                <a:effectLst/>
                <a:latin typeface="Roboto" panose="02000000000000000000" pitchFamily="2" charset="0"/>
                <a:ea typeface="Roboto" panose="02000000000000000000" pitchFamily="2" charset="0"/>
                <a:cs typeface="Roboto" panose="02000000000000000000" pitchFamily="2" charset="0"/>
              </a:rPr>
              <a:t>TEST TIME ON </a:t>
            </a:r>
            <a:r>
              <a:rPr lang="en-US" sz="2000" b="1" i="0" u="none" strike="noStrike" cap="none" dirty="0">
                <a:solidFill>
                  <a:schemeClr val="accent1"/>
                </a:solidFill>
                <a:latin typeface="Roboto" panose="02000000000000000000" pitchFamily="2" charset="0"/>
                <a:ea typeface="Roboto" panose="02000000000000000000" pitchFamily="2" charset="0"/>
                <a:cs typeface="Roboto" panose="02000000000000000000" pitchFamily="2" charset="0"/>
                <a:sym typeface="Consolas"/>
              </a:rPr>
              <a:t>BLOCK SWAP ALGORITHM</a:t>
            </a:r>
            <a:endParaRPr lang="en-US" sz="2000" b="1" dirty="0">
              <a:solidFill>
                <a:schemeClr val="accent1"/>
              </a:solidFill>
              <a:effectLst/>
              <a:latin typeface="Roboto" panose="02000000000000000000" pitchFamily="2" charset="0"/>
              <a:ea typeface="Roboto" panose="02000000000000000000" pitchFamily="2" charset="0"/>
              <a:cs typeface="Roboto" panose="02000000000000000000" pitchFamily="2" charset="0"/>
            </a:endParaRPr>
          </a:p>
        </p:txBody>
      </p:sp>
      <p:pic>
        <p:nvPicPr>
          <p:cNvPr id="64" name="Google Shape;64;g23f307fc558_0_101"/>
          <p:cNvPicPr preferRelativeResize="0"/>
          <p:nvPr/>
        </p:nvPicPr>
        <p:blipFill rotWithShape="1">
          <a:blip r:embed="rId4">
            <a:alphaModFix/>
          </a:blip>
          <a:srcRect/>
          <a:stretch/>
        </p:blipFill>
        <p:spPr>
          <a:xfrm>
            <a:off x="3123760" y="1646902"/>
            <a:ext cx="2896480" cy="269670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70" name="Google Shape;70;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71" name="Google Shape;71;p35"/>
          <p:cNvPicPr preferRelativeResize="0"/>
          <p:nvPr/>
        </p:nvPicPr>
        <p:blipFill rotWithShape="1">
          <a:blip r:embed="rId3">
            <a:alphaModFix/>
          </a:blip>
          <a:srcRect/>
          <a:stretch/>
        </p:blipFill>
        <p:spPr>
          <a:xfrm>
            <a:off x="1" y="3"/>
            <a:ext cx="9144003" cy="5143501"/>
          </a:xfrm>
          <a:prstGeom prst="rect">
            <a:avLst/>
          </a:prstGeom>
          <a:noFill/>
          <a:ln>
            <a:noFill/>
          </a:ln>
        </p:spPr>
      </p:pic>
      <p:sp>
        <p:nvSpPr>
          <p:cNvPr id="72" name="Google Shape;72;p35"/>
          <p:cNvSpPr txBox="1"/>
          <p:nvPr/>
        </p:nvSpPr>
        <p:spPr>
          <a:xfrm>
            <a:off x="178420" y="1568044"/>
            <a:ext cx="4690948" cy="1846629"/>
          </a:xfrm>
          <a:prstGeom prst="rect">
            <a:avLst/>
          </a:prstGeom>
          <a:noFill/>
          <a:ln>
            <a:noFill/>
          </a:ln>
        </p:spPr>
        <p:txBody>
          <a:bodyPr spcFirstLastPara="1" wrap="square" lIns="91425" tIns="91425" rIns="91425" bIns="91425" anchor="t" anchorCtr="0">
            <a:spAutoFit/>
          </a:bodyPr>
          <a:lstStyle/>
          <a:p>
            <a:pPr algn="ctr"/>
            <a:r>
              <a:rPr lang="en-US" sz="3600" b="1" i="0" u="none" strike="noStrike" cap="none" dirty="0">
                <a:solidFill>
                  <a:schemeClr val="bg1"/>
                </a:solidFill>
                <a:latin typeface="Roboto" panose="02000000000000000000" pitchFamily="2" charset="0"/>
                <a:ea typeface="Roboto" panose="02000000000000000000" pitchFamily="2" charset="0"/>
                <a:cs typeface="Roboto" panose="02000000000000000000" pitchFamily="2" charset="0"/>
                <a:sym typeface="Arial Black"/>
              </a:rPr>
              <a:t>MAXIMUM PRODUCT SUBARRAY</a:t>
            </a:r>
          </a:p>
          <a:p>
            <a:pPr marL="0" marR="0" lvl="0" indent="0" algn="ctr" rtl="0">
              <a:lnSpc>
                <a:spcPct val="100000"/>
              </a:lnSpc>
              <a:spcBef>
                <a:spcPts val="0"/>
              </a:spcBef>
              <a:spcAft>
                <a:spcPts val="0"/>
              </a:spcAft>
              <a:buNone/>
            </a:pPr>
            <a:endParaRPr lang="en-US" sz="3600" b="1" i="0" u="none" strike="noStrike" cap="none" dirty="0">
              <a:solidFill>
                <a:schemeClr val="bg1"/>
              </a:solidFill>
              <a:latin typeface="Roboto" panose="02000000000000000000" pitchFamily="2" charset="0"/>
              <a:ea typeface="Roboto" panose="02000000000000000000" pitchFamily="2" charset="0"/>
              <a:cs typeface="Roboto" panose="02000000000000000000" pitchFamily="2" charset="0"/>
              <a:sym typeface="Robot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8" name="Google Shape;78;p13"/>
          <p:cNvSpPr/>
          <p:nvPr/>
        </p:nvSpPr>
        <p:spPr>
          <a:xfrm>
            <a:off x="555120" y="1012176"/>
            <a:ext cx="8089477" cy="341627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Introduction</a:t>
            </a:r>
            <a:endParaRPr dirty="0">
              <a:latin typeface="Roboto" panose="02000000000000000000" pitchFamily="2" charset="0"/>
              <a:ea typeface="Roboto" panose="02000000000000000000" pitchFamily="2" charset="0"/>
              <a:cs typeface="Roboto" panose="02000000000000000000" pitchFamily="2" charset="0"/>
            </a:endParaRPr>
          </a:p>
          <a:p>
            <a:pPr marL="0" marR="0" lvl="4"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The maximum product subarray problem involves finding a contiguous subarray within an array of integers that has the largest product.</a:t>
            </a:r>
            <a:endParaRPr dirty="0">
              <a:latin typeface="Roboto" panose="02000000000000000000" pitchFamily="2" charset="0"/>
              <a:ea typeface="Roboto" panose="02000000000000000000" pitchFamily="2" charset="0"/>
              <a:cs typeface="Roboto" panose="02000000000000000000" pitchFamily="2" charset="0"/>
            </a:endParaRPr>
          </a:p>
          <a:p>
            <a:pPr marL="0" marR="0" lvl="4" indent="0" algn="ctr" rtl="0">
              <a:lnSpc>
                <a:spcPct val="150000"/>
              </a:lnSpc>
              <a:spcBef>
                <a:spcPts val="0"/>
              </a:spcBef>
              <a:spcAft>
                <a:spcPts val="0"/>
              </a:spcAft>
              <a:buNone/>
            </a:pPr>
            <a:r>
              <a:rPr lang="en-US" sz="1600" b="0" i="0" u="none" strike="noStrike" cap="none" dirty="0">
                <a:solidFill>
                  <a:srgbClr val="7030A0"/>
                </a:solidFill>
                <a:latin typeface="Roboto" panose="02000000000000000000" pitchFamily="2" charset="0"/>
                <a:ea typeface="Roboto" panose="02000000000000000000" pitchFamily="2" charset="0"/>
                <a:cs typeface="Roboto" panose="02000000000000000000" pitchFamily="2" charset="0"/>
                <a:sym typeface="Consolas"/>
              </a:rPr>
              <a:t>Subarray vs Subsequence</a:t>
            </a:r>
            <a:endParaRPr sz="1600" b="0" i="0" u="none" strike="noStrike" cap="none" dirty="0">
              <a:solidFill>
                <a:srgbClr val="7030A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1" indent="0" algn="l" rtl="0">
              <a:lnSpc>
                <a:spcPct val="150000"/>
              </a:lnSpc>
              <a:spcBef>
                <a:spcPts val="0"/>
              </a:spcBef>
              <a:spcAft>
                <a:spcPts val="0"/>
              </a:spcAft>
              <a:buNone/>
            </a:pPr>
            <a:r>
              <a:rPr lang="en-US" sz="16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Subarray</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 subarray is a contiguous section of elements taken from an array. It means that the elements are selected in a sequence, without skipping any elements in between. </a:t>
            </a:r>
            <a:endParaRPr dirty="0">
              <a:latin typeface="Roboto" panose="02000000000000000000" pitchFamily="2" charset="0"/>
              <a:ea typeface="Roboto" panose="02000000000000000000" pitchFamily="2" charset="0"/>
              <a:cs typeface="Roboto" panose="02000000000000000000" pitchFamily="2" charset="0"/>
            </a:endParaRPr>
          </a:p>
          <a:p>
            <a:pPr marL="0" marR="0" lvl="1"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For example, in the array [1, 2, 3, 4], a subarray could be [2, 3, 4], [1, 2], [3], or even the entire array itself.</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86" name="Google Shape;86;p15"/>
          <p:cNvSpPr/>
          <p:nvPr/>
        </p:nvSpPr>
        <p:spPr>
          <a:xfrm>
            <a:off x="607846" y="1034485"/>
            <a:ext cx="8089477" cy="320083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600"/>
              <a:buFont typeface="Arial"/>
              <a:buNone/>
            </a:pPr>
            <a:r>
              <a:rPr lang="en-US" sz="1600" b="0" i="0" u="sng"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sym typeface="Consolas"/>
              </a:rPr>
              <a:t>“A Subsequence cannot be a subarray”</a:t>
            </a:r>
            <a:endParaRPr sz="1600" b="0" i="0" u="sng"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just" rtl="0">
              <a:lnSpc>
                <a:spcPct val="150000"/>
              </a:lnSpc>
              <a:spcBef>
                <a:spcPts val="0"/>
              </a:spcBef>
              <a:spcAft>
                <a:spcPts val="0"/>
              </a:spcAft>
              <a:buClr>
                <a:srgbClr val="000000"/>
              </a:buClr>
              <a:buSzPts val="1800"/>
              <a:buFont typeface="Arial"/>
              <a:buNone/>
            </a:pPr>
            <a:r>
              <a:rPr lang="en-US" sz="1800" b="0" i="0" u="sng"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Subsequence</a:t>
            </a: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 subsequence, on the other hand, is a subset of elements from a sequence, where the elements may not necessarily be adjacent or in the original order. It means that elements can be skipped or selected in any order.</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For example, in the sequence [1, 2, 3, 4], a subsequence could be [2, 4], [1, 3, 4], [2, 3], or even the empty sequence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94" name="Google Shape;94;p16"/>
          <p:cNvSpPr/>
          <p:nvPr/>
        </p:nvSpPr>
        <p:spPr>
          <a:xfrm>
            <a:off x="607846" y="1034485"/>
            <a:ext cx="8089477"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“Finding the contiguous subarray with the largest product”</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97" name="Google Shape;97;p16"/>
          <p:cNvSpPr txBox="1"/>
          <p:nvPr/>
        </p:nvSpPr>
        <p:spPr>
          <a:xfrm>
            <a:off x="1044001" y="1742331"/>
            <a:ext cx="7340344" cy="267761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7030A0"/>
              </a:buClr>
              <a:buSzPts val="1600"/>
              <a:buFont typeface="Arial"/>
              <a:buNone/>
            </a:pPr>
            <a:r>
              <a:rPr lang="en-US" sz="1600" b="0" i="0" u="none" strike="noStrike" cap="none" dirty="0">
                <a:solidFill>
                  <a:srgbClr val="7030A0"/>
                </a:solidFill>
                <a:latin typeface="Roboto" panose="02000000000000000000" pitchFamily="2" charset="0"/>
                <a:ea typeface="Roboto" panose="02000000000000000000" pitchFamily="2" charset="0"/>
                <a:cs typeface="Roboto" panose="02000000000000000000" pitchFamily="2" charset="0"/>
                <a:sym typeface="Consolas"/>
              </a:rPr>
              <a:t>Here is a step-by-step approach to solving this problem:</a:t>
            </a:r>
            <a:endParaRPr dirty="0">
              <a:latin typeface="Roboto" panose="02000000000000000000" pitchFamily="2" charset="0"/>
              <a:ea typeface="Roboto" panose="02000000000000000000" pitchFamily="2" charset="0"/>
              <a:cs typeface="Roboto" panose="02000000000000000000" pitchFamily="2" charset="0"/>
            </a:endParaRPr>
          </a:p>
          <a:p>
            <a:pPr marL="0" marR="0" lvl="0" indent="-101600" algn="l" rtl="0">
              <a:lnSpc>
                <a:spcPct val="150000"/>
              </a:lnSpc>
              <a:spcBef>
                <a:spcPts val="0"/>
              </a:spcBef>
              <a:spcAft>
                <a:spcPts val="0"/>
              </a:spcAft>
              <a:buClr>
                <a:schemeClr val="dk1"/>
              </a:buClr>
              <a:buSzPts val="1600"/>
              <a:buFont typeface="Arial"/>
              <a:buAutoNum type="arabicPeriod"/>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Initialize two variables,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and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minProduct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to store the maximum and minimum product found so far, respectively. Set both variables to the first element of the array.</a:t>
            </a:r>
            <a:endParaRPr dirty="0">
              <a:latin typeface="Roboto" panose="02000000000000000000" pitchFamily="2" charset="0"/>
              <a:ea typeface="Roboto" panose="02000000000000000000" pitchFamily="2" charset="0"/>
              <a:cs typeface="Roboto" panose="02000000000000000000" pitchFamily="2" charset="0"/>
            </a:endParaRPr>
          </a:p>
          <a:p>
            <a:pPr marL="0" marR="0" lvl="0" indent="-101600" algn="l" rtl="0">
              <a:lnSpc>
                <a:spcPct val="150000"/>
              </a:lnSpc>
              <a:spcBef>
                <a:spcPts val="0"/>
              </a:spcBef>
              <a:spcAft>
                <a:spcPts val="0"/>
              </a:spcAft>
              <a:buClr>
                <a:schemeClr val="dk1"/>
              </a:buClr>
              <a:buSzPts val="1600"/>
              <a:buFont typeface="Arial"/>
              <a:buAutoNum type="arabicPeriod"/>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Initialize a variable </a:t>
            </a:r>
            <a:r>
              <a:rPr lang="en-US" sz="1600" b="1"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result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to store the maximum product subarray value. Set it to the same value as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101600" algn="l" rtl="0">
              <a:lnSpc>
                <a:spcPct val="150000"/>
              </a:lnSpc>
              <a:spcBef>
                <a:spcPts val="0"/>
              </a:spcBef>
              <a:spcAft>
                <a:spcPts val="0"/>
              </a:spcAft>
              <a:buClr>
                <a:schemeClr val="dk1"/>
              </a:buClr>
              <a:buSzPts val="1600"/>
              <a:buFont typeface="Arial"/>
              <a:buAutoNum type="arabicPeriod"/>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Iterate through the array starting from the second element.</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05" name="Google Shape;105;p17"/>
          <p:cNvSpPr txBox="1"/>
          <p:nvPr/>
        </p:nvSpPr>
        <p:spPr>
          <a:xfrm>
            <a:off x="851095" y="780054"/>
            <a:ext cx="8004517" cy="36625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101600" algn="l" rtl="0">
              <a:lnSpc>
                <a:spcPct val="150000"/>
              </a:lnSpc>
              <a:spcBef>
                <a:spcPts val="0"/>
              </a:spcBef>
              <a:spcAft>
                <a:spcPts val="0"/>
              </a:spcAft>
              <a:buClr>
                <a:schemeClr val="dk1"/>
              </a:buClr>
              <a:buSzPts val="1600"/>
              <a:buFont typeface="Arial"/>
              <a:buAutoNum type="arabicPeriod" startAt="4"/>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For each element, calculate the new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and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minProduct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by considering the maximum of four cases: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 The current element itself.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b. The maximum product obtained by multiplying the current element with the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c. The minimum product obtained by multiplying the current element with the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minProduct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d. The current element multiplied with the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minProduct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 it becomes the new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 case the previous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was negative).</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3" name="Google Shape;113;p21"/>
          <p:cNvSpPr txBox="1"/>
          <p:nvPr/>
        </p:nvSpPr>
        <p:spPr>
          <a:xfrm>
            <a:off x="1244991" y="1154204"/>
            <a:ext cx="7125287" cy="15696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5.</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Update the </a:t>
            </a:r>
            <a:r>
              <a:rPr lang="en-US" sz="1600" b="1"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result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variable with the maximum of </a:t>
            </a:r>
            <a:r>
              <a:rPr lang="en-US" sz="1600" b="1"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result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and </a:t>
            </a:r>
            <a:r>
              <a:rPr lang="en-US" sz="1600" b="1"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maxProduct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101600" algn="l" rtl="0">
              <a:lnSpc>
                <a:spcPct val="150000"/>
              </a:lnSpc>
              <a:spcBef>
                <a:spcPts val="0"/>
              </a:spcBef>
              <a:spcAft>
                <a:spcPts val="0"/>
              </a:spcAft>
              <a:buClr>
                <a:schemeClr val="dk1"/>
              </a:buClr>
              <a:buSzPts val="1600"/>
              <a:buFont typeface="Arial"/>
              <a:buAutoNum type="arabicPeriod" startAt="6"/>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Repeat steps 3 to 5 until all elements of the array have been processed.</a:t>
            </a:r>
            <a:endParaRPr dirty="0">
              <a:latin typeface="Roboto" panose="02000000000000000000" pitchFamily="2" charset="0"/>
              <a:ea typeface="Roboto" panose="02000000000000000000" pitchFamily="2" charset="0"/>
              <a:cs typeface="Roboto" panose="02000000000000000000" pitchFamily="2" charset="0"/>
            </a:endParaRPr>
          </a:p>
          <a:p>
            <a:pPr marL="0" marR="0" lvl="0" indent="-101600" algn="l" rtl="0">
              <a:lnSpc>
                <a:spcPct val="150000"/>
              </a:lnSpc>
              <a:spcBef>
                <a:spcPts val="0"/>
              </a:spcBef>
              <a:spcAft>
                <a:spcPts val="0"/>
              </a:spcAft>
              <a:buClr>
                <a:schemeClr val="dk1"/>
              </a:buClr>
              <a:buSzPts val="1600"/>
              <a:buFont typeface="Arial"/>
              <a:buAutoNum type="arabicPeriod" startAt="6"/>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Finally, return the value of </a:t>
            </a:r>
            <a:r>
              <a:rPr lang="en-US" sz="1600" b="1"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result</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which represents the maximum product subarray.</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21" name="Google Shape;121;p22"/>
          <p:cNvSpPr txBox="1"/>
          <p:nvPr/>
        </p:nvSpPr>
        <p:spPr>
          <a:xfrm>
            <a:off x="1076633" y="2002827"/>
            <a:ext cx="7949400" cy="15696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time complexity O(n)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where n is the number of elements in the array.</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space complexity  O(1)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No extra data structure is used for computation</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22" name="Google Shape;122;p22"/>
          <p:cNvSpPr txBox="1"/>
          <p:nvPr/>
        </p:nvSpPr>
        <p:spPr>
          <a:xfrm>
            <a:off x="1076633" y="1267544"/>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Time and space complexity </a:t>
            </a: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0" name="Google Shape;130;p24"/>
          <p:cNvSpPr txBox="1"/>
          <p:nvPr/>
        </p:nvSpPr>
        <p:spPr>
          <a:xfrm>
            <a:off x="951009" y="1449236"/>
            <a:ext cx="7949380" cy="304694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Sample input 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{2,-2,3,4}</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 Product= 12</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Sample input 2:</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{4,1,0,9,8,-1,9,9}</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 Product= 81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31" name="Google Shape;131;p24"/>
          <p:cNvSpPr txBox="1"/>
          <p:nvPr/>
        </p:nvSpPr>
        <p:spPr>
          <a:xfrm>
            <a:off x="1044000" y="935879"/>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Program</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4f98ff5957_0_0"/>
          <p:cNvSpPr/>
          <p:nvPr/>
        </p:nvSpPr>
        <p:spPr>
          <a:xfrm>
            <a:off x="555120" y="915840"/>
            <a:ext cx="7545000" cy="82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39" name="Google Shape;139;g24f98ff5957_0_0"/>
          <p:cNvGraphicFramePr/>
          <p:nvPr>
            <p:extLst>
              <p:ext uri="{D42A27DB-BD31-4B8C-83A1-F6EECF244321}">
                <p14:modId xmlns:p14="http://schemas.microsoft.com/office/powerpoint/2010/main" val="891763594"/>
              </p:ext>
            </p:extLst>
          </p:nvPr>
        </p:nvGraphicFramePr>
        <p:xfrm>
          <a:off x="699468" y="765067"/>
          <a:ext cx="7545000" cy="3703052"/>
        </p:xfrm>
        <a:graphic>
          <a:graphicData uri="http://schemas.openxmlformats.org/drawingml/2006/table">
            <a:tbl>
              <a:tblPr firstRow="1" bandRow="1">
                <a:noFill/>
                <a:tableStyleId>{4D0D0035-3180-4B7F-B4E2-774F380A473E}</a:tableStyleId>
              </a:tblPr>
              <a:tblGrid>
                <a:gridCol w="3747062">
                  <a:extLst>
                    <a:ext uri="{9D8B030D-6E8A-4147-A177-3AD203B41FA5}">
                      <a16:colId xmlns:a16="http://schemas.microsoft.com/office/drawing/2014/main" val="20000"/>
                    </a:ext>
                  </a:extLst>
                </a:gridCol>
                <a:gridCol w="3797938">
                  <a:extLst>
                    <a:ext uri="{9D8B030D-6E8A-4147-A177-3AD203B41FA5}">
                      <a16:colId xmlns:a16="http://schemas.microsoft.com/office/drawing/2014/main" val="20001"/>
                    </a:ext>
                  </a:extLst>
                </a:gridCol>
              </a:tblGrid>
              <a:tr h="3703052">
                <a:tc>
                  <a:txBody>
                    <a:bodyPr/>
                    <a:lstStyle/>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import </a:t>
                      </a:r>
                      <a:r>
                        <a:rPr lang="en-US" sz="1400" dirty="0" err="1">
                          <a:latin typeface="Roboto" panose="02000000000000000000" pitchFamily="2" charset="0"/>
                          <a:ea typeface="Roboto" panose="02000000000000000000" pitchFamily="2" charset="0"/>
                          <a:cs typeface="Roboto" panose="02000000000000000000" pitchFamily="2" charset="0"/>
                          <a:sym typeface="Consolas"/>
                        </a:rPr>
                        <a:t>java.util</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import </a:t>
                      </a:r>
                      <a:r>
                        <a:rPr lang="en-US" sz="1400" dirty="0" err="1">
                          <a:latin typeface="Roboto" panose="02000000000000000000" pitchFamily="2" charset="0"/>
                          <a:ea typeface="Roboto" panose="02000000000000000000" pitchFamily="2" charset="0"/>
                          <a:cs typeface="Roboto" panose="02000000000000000000" pitchFamily="2" charset="0"/>
                          <a:sym typeface="Consolas"/>
                        </a:rPr>
                        <a:t>java.lang</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public class Main</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public static void main(String[] </a:t>
                      </a:r>
                      <a:r>
                        <a:rPr lang="en-US" sz="1400" dirty="0" err="1">
                          <a:latin typeface="Roboto" panose="02000000000000000000" pitchFamily="2" charset="0"/>
                          <a:ea typeface="Roboto" panose="02000000000000000000" pitchFamily="2" charset="0"/>
                          <a:cs typeface="Roboto" panose="02000000000000000000" pitchFamily="2" charset="0"/>
                          <a:sym typeface="Consolas"/>
                        </a:rPr>
                        <a:t>args</a:t>
                      </a:r>
                      <a:r>
                        <a:rPr lang="en-US" sz="1400" dirty="0">
                          <a:latin typeface="Roboto" panose="02000000000000000000" pitchFamily="2" charset="0"/>
                          <a:ea typeface="Roboto" panose="02000000000000000000" pitchFamily="2" charset="0"/>
                          <a:cs typeface="Roboto" panose="02000000000000000000" pitchFamily="2" charset="0"/>
                          <a:sym typeface="Consolas"/>
                        </a:rPr>
                        <a:t>) {</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Scanner s = new Scanner(System.in);</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err="1">
                          <a:latin typeface="Roboto" panose="02000000000000000000" pitchFamily="2" charset="0"/>
                          <a:ea typeface="Roboto" panose="02000000000000000000" pitchFamily="2" charset="0"/>
                          <a:cs typeface="Roboto" panose="02000000000000000000" pitchFamily="2" charset="0"/>
                          <a:sym typeface="Consolas"/>
                        </a:rPr>
                        <a:t>System.out.println</a:t>
                      </a:r>
                      <a:r>
                        <a:rPr lang="en-US" sz="1400" dirty="0">
                          <a:latin typeface="Roboto" panose="02000000000000000000" pitchFamily="2" charset="0"/>
                          <a:ea typeface="Roboto" panose="02000000000000000000" pitchFamily="2" charset="0"/>
                          <a:cs typeface="Roboto" panose="02000000000000000000" pitchFamily="2" charset="0"/>
                          <a:sym typeface="Consolas"/>
                        </a:rPr>
                        <a:t>("Enter size of the array");</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int n = </a:t>
                      </a:r>
                      <a:r>
                        <a:rPr lang="en-US" sz="1400" dirty="0" err="1">
                          <a:latin typeface="Roboto" panose="02000000000000000000" pitchFamily="2" charset="0"/>
                          <a:ea typeface="Roboto" panose="02000000000000000000" pitchFamily="2" charset="0"/>
                          <a:cs typeface="Roboto" panose="02000000000000000000" pitchFamily="2" charset="0"/>
                          <a:sym typeface="Consolas"/>
                        </a:rPr>
                        <a:t>s.nextInt</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int[] </a:t>
                      </a:r>
                      <a:r>
                        <a:rPr lang="en-US" sz="14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400" dirty="0">
                          <a:latin typeface="Roboto" panose="02000000000000000000" pitchFamily="2" charset="0"/>
                          <a:ea typeface="Roboto" panose="02000000000000000000" pitchFamily="2" charset="0"/>
                          <a:cs typeface="Roboto" panose="02000000000000000000" pitchFamily="2" charset="0"/>
                          <a:sym typeface="Consolas"/>
                        </a:rPr>
                        <a:t> = new int[n];</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err="1">
                          <a:latin typeface="Roboto" panose="02000000000000000000" pitchFamily="2" charset="0"/>
                          <a:ea typeface="Roboto" panose="02000000000000000000" pitchFamily="2" charset="0"/>
                          <a:cs typeface="Roboto" panose="02000000000000000000" pitchFamily="2" charset="0"/>
                          <a:sym typeface="Consolas"/>
                        </a:rPr>
                        <a:t>System.out.println</a:t>
                      </a:r>
                      <a:r>
                        <a:rPr lang="en-US" sz="1400" dirty="0">
                          <a:latin typeface="Roboto" panose="02000000000000000000" pitchFamily="2" charset="0"/>
                          <a:ea typeface="Roboto" panose="02000000000000000000" pitchFamily="2" charset="0"/>
                          <a:cs typeface="Roboto" panose="02000000000000000000" pitchFamily="2" charset="0"/>
                          <a:sym typeface="Consolas"/>
                        </a:rPr>
                        <a:t>("Enter elements of the array");</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for (int </a:t>
                      </a:r>
                      <a:r>
                        <a:rPr lang="en-US" sz="1400" dirty="0" err="1">
                          <a:latin typeface="Roboto" panose="02000000000000000000" pitchFamily="2" charset="0"/>
                          <a:ea typeface="Roboto" panose="02000000000000000000" pitchFamily="2" charset="0"/>
                          <a:cs typeface="Roboto" panose="02000000000000000000" pitchFamily="2" charset="0"/>
                          <a:sym typeface="Consolas"/>
                        </a:rPr>
                        <a:t>i</a:t>
                      </a:r>
                      <a:r>
                        <a:rPr lang="en-US" sz="1400" dirty="0">
                          <a:latin typeface="Roboto" panose="02000000000000000000" pitchFamily="2" charset="0"/>
                          <a:ea typeface="Roboto" panose="02000000000000000000" pitchFamily="2" charset="0"/>
                          <a:cs typeface="Roboto" panose="02000000000000000000" pitchFamily="2" charset="0"/>
                          <a:sym typeface="Consolas"/>
                        </a:rPr>
                        <a:t> = 0; </a:t>
                      </a:r>
                      <a:r>
                        <a:rPr lang="en-US" sz="1400" dirty="0" err="1">
                          <a:latin typeface="Roboto" panose="02000000000000000000" pitchFamily="2" charset="0"/>
                          <a:ea typeface="Roboto" panose="02000000000000000000" pitchFamily="2" charset="0"/>
                          <a:cs typeface="Roboto" panose="02000000000000000000" pitchFamily="2" charset="0"/>
                          <a:sym typeface="Consolas"/>
                        </a:rPr>
                        <a:t>i</a:t>
                      </a:r>
                      <a:r>
                        <a:rPr lang="en-US" sz="1400" dirty="0">
                          <a:latin typeface="Roboto" panose="02000000000000000000" pitchFamily="2" charset="0"/>
                          <a:ea typeface="Roboto" panose="02000000000000000000" pitchFamily="2" charset="0"/>
                          <a:cs typeface="Roboto" panose="02000000000000000000" pitchFamily="2" charset="0"/>
                          <a:sym typeface="Consolas"/>
                        </a:rPr>
                        <a:t> &lt; n; </a:t>
                      </a:r>
                      <a:r>
                        <a:rPr lang="en-US" sz="1400" dirty="0" err="1">
                          <a:latin typeface="Roboto" panose="02000000000000000000" pitchFamily="2" charset="0"/>
                          <a:ea typeface="Roboto" panose="02000000000000000000" pitchFamily="2" charset="0"/>
                          <a:cs typeface="Roboto" panose="02000000000000000000" pitchFamily="2" charset="0"/>
                          <a:sym typeface="Consolas"/>
                        </a:rPr>
                        <a:t>i</a:t>
                      </a:r>
                      <a:r>
                        <a:rPr lang="en-US" sz="1400" dirty="0">
                          <a:latin typeface="Roboto" panose="02000000000000000000" pitchFamily="2" charset="0"/>
                          <a:ea typeface="Roboto" panose="02000000000000000000" pitchFamily="2" charset="0"/>
                          <a:cs typeface="Roboto" panose="02000000000000000000" pitchFamily="2" charset="0"/>
                          <a:sym typeface="Consolas"/>
                        </a:rPr>
                        <a:t>++){ </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a:t>
                      </a:r>
                      <a:r>
                        <a:rPr lang="en-US" sz="14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r>
                        <a:rPr lang="en-US" sz="1400" dirty="0" err="1">
                          <a:latin typeface="Roboto" panose="02000000000000000000" pitchFamily="2" charset="0"/>
                          <a:ea typeface="Roboto" panose="02000000000000000000" pitchFamily="2" charset="0"/>
                          <a:cs typeface="Roboto" panose="02000000000000000000" pitchFamily="2" charset="0"/>
                          <a:sym typeface="Consolas"/>
                        </a:rPr>
                        <a:t>i</a:t>
                      </a:r>
                      <a:r>
                        <a:rPr lang="en-US" sz="1400" dirty="0">
                          <a:latin typeface="Roboto" panose="02000000000000000000" pitchFamily="2" charset="0"/>
                          <a:ea typeface="Roboto" panose="02000000000000000000" pitchFamily="2" charset="0"/>
                          <a:cs typeface="Roboto" panose="02000000000000000000" pitchFamily="2" charset="0"/>
                          <a:sym typeface="Consolas"/>
                        </a:rPr>
                        <a:t>] = </a:t>
                      </a:r>
                      <a:r>
                        <a:rPr lang="en-US" sz="1400" dirty="0" err="1">
                          <a:latin typeface="Roboto" panose="02000000000000000000" pitchFamily="2" charset="0"/>
                          <a:ea typeface="Roboto" panose="02000000000000000000" pitchFamily="2" charset="0"/>
                          <a:cs typeface="Roboto" panose="02000000000000000000" pitchFamily="2" charset="0"/>
                          <a:sym typeface="Consolas"/>
                        </a:rPr>
                        <a:t>s.nextInt</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a:t>
                      </a:r>
                      <a:endParaRPr sz="1400" dirty="0">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int prefix=1;</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int suffix=1;</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int </a:t>
                      </a:r>
                      <a:r>
                        <a:rPr lang="en-US" sz="1400" dirty="0" err="1">
                          <a:latin typeface="Roboto" panose="02000000000000000000" pitchFamily="2" charset="0"/>
                          <a:ea typeface="Roboto" panose="02000000000000000000" pitchFamily="2" charset="0"/>
                          <a:cs typeface="Roboto" panose="02000000000000000000" pitchFamily="2" charset="0"/>
                          <a:sym typeface="Consolas"/>
                        </a:rPr>
                        <a:t>ans</a:t>
                      </a:r>
                      <a:r>
                        <a:rPr lang="en-US" sz="1400" dirty="0">
                          <a:latin typeface="Roboto" panose="02000000000000000000" pitchFamily="2" charset="0"/>
                          <a:ea typeface="Roboto" panose="02000000000000000000" pitchFamily="2" charset="0"/>
                          <a:cs typeface="Roboto" panose="02000000000000000000" pitchFamily="2" charset="0"/>
                          <a:sym typeface="Consolas"/>
                        </a:rPr>
                        <a:t>=1;</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for(int </a:t>
                      </a:r>
                      <a:r>
                        <a:rPr lang="en-US" sz="1400" dirty="0" err="1">
                          <a:latin typeface="Roboto" panose="02000000000000000000" pitchFamily="2" charset="0"/>
                          <a:ea typeface="Roboto" panose="02000000000000000000" pitchFamily="2" charset="0"/>
                          <a:cs typeface="Roboto" panose="02000000000000000000" pitchFamily="2" charset="0"/>
                          <a:sym typeface="Consolas"/>
                        </a:rPr>
                        <a:t>i</a:t>
                      </a:r>
                      <a:r>
                        <a:rPr lang="en-US" sz="1400" dirty="0">
                          <a:latin typeface="Roboto" panose="02000000000000000000" pitchFamily="2" charset="0"/>
                          <a:ea typeface="Roboto" panose="02000000000000000000" pitchFamily="2" charset="0"/>
                          <a:cs typeface="Roboto" panose="02000000000000000000" pitchFamily="2" charset="0"/>
                          <a:sym typeface="Consolas"/>
                        </a:rPr>
                        <a:t>=0; </a:t>
                      </a:r>
                      <a:r>
                        <a:rPr lang="en-US" sz="1400" dirty="0" err="1">
                          <a:latin typeface="Roboto" panose="02000000000000000000" pitchFamily="2" charset="0"/>
                          <a:ea typeface="Roboto" panose="02000000000000000000" pitchFamily="2" charset="0"/>
                          <a:cs typeface="Roboto" panose="02000000000000000000" pitchFamily="2" charset="0"/>
                          <a:sym typeface="Consolas"/>
                        </a:rPr>
                        <a:t>i</a:t>
                      </a:r>
                      <a:r>
                        <a:rPr lang="en-US" sz="1400" dirty="0">
                          <a:latin typeface="Roboto" panose="02000000000000000000" pitchFamily="2" charset="0"/>
                          <a:ea typeface="Roboto" panose="02000000000000000000" pitchFamily="2" charset="0"/>
                          <a:cs typeface="Roboto" panose="02000000000000000000" pitchFamily="2" charset="0"/>
                          <a:sym typeface="Consolas"/>
                        </a:rPr>
                        <a:t>&lt;</a:t>
                      </a:r>
                      <a:r>
                        <a:rPr lang="en-US" sz="1400" dirty="0" err="1">
                          <a:latin typeface="Roboto" panose="02000000000000000000" pitchFamily="2" charset="0"/>
                          <a:ea typeface="Roboto" panose="02000000000000000000" pitchFamily="2" charset="0"/>
                          <a:cs typeface="Roboto" panose="02000000000000000000" pitchFamily="2" charset="0"/>
                          <a:sym typeface="Consolas"/>
                        </a:rPr>
                        <a:t>n;i</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if(prefix==0) </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prefix=1;</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if(suffix==0)</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		suffix=1;</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prefix=prefix*</a:t>
                      </a:r>
                      <a:r>
                        <a:rPr lang="en-US" sz="14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r>
                        <a:rPr lang="en-US" sz="1400" dirty="0" err="1">
                          <a:latin typeface="Roboto" panose="02000000000000000000" pitchFamily="2" charset="0"/>
                          <a:ea typeface="Roboto" panose="02000000000000000000" pitchFamily="2" charset="0"/>
                          <a:cs typeface="Roboto" panose="02000000000000000000" pitchFamily="2" charset="0"/>
                          <a:sym typeface="Consolas"/>
                        </a:rPr>
                        <a:t>i</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suffix=suffix*</a:t>
                      </a:r>
                      <a:r>
                        <a:rPr lang="en-US" sz="14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400" dirty="0">
                          <a:latin typeface="Roboto" panose="02000000000000000000" pitchFamily="2" charset="0"/>
                          <a:ea typeface="Roboto" panose="02000000000000000000" pitchFamily="2" charset="0"/>
                          <a:cs typeface="Roboto" panose="02000000000000000000" pitchFamily="2" charset="0"/>
                          <a:sym typeface="Consolas"/>
                        </a:rPr>
                        <a:t>[n-i-1];</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err="1">
                          <a:latin typeface="Roboto" panose="02000000000000000000" pitchFamily="2" charset="0"/>
                          <a:ea typeface="Roboto" panose="02000000000000000000" pitchFamily="2" charset="0"/>
                          <a:cs typeface="Roboto" panose="02000000000000000000" pitchFamily="2" charset="0"/>
                          <a:sym typeface="Consolas"/>
                        </a:rPr>
                        <a:t>ans</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r>
                        <a:rPr lang="en-US" sz="1400" dirty="0" err="1">
                          <a:latin typeface="Roboto" panose="02000000000000000000" pitchFamily="2" charset="0"/>
                          <a:ea typeface="Roboto" panose="02000000000000000000" pitchFamily="2" charset="0"/>
                          <a:cs typeface="Roboto" panose="02000000000000000000" pitchFamily="2" charset="0"/>
                          <a:sym typeface="Consolas"/>
                        </a:rPr>
                        <a:t>Math.max</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r>
                        <a:rPr lang="en-US" sz="1400" dirty="0" err="1">
                          <a:latin typeface="Roboto" panose="02000000000000000000" pitchFamily="2" charset="0"/>
                          <a:ea typeface="Roboto" panose="02000000000000000000" pitchFamily="2" charset="0"/>
                          <a:cs typeface="Roboto" panose="02000000000000000000" pitchFamily="2" charset="0"/>
                          <a:sym typeface="Consolas"/>
                        </a:rPr>
                        <a:t>ans,Math.max</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r>
                        <a:rPr lang="en-US" sz="1400" dirty="0" err="1">
                          <a:latin typeface="Roboto" panose="02000000000000000000" pitchFamily="2" charset="0"/>
                          <a:ea typeface="Roboto" panose="02000000000000000000" pitchFamily="2" charset="0"/>
                          <a:cs typeface="Roboto" panose="02000000000000000000" pitchFamily="2" charset="0"/>
                          <a:sym typeface="Consolas"/>
                        </a:rPr>
                        <a:t>prefix,suffix</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err="1">
                          <a:latin typeface="Roboto" panose="02000000000000000000" pitchFamily="2" charset="0"/>
                          <a:ea typeface="Roboto" panose="02000000000000000000" pitchFamily="2" charset="0"/>
                          <a:cs typeface="Roboto" panose="02000000000000000000" pitchFamily="2" charset="0"/>
                          <a:sym typeface="Consolas"/>
                        </a:rPr>
                        <a:t>System.out.println</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r>
                        <a:rPr lang="en-US" sz="1400" dirty="0" err="1">
                          <a:latin typeface="Roboto" panose="02000000000000000000" pitchFamily="2" charset="0"/>
                          <a:ea typeface="Roboto" panose="02000000000000000000" pitchFamily="2" charset="0"/>
                          <a:cs typeface="Roboto" panose="02000000000000000000" pitchFamily="2" charset="0"/>
                          <a:sym typeface="Consolas"/>
                        </a:rPr>
                        <a:t>ans</a:t>
                      </a: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sz="1400" dirty="0">
                          <a:latin typeface="Roboto" panose="02000000000000000000" pitchFamily="2" charset="0"/>
                          <a:ea typeface="Roboto" panose="02000000000000000000" pitchFamily="2" charset="0"/>
                          <a:cs typeface="Roboto" panose="02000000000000000000" pitchFamily="2" charset="0"/>
                          <a:sym typeface="Consolas"/>
                        </a:rPr>
                        <a:t>}}</a:t>
                      </a: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None/>
                      </a:pPr>
                      <a:endParaRPr sz="14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None/>
                      </a:pPr>
                      <a:endParaRPr sz="1400" dirty="0">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24f98ff5957_2_0"/>
          <p:cNvSpPr/>
          <p:nvPr/>
        </p:nvSpPr>
        <p:spPr>
          <a:xfrm>
            <a:off x="555120" y="915840"/>
            <a:ext cx="7545000" cy="82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47" name="Google Shape;147;g24f98ff5957_2_0"/>
          <p:cNvGraphicFramePr/>
          <p:nvPr>
            <p:extLst>
              <p:ext uri="{D42A27DB-BD31-4B8C-83A1-F6EECF244321}">
                <p14:modId xmlns:p14="http://schemas.microsoft.com/office/powerpoint/2010/main" val="3245591083"/>
              </p:ext>
            </p:extLst>
          </p:nvPr>
        </p:nvGraphicFramePr>
        <p:xfrm>
          <a:off x="810322" y="1042391"/>
          <a:ext cx="7664605" cy="3425532"/>
        </p:xfrm>
        <a:graphic>
          <a:graphicData uri="http://schemas.openxmlformats.org/drawingml/2006/table">
            <a:tbl>
              <a:tblPr firstRow="1" bandRow="1">
                <a:noFill/>
                <a:tableStyleId>{4D0D0035-3180-4B7F-B4E2-774F380A473E}</a:tableStyleId>
              </a:tblPr>
              <a:tblGrid>
                <a:gridCol w="3759364">
                  <a:extLst>
                    <a:ext uri="{9D8B030D-6E8A-4147-A177-3AD203B41FA5}">
                      <a16:colId xmlns:a16="http://schemas.microsoft.com/office/drawing/2014/main" val="20000"/>
                    </a:ext>
                  </a:extLst>
                </a:gridCol>
                <a:gridCol w="3905241">
                  <a:extLst>
                    <a:ext uri="{9D8B030D-6E8A-4147-A177-3AD203B41FA5}">
                      <a16:colId xmlns:a16="http://schemas.microsoft.com/office/drawing/2014/main" val="20001"/>
                    </a:ext>
                  </a:extLst>
                </a:gridCol>
              </a:tblGrid>
              <a:tr h="3425532">
                <a:tc>
                  <a:txBody>
                    <a:bodyPr/>
                    <a:lstStyle/>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import java.io.*;</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class Main{</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static int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maxSubarrayProduct</a:t>
                      </a:r>
                      <a:r>
                        <a:rPr lang="en-US" sz="1300" dirty="0">
                          <a:latin typeface="Roboto" panose="02000000000000000000" pitchFamily="2" charset="0"/>
                          <a:ea typeface="Roboto" panose="02000000000000000000" pitchFamily="2" charset="0"/>
                          <a:cs typeface="Roboto" panose="02000000000000000000" pitchFamily="2" charset="0"/>
                          <a:sym typeface="Consolas"/>
                        </a:rPr>
                        <a:t>(int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 int n)</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int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[0];</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int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min_ending_here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[0];</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int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max_so_far</a:t>
                      </a:r>
                      <a:r>
                        <a:rPr lang="en-US" sz="1300" dirty="0">
                          <a:latin typeface="Roboto" panose="02000000000000000000" pitchFamily="2" charset="0"/>
                          <a:ea typeface="Roboto" panose="02000000000000000000" pitchFamily="2" charset="0"/>
                          <a:cs typeface="Roboto" panose="02000000000000000000" pitchFamily="2" charset="0"/>
                          <a:sym typeface="Consolas"/>
                        </a:rPr>
                        <a:t>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[0];</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for (int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 1; </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&lt; n; </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int temp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Math.max</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err="1">
                          <a:latin typeface="Roboto" panose="02000000000000000000" pitchFamily="2" charset="0"/>
                          <a:ea typeface="Roboto" panose="02000000000000000000" pitchFamily="2" charset="0"/>
                          <a:cs typeface="Roboto" panose="02000000000000000000" pitchFamily="2" charset="0"/>
                          <a:sym typeface="Consolas"/>
                        </a:rPr>
                        <a:t>Math.max</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min_ending_here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err="1">
                          <a:latin typeface="Roboto" panose="02000000000000000000" pitchFamily="2" charset="0"/>
                          <a:ea typeface="Roboto" panose="02000000000000000000" pitchFamily="2" charset="0"/>
                          <a:cs typeface="Roboto" panose="02000000000000000000" pitchFamily="2" charset="0"/>
                          <a:sym typeface="Consolas"/>
                        </a:rPr>
                        <a:t>min_ending_here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Math.min</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SzPts val="1100"/>
                        <a:buNone/>
                      </a:pPr>
                      <a:r>
                        <a:rPr lang="en-US" sz="1300" dirty="0" err="1">
                          <a:latin typeface="Roboto" panose="02000000000000000000" pitchFamily="2" charset="0"/>
                          <a:ea typeface="Roboto" panose="02000000000000000000" pitchFamily="2" charset="0"/>
                          <a:cs typeface="Roboto" panose="02000000000000000000" pitchFamily="2" charset="0"/>
                          <a:sym typeface="Consolas"/>
                        </a:rPr>
                        <a:t>Math.min</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i</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min_ending_here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SzPts val="1100"/>
                        <a:buNone/>
                      </a:pPr>
                      <a:r>
                        <a:rPr lang="en-US" sz="1300" dirty="0" err="1">
                          <a:latin typeface="Roboto" panose="02000000000000000000" pitchFamily="2" charset="0"/>
                          <a:ea typeface="Roboto" panose="02000000000000000000" pitchFamily="2" charset="0"/>
                          <a:cs typeface="Roboto" panose="02000000000000000000" pitchFamily="2" charset="0"/>
                          <a:sym typeface="Consolas"/>
                        </a:rPr>
                        <a:t>max_ending_here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 = temp;</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err="1">
                          <a:latin typeface="Roboto" panose="02000000000000000000" pitchFamily="2" charset="0"/>
                          <a:ea typeface="Roboto" panose="02000000000000000000" pitchFamily="2" charset="0"/>
                          <a:cs typeface="Roboto" panose="02000000000000000000" pitchFamily="2" charset="0"/>
                          <a:sym typeface="Consolas"/>
                        </a:rPr>
                        <a:t>max_so_far</a:t>
                      </a:r>
                      <a:r>
                        <a:rPr lang="en-US" sz="1300" dirty="0">
                          <a:latin typeface="Roboto" panose="02000000000000000000" pitchFamily="2" charset="0"/>
                          <a:ea typeface="Roboto" panose="02000000000000000000" pitchFamily="2" charset="0"/>
                          <a:cs typeface="Roboto" panose="02000000000000000000" pitchFamily="2" charset="0"/>
                          <a:sym typeface="Consolas"/>
                        </a:rPr>
                        <a: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Math.max</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max_so_far</a:t>
                      </a:r>
                      <a:r>
                        <a:rPr lang="en-US" sz="1300" dirty="0">
                          <a:latin typeface="Roboto" panose="02000000000000000000" pitchFamily="2" charset="0"/>
                          <a:ea typeface="Roboto" panose="02000000000000000000" pitchFamily="2" charset="0"/>
                          <a:cs typeface="Roboto" panose="02000000000000000000" pitchFamily="2" charset="0"/>
                          <a:sym typeface="Consolas"/>
                        </a:rPr>
                        <a: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max_ending_here</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return </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max_so_far</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public static void main(String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args</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int[]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 = { 1, -2, -3, 0, 7, -8, -2 };</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int n = </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arr.length</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a:t>
                      </a:r>
                      <a:r>
                        <a:rPr lang="en-US" sz="1300" dirty="0" err="1">
                          <a:latin typeface="Roboto" panose="02000000000000000000" pitchFamily="2" charset="0"/>
                          <a:ea typeface="Roboto" panose="02000000000000000000" pitchFamily="2" charset="0"/>
                          <a:cs typeface="Roboto" panose="02000000000000000000" pitchFamily="2" charset="0"/>
                          <a:sym typeface="Consolas"/>
                        </a:rPr>
                        <a:t>System.out.printf</a:t>
                      </a:r>
                      <a:r>
                        <a:rPr lang="en-US" sz="1300" dirty="0">
                          <a:latin typeface="Roboto" panose="02000000000000000000" pitchFamily="2" charset="0"/>
                          <a:ea typeface="Roboto" panose="02000000000000000000" pitchFamily="2" charset="0"/>
                          <a:cs typeface="Roboto" panose="02000000000000000000" pitchFamily="2" charset="0"/>
                          <a:sym typeface="Consolas"/>
                        </a:rPr>
                        <a:t>("Maximum Sub array product is %d",</a:t>
                      </a:r>
                      <a:r>
                        <a:rPr lang="en-US" sz="1300" dirty="0" err="1">
                          <a:latin typeface="Roboto" panose="02000000000000000000" pitchFamily="2" charset="0"/>
                          <a:ea typeface="Roboto" panose="02000000000000000000" pitchFamily="2" charset="0"/>
                          <a:cs typeface="Roboto" panose="02000000000000000000" pitchFamily="2" charset="0"/>
                          <a:sym typeface="Consolas"/>
                        </a:rPr>
                        <a:t>maxSubarrayProduct</a:t>
                      </a:r>
                      <a:r>
                        <a:rPr lang="en-US" sz="1300" dirty="0">
                          <a:latin typeface="Roboto" panose="02000000000000000000" pitchFamily="2" charset="0"/>
                          <a:ea typeface="Roboto" panose="02000000000000000000" pitchFamily="2" charset="0"/>
                          <a:cs typeface="Roboto" panose="02000000000000000000" pitchFamily="2" charset="0"/>
                          <a:sym typeface="Consolas"/>
                        </a:rPr>
                        <a:t>(</a:t>
                      </a:r>
                      <a:r>
                        <a:rPr lang="en-US" sz="1300" dirty="0" err="1">
                          <a:latin typeface="Roboto" panose="02000000000000000000" pitchFamily="2" charset="0"/>
                          <a:ea typeface="Roboto" panose="02000000000000000000" pitchFamily="2" charset="0"/>
                          <a:cs typeface="Roboto" panose="02000000000000000000" pitchFamily="2" charset="0"/>
                          <a:sym typeface="Consolas"/>
                        </a:rPr>
                        <a:t>arr</a:t>
                      </a:r>
                      <a:r>
                        <a:rPr lang="en-US" sz="1300" dirty="0">
                          <a:latin typeface="Roboto" panose="02000000000000000000" pitchFamily="2" charset="0"/>
                          <a:ea typeface="Roboto" panose="02000000000000000000" pitchFamily="2" charset="0"/>
                          <a:cs typeface="Roboto" panose="02000000000000000000" pitchFamily="2" charset="0"/>
                          <a:sym typeface="Consolas"/>
                        </a:rPr>
                        <a:t>, n));</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	}</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SzPts val="1100"/>
                        <a:buNone/>
                      </a:pPr>
                      <a:r>
                        <a:rPr lang="en-US" sz="1300" dirty="0">
                          <a:latin typeface="Roboto" panose="02000000000000000000" pitchFamily="2" charset="0"/>
                          <a:ea typeface="Roboto" panose="02000000000000000000" pitchFamily="2" charset="0"/>
                          <a:cs typeface="Roboto" panose="02000000000000000000" pitchFamily="2" charset="0"/>
                          <a:sym typeface="Consolas"/>
                        </a:rPr>
                        <a:t>}</a:t>
                      </a: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None/>
                      </a:pPr>
                      <a:endParaRPr sz="1300" dirty="0">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None/>
                      </a:pPr>
                      <a:endParaRPr sz="1300" dirty="0">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55" name="Google Shape;155;p25"/>
          <p:cNvGraphicFramePr/>
          <p:nvPr>
            <p:extLst>
              <p:ext uri="{D42A27DB-BD31-4B8C-83A1-F6EECF244321}">
                <p14:modId xmlns:p14="http://schemas.microsoft.com/office/powerpoint/2010/main" val="1948442915"/>
              </p:ext>
            </p:extLst>
          </p:nvPr>
        </p:nvGraphicFramePr>
        <p:xfrm>
          <a:off x="338759" y="745024"/>
          <a:ext cx="8559050" cy="3763675"/>
        </p:xfrm>
        <a:graphic>
          <a:graphicData uri="http://schemas.openxmlformats.org/drawingml/2006/table">
            <a:tbl>
              <a:tblPr firstRow="1" bandRow="1">
                <a:noFill/>
                <a:tableStyleId>{4D0D0035-3180-4B7F-B4E2-774F380A473E}</a:tableStyleId>
              </a:tblPr>
              <a:tblGrid>
                <a:gridCol w="4198075">
                  <a:extLst>
                    <a:ext uri="{9D8B030D-6E8A-4147-A177-3AD203B41FA5}">
                      <a16:colId xmlns:a16="http://schemas.microsoft.com/office/drawing/2014/main" val="20000"/>
                    </a:ext>
                  </a:extLst>
                </a:gridCol>
                <a:gridCol w="4360975">
                  <a:extLst>
                    <a:ext uri="{9D8B030D-6E8A-4147-A177-3AD203B41FA5}">
                      <a16:colId xmlns:a16="http://schemas.microsoft.com/office/drawing/2014/main" val="20001"/>
                    </a:ext>
                  </a:extLst>
                </a:gridCol>
              </a:tblGrid>
              <a:tr h="3763675">
                <a:tc>
                  <a:txBody>
                    <a:bodyPr/>
                    <a:lstStyle/>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import java.util.*;</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public class Main {</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public static int maxProduct(List&lt;Integer&gt; nums) {</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if (nums.size() == 0)</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return 0;</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int maxSoFar = nums.get(0);</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int minSoFar = nums.get(0);</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int result = maxSoFar;</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for (int i = 1; i &lt; nums.size(); i++) {</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int curr = nums.get(i);</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int tempMax = Math.max(curr, Math.max(maxSoFar * curr, minSoFar * curr));</a:t>
                      </a:r>
                      <a:endParaRPr>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a:latin typeface="Roboto" panose="02000000000000000000" pitchFamily="2" charset="0"/>
                          <a:ea typeface="Roboto" panose="02000000000000000000" pitchFamily="2" charset="0"/>
                          <a:cs typeface="Roboto" panose="02000000000000000000" pitchFamily="2" charset="0"/>
                          <a:sym typeface="Consolas"/>
                        </a:rPr>
                        <a:t>            minSoFar = Math.min(curr, Math.min(maxSoFar * curr, minSoFar * curr));</a:t>
                      </a:r>
                      <a:endParaRPr>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maxSoFar</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tempMax</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result =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Math.max</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maxSoFar</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result);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return result;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public static void main(String[]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args</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List&lt;Integer&gt;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nums</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Arrays.asList</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(2, 5,-15);</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int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maxProduct</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maxProduct</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nums</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System.out.println</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("Max Product: " + </a:t>
                      </a:r>
                      <a:r>
                        <a:rPr lang="en-US" sz="1400" u="none" strike="noStrike" cap="none" dirty="0" err="1">
                          <a:latin typeface="Roboto" panose="02000000000000000000" pitchFamily="2" charset="0"/>
                          <a:ea typeface="Roboto" panose="02000000000000000000" pitchFamily="2" charset="0"/>
                          <a:cs typeface="Roboto" panose="02000000000000000000" pitchFamily="2" charset="0"/>
                          <a:sym typeface="Consolas"/>
                        </a:rPr>
                        <a:t>maxProduct</a:t>
                      </a: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g23f307fc558_0_8"/>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63" name="Google Shape;163;g23f307fc558_0_8"/>
          <p:cNvSpPr/>
          <p:nvPr/>
        </p:nvSpPr>
        <p:spPr>
          <a:xfrm>
            <a:off x="1007602" y="79369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64" name="Google Shape;164;g23f307fc558_0_8"/>
          <p:cNvSpPr txBox="1"/>
          <p:nvPr/>
        </p:nvSpPr>
        <p:spPr>
          <a:xfrm>
            <a:off x="629999" y="1141357"/>
            <a:ext cx="8117100" cy="8925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Explain the Maximum Product Subarray problem.</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65" name="Google Shape;165;g23f307fc558_0_8"/>
          <p:cNvSpPr txBox="1"/>
          <p:nvPr/>
        </p:nvSpPr>
        <p:spPr>
          <a:xfrm>
            <a:off x="1007602" y="1856184"/>
            <a:ext cx="7164848" cy="143113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Maximum Product Subarray problem involves finding a contiguous subarray within an array that has the largest product of its elements</a:t>
            </a: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rPr>
              <a:t>.</a:t>
            </a: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220;g25ff1c1f48c_0_10">
            <a:extLst>
              <a:ext uri="{FF2B5EF4-FFF2-40B4-BE49-F238E27FC236}">
                <a16:creationId xmlns:a16="http://schemas.microsoft.com/office/drawing/2014/main" id="{9C3296CA-36E0-2A43-4CDA-5BD180DE5E63}"/>
              </a:ext>
            </a:extLst>
          </p:cNvPr>
          <p:cNvSpPr txBox="1"/>
          <p:nvPr/>
        </p:nvSpPr>
        <p:spPr>
          <a:xfrm>
            <a:off x="404336" y="439877"/>
            <a:ext cx="4572000" cy="58781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g23f307fc558_0_18"/>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73" name="Google Shape;173;g23f307fc558_0_1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74" name="Google Shape;174;g23f307fc558_0_18"/>
          <p:cNvSpPr txBox="1"/>
          <p:nvPr/>
        </p:nvSpPr>
        <p:spPr>
          <a:xfrm>
            <a:off x="451249" y="1435477"/>
            <a:ext cx="8117100" cy="79556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How would you approach solving the Maximum Product Subarray problem?</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75" name="Google Shape;175;g23f307fc558_0_18"/>
          <p:cNvSpPr txBox="1"/>
          <p:nvPr/>
        </p:nvSpPr>
        <p:spPr>
          <a:xfrm>
            <a:off x="1131376" y="1916598"/>
            <a:ext cx="7509335" cy="2262127"/>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One common approach is to use dynamic programming. We can keep track of both the maximum and minimum product subarrays at each index while iterating through the array. By considering the maximum of four cases for each element, we update the maximum and minimum subarray products. Finally, we return the maximum product found.</a:t>
            </a:r>
            <a:endParaRPr sz="2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220;g25ff1c1f48c_0_10">
            <a:extLst>
              <a:ext uri="{FF2B5EF4-FFF2-40B4-BE49-F238E27FC236}">
                <a16:creationId xmlns:a16="http://schemas.microsoft.com/office/drawing/2014/main" id="{46FA2D90-2A80-8BAF-7CEC-AFAFA30D4C18}"/>
              </a:ext>
            </a:extLst>
          </p:cNvPr>
          <p:cNvSpPr txBox="1"/>
          <p:nvPr/>
        </p:nvSpPr>
        <p:spPr>
          <a:xfrm>
            <a:off x="374708" y="584514"/>
            <a:ext cx="4572000" cy="58781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g23f307fc558_0_30"/>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83" name="Google Shape;183;g23f307fc558_0_30"/>
          <p:cNvSpPr/>
          <p:nvPr/>
        </p:nvSpPr>
        <p:spPr>
          <a:xfrm>
            <a:off x="1007602" y="79060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84" name="Google Shape;184;g23f307fc558_0_30"/>
          <p:cNvSpPr txBox="1"/>
          <p:nvPr/>
        </p:nvSpPr>
        <p:spPr>
          <a:xfrm>
            <a:off x="549502" y="1260839"/>
            <a:ext cx="8117100" cy="8925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the time complexity of the Maximum Product Subarray algorithm?</a:t>
            </a:r>
            <a:endParaRPr sz="18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85" name="Google Shape;185;g23f307fc558_0_30"/>
          <p:cNvSpPr txBox="1"/>
          <p:nvPr/>
        </p:nvSpPr>
        <p:spPr>
          <a:xfrm>
            <a:off x="1007390" y="2354239"/>
            <a:ext cx="7201112" cy="143113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time complexity of the algorithm is O(n), where n is the size of the input array. This is because we iterate through the array only once, performing constant time operations at each index.</a:t>
            </a:r>
            <a:endParaRPr sz="2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220;g25ff1c1f48c_0_10">
            <a:extLst>
              <a:ext uri="{FF2B5EF4-FFF2-40B4-BE49-F238E27FC236}">
                <a16:creationId xmlns:a16="http://schemas.microsoft.com/office/drawing/2014/main" id="{F6DF750E-FB7A-60B9-1C2B-FE4CC551026E}"/>
              </a:ext>
            </a:extLst>
          </p:cNvPr>
          <p:cNvSpPr txBox="1"/>
          <p:nvPr/>
        </p:nvSpPr>
        <p:spPr>
          <a:xfrm>
            <a:off x="374708" y="723145"/>
            <a:ext cx="4572000" cy="58781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35"/>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93" name="Google Shape;193;p35"/>
          <p:cNvSpPr/>
          <p:nvPr/>
        </p:nvSpPr>
        <p:spPr>
          <a:xfrm>
            <a:off x="1007602" y="79060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94" name="Google Shape;194;p35"/>
          <p:cNvSpPr txBox="1"/>
          <p:nvPr/>
        </p:nvSpPr>
        <p:spPr>
          <a:xfrm>
            <a:off x="513450" y="885970"/>
            <a:ext cx="8117100" cy="8925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How can we handle edge cases in the Maximum Product Subarray problem? </a:t>
            </a:r>
            <a:endParaRPr sz="24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95" name="Google Shape;195;p35"/>
          <p:cNvSpPr txBox="1"/>
          <p:nvPr/>
        </p:nvSpPr>
        <p:spPr>
          <a:xfrm>
            <a:off x="1069383" y="1988695"/>
            <a:ext cx="7131370" cy="184662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One possible edge case is an empty array. In such cases, we can return 0 as there are no elements to consider.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Another edge case is when the array has only one element. In this case, the maximum product subarray would be that single element.</a:t>
            </a: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220;g25ff1c1f48c_0_10">
            <a:extLst>
              <a:ext uri="{FF2B5EF4-FFF2-40B4-BE49-F238E27FC236}">
                <a16:creationId xmlns:a16="http://schemas.microsoft.com/office/drawing/2014/main" id="{A51A6827-B7A0-1CCD-D9A5-40D7BBDE0C9C}"/>
              </a:ext>
            </a:extLst>
          </p:cNvPr>
          <p:cNvSpPr txBox="1"/>
          <p:nvPr/>
        </p:nvSpPr>
        <p:spPr>
          <a:xfrm>
            <a:off x="419313" y="519279"/>
            <a:ext cx="4572000" cy="58781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00"/>
        <p:cNvGrpSpPr/>
        <p:nvPr/>
      </p:nvGrpSpPr>
      <p:grpSpPr>
        <a:xfrm>
          <a:off x="0" y="0"/>
          <a:ext cx="0" cy="0"/>
          <a:chOff x="0" y="0"/>
          <a:chExt cx="0" cy="0"/>
        </a:xfrm>
      </p:grpSpPr>
      <p:sp>
        <p:nvSpPr>
          <p:cNvPr id="5201" name="Google Shape;5201;p561"/>
          <p:cNvSpPr/>
          <p:nvPr/>
        </p:nvSpPr>
        <p:spPr>
          <a:xfrm>
            <a:off x="555120" y="915840"/>
            <a:ext cx="7544880" cy="830956"/>
          </a:xfrm>
          <a:prstGeom prst="rect">
            <a:avLst/>
          </a:prstGeom>
          <a:noFill/>
          <a:ln>
            <a:noFill/>
          </a:ln>
        </p:spPr>
        <p:txBody>
          <a:bodyPr spcFirstLastPara="1" wrap="square" lIns="91425" tIns="45700" rIns="91425" bIns="45700" anchor="t" anchorCtr="0">
            <a:spAutoFit/>
          </a:bodyPr>
          <a:lstStyle/>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p:txBody>
      </p:sp>
      <p:pic>
        <p:nvPicPr>
          <p:cNvPr id="76805" name="Google Shape;1420;p18">
            <a:extLst>
              <a:ext uri="{FF2B5EF4-FFF2-40B4-BE49-F238E27FC236}">
                <a16:creationId xmlns:a16="http://schemas.microsoft.com/office/drawing/2014/main" id="{EF29B0C4-6766-C518-F208-025B01250D6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9160" y="913210"/>
            <a:ext cx="2855119" cy="28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Google Shape;1421;p18">
            <a:extLst>
              <a:ext uri="{FF2B5EF4-FFF2-40B4-BE49-F238E27FC236}">
                <a16:creationId xmlns:a16="http://schemas.microsoft.com/office/drawing/2014/main" id="{04A2AACF-A287-93F4-A91D-C8DE8603E40D}"/>
              </a:ext>
            </a:extLst>
          </p:cNvPr>
          <p:cNvSpPr>
            <a:spLocks noChangeArrowheads="1"/>
          </p:cNvSpPr>
          <p:nvPr/>
        </p:nvSpPr>
        <p:spPr bwMode="auto">
          <a:xfrm>
            <a:off x="1634729" y="4055269"/>
            <a:ext cx="5183981" cy="28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625" tIns="82925" rIns="81625" bIns="82925" anchor="ctr"/>
          <a:lstStyle>
            <a:lvl1pPr>
              <a:lnSpc>
                <a:spcPct val="90000"/>
              </a:lnSpc>
              <a:spcBef>
                <a:spcPts val="1000"/>
              </a:spcBef>
              <a:buFont typeface="Arial" panose="020B0604020202020204" pitchFamily="34" charset="0"/>
              <a:buChar char="•"/>
              <a:defRPr sz="2800">
                <a:solidFill>
                  <a:schemeClr val="tx1"/>
                </a:solidFill>
                <a:latin typeface="Roboto" panose="020000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Roboto" panose="020000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Roboto" panose="020000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9pPr>
          </a:lstStyle>
          <a:p>
            <a:pPr algn="ctr" eaLnBrk="1" hangingPunct="1">
              <a:lnSpc>
                <a:spcPct val="100000"/>
              </a:lnSpc>
              <a:spcBef>
                <a:spcPct val="0"/>
              </a:spcBef>
              <a:buClr>
                <a:srgbClr val="000000"/>
              </a:buClr>
              <a:buSzPts val="1200"/>
              <a:buFontTx/>
              <a:buNone/>
            </a:pPr>
            <a:r>
              <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hlinkClick r:id="rId4"/>
              </a:rPr>
              <a:t>https://learn.codemithra.com</a:t>
            </a:r>
            <a:endPar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endParaRPr>
          </a:p>
          <a:p>
            <a:pPr algn="ctr" eaLnBrk="1" hangingPunct="1">
              <a:lnSpc>
                <a:spcPct val="100000"/>
              </a:lnSpc>
              <a:spcBef>
                <a:spcPct val="0"/>
              </a:spcBef>
              <a:buClr>
                <a:srgbClr val="000000"/>
              </a:buClr>
              <a:buSzPts val="1200"/>
              <a:buFontTx/>
              <a:buNone/>
            </a:pPr>
            <a:endParaRPr lang="en-US" altLang="en-US" sz="1200" dirty="0">
              <a:solidFill>
                <a:srgbClr val="000000"/>
              </a:solidFill>
              <a:ea typeface="Roboto" panose="02000000000000000000" pitchFamily="2" charset="0"/>
              <a:cs typeface="Roboto" panose="02000000000000000000" pitchFamily="2" charset="0"/>
              <a:sym typeface="Arial" panose="020B0604020202020204" pitchFamily="34" charset="0"/>
            </a:endParaRPr>
          </a:p>
        </p:txBody>
      </p:sp>
    </p:spTree>
    <p:extLst>
      <p:ext uri="{BB962C8B-B14F-4D97-AF65-F5344CB8AC3E}">
        <p14:creationId xmlns:p14="http://schemas.microsoft.com/office/powerpoint/2010/main" val="4121189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ctrTitle"/>
          </p:nvPr>
        </p:nvSpPr>
        <p:spPr>
          <a:xfrm>
            <a:off x="311708" y="744575"/>
            <a:ext cx="8520600" cy="2052600"/>
          </a:xfrm>
          <a:prstGeom prst="rect">
            <a:avLst/>
          </a:prstGeom>
          <a:noFill/>
          <a:ln>
            <a:noFill/>
          </a:ln>
        </p:spPr>
        <p:txBody>
          <a:bodyPr spcFirstLastPara="1" vert="horz" wrap="square" lIns="91425" tIns="91425" rIns="91425" bIns="91425" rtlCol="0" anchor="b" anchorCtr="0">
            <a:normAutofit/>
          </a:bodyPr>
          <a:lstStyle/>
          <a:p>
            <a:pPr>
              <a:lnSpc>
                <a:spcPct val="100000"/>
              </a:lnSpc>
              <a:buSzPts val="5200"/>
            </a:pPr>
            <a:endParaRPr/>
          </a:p>
        </p:txBody>
      </p:sp>
      <p:sp>
        <p:nvSpPr>
          <p:cNvPr id="128" name="Google Shape;128;p9"/>
          <p:cNvSpPr txBox="1">
            <a:spLocks noGrp="1"/>
          </p:cNvSpPr>
          <p:nvPr>
            <p:ph type="subTitle" idx="1"/>
          </p:nvPr>
        </p:nvSpPr>
        <p:spPr>
          <a:xfrm>
            <a:off x="311700" y="2834125"/>
            <a:ext cx="8520600" cy="792600"/>
          </a:xfrm>
          <a:prstGeom prst="rect">
            <a:avLst/>
          </a:prstGeom>
          <a:noFill/>
          <a:ln>
            <a:noFill/>
          </a:ln>
        </p:spPr>
        <p:txBody>
          <a:bodyPr spcFirstLastPara="1" vert="horz" wrap="square" lIns="91425" tIns="91425" rIns="91425" bIns="91425" rtlCol="0" anchor="t" anchorCtr="0">
            <a:normAutofit/>
          </a:bodyPr>
          <a:lstStyle/>
          <a:p>
            <a:pPr>
              <a:lnSpc>
                <a:spcPct val="100000"/>
              </a:lnSpc>
              <a:spcBef>
                <a:spcPts val="0"/>
              </a:spcBef>
              <a:buSzPts val="2800"/>
            </a:pPr>
            <a:endParaRPr/>
          </a:p>
        </p:txBody>
      </p:sp>
      <p:pic>
        <p:nvPicPr>
          <p:cNvPr id="129" name="Google Shape;129;p9"/>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130" name="Google Shape;130;p9"/>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a:buClr>
                <a:srgbClr val="000000"/>
              </a:buClr>
              <a:buSzPts val="3700"/>
            </a:pPr>
            <a:r>
              <a:rPr lang="en-IN" sz="3700" dirty="0">
                <a:solidFill>
                  <a:schemeClr val="lt1"/>
                </a:solidFill>
                <a:latin typeface="Roboto Medium"/>
                <a:ea typeface="Roboto Medium"/>
                <a:cs typeface="Roboto Medium"/>
                <a:sym typeface="Roboto Medium"/>
              </a:rPr>
              <a:t>THANK YOU</a:t>
            </a:r>
            <a:endParaRPr sz="3700" dirty="0">
              <a:solidFill>
                <a:schemeClr val="lt1"/>
              </a:solidFill>
              <a:latin typeface="Roboto Medium"/>
              <a:ea typeface="Roboto Medium"/>
              <a:cs typeface="Roboto Medium"/>
              <a:sym typeface="Roboto Medium"/>
            </a:endParaRPr>
          </a:p>
        </p:txBody>
      </p:sp>
      <p:pic>
        <p:nvPicPr>
          <p:cNvPr id="131" name="Google Shape;131;p9"/>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132" name="Google Shape;132;p9"/>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133" name="Google Shape;133;p9"/>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+91 78150 95095</a:t>
            </a:r>
            <a:endParaRPr sz="1000">
              <a:solidFill>
                <a:schemeClr val="lt1"/>
              </a:solidFill>
              <a:latin typeface="Roboto Medium"/>
              <a:ea typeface="Roboto Medium"/>
              <a:cs typeface="Roboto Medium"/>
              <a:sym typeface="Roboto Medium"/>
            </a:endParaRPr>
          </a:p>
        </p:txBody>
      </p:sp>
      <p:cxnSp>
        <p:nvCxnSpPr>
          <p:cNvPr id="134" name="Google Shape;134;p9"/>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135" name="Google Shape;135;p9"/>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codemithra@ethnus.com</a:t>
            </a:r>
            <a:endParaRPr sz="1000">
              <a:solidFill>
                <a:schemeClr val="lt1"/>
              </a:solidFill>
              <a:latin typeface="Roboto Medium"/>
              <a:ea typeface="Roboto Medium"/>
              <a:cs typeface="Roboto Medium"/>
              <a:sym typeface="Roboto Medium"/>
            </a:endParaRPr>
          </a:p>
        </p:txBody>
      </p:sp>
      <p:pic>
        <p:nvPicPr>
          <p:cNvPr id="136" name="Google Shape;136;p9"/>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137" name="Google Shape;137;p9"/>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www.codemithra.com</a:t>
            </a:r>
            <a:endParaRPr sz="1000">
              <a:solidFill>
                <a:schemeClr val="lt1"/>
              </a:solidFill>
              <a:latin typeface="Roboto Medium"/>
              <a:ea typeface="Roboto Medium"/>
              <a:cs typeface="Roboto Medium"/>
              <a:sym typeface="Roboto Medium"/>
            </a:endParaRPr>
          </a:p>
        </p:txBody>
      </p:sp>
      <p:cxnSp>
        <p:nvCxnSpPr>
          <p:cNvPr id="138" name="Google Shape;138;p9"/>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1415</Words>
  <Application>Microsoft Office PowerPoint</Application>
  <PresentationFormat>On-screen Show (16:9)</PresentationFormat>
  <Paragraphs>161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Roboto</vt:lpstr>
      <vt:lpstr>Roboto Medium</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lastModifiedBy>poojaramaraj71@gmail.com</cp:lastModifiedBy>
  <cp:revision>1</cp:revision>
  <dcterms:modified xsi:type="dcterms:W3CDTF">2024-07-15T09:12:45Z</dcterms:modified>
</cp:coreProperties>
</file>