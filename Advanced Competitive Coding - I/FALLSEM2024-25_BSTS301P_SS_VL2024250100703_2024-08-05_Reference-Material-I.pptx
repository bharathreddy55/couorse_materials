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Black"/>
      <p:bold r:id="rId35"/>
      <p:boldItalic r:id="rId36"/>
    </p:embeddedFont>
    <p:embeddedFont>
      <p:font typeface="Roboto"/>
      <p:regular r:id="rId37"/>
      <p:bold r:id="rId38"/>
      <p:italic r:id="rId39"/>
      <p:boldItalic r:id="rId40"/>
    </p:embeddedFont>
    <p:embeddedFont>
      <p:font typeface="Roboto Medium"/>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5" roundtripDataSignature="AMtx7miNnSU5aRiNydmkzNJJjLRJsdeB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1991AA-68E0-49AD-85E3-2B0856D36F71}">
  <a:tblStyle styleId="{711991AA-68E0-49AD-85E3-2B0856D36F71}"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42" Type="http://schemas.openxmlformats.org/officeDocument/2006/relationships/font" Target="fonts/RobotoMedium-bold.fntdata"/><Relationship Id="rId41" Type="http://schemas.openxmlformats.org/officeDocument/2006/relationships/font" Target="fonts/RobotoMedium-regular.fntdata"/><Relationship Id="rId22" Type="http://schemas.openxmlformats.org/officeDocument/2006/relationships/slide" Target="slides/slide16.xml"/><Relationship Id="rId44" Type="http://schemas.openxmlformats.org/officeDocument/2006/relationships/font" Target="fonts/RobotoMedium-boldItalic.fntdata"/><Relationship Id="rId21" Type="http://schemas.openxmlformats.org/officeDocument/2006/relationships/slide" Target="slides/slide15.xml"/><Relationship Id="rId43" Type="http://schemas.openxmlformats.org/officeDocument/2006/relationships/font" Target="fonts/RobotoMedium-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lack-bold.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font" Target="fonts/RobotoBlack-boldItalic.fntdata"/><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Output</a:t>
            </a:r>
            <a:endParaRPr>
              <a:latin typeface="Roboto"/>
              <a:ea typeface="Roboto"/>
              <a:cs typeface="Roboto"/>
              <a:sym typeface="Roboto"/>
            </a:endParaRPr>
          </a:p>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prime numbers from 1 to 25:7 11 13 17 19 23 </a:t>
            </a:r>
            <a:endParaRPr sz="1200">
              <a:solidFill>
                <a:schemeClr val="dk1"/>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72ce19ead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72ce19ead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f307fc55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f307f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3f307fc55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23f307fc55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3f307fc558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23f307fc55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3f307fc558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3f307fc558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252a63ab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7252a63ab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7252a63ab0_1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27252a63ab0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7252a63ab0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7252a63ab0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7252a63ab0_1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27252a63ab0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7252a63ab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27252a63ab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62"/>
          <p:cNvSpPr txBox="1"/>
          <p:nvPr>
            <p:ph idx="1" type="body"/>
          </p:nvPr>
        </p:nvSpPr>
        <p:spPr>
          <a:xfrm>
            <a:off x="628650" y="1369219"/>
            <a:ext cx="3886200" cy="3263504"/>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62"/>
          <p:cNvSpPr txBox="1"/>
          <p:nvPr>
            <p:ph idx="2" type="body"/>
          </p:nvPr>
        </p:nvSpPr>
        <p:spPr>
          <a:xfrm>
            <a:off x="4629150" y="1369219"/>
            <a:ext cx="3886200" cy="3263504"/>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6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6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2" name="Google Shape;3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5" name="Google Shape;45;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51" name="Google Shape;5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8.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rfiS4B5bPgnaRVgg6" TargetMode="Externa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jp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1" name="Google Shape;6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62" name="Google Shape;62;p1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63" name="Google Shape;63;p13"/>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64" name="Google Shape;64;p13"/>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870155" y="1149783"/>
            <a:ext cx="7993626" cy="134459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URL</a:t>
            </a:r>
            <a:r>
              <a:rPr b="1" i="0" lang="en-US" sz="1800" u="none" cap="none" strike="noStrike">
                <a:solidFill>
                  <a:srgbClr val="373737"/>
                </a:solidFill>
                <a:highlight>
                  <a:srgbClr val="FFFFFF"/>
                </a:highlight>
                <a:latin typeface="Roboto"/>
                <a:ea typeface="Roboto"/>
                <a:cs typeface="Roboto"/>
                <a:sym typeface="Roboto"/>
              </a:rPr>
              <a:t>:</a:t>
            </a:r>
            <a:r>
              <a:rPr b="1" i="0" lang="en-US" sz="1800" u="sng" cap="none" strike="noStrike">
                <a:solidFill>
                  <a:schemeClr val="hlink"/>
                </a:solidFill>
                <a:highlight>
                  <a:srgbClr val="FFFFFF"/>
                </a:highlight>
                <a:latin typeface="Arial"/>
                <a:ea typeface="Arial"/>
                <a:cs typeface="Arial"/>
                <a:sym typeface="Arial"/>
                <a:hlinkClick r:id="rId3"/>
              </a:rPr>
              <a:t>https://forms.gle/rfiS4B5bPgnaRVgg6</a:t>
            </a:r>
            <a:endParaRPr b="1" i="0" sz="1800" u="none" cap="none" strike="noStrike">
              <a:solidFill>
                <a:srgbClr val="373737"/>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highlight>
                  <a:srgbClr val="FFFFFF"/>
                </a:highlight>
                <a:latin typeface="Roboto"/>
                <a:ea typeface="Roboto"/>
                <a:cs typeface="Roboto"/>
                <a:sym typeface="Roboto"/>
              </a:rPr>
              <a:t>QR CODE</a:t>
            </a:r>
            <a:r>
              <a:rPr b="1" i="0" lang="en-US" sz="1800" u="none" cap="none" strike="noStrike">
                <a:solidFill>
                  <a:srgbClr val="373737"/>
                </a:solidFill>
                <a:highlight>
                  <a:srgbClr val="FFFFFF"/>
                </a:highlight>
                <a:latin typeface="Roboto"/>
                <a:ea typeface="Roboto"/>
                <a:cs typeface="Roboto"/>
                <a:sym typeface="Roboto"/>
              </a:rPr>
              <a:t>:</a:t>
            </a:r>
            <a:endParaRPr/>
          </a:p>
          <a:p>
            <a:pPr indent="0" lvl="0" marL="0" marR="0" rtl="0" algn="l">
              <a:lnSpc>
                <a:spcPct val="115000"/>
              </a:lnSpc>
              <a:spcBef>
                <a:spcPts val="0"/>
              </a:spcBef>
              <a:spcAft>
                <a:spcPts val="0"/>
              </a:spcAft>
              <a:buNone/>
            </a:pPr>
            <a:r>
              <a:t/>
            </a:r>
            <a:endParaRPr b="0" i="0" sz="1800" u="none" cap="none" strike="noStrike">
              <a:solidFill>
                <a:srgbClr val="00B0F0"/>
              </a:solidFill>
              <a:latin typeface="Roboto"/>
              <a:ea typeface="Roboto"/>
              <a:cs typeface="Roboto"/>
              <a:sym typeface="Roboto"/>
            </a:endParaRPr>
          </a:p>
        </p:txBody>
      </p:sp>
      <p:sp>
        <p:nvSpPr>
          <p:cNvPr id="70" name="Google Shape;70;p15"/>
          <p:cNvSpPr txBox="1"/>
          <p:nvPr/>
        </p:nvSpPr>
        <p:spPr>
          <a:xfrm>
            <a:off x="1708485" y="575460"/>
            <a:ext cx="652525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000" u="none" cap="none" strike="noStrike">
                <a:solidFill>
                  <a:schemeClr val="dk1"/>
                </a:solidFill>
                <a:latin typeface="Roboto Black"/>
                <a:ea typeface="Roboto Black"/>
                <a:cs typeface="Roboto Black"/>
                <a:sym typeface="Roboto Black"/>
              </a:rPr>
              <a:t>TEST TIME ON SIMPLE SIEVE</a:t>
            </a:r>
            <a:endParaRPr b="1" i="0" sz="2000" u="none" cap="none" strike="noStrike">
              <a:solidFill>
                <a:schemeClr val="dk1"/>
              </a:solidFill>
              <a:latin typeface="Roboto Black"/>
              <a:ea typeface="Roboto Black"/>
              <a:cs typeface="Roboto Black"/>
              <a:sym typeface="Roboto Black"/>
            </a:endParaRPr>
          </a:p>
          <a:p>
            <a:pPr indent="0" lvl="0" marL="0" marR="0" rtl="0" algn="ctr">
              <a:lnSpc>
                <a:spcPct val="100000"/>
              </a:lnSpc>
              <a:spcBef>
                <a:spcPts val="0"/>
              </a:spcBef>
              <a:spcAft>
                <a:spcPts val="0"/>
              </a:spcAft>
              <a:buNone/>
            </a:pPr>
            <a:r>
              <a:t/>
            </a:r>
            <a:endParaRPr b="1" i="0" sz="2000" u="none" cap="none" strike="noStrike">
              <a:solidFill>
                <a:schemeClr val="dk1"/>
              </a:solidFill>
              <a:latin typeface="Roboto Black"/>
              <a:ea typeface="Roboto Black"/>
              <a:cs typeface="Roboto Black"/>
              <a:sym typeface="Roboto Black"/>
            </a:endParaRPr>
          </a:p>
        </p:txBody>
      </p:sp>
      <p:pic>
        <p:nvPicPr>
          <p:cNvPr id="71" name="Google Shape;71;p15"/>
          <p:cNvPicPr preferRelativeResize="0"/>
          <p:nvPr/>
        </p:nvPicPr>
        <p:blipFill rotWithShape="1">
          <a:blip r:embed="rId4">
            <a:alphaModFix/>
          </a:blip>
          <a:srcRect b="0" l="0" r="0" t="0"/>
          <a:stretch/>
        </p:blipFill>
        <p:spPr>
          <a:xfrm>
            <a:off x="3389971" y="2059259"/>
            <a:ext cx="2512742" cy="25267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7" name="Google Shape;7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8" name="Google Shape;78;p16"/>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79" name="Google Shape;79;p16"/>
          <p:cNvSpPr txBox="1"/>
          <p:nvPr/>
        </p:nvSpPr>
        <p:spPr>
          <a:xfrm>
            <a:off x="14868" y="1572694"/>
            <a:ext cx="4951142" cy="188356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0" i="0" lang="en-US" sz="3200" u="none" cap="none" strike="noStrike">
                <a:solidFill>
                  <a:schemeClr val="lt1"/>
                </a:solidFill>
                <a:latin typeface="Roboto Black"/>
                <a:ea typeface="Roboto Black"/>
                <a:cs typeface="Roboto Black"/>
                <a:sym typeface="Roboto Black"/>
              </a:rPr>
              <a:t>SEGMENTED SIEVE</a:t>
            </a:r>
            <a:endParaRPr/>
          </a:p>
          <a:p>
            <a:pPr indent="0" lvl="0" marL="0" marR="0" rtl="0" algn="ctr">
              <a:lnSpc>
                <a:spcPct val="115000"/>
              </a:lnSpc>
              <a:spcBef>
                <a:spcPts val="0"/>
              </a:spcBef>
              <a:spcAft>
                <a:spcPts val="0"/>
              </a:spcAft>
              <a:buNone/>
            </a:pPr>
            <a:r>
              <a:rPr b="1" i="0" lang="en-US" sz="3200" u="none" cap="none" strike="noStrike">
                <a:solidFill>
                  <a:schemeClr val="lt1"/>
                </a:solidFill>
                <a:latin typeface="Roboto Black"/>
                <a:ea typeface="Roboto Black"/>
                <a:cs typeface="Roboto Black"/>
                <a:sym typeface="Roboto Black"/>
              </a:rPr>
              <a:t>AND </a:t>
            </a:r>
            <a:endParaRPr/>
          </a:p>
          <a:p>
            <a:pPr indent="0" lvl="0" marL="0" marR="0" rtl="0" algn="ctr">
              <a:lnSpc>
                <a:spcPct val="115000"/>
              </a:lnSpc>
              <a:spcBef>
                <a:spcPts val="0"/>
              </a:spcBef>
              <a:spcAft>
                <a:spcPts val="0"/>
              </a:spcAft>
              <a:buNone/>
            </a:pPr>
            <a:r>
              <a:rPr b="1" i="0" lang="en-US" sz="3200" u="none" cap="none" strike="noStrike">
                <a:solidFill>
                  <a:schemeClr val="lt1"/>
                </a:solidFill>
                <a:latin typeface="Roboto Black"/>
                <a:ea typeface="Roboto Black"/>
                <a:cs typeface="Roboto Black"/>
                <a:sym typeface="Roboto Black"/>
              </a:rPr>
              <a:t>INCREMENTAL SIEVE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5" name="Google Shape;8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6" name="Google Shape;86;p17"/>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87" name="Google Shape;87;p17"/>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88" name="Google Shape;88;p17"/>
          <p:cNvSpPr txBox="1"/>
          <p:nvPr/>
        </p:nvSpPr>
        <p:spPr>
          <a:xfrm>
            <a:off x="311700" y="1135849"/>
            <a:ext cx="309312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accent1"/>
                </a:solidFill>
                <a:latin typeface="Roboto Black"/>
                <a:ea typeface="Roboto Black"/>
                <a:cs typeface="Roboto Black"/>
                <a:sym typeface="Roboto Black"/>
              </a:rPr>
              <a:t>TOPICS</a:t>
            </a:r>
            <a:endParaRPr b="0" i="0" sz="1400" u="none" cap="none" strike="noStrike">
              <a:solidFill>
                <a:srgbClr val="000000"/>
              </a:solidFill>
              <a:latin typeface="Roboto Black"/>
              <a:ea typeface="Roboto Black"/>
              <a:cs typeface="Roboto Black"/>
              <a:sym typeface="Roboto Black"/>
            </a:endParaRPr>
          </a:p>
        </p:txBody>
      </p:sp>
      <p:sp>
        <p:nvSpPr>
          <p:cNvPr id="89" name="Google Shape;89;p17"/>
          <p:cNvSpPr txBox="1"/>
          <p:nvPr/>
        </p:nvSpPr>
        <p:spPr>
          <a:xfrm>
            <a:off x="1115121" y="1628019"/>
            <a:ext cx="3204117" cy="23185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Introduction Of Segmented Sieve</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C0C0C"/>
                </a:solidFill>
                <a:latin typeface="Roboto"/>
                <a:ea typeface="Roboto"/>
                <a:cs typeface="Roboto"/>
                <a:sym typeface="Roboto"/>
              </a:rPr>
              <a:t>Algorithm</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282829"/>
                </a:solidFill>
                <a:latin typeface="Roboto"/>
                <a:ea typeface="Roboto"/>
                <a:cs typeface="Roboto"/>
                <a:sym typeface="Roboto"/>
              </a:rPr>
              <a:t>Advantage</a:t>
            </a:r>
            <a:endParaRPr b="0" i="0" sz="1400" u="none" cap="none" strike="noStrike">
              <a:solidFill>
                <a:srgbClr val="0C0C0C"/>
              </a:solidFill>
              <a:latin typeface="Roboto"/>
              <a:ea typeface="Roboto"/>
              <a:cs typeface="Roboto"/>
              <a:sym typeface="Roboto"/>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Example</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Program</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Introduction Of Incremental Sieve</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Interview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431066" y="925165"/>
            <a:ext cx="8510954" cy="34162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C0C0C"/>
                </a:solidFill>
                <a:latin typeface="Roboto"/>
                <a:ea typeface="Roboto"/>
                <a:cs typeface="Roboto"/>
                <a:sym typeface="Roboto"/>
              </a:rPr>
              <a:t>INTRODUCTION</a:t>
            </a:r>
            <a:endParaRPr b="1"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A segmented sieve, also known as a segmented version of the Sieve of Eratosthenes, is a way to find all prime numbers within a range of numbers, rather than all prime numbers up to a certain number. </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It is an efficient algorithm for generating prime numbers within a specific range.</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The basic idea behind the segmented sieve is to divide the range of numbers into segments and apply the Sieve of Eratosthenes to each segment.</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In Simple Sieve, we needed O(n) space which may not be feasible for large n. </a:t>
            </a:r>
            <a:endParaRPr b="0" i="0" sz="1400" u="none" cap="none" strike="noStrike">
              <a:solidFill>
                <a:srgbClr val="000000"/>
              </a:solidFill>
              <a:latin typeface="Roboto"/>
              <a:ea typeface="Roboto"/>
              <a:cs typeface="Roboto"/>
              <a:sym typeface="Roboto"/>
            </a:endParaRPr>
          </a:p>
          <a:p>
            <a:pPr indent="-214313" lvl="0" marL="214313" marR="0" rtl="0" algn="l">
              <a:lnSpc>
                <a:spcPct val="20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Here we need O(√n) space and we process smaller ranges at a time (locality of reference</a:t>
            </a:r>
            <a:r>
              <a:rPr b="0" i="0" lang="en-US" sz="1600" u="none" cap="none" strike="noStrike">
                <a:solidFill>
                  <a:srgbClr val="0C0C0C"/>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95" name="Google Shape;95;p14"/>
          <p:cNvSpPr txBox="1"/>
          <p:nvPr/>
        </p:nvSpPr>
        <p:spPr>
          <a:xfrm>
            <a:off x="201980" y="254602"/>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Segmented Sieve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819197" y="1109831"/>
            <a:ext cx="7634774" cy="26006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The algorithm works as follows: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Create a list of all numbers in the given range, and mark all numbers as prime.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Find the prime numbers up to the square root of the upper bound of the range using the traditional Sieve of Eratosthenes.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For each prime number found in step 2, mark all multiples of that prime as non-prime in the list created in step 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AutoNum type="arabicPeriod"/>
            </a:pPr>
            <a:r>
              <a:rPr b="0" i="0" lang="en-US" sz="1400" u="none" cap="none" strike="noStrike">
                <a:solidFill>
                  <a:srgbClr val="0C0C0C"/>
                </a:solidFill>
                <a:latin typeface="Roboto"/>
                <a:ea typeface="Roboto"/>
                <a:cs typeface="Roboto"/>
                <a:sym typeface="Roboto"/>
              </a:rPr>
              <a:t>The remaining numbers in the list are the prime numbers within the given range.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C0C0C"/>
              </a:solidFill>
              <a:latin typeface="Roboto"/>
              <a:ea typeface="Roboto"/>
              <a:cs typeface="Roboto"/>
              <a:sym typeface="Roboto"/>
            </a:endParaRPr>
          </a:p>
        </p:txBody>
      </p:sp>
      <p:sp>
        <p:nvSpPr>
          <p:cNvPr id="101" name="Google Shape;101;p3"/>
          <p:cNvSpPr txBox="1"/>
          <p:nvPr/>
        </p:nvSpPr>
        <p:spPr>
          <a:xfrm>
            <a:off x="301083" y="604394"/>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C0C0C"/>
                </a:solidFill>
                <a:latin typeface="Roboto"/>
                <a:ea typeface="Roboto"/>
                <a:cs typeface="Roboto"/>
                <a:sym typeface="Roboto"/>
              </a:rPr>
              <a:t>Algorithm</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811763" y="1271414"/>
            <a:ext cx="7634774" cy="2600672"/>
          </a:xfrm>
          <a:prstGeom prst="rect">
            <a:avLst/>
          </a:prstGeom>
          <a:noFill/>
          <a:ln>
            <a:noFill/>
          </a:ln>
        </p:spPr>
        <p:txBody>
          <a:bodyPr anchorCtr="0" anchor="t" bIns="45700" lIns="91425" spcFirstLastPara="1" rIns="91425" wrap="square" tIns="45700">
            <a:spAutoFit/>
          </a:bodyPr>
          <a:lstStyle/>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0C0C0C"/>
                </a:solidFill>
                <a:latin typeface="Roboto"/>
                <a:ea typeface="Roboto"/>
                <a:cs typeface="Roboto"/>
                <a:sym typeface="Roboto"/>
              </a:rPr>
              <a:t>Segmented sieve is more </a:t>
            </a:r>
            <a:r>
              <a:rPr b="0" i="0" lang="en-US" sz="1400" u="none" cap="none" strike="noStrike">
                <a:solidFill>
                  <a:srgbClr val="282829"/>
                </a:solidFill>
                <a:latin typeface="Roboto"/>
                <a:ea typeface="Roboto"/>
                <a:cs typeface="Roboto"/>
                <a:sym typeface="Roboto"/>
              </a:rPr>
              <a:t>memory efficient than the traditional sieve, as it only needs to store the primes within a specific range, rather than all primes up to a certain number. </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This makes it well-suited for problems where large ranges of numbers need to be searched for primes.</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It’s worth noting that a Segmented sieve is faster than the traditional sieve when the range of numbers is large.</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0"/>
              </a:spcBef>
              <a:spcAft>
                <a:spcPts val="0"/>
              </a:spcAft>
              <a:buClr>
                <a:srgbClr val="000000"/>
              </a:buClr>
              <a:buSzPts val="1600"/>
              <a:buFont typeface="Arial"/>
              <a:buChar char="•"/>
            </a:pPr>
            <a:r>
              <a:rPr b="0" i="0" lang="en-US" sz="1400" u="none" cap="none" strike="noStrike">
                <a:solidFill>
                  <a:srgbClr val="282829"/>
                </a:solidFill>
                <a:latin typeface="Roboto"/>
                <a:ea typeface="Roboto"/>
                <a:cs typeface="Roboto"/>
                <a:sym typeface="Roboto"/>
              </a:rPr>
              <a:t>It's also useful for finding primes in large intervals as it takes less memory space.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82829"/>
              </a:solidFill>
              <a:latin typeface="Roboto"/>
              <a:ea typeface="Roboto"/>
              <a:cs typeface="Roboto"/>
              <a:sym typeface="Roboto"/>
            </a:endParaRPr>
          </a:p>
        </p:txBody>
      </p:sp>
      <p:sp>
        <p:nvSpPr>
          <p:cNvPr id="107" name="Google Shape;107;p4"/>
          <p:cNvSpPr txBox="1"/>
          <p:nvPr/>
        </p:nvSpPr>
        <p:spPr>
          <a:xfrm>
            <a:off x="204438" y="836467"/>
            <a:ext cx="4572000" cy="3795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282829"/>
                </a:solidFill>
                <a:latin typeface="Roboto"/>
                <a:ea typeface="Roboto"/>
                <a:cs typeface="Roboto"/>
                <a:sym typeface="Roboto"/>
              </a:rPr>
              <a:t>ADVANTAGE </a:t>
            </a:r>
            <a:endParaRPr b="1"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113" name="Google Shape;113;p5"/>
          <p:cNvSpPr txBox="1"/>
          <p:nvPr/>
        </p:nvSpPr>
        <p:spPr>
          <a:xfrm>
            <a:off x="726516" y="551363"/>
            <a:ext cx="8203924" cy="2246729"/>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400"/>
              <a:buFont typeface="Arial"/>
              <a:buNone/>
            </a:pPr>
            <a:r>
              <a:rPr b="1" i="0" lang="en-US" sz="1400" u="none" cap="none" strike="noStrike">
                <a:solidFill>
                  <a:schemeClr val="dk1"/>
                </a:solidFill>
                <a:latin typeface="Roboto"/>
                <a:ea typeface="Roboto"/>
                <a:cs typeface="Roboto"/>
                <a:sym typeface="Roboto"/>
              </a:rPr>
              <a:t>EXAMPLE: Find the prime numbers in a range from 1 to 100</a:t>
            </a:r>
            <a:endParaRPr b="1"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1:1.1.Determine the square root of the upper limit, which is 10 in this case (since 10*10 = 100).</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1.2.Generate all primes up to sqrt(10) using the Sieve of Eratosthenes algorithm: 2, 3, 5, 7.</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2: The numbers between 1 and 100 are listed in the table below.</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7415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74151"/>
              </a:solidFill>
              <a:latin typeface="Roboto"/>
              <a:ea typeface="Roboto"/>
              <a:cs typeface="Roboto"/>
              <a:sym typeface="Roboto"/>
            </a:endParaRPr>
          </a:p>
        </p:txBody>
      </p:sp>
      <p:pic>
        <p:nvPicPr>
          <p:cNvPr descr="picture of a number table" id="114" name="Google Shape;114;p5"/>
          <p:cNvPicPr preferRelativeResize="0"/>
          <p:nvPr/>
        </p:nvPicPr>
        <p:blipFill rotWithShape="1">
          <a:blip r:embed="rId4">
            <a:alphaModFix/>
          </a:blip>
          <a:srcRect b="0" l="0" r="0" t="0"/>
          <a:stretch/>
        </p:blipFill>
        <p:spPr>
          <a:xfrm>
            <a:off x="2256728" y="2473131"/>
            <a:ext cx="5143500" cy="21574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p:nvPr/>
        </p:nvSpPr>
        <p:spPr>
          <a:xfrm>
            <a:off x="1007602" y="704569"/>
            <a:ext cx="6333257" cy="715550"/>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Step 3: Remove 1 because it’s</a:t>
            </a:r>
            <a:r>
              <a:rPr b="0" i="0" lang="en-US" sz="1400" u="none" cap="none" strike="noStrike">
                <a:solidFill>
                  <a:srgbClr val="000000"/>
                </a:solidFill>
                <a:latin typeface="Roboto"/>
                <a:ea typeface="Roboto"/>
                <a:cs typeface="Roboto"/>
                <a:sym typeface="Roboto"/>
              </a:rPr>
              <a:t> not a prime number.</a:t>
            </a:r>
            <a:r>
              <a:rPr b="0" i="0" lang="en-US" sz="1400" u="none" cap="none" strike="noStrike">
                <a:solidFill>
                  <a:srgbClr val="0C0C0C"/>
                </a:solidFill>
                <a:latin typeface="Roboto"/>
                <a:ea typeface="Roboto"/>
                <a:cs typeface="Roboto"/>
                <a:sym typeface="Roboto"/>
              </a:rPr>
              <a:t>The next step is to remove all the multiples of 2, except 2 itself.</a:t>
            </a:r>
            <a:endParaRPr b="0" i="0" sz="2000" u="none" cap="none" strike="noStrike">
              <a:solidFill>
                <a:srgbClr val="0C0C0C"/>
              </a:solidFill>
              <a:latin typeface="Roboto"/>
              <a:ea typeface="Roboto"/>
              <a:cs typeface="Roboto"/>
              <a:sym typeface="Roboto"/>
            </a:endParaRPr>
          </a:p>
        </p:txBody>
      </p:sp>
      <p:pic>
        <p:nvPicPr>
          <p:cNvPr descr="picture of a number table" id="120" name="Google Shape;120;p6"/>
          <p:cNvPicPr preferRelativeResize="0"/>
          <p:nvPr/>
        </p:nvPicPr>
        <p:blipFill rotWithShape="1">
          <a:blip r:embed="rId3">
            <a:alphaModFix/>
          </a:blip>
          <a:srcRect b="0" l="0" r="0" t="0"/>
          <a:stretch/>
        </p:blipFill>
        <p:spPr>
          <a:xfrm>
            <a:off x="2007394" y="1522624"/>
            <a:ext cx="5129213" cy="30599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p:nvPr/>
        </p:nvSpPr>
        <p:spPr>
          <a:xfrm>
            <a:off x="1007602" y="1019311"/>
            <a:ext cx="6333257" cy="392385"/>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Step 4:</a:t>
            </a:r>
            <a:r>
              <a:rPr b="0" i="0" lang="en-US" sz="1400" u="none" cap="none" strike="noStrike">
                <a:solidFill>
                  <a:srgbClr val="000000"/>
                </a:solidFill>
                <a:latin typeface="Roboto"/>
                <a:ea typeface="Roboto"/>
                <a:cs typeface="Roboto"/>
                <a:sym typeface="Roboto"/>
              </a:rPr>
              <a:t>Now remove all multiples of 3 and only leave these 3.</a:t>
            </a:r>
            <a:endParaRPr b="0" i="0" sz="2800" u="none" cap="none" strike="noStrike">
              <a:solidFill>
                <a:srgbClr val="0C0C0C"/>
              </a:solidFill>
              <a:latin typeface="Roboto"/>
              <a:ea typeface="Roboto"/>
              <a:cs typeface="Roboto"/>
              <a:sym typeface="Roboto"/>
            </a:endParaRPr>
          </a:p>
        </p:txBody>
      </p:sp>
      <p:pic>
        <p:nvPicPr>
          <p:cNvPr descr="picture of a number table" id="126" name="Google Shape;126;p7"/>
          <p:cNvPicPr preferRelativeResize="0"/>
          <p:nvPr/>
        </p:nvPicPr>
        <p:blipFill rotWithShape="1">
          <a:blip r:embed="rId3">
            <a:alphaModFix/>
          </a:blip>
          <a:srcRect b="0" l="0" r="0" t="0"/>
          <a:stretch/>
        </p:blipFill>
        <p:spPr>
          <a:xfrm>
            <a:off x="2000250" y="1673936"/>
            <a:ext cx="5143500" cy="30909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p:nvPr/>
        </p:nvSpPr>
        <p:spPr>
          <a:xfrm>
            <a:off x="985300" y="950312"/>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C0C0C"/>
                </a:solidFill>
                <a:latin typeface="Roboto"/>
                <a:ea typeface="Roboto"/>
                <a:cs typeface="Roboto"/>
                <a:sym typeface="Roboto"/>
              </a:rPr>
              <a:t>Step 5</a:t>
            </a:r>
            <a:r>
              <a:rPr b="0" i="0" lang="en-US" sz="1800" u="none" cap="none" strike="noStrike">
                <a:solidFill>
                  <a:srgbClr val="0C0C0C"/>
                </a:solidFill>
                <a:latin typeface="Roboto"/>
                <a:ea typeface="Roboto"/>
                <a:cs typeface="Roboto"/>
                <a:sym typeface="Roboto"/>
              </a:rPr>
              <a:t>:</a:t>
            </a:r>
            <a:r>
              <a:rPr b="0" i="0" lang="en-US" sz="1400" u="none" cap="none" strike="noStrike">
                <a:solidFill>
                  <a:srgbClr val="000000"/>
                </a:solidFill>
                <a:latin typeface="Roboto"/>
                <a:ea typeface="Roboto"/>
                <a:cs typeface="Roboto"/>
                <a:sym typeface="Roboto"/>
              </a:rPr>
              <a:t>Now remove all multiples of 5 and 7 only leave these numbers 5,7.</a:t>
            </a:r>
            <a:endParaRPr b="0" i="0" sz="2800" u="none" cap="none" strike="noStrike">
              <a:solidFill>
                <a:srgbClr val="0C0C0C"/>
              </a:solidFill>
              <a:latin typeface="Roboto"/>
              <a:ea typeface="Roboto"/>
              <a:cs typeface="Roboto"/>
              <a:sym typeface="Roboto"/>
            </a:endParaRPr>
          </a:p>
        </p:txBody>
      </p:sp>
      <p:pic>
        <p:nvPicPr>
          <p:cNvPr descr="picture of a number table" id="132" name="Google Shape;132;p8"/>
          <p:cNvPicPr preferRelativeResize="0"/>
          <p:nvPr/>
        </p:nvPicPr>
        <p:blipFill rotWithShape="1">
          <a:blip r:embed="rId3">
            <a:alphaModFix/>
          </a:blip>
          <a:srcRect b="0" l="0" r="0" t="0"/>
          <a:stretch/>
        </p:blipFill>
        <p:spPr>
          <a:xfrm>
            <a:off x="1699338" y="1798070"/>
            <a:ext cx="6040406" cy="2757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38" name="Google Shape;138;p9"/>
          <p:cNvSpPr txBox="1"/>
          <p:nvPr/>
        </p:nvSpPr>
        <p:spPr>
          <a:xfrm>
            <a:off x="1493044" y="1102726"/>
            <a:ext cx="6449640" cy="7386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Present numbers are prime numbers and all the removed numbers are composite numbers. So, the prime numbers from 1 to 100 are:</a:t>
            </a:r>
            <a:endParaRPr b="0" i="0" sz="1200" u="none" cap="none" strike="noStrike">
              <a:solidFill>
                <a:srgbClr val="000000"/>
              </a:solidFill>
              <a:latin typeface="Roboto"/>
              <a:ea typeface="Roboto"/>
              <a:cs typeface="Roboto"/>
              <a:sym typeface="Roboto"/>
            </a:endParaRPr>
          </a:p>
        </p:txBody>
      </p:sp>
      <p:sp>
        <p:nvSpPr>
          <p:cNvPr id="139" name="Google Shape;139;p9"/>
          <p:cNvSpPr/>
          <p:nvPr/>
        </p:nvSpPr>
        <p:spPr>
          <a:xfrm>
            <a:off x="1646720" y="1926652"/>
            <a:ext cx="5999871" cy="1071782"/>
          </a:xfrm>
          <a:prstGeom prst="roundRect">
            <a:avLst>
              <a:gd fmla="val 16667" name="adj"/>
            </a:avLst>
          </a:prstGeom>
          <a:noFill/>
          <a:ln cap="flat" cmpd="sng" w="25400">
            <a:solidFill>
              <a:srgbClr val="17171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40" name="Google Shape;140;p9"/>
          <p:cNvSpPr txBox="1"/>
          <p:nvPr/>
        </p:nvSpPr>
        <p:spPr>
          <a:xfrm>
            <a:off x="1783880" y="2200933"/>
            <a:ext cx="572555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70C0"/>
                </a:solidFill>
                <a:latin typeface="Roboto"/>
                <a:ea typeface="Roboto"/>
                <a:cs typeface="Roboto"/>
                <a:sym typeface="Roboto"/>
              </a:rPr>
              <a:t>2, 3, 5, 7, 11, 13, 17, 19, 23, 29, 31, 37, 41, 43, 47, 53, 59, 61, 67, 71, 73, 79, 83, 89, and 97</a:t>
            </a:r>
            <a:endParaRPr b="0" i="0" sz="1400" u="none" cap="none" strike="noStrike">
              <a:solidFill>
                <a:srgbClr val="0070C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46" name="Google Shape;146;p10"/>
          <p:cNvSpPr txBox="1"/>
          <p:nvPr/>
        </p:nvSpPr>
        <p:spPr>
          <a:xfrm>
            <a:off x="87645" y="432021"/>
            <a:ext cx="64497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Roboto"/>
                <a:ea typeface="Roboto"/>
                <a:cs typeface="Roboto"/>
                <a:sym typeface="Roboto"/>
              </a:rPr>
              <a:t>PROGRAM:Input:find prime from 1 to 25</a:t>
            </a:r>
            <a:endParaRPr b="1" i="0" sz="1400" u="none" cap="none" strike="noStrike">
              <a:solidFill>
                <a:srgbClr val="000000"/>
              </a:solidFill>
              <a:latin typeface="Roboto"/>
              <a:ea typeface="Roboto"/>
              <a:cs typeface="Roboto"/>
              <a:sym typeface="Roboto"/>
            </a:endParaRPr>
          </a:p>
        </p:txBody>
      </p:sp>
      <p:graphicFrame>
        <p:nvGraphicFramePr>
          <p:cNvPr id="147" name="Google Shape;147;p10"/>
          <p:cNvGraphicFramePr/>
          <p:nvPr/>
        </p:nvGraphicFramePr>
        <p:xfrm>
          <a:off x="605397" y="1044363"/>
          <a:ext cx="3000000" cy="3000000"/>
        </p:xfrm>
        <a:graphic>
          <a:graphicData uri="http://schemas.openxmlformats.org/drawingml/2006/table">
            <a:tbl>
              <a:tblPr bandRow="1" firstRow="1">
                <a:noFill/>
                <a:tableStyleId>{711991AA-68E0-49AD-85E3-2B0856D36F71}</a:tableStyleId>
              </a:tblPr>
              <a:tblGrid>
                <a:gridCol w="3999250"/>
                <a:gridCol w="3933975"/>
              </a:tblGrid>
              <a:tr h="3414350">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import java.util.*;</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public class Main {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public static void main(String[] args)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limit = 25;</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sqrtLimit = (int) Math.sqrt(limit);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ArrayList&lt;Integer&gt; primes = new         ArrayList&lt;Integer&gt;();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System.out.print("prime numbers from 1to 25:");</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boolean[] isPrime = new boolean[sqrtLimit + 1];</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Arrays.fill(isPrime, true);</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for (int i = 2; i &lt;= sqrtLimit; i++)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if (isPrime[i])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primes.add(i);</a:t>
                      </a:r>
                      <a:endParaRPr b="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System.out.print</a:t>
                      </a:r>
                      <a:r>
                        <a:rPr b="0" lang="en-US" sz="1100" u="none" cap="none" strike="noStrike">
                          <a:solidFill>
                            <a:schemeClr val="dk1"/>
                          </a:solidFill>
                          <a:latin typeface="Roboto"/>
                          <a:ea typeface="Roboto"/>
                          <a:cs typeface="Roboto"/>
                          <a:sym typeface="Roboto"/>
                        </a:rPr>
                        <a:t>( i+ " ");</a:t>
                      </a:r>
                      <a:endParaRPr b="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for (int j = i * i; j &lt;= sqrtLimit; j += i)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isPrime[j] = false;</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boolean[] isPrimeRange = new boolean[limit-1];</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Arrays.fill(isPrimeRange, true);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for (int p : primes)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int start = (int) Math.ceil(2.0 / p) * p;</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for (int j = start; j &lt;= limit; j += p)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isPrimeRange[j - 2] = false;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for (int i = 2; i &lt;= limit; i++)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if (isPrimeRange[i - 2])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System.out.print( i+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100" u="none" cap="none" strike="noStrike">
                          <a:solidFill>
                            <a:schemeClr val="dk1"/>
                          </a:solidFill>
                          <a:latin typeface="Roboto"/>
                          <a:ea typeface="Roboto"/>
                          <a:cs typeface="Roboto"/>
                          <a:sym typeface="Roboto"/>
                        </a:rPr>
                        <a:t>}</a:t>
                      </a:r>
                      <a:endParaRPr sz="1400" u="none" cap="none" strike="noStrike"/>
                    </a:p>
                  </a:txBody>
                  <a:tcPr marT="34300" marB="3430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53" name="Google Shape;153;p11"/>
          <p:cNvSpPr txBox="1"/>
          <p:nvPr/>
        </p:nvSpPr>
        <p:spPr>
          <a:xfrm>
            <a:off x="400425" y="926125"/>
            <a:ext cx="8495100" cy="33239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Program: Segmented Sieves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00"/>
                </a:solidFill>
                <a:latin typeface="Roboto"/>
                <a:ea typeface="Roboto"/>
                <a:cs typeface="Roboto"/>
                <a:sym typeface="Roboto"/>
              </a:rPr>
              <a:t>Sample I/O</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00"/>
                </a:solidFill>
                <a:latin typeface="Roboto"/>
                <a:ea typeface="Roboto"/>
                <a:cs typeface="Roboto"/>
                <a:sym typeface="Roboto"/>
              </a:rPr>
              <a:t>Input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n=50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00"/>
                </a:solidFill>
                <a:latin typeface="Roboto"/>
                <a:ea typeface="Roboto"/>
                <a:cs typeface="Roboto"/>
                <a:sym typeface="Roboto"/>
              </a:rPr>
              <a:t>Output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2 3 5 7 11 13 17 19 23 29 31 37 41 43 47</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00"/>
                </a:solidFill>
                <a:latin typeface="Roboto"/>
                <a:ea typeface="Roboto"/>
                <a:cs typeface="Roboto"/>
                <a:sym typeface="Roboto"/>
              </a:rPr>
              <a:t>Note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time complexity (or the number of operations) by Segmented Sieve is the same as Simple Sieve.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It has advantages for large ‘n’ as it has a better locality of reference thus allowing better caching by the CPU and also requires less memory space.  </a:t>
            </a:r>
            <a:endParaRPr b="0" i="0" sz="1400" u="none" cap="none" strike="noStrike">
              <a:solidFill>
                <a:srgbClr val="444444"/>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59" name="Google Shape;159;p12"/>
          <p:cNvSpPr txBox="1"/>
          <p:nvPr/>
        </p:nvSpPr>
        <p:spPr>
          <a:xfrm>
            <a:off x="726690" y="1454140"/>
            <a:ext cx="7893600" cy="18158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The standard Sieve of Eratosthenes requires that you specify an upper bound before you start</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But often, programs that use prime numbers don’t know the upper bound in advance or don’t want to pre-compute and store all of the primes up to their bound.</a:t>
            </a:r>
            <a:endParaRPr b="0" i="0" sz="1400" u="none" cap="none" strike="noStrike">
              <a:solidFill>
                <a:srgbClr val="000000"/>
              </a:solidFill>
              <a:latin typeface="Roboto"/>
              <a:ea typeface="Roboto"/>
              <a:cs typeface="Roboto"/>
              <a:sym typeface="Roboto"/>
            </a:endParaRPr>
          </a:p>
          <a:p>
            <a:pPr indent="-125413" lvl="0" marL="21431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In such cases, the Incremental Sieve algorithm can be used</a:t>
            </a:r>
            <a:endParaRPr b="0" i="0" sz="1400" u="none" cap="none" strike="noStrike">
              <a:solidFill>
                <a:srgbClr val="000000"/>
              </a:solidFill>
              <a:latin typeface="Roboto"/>
              <a:ea typeface="Roboto"/>
              <a:cs typeface="Roboto"/>
              <a:sym typeface="Roboto"/>
            </a:endParaRPr>
          </a:p>
        </p:txBody>
      </p:sp>
      <p:sp>
        <p:nvSpPr>
          <p:cNvPr id="160" name="Google Shape;160;p12"/>
          <p:cNvSpPr txBox="1"/>
          <p:nvPr/>
        </p:nvSpPr>
        <p:spPr>
          <a:xfrm>
            <a:off x="523710" y="1300251"/>
            <a:ext cx="45757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Roboto"/>
                <a:ea typeface="Roboto"/>
                <a:cs typeface="Roboto"/>
                <a:sym typeface="Roboto"/>
              </a:rPr>
              <a:t>Introduction</a:t>
            </a:r>
            <a:endParaRPr b="1" i="0" sz="1400" u="none" cap="none" strike="noStrike">
              <a:solidFill>
                <a:schemeClr val="dk1"/>
              </a:solidFill>
              <a:latin typeface="Arial"/>
              <a:ea typeface="Arial"/>
              <a:cs typeface="Arial"/>
              <a:sym typeface="Arial"/>
            </a:endParaRPr>
          </a:p>
        </p:txBody>
      </p:sp>
      <p:sp>
        <p:nvSpPr>
          <p:cNvPr id="161" name="Google Shape;161;p12"/>
          <p:cNvSpPr txBox="1"/>
          <p:nvPr/>
        </p:nvSpPr>
        <p:spPr>
          <a:xfrm>
            <a:off x="201980" y="254602"/>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Incremental Sieve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59"/>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67" name="Google Shape;167;p59"/>
          <p:cNvSpPr txBox="1"/>
          <p:nvPr/>
        </p:nvSpPr>
        <p:spPr>
          <a:xfrm>
            <a:off x="726690" y="470818"/>
            <a:ext cx="7893698" cy="33239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An incremental formulation of the sieve generates primes indefinitely (i.e. without an upper bound) by interleaving the generation of primes with the generation of their multiples (so that primes can be found in gaps between the multiples), where the multiples of each prime p are generated directly, by counting up from the square of the prime in increments of p (or 2p for odd primes)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The generation must be initiated only when the prime's square is reached, to avoid adverse effects on efficiency. It can be expressed symbolically under the dataflow paradigm as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primes = [2, 3, ...] \ [[p², p²+p, ...] for p in primes]</a:t>
            </a:r>
            <a:endParaRPr b="0" i="0" sz="1400" u="none" cap="none" strike="noStrike">
              <a:solidFill>
                <a:srgbClr val="000000"/>
              </a:solidFill>
              <a:latin typeface="Roboto"/>
              <a:ea typeface="Roboto"/>
              <a:cs typeface="Roboto"/>
              <a:sym typeface="Roboto"/>
            </a:endParaRPr>
          </a:p>
          <a:p>
            <a:pPr indent="-112713" lvl="0" marL="214313"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214313" lvl="0" marL="214313" marR="0" rtl="0" algn="l">
              <a:lnSpc>
                <a:spcPct val="100000"/>
              </a:lnSpc>
              <a:spcBef>
                <a:spcPts val="0"/>
              </a:spcBef>
              <a:spcAft>
                <a:spcPts val="0"/>
              </a:spcAft>
              <a:buClr>
                <a:srgbClr val="000000"/>
              </a:buClr>
              <a:buSzPts val="1600"/>
              <a:buFont typeface="Arial"/>
              <a:buChar char="•"/>
            </a:pPr>
            <a:r>
              <a:rPr b="0" i="0" lang="en-US" sz="1400" u="none" cap="none" strike="noStrike">
                <a:solidFill>
                  <a:srgbClr val="000000"/>
                </a:solidFill>
                <a:latin typeface="Roboto"/>
                <a:ea typeface="Roboto"/>
                <a:cs typeface="Roboto"/>
                <a:sym typeface="Roboto"/>
              </a:rPr>
              <a:t>Where \ denotes the set subtraction of arithmetic progressions of numbers.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60"/>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73" name="Google Shape;173;p60"/>
          <p:cNvSpPr txBox="1"/>
          <p:nvPr/>
        </p:nvSpPr>
        <p:spPr>
          <a:xfrm>
            <a:off x="178420" y="425028"/>
            <a:ext cx="4282068" cy="429344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Pseudocode</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function incrementalSieve(limit):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primes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next_num = 3</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while next_num &lt;= limit:</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is_prime = True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sqrt_next_num = sqrt(next_num)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for prime in primes: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prime &gt; sqrt_next_num: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break</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next_num % prime == 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is_prime = False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break</a:t>
            </a:r>
            <a:endParaRPr b="0" i="0" sz="1400" u="none" cap="none" strike="noStrike">
              <a:solidFill>
                <a:srgbClr val="000000"/>
              </a:solidFill>
              <a:latin typeface="Roboto"/>
              <a:ea typeface="Roboto"/>
              <a:cs typeface="Roboto"/>
              <a:sym typeface="Roboto"/>
            </a:endParaRPr>
          </a:p>
        </p:txBody>
      </p:sp>
      <p:sp>
        <p:nvSpPr>
          <p:cNvPr id="174" name="Google Shape;174;p60"/>
          <p:cNvSpPr txBox="1"/>
          <p:nvPr/>
        </p:nvSpPr>
        <p:spPr>
          <a:xfrm>
            <a:off x="3508917" y="541547"/>
            <a:ext cx="5583044" cy="296408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if is_prime: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primes.append(next_num)</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for i in range(next_num * next_num, limit + 1, next_num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Mark multiples of the new prime as composite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Start at prime squared to avoid marking even multiples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 Increment by 2*prime to skip even multiples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is_composite[i] = True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next_num +=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return primes</a:t>
            </a:r>
            <a:endParaRPr b="0" i="0" sz="1400" u="none" cap="none" strike="noStrike">
              <a:solidFill>
                <a:srgbClr val="000000"/>
              </a:solidFill>
              <a:latin typeface="Arial"/>
              <a:ea typeface="Arial"/>
              <a:cs typeface="Arial"/>
              <a:sym typeface="Arial"/>
            </a:endParaRPr>
          </a:p>
        </p:txBody>
      </p:sp>
      <p:cxnSp>
        <p:nvCxnSpPr>
          <p:cNvPr id="175" name="Google Shape;175;p60"/>
          <p:cNvCxnSpPr/>
          <p:nvPr/>
        </p:nvCxnSpPr>
        <p:spPr>
          <a:xfrm>
            <a:off x="3456878" y="594732"/>
            <a:ext cx="0" cy="3910361"/>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1"/>
          <p:cNvSpPr/>
          <p:nvPr/>
        </p:nvSpPr>
        <p:spPr>
          <a:xfrm>
            <a:off x="1007602" y="973143"/>
            <a:ext cx="6333257" cy="484718"/>
          </a:xfrm>
          <a:prstGeom prst="rect">
            <a:avLst/>
          </a:prstGeom>
          <a:solidFill>
            <a:srgbClr val="FFFFFF"/>
          </a:solidFill>
          <a:ln>
            <a:noFill/>
          </a:ln>
        </p:spPr>
        <p:txBody>
          <a:bodyPr anchorCtr="0" anchor="ctr" bIns="34275" lIns="68575" spcFirstLastPara="1" rIns="68575" wrap="square" tIns="3427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81" name="Google Shape;181;p61"/>
          <p:cNvSpPr txBox="1"/>
          <p:nvPr/>
        </p:nvSpPr>
        <p:spPr>
          <a:xfrm>
            <a:off x="555674" y="706983"/>
            <a:ext cx="8117100" cy="3631723"/>
          </a:xfrm>
          <a:prstGeom prst="rect">
            <a:avLst/>
          </a:prstGeom>
          <a:noFill/>
          <a:ln>
            <a:noFill/>
          </a:ln>
        </p:spPr>
        <p:txBody>
          <a:bodyPr anchorCtr="0" anchor="t" bIns="45700" lIns="91425" spcFirstLastPara="1" rIns="91425" wrap="square" tIns="45700">
            <a:spAutoFit/>
          </a:bodyPr>
          <a:lstStyle/>
          <a:p>
            <a:pPr indent="-214313" lvl="0" marL="214313" marR="0" rtl="0" algn="l">
              <a:lnSpc>
                <a:spcPct val="150000"/>
              </a:lnSpc>
              <a:spcBef>
                <a:spcPts val="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Here, PRIMES is a list of prime numbers generated so far, starting with 2. NEXT_NUM is the next odd number to be checked for primality.</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The loop continues until NEXT_NUM reaches the limit.</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For each NEXT_NUM, the algorithm checks whether it is divisible by any of the primes in the primes list up to its square root. </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If NEXT_NUM is found to be composite, the algorithm moves on to the next odd number. Otherwise, NEXT_NUM is added to the primes list and its multiples are marked as a composite in a BOOLEAN array IS_COMPOSITE.</a:t>
            </a:r>
            <a:endParaRPr b="0" i="0" sz="1400" u="none" cap="none" strike="noStrike">
              <a:solidFill>
                <a:srgbClr val="000000"/>
              </a:solidFill>
              <a:latin typeface="Roboto"/>
              <a:ea typeface="Roboto"/>
              <a:cs typeface="Roboto"/>
              <a:sym typeface="Roboto"/>
            </a:endParaRPr>
          </a:p>
          <a:p>
            <a:pPr indent="-214313" lvl="0" marL="214313" marR="0" rtl="0" algn="l">
              <a:lnSpc>
                <a:spcPct val="150000"/>
              </a:lnSpc>
              <a:spcBef>
                <a:spcPts val="600"/>
              </a:spcBef>
              <a:spcAft>
                <a:spcPts val="0"/>
              </a:spcAft>
              <a:buClr>
                <a:srgbClr val="000000"/>
              </a:buClr>
              <a:buSzPts val="1600"/>
              <a:buFont typeface="Consolas"/>
              <a:buChar char="•"/>
            </a:pPr>
            <a:r>
              <a:rPr b="0" i="0" lang="en-US" sz="1400" u="none" cap="none" strike="noStrike">
                <a:solidFill>
                  <a:srgbClr val="000000"/>
                </a:solidFill>
                <a:latin typeface="Roboto"/>
                <a:ea typeface="Roboto"/>
                <a:cs typeface="Roboto"/>
                <a:sym typeface="Roboto"/>
              </a:rPr>
              <a:t>Finally, the algorithm increments NEXT_NUM by 2 and repeats the process until all primes up to the limit are generated.</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72ce19eada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7" name="Google Shape;187;g272ce19eada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8" name="Google Shape;188;g272ce19eada_0_0"/>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89" name="Google Shape;189;g272ce19eada_0_0"/>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190" name="Google Shape;190;g272ce19eada_0_0"/>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0B0F0"/>
                </a:solidFill>
                <a:latin typeface="Roboto Black"/>
                <a:ea typeface="Roboto Black"/>
                <a:cs typeface="Roboto Black"/>
                <a:sym typeface="Roboto Black"/>
              </a:rPr>
              <a:t>INTERVIEW QUESTIONS</a:t>
            </a:r>
            <a:endParaRPr/>
          </a:p>
        </p:txBody>
      </p:sp>
      <p:sp>
        <p:nvSpPr>
          <p:cNvPr id="191" name="Google Shape;191;g272ce19eada_0_0"/>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3f307fc558_0_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197" name="Google Shape;197;g23f307fc558_0_8"/>
          <p:cNvSpPr txBox="1"/>
          <p:nvPr/>
        </p:nvSpPr>
        <p:spPr>
          <a:xfrm>
            <a:off x="499356" y="1345126"/>
            <a:ext cx="8117100" cy="114764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is the segmented sieve?</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98" name="Google Shape;198;g23f307fc558_0_8"/>
          <p:cNvSpPr txBox="1"/>
          <p:nvPr/>
        </p:nvSpPr>
        <p:spPr>
          <a:xfrm>
            <a:off x="830161" y="1918949"/>
            <a:ext cx="7200900" cy="175275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segmented sieve is an algorithm that generates prime numbers up to a certain limit, by dividing the range into smaller segments and sieving each segment individually.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It is an efficient way to generate primes for a large range without requiring a large amount of memory.</a:t>
            </a:r>
            <a:endParaRPr b="0" i="0" sz="1400" u="none" cap="none" strike="noStrike">
              <a:solidFill>
                <a:schemeClr val="dk1"/>
              </a:solidFill>
              <a:latin typeface="Roboto"/>
              <a:ea typeface="Roboto"/>
              <a:cs typeface="Roboto"/>
              <a:sym typeface="Roboto"/>
            </a:endParaRPr>
          </a:p>
        </p:txBody>
      </p:sp>
      <p:sp>
        <p:nvSpPr>
          <p:cNvPr id="199" name="Google Shape;199;g23f307fc558_0_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3f307fc558_0_1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05" name="Google Shape;205;g23f307fc558_0_18"/>
          <p:cNvSpPr txBox="1"/>
          <p:nvPr/>
        </p:nvSpPr>
        <p:spPr>
          <a:xfrm>
            <a:off x="449500" y="1137581"/>
            <a:ext cx="8117100" cy="72477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How does the segmented sieve work?</a:t>
            </a:r>
            <a:endParaRPr b="0" i="0" sz="1400" u="none" cap="none" strike="noStrike">
              <a:solidFill>
                <a:schemeClr val="dk1"/>
              </a:solidFill>
              <a:latin typeface="Roboto"/>
              <a:ea typeface="Roboto"/>
              <a:cs typeface="Roboto"/>
              <a:sym typeface="Roboto"/>
            </a:endParaRPr>
          </a:p>
        </p:txBody>
      </p:sp>
      <p:sp>
        <p:nvSpPr>
          <p:cNvPr id="206" name="Google Shape;206;g23f307fc558_0_18"/>
          <p:cNvSpPr txBox="1"/>
          <p:nvPr/>
        </p:nvSpPr>
        <p:spPr>
          <a:xfrm>
            <a:off x="1120092" y="1739157"/>
            <a:ext cx="7200900" cy="262530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segmented sieve works by first generating all the primes up to the square root of the limit using a simple sieve algorithm. Then, the range is divided into segments of a certain size, and each segment is sieved using the primes generated in the first step. Any remaining numbers in the segment that are not marked as composite are prime numbers.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7" name="Google Shape;207;g23f307fc558_0_1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3f307fc558_0_3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13" name="Google Shape;213;g23f307fc558_0_30"/>
          <p:cNvSpPr txBox="1"/>
          <p:nvPr/>
        </p:nvSpPr>
        <p:spPr>
          <a:xfrm>
            <a:off x="513450" y="1435474"/>
            <a:ext cx="8117100" cy="116489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are the advantages of using the segmented sieve over the simple sieve algorithm?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14" name="Google Shape;214;g23f307fc558_0_30"/>
          <p:cNvSpPr txBox="1"/>
          <p:nvPr/>
        </p:nvSpPr>
        <p:spPr>
          <a:xfrm>
            <a:off x="1007602" y="2082254"/>
            <a:ext cx="7200900" cy="218518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1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main advantage of the segmented sieve over the simple sieve algorithm is that it uses much less memory. The simple sieve algorithm requires a large amount of memory to store all the numbers in the range being sieved, while the segmented sieve only requires memory to store the primes up to the square root of the limit and the current segment being sieved.</a:t>
            </a:r>
            <a:endParaRPr b="0" i="0" sz="1400" u="none" cap="none" strike="noStrike">
              <a:solidFill>
                <a:schemeClr val="dk1"/>
              </a:solidFill>
              <a:latin typeface="Roboto"/>
              <a:ea typeface="Roboto"/>
              <a:cs typeface="Roboto"/>
              <a:sym typeface="Roboto"/>
            </a:endParaRPr>
          </a:p>
        </p:txBody>
      </p:sp>
      <p:sp>
        <p:nvSpPr>
          <p:cNvPr id="215" name="Google Shape;215;g23f307fc558_0_30"/>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23f307fc558_0_79"/>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21" name="Google Shape;221;g23f307fc558_0_79"/>
          <p:cNvSpPr txBox="1"/>
          <p:nvPr/>
        </p:nvSpPr>
        <p:spPr>
          <a:xfrm>
            <a:off x="513450" y="1435474"/>
            <a:ext cx="8117100" cy="59653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50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What is the time complexity of a segmented sieve? </a:t>
            </a:r>
            <a:endParaRPr b="0" i="0" sz="1400" u="none" cap="none" strike="noStrike">
              <a:solidFill>
                <a:schemeClr val="dk1"/>
              </a:solidFill>
              <a:latin typeface="Roboto"/>
              <a:ea typeface="Roboto"/>
              <a:cs typeface="Roboto"/>
              <a:sym typeface="Roboto"/>
            </a:endParaRPr>
          </a:p>
        </p:txBody>
      </p:sp>
      <p:sp>
        <p:nvSpPr>
          <p:cNvPr id="222" name="Google Shape;222;g23f307fc558_0_79"/>
          <p:cNvSpPr txBox="1"/>
          <p:nvPr/>
        </p:nvSpPr>
        <p:spPr>
          <a:xfrm>
            <a:off x="971550" y="1817110"/>
            <a:ext cx="7200900" cy="197897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time complexity of the Segmented Sieve algorithm is O(n), where n is the total number of elements present inside the given range. The space complexity of the Segmented Sieve algorithm is the same as the time complexity, i.e., O(n).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23" name="Google Shape;223;g23f307fc558_0_7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7252a63ab0_1_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29" name="Google Shape;229;g27252a63ab0_1_0"/>
          <p:cNvSpPr txBox="1"/>
          <p:nvPr/>
        </p:nvSpPr>
        <p:spPr>
          <a:xfrm>
            <a:off x="971550" y="1112510"/>
            <a:ext cx="7200900" cy="372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Question 1: Prime Number Generation on Demand</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Using the Incremental Sieve algorithm, how would you generate prime numbers on demand? Implement a method that returns the next prime number each time it is called.</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Output: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First call: 2</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Second call: 3</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Third call: 5</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Fourth call: 7</a:t>
            </a:r>
            <a:endParaRPr>
              <a:solidFill>
                <a:schemeClr val="dk1"/>
              </a:solidFill>
              <a:latin typeface="Roboto"/>
              <a:ea typeface="Roboto"/>
              <a:cs typeface="Roboto"/>
              <a:sym typeface="Roboto"/>
            </a:endParaRPr>
          </a:p>
          <a:p>
            <a:pPr indent="0" lvl="0" marL="0" rtl="0" algn="l">
              <a:lnSpc>
                <a:spcPct val="115000"/>
              </a:lnSpc>
              <a:spcBef>
                <a:spcPts val="1500"/>
              </a:spcBef>
              <a:spcAft>
                <a:spcPts val="1500"/>
              </a:spcAft>
              <a:buClr>
                <a:schemeClr val="dk1"/>
              </a:buClr>
              <a:buSzPts val="1100"/>
              <a:buFont typeface="Arial"/>
              <a:buNone/>
            </a:pPr>
            <a:r>
              <a:rPr lang="en-US">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
        <p:nvSpPr>
          <p:cNvPr id="230" name="Google Shape;230;g27252a63ab0_1_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a:t>
            </a:r>
            <a:r>
              <a:rPr b="0" i="0" lang="en-US" sz="3600" u="none" cap="none" strike="noStrike">
                <a:solidFill>
                  <a:srgbClr val="00B0F0"/>
                </a:solidFill>
                <a:latin typeface="Roboto Black"/>
                <a:ea typeface="Roboto Black"/>
                <a:cs typeface="Roboto Black"/>
                <a:sym typeface="Roboto Black"/>
              </a:rPr>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27252a63ab0_1_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36" name="Google Shape;236;g27252a63ab0_1_8"/>
          <p:cNvSpPr txBox="1"/>
          <p:nvPr/>
        </p:nvSpPr>
        <p:spPr>
          <a:xfrm>
            <a:off x="971550" y="1112510"/>
            <a:ext cx="7200900" cy="328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Question 2: Find k-th Prime Number</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How would you find the k-th prime number using the Incremental Sieve algorithm? Assume the program prompts the user for \( k \).</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Input: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Enter the position (k): 15</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Output: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The 15th prime number is: 47</a:t>
            </a:r>
            <a:endParaRPr>
              <a:solidFill>
                <a:schemeClr val="dk1"/>
              </a:solidFill>
              <a:latin typeface="Roboto"/>
              <a:ea typeface="Roboto"/>
              <a:cs typeface="Roboto"/>
              <a:sym typeface="Roboto"/>
            </a:endParaRPr>
          </a:p>
          <a:p>
            <a:pPr indent="0" lvl="0" marL="0" rtl="0" algn="l">
              <a:lnSpc>
                <a:spcPct val="115000"/>
              </a:lnSpc>
              <a:spcBef>
                <a:spcPts val="1500"/>
              </a:spcBef>
              <a:spcAft>
                <a:spcPts val="1500"/>
              </a:spcAft>
              <a:buClr>
                <a:schemeClr val="dk1"/>
              </a:buClr>
              <a:buSzPts val="1100"/>
              <a:buFont typeface="Arial"/>
              <a:buNone/>
            </a:pPr>
            <a:r>
              <a:t/>
            </a:r>
            <a:endParaRPr>
              <a:solidFill>
                <a:schemeClr val="dk1"/>
              </a:solidFill>
              <a:latin typeface="Roboto"/>
              <a:ea typeface="Roboto"/>
              <a:cs typeface="Roboto"/>
              <a:sym typeface="Roboto"/>
            </a:endParaRPr>
          </a:p>
        </p:txBody>
      </p:sp>
      <p:sp>
        <p:nvSpPr>
          <p:cNvPr id="237" name="Google Shape;237;g27252a63ab0_1_8"/>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a:t>
            </a:r>
            <a:r>
              <a:rPr b="0" i="0" lang="en-US" sz="3600" u="none" cap="none" strike="noStrike">
                <a:solidFill>
                  <a:srgbClr val="00B0F0"/>
                </a:solidFill>
                <a:latin typeface="Roboto Black"/>
                <a:ea typeface="Roboto Black"/>
                <a:cs typeface="Roboto Black"/>
                <a:sym typeface="Roboto Black"/>
              </a:rPr>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7252a63ab0_1_14"/>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43" name="Google Shape;243;g27252a63ab0_1_14"/>
          <p:cNvSpPr txBox="1"/>
          <p:nvPr/>
        </p:nvSpPr>
        <p:spPr>
          <a:xfrm>
            <a:off x="472075" y="1112500"/>
            <a:ext cx="8419800" cy="328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Question 3: Sum of First n Primes</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Using the Incremental Sieve algorithm, how would you calculate the sum of the first \( n \) prime numbers?</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Input: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Enter the number of primes (n): 10</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Output: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Sum of the first 10 prime numbers is: 129</a:t>
            </a:r>
            <a:endParaRPr>
              <a:solidFill>
                <a:schemeClr val="dk1"/>
              </a:solidFill>
              <a:latin typeface="Roboto"/>
              <a:ea typeface="Roboto"/>
              <a:cs typeface="Roboto"/>
              <a:sym typeface="Roboto"/>
            </a:endParaRPr>
          </a:p>
          <a:p>
            <a:pPr indent="0" lvl="0" marL="0" rtl="0" algn="l">
              <a:lnSpc>
                <a:spcPct val="115000"/>
              </a:lnSpc>
              <a:spcBef>
                <a:spcPts val="1500"/>
              </a:spcBef>
              <a:spcAft>
                <a:spcPts val="1500"/>
              </a:spcAft>
              <a:buClr>
                <a:schemeClr val="dk1"/>
              </a:buClr>
              <a:buSzPts val="1100"/>
              <a:buFont typeface="Arial"/>
              <a:buNone/>
            </a:pPr>
            <a:r>
              <a:t/>
            </a:r>
            <a:endParaRPr>
              <a:solidFill>
                <a:schemeClr val="dk1"/>
              </a:solidFill>
              <a:latin typeface="Roboto"/>
              <a:ea typeface="Roboto"/>
              <a:cs typeface="Roboto"/>
              <a:sym typeface="Roboto"/>
            </a:endParaRPr>
          </a:p>
        </p:txBody>
      </p:sp>
      <p:sp>
        <p:nvSpPr>
          <p:cNvPr id="244" name="Google Shape;244;g27252a63ab0_1_14"/>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a:t>
            </a:r>
            <a:r>
              <a:rPr b="0" i="0" lang="en-US" sz="3600" u="none" cap="none" strike="noStrike">
                <a:solidFill>
                  <a:srgbClr val="00B0F0"/>
                </a:solidFill>
                <a:latin typeface="Roboto Black"/>
                <a:ea typeface="Roboto Black"/>
                <a:cs typeface="Roboto Black"/>
                <a:sym typeface="Roboto Black"/>
              </a:rPr>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7252a63ab0_1_2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50" name="Google Shape;250;g27252a63ab0_1_20"/>
          <p:cNvSpPr txBox="1"/>
          <p:nvPr/>
        </p:nvSpPr>
        <p:spPr>
          <a:xfrm>
            <a:off x="472075" y="1112500"/>
            <a:ext cx="8419800" cy="353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Question 4: Prime Generation within a Time Limit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How would you generate as many prime numbers as possible within a given time limit using the Incremental Sieve algorithm? Implement a method that continues generating primes until a specified time limit is reached.</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Input: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Generate primes for: 5 seconds</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Sample Output:</a:t>
            </a:r>
            <a:endParaRPr>
              <a:solidFill>
                <a:schemeClr val="dk1"/>
              </a:solidFill>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en-US">
                <a:solidFill>
                  <a:schemeClr val="dk1"/>
                </a:solidFill>
                <a:latin typeface="Roboto"/>
                <a:ea typeface="Roboto"/>
                <a:cs typeface="Roboto"/>
                <a:sym typeface="Roboto"/>
              </a:rPr>
              <a:t>Prime numbers generated in 5 seconds are:</a:t>
            </a:r>
            <a:endParaRPr>
              <a:solidFill>
                <a:schemeClr val="dk1"/>
              </a:solidFill>
              <a:latin typeface="Roboto"/>
              <a:ea typeface="Roboto"/>
              <a:cs typeface="Roboto"/>
              <a:sym typeface="Roboto"/>
            </a:endParaRPr>
          </a:p>
          <a:p>
            <a:pPr indent="0" lvl="0" marL="0" rtl="0" algn="l">
              <a:lnSpc>
                <a:spcPct val="115000"/>
              </a:lnSpc>
              <a:spcBef>
                <a:spcPts val="1500"/>
              </a:spcBef>
              <a:spcAft>
                <a:spcPts val="1500"/>
              </a:spcAft>
              <a:buClr>
                <a:schemeClr val="dk1"/>
              </a:buClr>
              <a:buSzPts val="1100"/>
              <a:buFont typeface="Arial"/>
              <a:buNone/>
            </a:pPr>
            <a:r>
              <a:rPr lang="en-US">
                <a:solidFill>
                  <a:schemeClr val="dk1"/>
                </a:solidFill>
                <a:latin typeface="Roboto"/>
                <a:ea typeface="Roboto"/>
                <a:cs typeface="Roboto"/>
                <a:sym typeface="Roboto"/>
              </a:rPr>
              <a:t>2, 3, 5, 7, 11, 13, 17, 19, 23, 29, 31, 37, 41, 43, 47, 53, 59, 61, 67, 71, ...</a:t>
            </a:r>
            <a:endParaRPr>
              <a:solidFill>
                <a:schemeClr val="dk1"/>
              </a:solidFill>
              <a:latin typeface="Roboto"/>
              <a:ea typeface="Roboto"/>
              <a:cs typeface="Roboto"/>
              <a:sym typeface="Roboto"/>
            </a:endParaRPr>
          </a:p>
        </p:txBody>
      </p:sp>
      <p:sp>
        <p:nvSpPr>
          <p:cNvPr id="251" name="Google Shape;251;g27252a63ab0_1_20"/>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a:t>
            </a:r>
            <a:r>
              <a:rPr b="0" i="0" lang="en-US" sz="3600" u="none" cap="none" strike="noStrike">
                <a:solidFill>
                  <a:srgbClr val="00B0F0"/>
                </a:solidFill>
                <a:latin typeface="Roboto Black"/>
                <a:ea typeface="Roboto Black"/>
                <a:cs typeface="Roboto Black"/>
                <a:sym typeface="Roboto Black"/>
              </a:rPr>
              <a:t>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27252a63ab0_0_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57" name="Google Shape;257;g27252a63ab0_0_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258" name="Google Shape;258;g27252a63ab0_0_0"/>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59" name="Google Shape;259;g27252a63ab0_0_0"/>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60" name="Google Shape;260;g27252a63ab0_0_0"/>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61" name="Google Shape;261;g27252a63ab0_0_0"/>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62" name="Google Shape;262;g27252a63ab0_0_0"/>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263" name="Google Shape;263;g27252a63ab0_0_0"/>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64" name="Google Shape;264;g27252a63ab0_0_0"/>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265" name="Google Shape;265;g27252a63ab0_0_0"/>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266" name="Google Shape;266;g27252a63ab0_0_0"/>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267" name="Google Shape;267;g27252a63ab0_0_0"/>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