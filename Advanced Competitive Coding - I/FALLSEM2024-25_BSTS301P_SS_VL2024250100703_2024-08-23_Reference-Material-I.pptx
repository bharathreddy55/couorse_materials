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5143500" cx="9144000"/>
  <p:notesSz cx="6858000" cy="9144000"/>
  <p:embeddedFontLst>
    <p:embeddedFont>
      <p:font typeface="Roboto Black"/>
      <p:bold r:id="rId33"/>
      <p:boldItalic r:id="rId34"/>
    </p:embeddedFont>
    <p:embeddedFont>
      <p:font typeface="Roboto"/>
      <p:regular r:id="rId35"/>
      <p:bold r:id="rId36"/>
      <p:italic r:id="rId37"/>
      <p:boldItalic r:id="rId38"/>
    </p:embeddedFont>
    <p:embeddedFont>
      <p:font typeface="Roboto Medium"/>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43" roundtripDataSignature="AMtx7miQthkdHr8lgPxtvjZbD3l84Rsp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00F9F5C-10F8-42EA-AFA0-29B8AEF730EE}">
  <a:tblStyle styleId="{C00F9F5C-10F8-42EA-AFA0-29B8AEF730E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DFD"/>
          </a:solidFill>
        </a:fill>
      </a:tcStyle>
    </a:wholeTbl>
    <a:band1H>
      <a:tcTxStyle b="off" i="off"/>
      <a:tcStyle>
        <a:fill>
          <a:solidFill>
            <a:srgbClr val="CDD8FB"/>
          </a:solidFill>
        </a:fill>
      </a:tcStyle>
    </a:band1H>
    <a:band2H>
      <a:tcTxStyle b="off" i="off"/>
    </a:band2H>
    <a:band1V>
      <a:tcTxStyle b="off" i="off"/>
      <a:tcStyle>
        <a:fill>
          <a:solidFill>
            <a:srgbClr val="CDD8FB"/>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BC60D73B-C6C6-4D80-B2F7-307A12A392E5}" styleName="Table_1">
    <a:wholeTbl>
      <a:tcTxStyle b="off" i="off">
        <a:font>
          <a:latin typeface="Arial"/>
          <a:ea typeface="Arial"/>
          <a:cs typeface="Arial"/>
        </a:font>
        <a:schemeClr val="dk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chemeClr val="accent4"/>
              </a:solidFill>
              <a:prstDash val="solid"/>
              <a:round/>
              <a:headEnd len="sm" w="sm" type="none"/>
              <a:tailEnd len="sm" w="sm" type="none"/>
            </a:ln>
          </a:insideV>
        </a:tcBdr>
        <a:fill>
          <a:solidFill>
            <a:srgbClr val="FFFFFF">
              <a:alpha val="0"/>
            </a:srgbClr>
          </a:solidFill>
        </a:fill>
      </a:tcStyle>
    </a:wholeTbl>
    <a:band1H>
      <a:tcTxStyle b="off" i="off"/>
      <a:tcStyle>
        <a:fill>
          <a:solidFill>
            <a:schemeClr val="accent4">
              <a:alpha val="40000"/>
            </a:schemeClr>
          </a:solidFill>
        </a:fill>
      </a:tcStyle>
    </a:band1H>
    <a:band2H>
      <a:tcTxStyle b="off" i="off"/>
    </a:band2H>
    <a:band1V>
      <a:tcTxStyle b="off" i="off"/>
      <a:tcStyle>
        <a:tcBdr>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tcBdr>
        <a:fill>
          <a:solidFill>
            <a:schemeClr val="accent4">
              <a:alpha val="40000"/>
            </a:schemeClr>
          </a:solidFill>
        </a:fill>
      </a:tcStyle>
    </a:band1V>
    <a:band2V>
      <a:tcTxStyle b="off" i="off"/>
    </a:band2V>
    <a:la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lastCol>
    <a:firstCol>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chemeClr val="accent4"/>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tcStyle>
    </a:firstCol>
    <a:lastRow>
      <a:tcTxStyle b="on" i="off"/>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accent4"/>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lastRow>
    <a:seCell>
      <a:tcTxStyle b="off" i="off"/>
    </a:seCell>
    <a:swCell>
      <a:tcTxStyle b="off" i="off"/>
    </a:swCell>
    <a:firstRow>
      <a:tcTxStyle b="on" i="off">
        <a:font>
          <a:latin typeface="Arial"/>
          <a:ea typeface="Arial"/>
          <a:cs typeface="Arial"/>
        </a:font>
        <a:schemeClr val="lt1"/>
      </a:tcTxStyle>
      <a:tcStyle>
        <a:tcBdr>
          <a:left>
            <a:ln cap="flat" cmpd="sng" w="9525">
              <a:solidFill>
                <a:schemeClr val="accent4"/>
              </a:solidFill>
              <a:prstDash val="solid"/>
              <a:round/>
              <a:headEnd len="sm" w="sm" type="none"/>
              <a:tailEnd len="sm" w="sm" type="none"/>
            </a:ln>
          </a:left>
          <a:right>
            <a:ln cap="flat" cmpd="sng" w="9525">
              <a:solidFill>
                <a:schemeClr val="accent4"/>
              </a:solidFill>
              <a:prstDash val="solid"/>
              <a:round/>
              <a:headEnd len="sm" w="sm" type="none"/>
              <a:tailEnd len="sm" w="sm" type="none"/>
            </a:ln>
          </a:right>
          <a:top>
            <a:ln cap="flat" cmpd="sng" w="9525">
              <a:solidFill>
                <a:schemeClr val="accent4"/>
              </a:solidFill>
              <a:prstDash val="solid"/>
              <a:round/>
              <a:headEnd len="sm" w="sm" type="none"/>
              <a:tailEnd len="sm" w="sm" type="none"/>
            </a:ln>
          </a:top>
          <a:bottom>
            <a:ln cap="flat" cmpd="sng" w="9525">
              <a:solidFill>
                <a:schemeClr val="l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chemeClr val="accent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edium-bold.fntdata"/><Relationship Id="rId20" Type="http://schemas.openxmlformats.org/officeDocument/2006/relationships/slide" Target="slides/slide14.xml"/><Relationship Id="rId42" Type="http://schemas.openxmlformats.org/officeDocument/2006/relationships/font" Target="fonts/RobotoMedium-boldItalic.fntdata"/><Relationship Id="rId41" Type="http://schemas.openxmlformats.org/officeDocument/2006/relationships/font" Target="fonts/RobotoMedium-italic.fntdata"/><Relationship Id="rId22" Type="http://schemas.openxmlformats.org/officeDocument/2006/relationships/slide" Target="slides/slide16.xml"/><Relationship Id="rId21" Type="http://schemas.openxmlformats.org/officeDocument/2006/relationships/slide" Target="slides/slide15.xml"/><Relationship Id="rId43" Type="http://customschemas.google.com/relationships/presentationmetadata" Target="metadata"/><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RobotoBlack-bold.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regular.fntdata"/><Relationship Id="rId12" Type="http://schemas.openxmlformats.org/officeDocument/2006/relationships/slide" Target="slides/slide6.xml"/><Relationship Id="rId34" Type="http://schemas.openxmlformats.org/officeDocument/2006/relationships/font" Target="fonts/RobotoBlack-boldItalic.fntdata"/><Relationship Id="rId15" Type="http://schemas.openxmlformats.org/officeDocument/2006/relationships/slide" Target="slides/slide9.xml"/><Relationship Id="rId37" Type="http://schemas.openxmlformats.org/officeDocument/2006/relationships/font" Target="fonts/Roboto-italic.fntdata"/><Relationship Id="rId14" Type="http://schemas.openxmlformats.org/officeDocument/2006/relationships/slide" Target="slides/slide8.xml"/><Relationship Id="rId36" Type="http://schemas.openxmlformats.org/officeDocument/2006/relationships/font" Target="fonts/Roboto-bold.fntdata"/><Relationship Id="rId17" Type="http://schemas.openxmlformats.org/officeDocument/2006/relationships/slide" Target="slides/slide11.xml"/><Relationship Id="rId39" Type="http://schemas.openxmlformats.org/officeDocument/2006/relationships/font" Target="fonts/RobotoMedium-regular.fntdata"/><Relationship Id="rId16" Type="http://schemas.openxmlformats.org/officeDocument/2006/relationships/slide" Target="slides/slide10.xml"/><Relationship Id="rId38" Type="http://schemas.openxmlformats.org/officeDocument/2006/relationships/font" Target="fonts/Robo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 name="Google Shape;62;p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Clr>
                <a:schemeClr val="dk1"/>
              </a:buClr>
              <a:buSzPts val="1200"/>
              <a:buFont typeface="Calibri"/>
              <a:buNone/>
            </a:pPr>
            <a:r>
              <a:t/>
            </a:r>
            <a:endParaRPr b="0" sz="1200" strike="noStrike">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3: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 name="Google Shape;88;p13: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p1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1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2" name="Google Shape;102;p1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9" name="Google Shape;109;p1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1: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21: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22: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22: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4: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4" name="Google Shape;134;p24: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2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2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5: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p35: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6: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p36: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37: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p37: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38: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38: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ba77f5bb0b_0_0: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 name="Google Shape;194;g2ba77f5bb0b_0_0: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enter number1-12</a:t>
            </a:r>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enter number2-12</a:t>
            </a:r>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12 * 12 = 144</a:t>
            </a:r>
            <a:endParaRPr b="0" sz="1200" strike="noStrike">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39:notes"/>
          <p:cNvSpPr/>
          <p:nvPr>
            <p:ph idx="2" type="sldImg"/>
          </p:nvPr>
        </p:nvSpPr>
        <p:spPr>
          <a:xfrm>
            <a:off x="685800" y="1143000"/>
            <a:ext cx="5484813"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39:notes"/>
          <p:cNvSpPr txBox="1"/>
          <p:nvPr>
            <p:ph idx="1" type="body"/>
          </p:nvPr>
        </p:nvSpPr>
        <p:spPr>
          <a:xfrm>
            <a:off x="685800" y="4400640"/>
            <a:ext cx="5486040" cy="360036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Enter the first number: 12</a:t>
            </a:r>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Enter the second number: 12</a:t>
            </a:r>
            <a:endParaRPr/>
          </a:p>
          <a:p>
            <a:pPr indent="0" lvl="0" marL="0" rtl="0" algn="l">
              <a:lnSpc>
                <a:spcPct val="100000"/>
              </a:lnSpc>
              <a:spcBef>
                <a:spcPts val="0"/>
              </a:spcBef>
              <a:spcAft>
                <a:spcPts val="0"/>
              </a:spcAft>
              <a:buSzPts val="1100"/>
              <a:buNone/>
            </a:pPr>
            <a:r>
              <a:rPr b="0" lang="en-US" sz="1200" strike="noStrike">
                <a:latin typeface="Roboto"/>
                <a:ea typeface="Roboto"/>
                <a:cs typeface="Roboto"/>
                <a:sym typeface="Roboto"/>
              </a:rPr>
              <a:t>Product: 144</a:t>
            </a:r>
            <a:endParaRPr b="0" sz="1200" strike="noStrike">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72cce4f96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272cce4f96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3f307fc558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 name="Google Shape;216;g23f307fc5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3f307fc55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 name="Google Shape;224;g23f307fc558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3f307fc558_0_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23f307fc558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3f307fc558_0_7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0" name="Google Shape;240;g23f307fc558_0_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5" name="Google Shape;25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457200" rtl="0" algn="l">
              <a:lnSpc>
                <a:spcPct val="100000"/>
              </a:lnSpc>
              <a:spcBef>
                <a:spcPts val="0"/>
              </a:spcBef>
              <a:spcAft>
                <a:spcPts val="0"/>
              </a:spcAft>
              <a:buSzPts val="1100"/>
              <a:buNone/>
            </a:pPr>
            <a:r>
              <a:t/>
            </a:r>
            <a:endParaRPr>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sz="1200">
              <a:solidFill>
                <a:schemeClr val="dk1"/>
              </a:solidFill>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4" name="Shape 14"/>
        <p:cNvGrpSpPr/>
        <p:nvPr/>
      </p:nvGrpSpPr>
      <p:grpSpPr>
        <a:xfrm>
          <a:off x="0" y="0"/>
          <a:ext cx="0" cy="0"/>
          <a:chOff x="0" y="0"/>
          <a:chExt cx="0" cy="0"/>
        </a:xfrm>
      </p:grpSpPr>
      <p:sp>
        <p:nvSpPr>
          <p:cNvPr id="15" name="Google Shape;15;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7" name="Google Shape;17;p2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8" name="Google Shape;1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800"/>
              <a:buFont typeface="Calibri"/>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chemeClr val="dk1"/>
              </a:buClr>
              <a:buSzPts val="1800"/>
              <a:buChar char="●"/>
              <a:defRPr>
                <a:latin typeface="Roboto"/>
                <a:ea typeface="Roboto"/>
                <a:cs typeface="Roboto"/>
                <a:sym typeface="Roboto"/>
              </a:defRPr>
            </a:lvl1pPr>
            <a:lvl2pPr indent="-317500" lvl="1" marL="914400" algn="l">
              <a:lnSpc>
                <a:spcPct val="115000"/>
              </a:lnSpc>
              <a:spcBef>
                <a:spcPts val="1200"/>
              </a:spcBef>
              <a:spcAft>
                <a:spcPts val="0"/>
              </a:spcAft>
              <a:buClr>
                <a:schemeClr val="dk1"/>
              </a:buClr>
              <a:buSzPts val="1400"/>
              <a:buChar char="○"/>
              <a:defRPr/>
            </a:lvl2pPr>
            <a:lvl3pPr indent="-317500" lvl="2" marL="1371600" algn="l">
              <a:lnSpc>
                <a:spcPct val="115000"/>
              </a:lnSpc>
              <a:spcBef>
                <a:spcPts val="1200"/>
              </a:spcBef>
              <a:spcAft>
                <a:spcPts val="0"/>
              </a:spcAft>
              <a:buClr>
                <a:schemeClr val="dk1"/>
              </a:buClr>
              <a:buSzPts val="1400"/>
              <a:buChar char="■"/>
              <a:defRPr/>
            </a:lvl3pPr>
            <a:lvl4pPr indent="-317500" lvl="3" marL="1828800" algn="l">
              <a:lnSpc>
                <a:spcPct val="115000"/>
              </a:lnSpc>
              <a:spcBef>
                <a:spcPts val="1200"/>
              </a:spcBef>
              <a:spcAft>
                <a:spcPts val="0"/>
              </a:spcAft>
              <a:buClr>
                <a:schemeClr val="dk1"/>
              </a:buClr>
              <a:buSzPts val="1400"/>
              <a:buChar char="●"/>
              <a:defRPr/>
            </a:lvl4pPr>
            <a:lvl5pPr indent="-317500" lvl="4" marL="2286000" algn="l">
              <a:lnSpc>
                <a:spcPct val="115000"/>
              </a:lnSpc>
              <a:spcBef>
                <a:spcPts val="1200"/>
              </a:spcBef>
              <a:spcAft>
                <a:spcPts val="0"/>
              </a:spcAft>
              <a:buClr>
                <a:schemeClr val="dk1"/>
              </a:buClr>
              <a:buSzPts val="1400"/>
              <a:buChar char="○"/>
              <a:defRPr/>
            </a:lvl5pPr>
            <a:lvl6pPr indent="-317500" lvl="5" marL="2743200" algn="l">
              <a:lnSpc>
                <a:spcPct val="115000"/>
              </a:lnSpc>
              <a:spcBef>
                <a:spcPts val="1200"/>
              </a:spcBef>
              <a:spcAft>
                <a:spcPts val="0"/>
              </a:spcAft>
              <a:buClr>
                <a:schemeClr val="dk1"/>
              </a:buClr>
              <a:buSzPts val="1400"/>
              <a:buChar char="■"/>
              <a:defRPr/>
            </a:lvl6pPr>
            <a:lvl7pPr indent="-317500" lvl="6" marL="3200400" algn="l">
              <a:lnSpc>
                <a:spcPct val="115000"/>
              </a:lnSpc>
              <a:spcBef>
                <a:spcPts val="1200"/>
              </a:spcBef>
              <a:spcAft>
                <a:spcPts val="0"/>
              </a:spcAft>
              <a:buClr>
                <a:schemeClr val="dk1"/>
              </a:buClr>
              <a:buSzPts val="1400"/>
              <a:buChar char="●"/>
              <a:defRPr/>
            </a:lvl7pPr>
            <a:lvl8pPr indent="-317500" lvl="7" marL="3657600" algn="l">
              <a:lnSpc>
                <a:spcPct val="115000"/>
              </a:lnSpc>
              <a:spcBef>
                <a:spcPts val="1200"/>
              </a:spcBef>
              <a:spcAft>
                <a:spcPts val="0"/>
              </a:spcAft>
              <a:buClr>
                <a:schemeClr val="dk1"/>
              </a:buClr>
              <a:buSzPts val="1400"/>
              <a:buChar char="○"/>
              <a:defRPr/>
            </a:lvl8pPr>
            <a:lvl9pPr indent="-317500" lvl="8" marL="4114800" algn="l">
              <a:lnSpc>
                <a:spcPct val="115000"/>
              </a:lnSpc>
              <a:spcBef>
                <a:spcPts val="1200"/>
              </a:spcBef>
              <a:spcAft>
                <a:spcPts val="1200"/>
              </a:spcAft>
              <a:buClr>
                <a:schemeClr val="dk1"/>
              </a:buClr>
              <a:buSzPts val="1400"/>
              <a:buChar char="■"/>
              <a:defRPr/>
            </a:lvl9pPr>
          </a:lstStyle>
          <a:p/>
        </p:txBody>
      </p:sp>
      <p:sp>
        <p:nvSpPr>
          <p:cNvPr id="22" name="Google Shape;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888888"/>
              </a:buClr>
              <a:buSzPts val="1200"/>
              <a:buFont typeface="Calibri"/>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 name="Shape 23"/>
        <p:cNvGrpSpPr/>
        <p:nvPr/>
      </p:nvGrpSpPr>
      <p:grpSpPr>
        <a:xfrm>
          <a:off x="0" y="0"/>
          <a:ext cx="0" cy="0"/>
          <a:chOff x="0" y="0"/>
          <a:chExt cx="0" cy="0"/>
        </a:xfrm>
      </p:grpSpPr>
      <p:sp>
        <p:nvSpPr>
          <p:cNvPr id="24" name="Google Shape;2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2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7" name="Google Shape;27;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3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3" name="Google Shape;33;p3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5" name="Shape 35"/>
        <p:cNvGrpSpPr/>
        <p:nvPr/>
      </p:nvGrpSpPr>
      <p:grpSpPr>
        <a:xfrm>
          <a:off x="0" y="0"/>
          <a:ext cx="0" cy="0"/>
          <a:chOff x="0" y="0"/>
          <a:chExt cx="0" cy="0"/>
        </a:xfrm>
      </p:grpSpPr>
      <p:sp>
        <p:nvSpPr>
          <p:cNvPr id="36" name="Google Shape;36;p3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7" name="Google Shape;37;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3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0" name="Google Shape;40;p3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1" name="Google Shape;41;p3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3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3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6" name="Google Shape;4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3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9" name="Google Shape;49;p3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pic>
        <p:nvPicPr>
          <p:cNvPr id="9" name="Google Shape;9;p19"/>
          <p:cNvPicPr preferRelativeResize="0"/>
          <p:nvPr/>
        </p:nvPicPr>
        <p:blipFill rotWithShape="1">
          <a:blip r:embed="rId1">
            <a:alphaModFix/>
          </a:blip>
          <a:srcRect b="0" l="0" r="0" t="0"/>
          <a:stretch/>
        </p:blipFill>
        <p:spPr>
          <a:xfrm>
            <a:off x="0" y="0"/>
            <a:ext cx="9144003" cy="514350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6.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forms.gle/2Qag3HhHTrpx5fna8"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jp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jp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4.jpg"/><Relationship Id="rId4" Type="http://schemas.openxmlformats.org/officeDocument/2006/relationships/image" Target="../media/image13.png"/><Relationship Id="rId5" Type="http://schemas.openxmlformats.org/officeDocument/2006/relationships/image" Target="../media/image15.png"/><Relationship Id="rId6"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3"/>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56" name="Google Shape;56;p3"/>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57" name="Google Shape;57;p3"/>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58" name="Google Shape;58;p3"/>
          <p:cNvPicPr preferRelativeResize="0"/>
          <p:nvPr/>
        </p:nvPicPr>
        <p:blipFill rotWithShape="1">
          <a:blip r:embed="rId4">
            <a:alphaModFix/>
          </a:blip>
          <a:srcRect b="0" l="0" r="0" t="0"/>
          <a:stretch/>
        </p:blipFill>
        <p:spPr>
          <a:xfrm>
            <a:off x="2504600" y="600288"/>
            <a:ext cx="4134799" cy="2923400"/>
          </a:xfrm>
          <a:prstGeom prst="rect">
            <a:avLst/>
          </a:prstGeom>
          <a:noFill/>
          <a:ln>
            <a:noFill/>
          </a:ln>
        </p:spPr>
      </p:pic>
      <p:pic>
        <p:nvPicPr>
          <p:cNvPr id="59" name="Google Shape;59;p3"/>
          <p:cNvPicPr preferRelativeResize="0"/>
          <p:nvPr/>
        </p:nvPicPr>
        <p:blipFill rotWithShape="1">
          <a:blip r:embed="rId5">
            <a:alphaModFix/>
          </a:blip>
          <a:srcRect b="0" l="0" r="0" t="0"/>
          <a:stretch/>
        </p:blipFill>
        <p:spPr>
          <a:xfrm>
            <a:off x="2200050" y="3386138"/>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4"/>
          <p:cNvSpPr txBox="1"/>
          <p:nvPr/>
        </p:nvSpPr>
        <p:spPr>
          <a:xfrm>
            <a:off x="870155" y="1149784"/>
            <a:ext cx="7993626" cy="1344599"/>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b="1" i="0" lang="en-US" sz="1800" u="none" cap="none" strike="noStrike">
                <a:solidFill>
                  <a:schemeClr val="dk1"/>
                </a:solidFill>
                <a:highlight>
                  <a:srgbClr val="FFFFFF"/>
                </a:highlight>
                <a:latin typeface="Roboto"/>
                <a:ea typeface="Roboto"/>
                <a:cs typeface="Roboto"/>
                <a:sym typeface="Roboto"/>
              </a:rPr>
              <a:t>URL:</a:t>
            </a:r>
            <a:endParaRPr b="1" i="0" sz="1800" u="none" cap="none" strike="noStrike">
              <a:solidFill>
                <a:srgbClr val="373737"/>
              </a:solidFill>
              <a:highlight>
                <a:srgbClr val="FFFFFF"/>
              </a:highlight>
              <a:latin typeface="Arial"/>
              <a:ea typeface="Arial"/>
              <a:cs typeface="Arial"/>
              <a:sym typeface="Arial"/>
            </a:endParaRPr>
          </a:p>
          <a:p>
            <a:pPr indent="0" lvl="0" marL="0" marR="0" rtl="0" algn="l">
              <a:lnSpc>
                <a:spcPct val="115000"/>
              </a:lnSpc>
              <a:spcBef>
                <a:spcPts val="0"/>
              </a:spcBef>
              <a:spcAft>
                <a:spcPts val="0"/>
              </a:spcAft>
              <a:buNone/>
            </a:pPr>
            <a:r>
              <a:t/>
            </a:r>
            <a:endParaRPr b="1" i="0" sz="1800" u="none" cap="none" strike="noStrike">
              <a:solidFill>
                <a:srgbClr val="373737"/>
              </a:solidFill>
              <a:highlight>
                <a:srgbClr val="FFFFFF"/>
              </a:highlight>
              <a:latin typeface="Roboto"/>
              <a:ea typeface="Roboto"/>
              <a:cs typeface="Roboto"/>
              <a:sym typeface="Roboto"/>
            </a:endParaRPr>
          </a:p>
          <a:p>
            <a:pPr indent="0" lvl="0" marL="0" marR="0" rtl="0" algn="l">
              <a:lnSpc>
                <a:spcPct val="115000"/>
              </a:lnSpc>
              <a:spcBef>
                <a:spcPts val="0"/>
              </a:spcBef>
              <a:spcAft>
                <a:spcPts val="0"/>
              </a:spcAft>
              <a:buNone/>
            </a:pPr>
            <a:r>
              <a:rPr b="1" i="0" lang="en-US" sz="1800" u="none" cap="none" strike="noStrike">
                <a:solidFill>
                  <a:schemeClr val="dk1"/>
                </a:solidFill>
                <a:highlight>
                  <a:srgbClr val="FFFFFF"/>
                </a:highlight>
                <a:latin typeface="Roboto"/>
                <a:ea typeface="Roboto"/>
                <a:cs typeface="Roboto"/>
                <a:sym typeface="Roboto"/>
              </a:rPr>
              <a:t>QR CODE</a:t>
            </a:r>
            <a:r>
              <a:rPr b="1" i="0" lang="en-US" sz="1800" u="none" cap="none" strike="noStrike">
                <a:solidFill>
                  <a:srgbClr val="373737"/>
                </a:solidFill>
                <a:highlight>
                  <a:srgbClr val="FFFFFF"/>
                </a:highlight>
                <a:latin typeface="Roboto"/>
                <a:ea typeface="Roboto"/>
                <a:cs typeface="Roboto"/>
                <a:sym typeface="Roboto"/>
              </a:rPr>
              <a:t>:</a:t>
            </a:r>
            <a:endParaRPr/>
          </a:p>
          <a:p>
            <a:pPr indent="0" lvl="0" marL="0" marR="0" rtl="0" algn="l">
              <a:lnSpc>
                <a:spcPct val="115000"/>
              </a:lnSpc>
              <a:spcBef>
                <a:spcPts val="0"/>
              </a:spcBef>
              <a:spcAft>
                <a:spcPts val="0"/>
              </a:spcAft>
              <a:buNone/>
            </a:pPr>
            <a:r>
              <a:t/>
            </a:r>
            <a:endParaRPr b="0" i="0" sz="1800" u="none" cap="none" strike="noStrike">
              <a:solidFill>
                <a:srgbClr val="00B0F0"/>
              </a:solidFill>
              <a:latin typeface="Roboto"/>
              <a:ea typeface="Roboto"/>
              <a:cs typeface="Roboto"/>
              <a:sym typeface="Roboto"/>
            </a:endParaRPr>
          </a:p>
        </p:txBody>
      </p:sp>
      <p:sp>
        <p:nvSpPr>
          <p:cNvPr id="65" name="Google Shape;65;p4"/>
          <p:cNvSpPr txBox="1"/>
          <p:nvPr/>
        </p:nvSpPr>
        <p:spPr>
          <a:xfrm>
            <a:off x="1483403" y="584571"/>
            <a:ext cx="6525254" cy="33855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600" u="none" cap="none" strike="noStrike">
                <a:solidFill>
                  <a:schemeClr val="dk1"/>
                </a:solidFill>
                <a:latin typeface="Roboto"/>
                <a:ea typeface="Roboto"/>
                <a:cs typeface="Roboto"/>
                <a:sym typeface="Roboto"/>
              </a:rPr>
              <a:t>TEST TIME ON EUCLID’S ALGORITHM</a:t>
            </a:r>
            <a:endParaRPr b="1" i="0" sz="1600" u="none" cap="none" strike="noStrike">
              <a:solidFill>
                <a:schemeClr val="dk1"/>
              </a:solidFill>
              <a:latin typeface="Roboto"/>
              <a:ea typeface="Roboto"/>
              <a:cs typeface="Roboto"/>
              <a:sym typeface="Roboto"/>
            </a:endParaRPr>
          </a:p>
        </p:txBody>
      </p:sp>
      <p:sp>
        <p:nvSpPr>
          <p:cNvPr id="66" name="Google Shape;66;p4"/>
          <p:cNvSpPr txBox="1"/>
          <p:nvPr/>
        </p:nvSpPr>
        <p:spPr>
          <a:xfrm>
            <a:off x="1393903" y="1199988"/>
            <a:ext cx="4572000"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sng" cap="none" strike="noStrike">
                <a:solidFill>
                  <a:schemeClr val="hlink"/>
                </a:solidFill>
                <a:highlight>
                  <a:srgbClr val="FFFFFF"/>
                </a:highlight>
                <a:latin typeface="Arial"/>
                <a:ea typeface="Arial"/>
                <a:cs typeface="Arial"/>
                <a:sym typeface="Arial"/>
                <a:hlinkClick r:id="rId3"/>
              </a:rPr>
              <a:t>https://forms.gle/2Qag3HhHTrpx5fna8</a:t>
            </a:r>
            <a:endParaRPr b="0" i="0" sz="1600" u="none" cap="none" strike="noStrike">
              <a:solidFill>
                <a:srgbClr val="000000"/>
              </a:solidFill>
              <a:latin typeface="Roboto"/>
              <a:ea typeface="Roboto"/>
              <a:cs typeface="Roboto"/>
              <a:sym typeface="Roboto"/>
            </a:endParaRPr>
          </a:p>
        </p:txBody>
      </p:sp>
      <p:pic>
        <p:nvPicPr>
          <p:cNvPr id="67" name="Google Shape;67;p4"/>
          <p:cNvPicPr preferRelativeResize="0"/>
          <p:nvPr/>
        </p:nvPicPr>
        <p:blipFill rotWithShape="1">
          <a:blip r:embed="rId4">
            <a:alphaModFix/>
          </a:blip>
          <a:srcRect b="0" l="0" r="0" t="0"/>
          <a:stretch/>
        </p:blipFill>
        <p:spPr>
          <a:xfrm>
            <a:off x="3434576" y="1983165"/>
            <a:ext cx="2732048" cy="25848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3" name="Google Shape;7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74" name="Google Shape;74;p5"/>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75" name="Google Shape;75;p5"/>
          <p:cNvSpPr txBox="1"/>
          <p:nvPr/>
        </p:nvSpPr>
        <p:spPr>
          <a:xfrm>
            <a:off x="562479" y="1913123"/>
            <a:ext cx="3749269" cy="1317253"/>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None/>
            </a:pPr>
            <a:r>
              <a:rPr b="1" i="0" lang="en-US" sz="3200" u="none" cap="none" strike="noStrike">
                <a:solidFill>
                  <a:schemeClr val="lt1"/>
                </a:solidFill>
                <a:latin typeface="Roboto"/>
                <a:ea typeface="Roboto"/>
                <a:cs typeface="Roboto"/>
                <a:sym typeface="Roboto"/>
              </a:rPr>
              <a:t>KARATSUBA ALGORITHM</a:t>
            </a:r>
            <a:endParaRPr b="0" i="0" sz="3200" u="none" cap="none" strike="noStrike">
              <a:solidFill>
                <a:srgbClr val="000000"/>
              </a:solidFill>
              <a:latin typeface="Roboto"/>
              <a:ea typeface="Roboto"/>
              <a:cs typeface="Roboto"/>
              <a:sym typeface="Robo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1" name="Google Shape;81;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82" name="Google Shape;82;p6"/>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83" name="Google Shape;83;p6"/>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84" name="Google Shape;84;p6"/>
          <p:cNvSpPr txBox="1"/>
          <p:nvPr/>
        </p:nvSpPr>
        <p:spPr>
          <a:xfrm>
            <a:off x="311700" y="1017725"/>
            <a:ext cx="3093120" cy="46779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600"/>
              <a:buFont typeface="Arial"/>
              <a:buNone/>
            </a:pPr>
            <a:r>
              <a:rPr b="0" i="0" lang="en-US" sz="1600" u="none" cap="none" strike="noStrike">
                <a:solidFill>
                  <a:schemeClr val="accent1"/>
                </a:solidFill>
                <a:latin typeface="Roboto Black"/>
                <a:ea typeface="Roboto Black"/>
                <a:cs typeface="Roboto Black"/>
                <a:sym typeface="Roboto Black"/>
              </a:rPr>
              <a:t>TOPICS</a:t>
            </a:r>
            <a:endParaRPr b="0" i="0" sz="1400" u="none" cap="none" strike="noStrike">
              <a:solidFill>
                <a:srgbClr val="000000"/>
              </a:solidFill>
              <a:latin typeface="Roboto Black"/>
              <a:ea typeface="Roboto Black"/>
              <a:cs typeface="Roboto Black"/>
              <a:sym typeface="Roboto Black"/>
            </a:endParaRPr>
          </a:p>
        </p:txBody>
      </p:sp>
      <p:sp>
        <p:nvSpPr>
          <p:cNvPr id="85" name="Google Shape;85;p6"/>
          <p:cNvSpPr txBox="1"/>
          <p:nvPr/>
        </p:nvSpPr>
        <p:spPr>
          <a:xfrm>
            <a:off x="1027112" y="1485515"/>
            <a:ext cx="3204117" cy="2318583"/>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Introduction</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Naïve method</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Algorithm Explanation</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Complexity Analysis</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Algorithm</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Coding</a:t>
            </a:r>
            <a:endParaRPr/>
          </a:p>
          <a:p>
            <a:pPr indent="-285750" lvl="0" marL="285750" marR="0" rtl="0" algn="l">
              <a:lnSpc>
                <a:spcPct val="150000"/>
              </a:lnSpc>
              <a:spcBef>
                <a:spcPts val="0"/>
              </a:spcBef>
              <a:spcAft>
                <a:spcPts val="0"/>
              </a:spcAft>
              <a:buClr>
                <a:srgbClr val="000000"/>
              </a:buClr>
              <a:buSzPts val="1400"/>
              <a:buFont typeface="Noto Sans Symbols"/>
              <a:buChar char="⮚"/>
            </a:pPr>
            <a:r>
              <a:rPr b="0" i="0" lang="en-US" sz="1400" u="none" cap="none" strike="noStrike">
                <a:solidFill>
                  <a:schemeClr val="dk1"/>
                </a:solidFill>
                <a:latin typeface="Roboto"/>
                <a:ea typeface="Roboto"/>
                <a:cs typeface="Roboto"/>
                <a:sym typeface="Roboto"/>
              </a:rPr>
              <a:t>Interview preparation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91" name="Google Shape;91;p13"/>
          <p:cNvSpPr/>
          <p:nvPr/>
        </p:nvSpPr>
        <p:spPr>
          <a:xfrm>
            <a:off x="555120" y="915840"/>
            <a:ext cx="7544880" cy="367789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600"/>
              <a:buFont typeface="Arial"/>
              <a:buNone/>
            </a:pPr>
            <a:r>
              <a:rPr b="1" i="0" lang="en-US" sz="1200" u="none" cap="none" strike="noStrike">
                <a:solidFill>
                  <a:srgbClr val="000000"/>
                </a:solidFill>
                <a:latin typeface="Roboto"/>
                <a:ea typeface="Roboto"/>
                <a:cs typeface="Roboto"/>
                <a:sym typeface="Roboto"/>
              </a:rPr>
              <a:t>INTRODUCTION</a:t>
            </a:r>
            <a:endParaRPr b="1"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rPr b="0" i="0" lang="en-US" sz="1400" u="none" cap="none" strike="noStrike">
                <a:solidFill>
                  <a:srgbClr val="000000"/>
                </a:solidFill>
                <a:latin typeface="Roboto"/>
                <a:ea typeface="Roboto"/>
                <a:cs typeface="Roboto"/>
                <a:sym typeface="Roboto"/>
              </a:rPr>
              <a:t>The Karatsuba algorithm is a fast multiplication algorithm. It was discovered by Anatoly Karatsuba in 1960 and published in 1962.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rPr b="0" i="0" lang="en-US" sz="1400" u="none" cap="none" strike="noStrike">
                <a:solidFill>
                  <a:srgbClr val="000000"/>
                </a:solidFill>
                <a:latin typeface="Roboto"/>
                <a:ea typeface="Roboto"/>
                <a:cs typeface="Roboto"/>
                <a:sym typeface="Roboto"/>
              </a:rPr>
              <a:t>A fast multiplication algorithm uses a divide and conquer approach to multiply two numbers.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rPr b="0" i="0" lang="en-US" sz="1400" u="none" cap="none" strike="noStrike">
                <a:solidFill>
                  <a:srgbClr val="000000"/>
                </a:solidFill>
                <a:latin typeface="Roboto"/>
                <a:ea typeface="Roboto"/>
                <a:cs typeface="Roboto"/>
                <a:sym typeface="Roboto"/>
              </a:rPr>
              <a:t>The naive algorithm for multiplying 2 numbers has a running time of O(n</a:t>
            </a:r>
            <a:r>
              <a:rPr b="0" baseline="30000" i="0" lang="en-US" sz="1400" u="none" cap="none" strike="noStrike">
                <a:solidFill>
                  <a:srgbClr val="000000"/>
                </a:solidFill>
                <a:latin typeface="Roboto"/>
                <a:ea typeface="Roboto"/>
                <a:cs typeface="Roboto"/>
                <a:sym typeface="Roboto"/>
              </a:rPr>
              <a:t>2</a:t>
            </a:r>
            <a:r>
              <a:rPr b="0" i="0" lang="en-US" sz="1400" u="none" cap="none" strike="noStrike">
                <a:solidFill>
                  <a:srgbClr val="000000"/>
                </a:solidFill>
                <a:latin typeface="Roboto"/>
                <a:ea typeface="Roboto"/>
                <a:cs typeface="Roboto"/>
                <a:sym typeface="Roboto"/>
              </a:rPr>
              <a:t>), where karatsuba algorithm has a runtime of </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92" name="Google Shape;92;p13"/>
          <p:cNvPicPr preferRelativeResize="0"/>
          <p:nvPr/>
        </p:nvPicPr>
        <p:blipFill rotWithShape="1">
          <a:blip r:embed="rId3">
            <a:alphaModFix/>
          </a:blip>
          <a:srcRect b="0" l="0" r="0" t="0"/>
          <a:stretch/>
        </p:blipFill>
        <p:spPr>
          <a:xfrm>
            <a:off x="2952750" y="3538654"/>
            <a:ext cx="1619250" cy="376888"/>
          </a:xfrm>
          <a:prstGeom prst="rect">
            <a:avLst/>
          </a:prstGeom>
          <a:noFill/>
          <a:ln>
            <a:noFill/>
          </a:ln>
        </p:spPr>
      </p:pic>
      <p:sp>
        <p:nvSpPr>
          <p:cNvPr id="93" name="Google Shape;93;p13"/>
          <p:cNvSpPr txBox="1"/>
          <p:nvPr/>
        </p:nvSpPr>
        <p:spPr>
          <a:xfrm>
            <a:off x="471269" y="356852"/>
            <a:ext cx="5151103" cy="680156"/>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1" i="0" lang="en-US" sz="2800" u="none" cap="none" strike="noStrike">
                <a:solidFill>
                  <a:srgbClr val="00B0F0"/>
                </a:solidFill>
                <a:latin typeface="Roboto"/>
                <a:ea typeface="Roboto"/>
                <a:cs typeface="Roboto"/>
                <a:sym typeface="Roboto"/>
              </a:rPr>
              <a:t>KARATSUBA ALGORITHM</a:t>
            </a:r>
            <a:endParaRPr b="0" i="0" sz="2800" u="none" cap="none" strike="noStrike">
              <a:solidFill>
                <a:srgbClr val="00B0F0"/>
              </a:solidFill>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99" name="Google Shape;99;p15"/>
          <p:cNvSpPr/>
          <p:nvPr/>
        </p:nvSpPr>
        <p:spPr>
          <a:xfrm>
            <a:off x="711237" y="1242268"/>
            <a:ext cx="7544880" cy="2923837"/>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INTRODUCTION</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400" u="none" cap="none" strike="noStrike">
                <a:solidFill>
                  <a:srgbClr val="000000"/>
                </a:solidFill>
                <a:latin typeface="Roboto"/>
                <a:ea typeface="Roboto"/>
                <a:cs typeface="Roboto"/>
                <a:sym typeface="Roboto"/>
              </a:rPr>
              <a:t>Being able to multiply numbers quickly is very important. Computer scientists often consider multiplication to be a constant time ~ O(1) operation which is reasonable for small numbers.</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400" u="none" cap="none" strike="noStrike">
                <a:solidFill>
                  <a:srgbClr val="000000"/>
                </a:solidFill>
                <a:latin typeface="Roboto"/>
                <a:ea typeface="Roboto"/>
                <a:cs typeface="Roboto"/>
                <a:sym typeface="Roboto"/>
              </a:rPr>
              <a:t>Whereas for larger numbers, the actual running times need to be factored in, which is O(n</a:t>
            </a:r>
            <a:r>
              <a:rPr b="0" baseline="30000" i="0" lang="en-US" sz="1400" u="none" cap="none" strike="noStrike">
                <a:solidFill>
                  <a:srgbClr val="000000"/>
                </a:solidFill>
                <a:latin typeface="Roboto"/>
                <a:ea typeface="Roboto"/>
                <a:cs typeface="Roboto"/>
                <a:sym typeface="Roboto"/>
              </a:rPr>
              <a:t>2</a:t>
            </a:r>
            <a:r>
              <a:rPr b="0" i="0" lang="en-US" sz="1400" u="none" cap="none" strike="noStrike">
                <a:solidFill>
                  <a:srgbClr val="000000"/>
                </a:solidFill>
                <a:latin typeface="Roboto"/>
                <a:ea typeface="Roboto"/>
                <a:cs typeface="Roboto"/>
                <a:sym typeface="Roboto"/>
              </a:rPr>
              <a:t>)</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05" name="Google Shape;105;p16"/>
          <p:cNvSpPr/>
          <p:nvPr/>
        </p:nvSpPr>
        <p:spPr>
          <a:xfrm>
            <a:off x="799560" y="1665849"/>
            <a:ext cx="7544880" cy="1815841"/>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800"/>
              <a:buFont typeface="Arial"/>
              <a:buNone/>
            </a:pPr>
            <a:r>
              <a:rPr b="0" i="0" lang="en-US" sz="1400" u="none" cap="none" strike="noStrike">
                <a:solidFill>
                  <a:schemeClr val="dk1"/>
                </a:solidFill>
                <a:latin typeface="Roboto"/>
                <a:ea typeface="Roboto"/>
                <a:cs typeface="Roboto"/>
                <a:sym typeface="Roboto"/>
              </a:rPr>
              <a:t>The naive method is to follow the elementary school multiplication method, i.e. to multiply each digit of the second number with every digit of the first number and then add all the multiplication results.</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800"/>
              <a:buFont typeface="Arial"/>
              <a:buNone/>
            </a:pPr>
            <a:r>
              <a:rPr b="0" i="0" lang="en-US" sz="1400" u="none" cap="none" strike="noStrike">
                <a:solidFill>
                  <a:schemeClr val="dk1"/>
                </a:solidFill>
                <a:latin typeface="Roboto"/>
                <a:ea typeface="Roboto"/>
                <a:cs typeface="Roboto"/>
                <a:sym typeface="Roboto"/>
              </a:rPr>
              <a:t>This algorithm takes O(n</a:t>
            </a:r>
            <a:r>
              <a:rPr b="0" baseline="30000" i="0" lang="en-US" sz="1400" u="none" cap="none" strike="noStrike">
                <a:solidFill>
                  <a:schemeClr val="dk1"/>
                </a:solidFill>
                <a:latin typeface="Roboto"/>
                <a:ea typeface="Roboto"/>
                <a:cs typeface="Roboto"/>
                <a:sym typeface="Roboto"/>
              </a:rPr>
              <a:t>2</a:t>
            </a:r>
            <a:r>
              <a:rPr b="0" i="0" lang="en-US" sz="1400" u="none" cap="none" strike="noStrike">
                <a:solidFill>
                  <a:schemeClr val="dk1"/>
                </a:solidFill>
                <a:latin typeface="Roboto"/>
                <a:ea typeface="Roboto"/>
                <a:cs typeface="Roboto"/>
                <a:sym typeface="Roboto"/>
              </a:rPr>
              <a:t>) time.</a:t>
            </a:r>
            <a:endParaRPr b="0" i="0" sz="1400" u="none" cap="none" strike="noStrike">
              <a:solidFill>
                <a:schemeClr val="dk1"/>
              </a:solidFill>
              <a:latin typeface="Roboto"/>
              <a:ea typeface="Roboto"/>
              <a:cs typeface="Roboto"/>
              <a:sym typeface="Roboto"/>
            </a:endParaRPr>
          </a:p>
        </p:txBody>
      </p:sp>
      <p:sp>
        <p:nvSpPr>
          <p:cNvPr id="106" name="Google Shape;106;p16"/>
          <p:cNvSpPr txBox="1"/>
          <p:nvPr/>
        </p:nvSpPr>
        <p:spPr>
          <a:xfrm>
            <a:off x="713678" y="988741"/>
            <a:ext cx="2223686"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333333"/>
                </a:solidFill>
                <a:latin typeface="Roboto"/>
                <a:ea typeface="Roboto"/>
                <a:cs typeface="Roboto"/>
                <a:sym typeface="Roboto"/>
              </a:rPr>
              <a:t>NAIVE METHOD</a:t>
            </a:r>
            <a:endParaRPr b="1"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12" name="Google Shape;112;p17"/>
          <p:cNvGraphicFramePr/>
          <p:nvPr/>
        </p:nvGraphicFramePr>
        <p:xfrm>
          <a:off x="185850" y="1136211"/>
          <a:ext cx="3000000" cy="3000000"/>
        </p:xfrm>
        <a:graphic>
          <a:graphicData uri="http://schemas.openxmlformats.org/drawingml/2006/table">
            <a:tbl>
              <a:tblPr bandRow="1" firstRow="1">
                <a:noFill/>
                <a:tableStyleId>{C00F9F5C-10F8-42EA-AFA0-29B8AEF730EE}</a:tableStyleId>
              </a:tblPr>
              <a:tblGrid>
                <a:gridCol w="4386150"/>
                <a:gridCol w="4386150"/>
              </a:tblGrid>
              <a:tr h="3294550">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public static int multiplication(int X, int Y)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Convert numbers into string</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String x = Integer.toString(X);</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String y = Integer.toString(Y);</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result = 0;</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Looping over y</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for (int i = 0; i &lt; y.length(); i++)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carry = 0; // intermediate carry</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String inter_res = ""; // intermediate result</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Looping over x.</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for (int j = x.length() - 1; j &gt;= 0; j--)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intermediate multiplication of each digit and addition of carry.</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num = Character.getNumericValue(y.charAt(i)) * Character.getNumericValue(x.charAt(j)) + carry;</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if (num &gt; 9 &amp;&amp; j &gt; 0)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inter_res = Integer.toString(num % 10) + inter_res;</a:t>
                      </a:r>
                      <a:endParaRPr sz="1200" u="none" cap="none" strike="noStrike">
                        <a:latin typeface="Roboto"/>
                        <a:ea typeface="Roboto"/>
                        <a:cs typeface="Roboto"/>
                        <a:sym typeface="Roboto"/>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1"/>
                      </a:solidFill>
                      <a:prstDash val="solid"/>
                      <a:round/>
                      <a:headEnd len="sm" w="sm" type="none"/>
                      <a:tailEnd len="sm" w="sm" type="none"/>
                    </a:lnT>
                    <a:lnB cap="flat" cmpd="sng" w="381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carry = num / 10;</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else the digit is append to the intermediate result</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And assign carry as zero</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else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inter_res = Integer.toString(num) + inter_res;</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carry = 0;</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Adding the intermediate results</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result *= 10;</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result += Integer.parseInt(inter_res);</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System.out.print("result: ");</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return result;</a:t>
                      </a:r>
                      <a:endParaRPr sz="12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200" u="none" cap="none" strike="noStrike">
                        <a:latin typeface="Roboto"/>
                        <a:ea typeface="Roboto"/>
                        <a:cs typeface="Roboto"/>
                        <a:sym typeface="Roboto"/>
                      </a:endParaRPr>
                    </a:p>
                  </a:txBody>
                  <a:tcPr marT="45725" marB="45725" marR="91450" marL="91450">
                    <a:lnL cap="flat" cmpd="sng" w="12700">
                      <a:solidFill>
                        <a:schemeClr val="dk2"/>
                      </a:solidFill>
                      <a:prstDash val="solid"/>
                      <a:round/>
                      <a:headEnd len="sm" w="sm" type="none"/>
                      <a:tailEnd len="sm" w="sm" type="none"/>
                    </a:lnL>
                    <a:lnR cap="flat" cmpd="sng" w="12700">
                      <a:solidFill>
                        <a:schemeClr val="dk2"/>
                      </a:solidFill>
                      <a:prstDash val="solid"/>
                      <a:round/>
                      <a:headEnd len="sm" w="sm" type="none"/>
                      <a:tailEnd len="sm" w="sm" type="none"/>
                    </a:lnR>
                    <a:lnT cap="flat" cmpd="sng" w="12700">
                      <a:solidFill>
                        <a:schemeClr val="dk2"/>
                      </a:solidFill>
                      <a:prstDash val="solid"/>
                      <a:round/>
                      <a:headEnd len="sm" w="sm" type="none"/>
                      <a:tailEnd len="sm" w="sm" type="none"/>
                    </a:lnT>
                    <a:lnB cap="flat" cmpd="sng" w="38100">
                      <a:solidFill>
                        <a:schemeClr val="dk2"/>
                      </a:solidFill>
                      <a:prstDash val="solid"/>
                      <a:round/>
                      <a:headEnd len="sm" w="sm" type="none"/>
                      <a:tailEnd len="sm" w="sm" type="none"/>
                    </a:lnB>
                    <a:solidFill>
                      <a:schemeClr val="lt1"/>
                    </a:solidFill>
                  </a:tcPr>
                </a:tc>
              </a:tr>
            </a:tbl>
          </a:graphicData>
        </a:graphic>
      </p:graphicFrame>
      <p:sp>
        <p:nvSpPr>
          <p:cNvPr id="113" name="Google Shape;113;p17"/>
          <p:cNvSpPr txBox="1"/>
          <p:nvPr/>
        </p:nvSpPr>
        <p:spPr>
          <a:xfrm>
            <a:off x="185850" y="712748"/>
            <a:ext cx="4572000" cy="3077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Roboto"/>
                <a:ea typeface="Roboto"/>
                <a:cs typeface="Roboto"/>
                <a:sym typeface="Roboto"/>
              </a:rPr>
              <a:t>NAIVE METHOD</a:t>
            </a:r>
            <a:endParaRPr b="1" i="0" sz="1100" u="none" cap="none" strike="noStrike">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19" name="Google Shape;119;p21"/>
          <p:cNvSpPr/>
          <p:nvPr/>
        </p:nvSpPr>
        <p:spPr>
          <a:xfrm>
            <a:off x="799560" y="915840"/>
            <a:ext cx="7544880" cy="15696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600"/>
              <a:buFont typeface="Arial"/>
              <a:buNone/>
            </a:pPr>
            <a:r>
              <a:rPr b="0" i="0" lang="en-US" sz="9600" u="none" cap="none" strike="noStrike">
                <a:solidFill>
                  <a:schemeClr val="dk1"/>
                </a:solidFill>
                <a:latin typeface="Roboto"/>
                <a:ea typeface="Roboto"/>
                <a:cs typeface="Roboto"/>
                <a:sym typeface="Roboto"/>
              </a:rPr>
              <a:t>       </a:t>
            </a:r>
            <a:endParaRPr b="0" i="0" sz="1200" u="none" cap="none" strike="noStrike">
              <a:solidFill>
                <a:schemeClr val="dk1"/>
              </a:solidFill>
              <a:latin typeface="Roboto"/>
              <a:ea typeface="Roboto"/>
              <a:cs typeface="Roboto"/>
              <a:sym typeface="Roboto"/>
            </a:endParaRPr>
          </a:p>
        </p:txBody>
      </p:sp>
      <p:sp>
        <p:nvSpPr>
          <p:cNvPr id="120" name="Google Shape;120;p21"/>
          <p:cNvSpPr txBox="1"/>
          <p:nvPr/>
        </p:nvSpPr>
        <p:spPr>
          <a:xfrm>
            <a:off x="710350" y="547281"/>
            <a:ext cx="7452341" cy="1600398"/>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292929"/>
              </a:buClr>
              <a:buSzPts val="1800"/>
              <a:buFont typeface="Arial"/>
              <a:buNone/>
            </a:pPr>
            <a:r>
              <a:rPr b="1" i="0" lang="en-US" sz="1400" u="none" cap="none" strike="noStrike">
                <a:solidFill>
                  <a:srgbClr val="292929"/>
                </a:solidFill>
                <a:latin typeface="Roboto"/>
                <a:ea typeface="Roboto"/>
                <a:cs typeface="Roboto"/>
                <a:sym typeface="Roboto"/>
              </a:rPr>
              <a:t>KARATSUBA ALGORITHM</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292929"/>
              </a:buClr>
              <a:buSzPts val="1800"/>
              <a:buFont typeface="Arial"/>
              <a:buNone/>
            </a:pPr>
            <a:r>
              <a:rPr b="0" i="0" lang="en-US" sz="1400" u="none" cap="none" strike="noStrike">
                <a:solidFill>
                  <a:srgbClr val="292929"/>
                </a:solidFill>
                <a:latin typeface="Roboto"/>
                <a:ea typeface="Roboto"/>
                <a:cs typeface="Roboto"/>
                <a:sym typeface="Roboto"/>
              </a:rPr>
              <a:t>Let’s consider two 4-digit numbers x and y where x=1234 and y=5678.</a:t>
            </a:r>
            <a:endParaRPr b="0" i="0" sz="14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292929"/>
              </a:buClr>
              <a:buSzPts val="1800"/>
              <a:buFont typeface="Arial"/>
              <a:buNone/>
            </a:pPr>
            <a:r>
              <a:rPr b="0" i="0" lang="en-US" sz="1400" u="none" cap="none" strike="noStrike">
                <a:solidFill>
                  <a:srgbClr val="292929"/>
                </a:solidFill>
                <a:latin typeface="Roboto"/>
                <a:ea typeface="Roboto"/>
                <a:cs typeface="Roboto"/>
                <a:sym typeface="Roboto"/>
              </a:rPr>
              <a:t>First of all, we should divide the n-digit numbers into n/2-digit numbers as shown below.</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121" name="Google Shape;121;p21"/>
          <p:cNvPicPr preferRelativeResize="0"/>
          <p:nvPr/>
        </p:nvPicPr>
        <p:blipFill rotWithShape="1">
          <a:blip r:embed="rId3">
            <a:alphaModFix/>
          </a:blip>
          <a:srcRect b="0" l="0" r="0" t="0"/>
          <a:stretch/>
        </p:blipFill>
        <p:spPr>
          <a:xfrm>
            <a:off x="1707858" y="1978491"/>
            <a:ext cx="5848350" cy="1419225"/>
          </a:xfrm>
          <a:prstGeom prst="rect">
            <a:avLst/>
          </a:prstGeom>
          <a:noFill/>
          <a:ln>
            <a:noFill/>
          </a:ln>
        </p:spPr>
      </p:pic>
      <p:sp>
        <p:nvSpPr>
          <p:cNvPr id="122" name="Google Shape;122;p21"/>
          <p:cNvSpPr txBox="1"/>
          <p:nvPr/>
        </p:nvSpPr>
        <p:spPr>
          <a:xfrm>
            <a:off x="944820" y="3764510"/>
            <a:ext cx="7155180" cy="738623"/>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292929"/>
              </a:buClr>
              <a:buSzPts val="1600"/>
              <a:buFont typeface="Arial"/>
              <a:buNone/>
            </a:pPr>
            <a:r>
              <a:rPr b="0" i="0" lang="en-US" sz="1400" u="none" cap="none" strike="noStrike">
                <a:solidFill>
                  <a:srgbClr val="292929"/>
                </a:solidFill>
                <a:latin typeface="Roboto"/>
                <a:ea typeface="Roboto"/>
                <a:cs typeface="Roboto"/>
                <a:sym typeface="Roboto"/>
              </a:rPr>
              <a:t>a and c represent the first n/2 digits of x and y</a:t>
            </a:r>
            <a:r>
              <a:rPr b="0" i="1" lang="en-US" sz="1400" u="none" cap="none" strike="noStrike">
                <a:solidFill>
                  <a:srgbClr val="292929"/>
                </a:solidFill>
                <a:latin typeface="Roboto"/>
                <a:ea typeface="Roboto"/>
                <a:cs typeface="Roboto"/>
                <a:sym typeface="Roboto"/>
              </a:rPr>
              <a:t>. </a:t>
            </a:r>
            <a:r>
              <a:rPr b="0" i="0" lang="en-US" sz="1400" u="none" cap="none" strike="noStrike">
                <a:solidFill>
                  <a:srgbClr val="292929"/>
                </a:solidFill>
                <a:latin typeface="Roboto"/>
                <a:ea typeface="Roboto"/>
                <a:cs typeface="Roboto"/>
                <a:sym typeface="Roboto"/>
              </a:rPr>
              <a:t>Similarly, b and d represent the last n/2 digits of x and y</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28" name="Google Shape;128;p22"/>
          <p:cNvSpPr/>
          <p:nvPr/>
        </p:nvSpPr>
        <p:spPr>
          <a:xfrm>
            <a:off x="799560" y="915840"/>
            <a:ext cx="7544880" cy="15696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9600"/>
              <a:buFont typeface="Arial"/>
              <a:buNone/>
            </a:pPr>
            <a:r>
              <a:rPr b="0" i="0" lang="en-US" sz="9600" u="none" cap="none" strike="noStrike">
                <a:solidFill>
                  <a:schemeClr val="dk1"/>
                </a:solidFill>
                <a:latin typeface="Roboto"/>
                <a:ea typeface="Roboto"/>
                <a:cs typeface="Roboto"/>
                <a:sym typeface="Roboto"/>
              </a:rPr>
              <a:t>       </a:t>
            </a:r>
            <a:endParaRPr b="0" i="0" sz="1200" u="none" cap="none" strike="noStrike">
              <a:solidFill>
                <a:schemeClr val="dk1"/>
              </a:solidFill>
              <a:latin typeface="Roboto"/>
              <a:ea typeface="Roboto"/>
              <a:cs typeface="Roboto"/>
              <a:sym typeface="Roboto"/>
            </a:endParaRPr>
          </a:p>
        </p:txBody>
      </p:sp>
      <p:sp>
        <p:nvSpPr>
          <p:cNvPr id="129" name="Google Shape;129;p22"/>
          <p:cNvSpPr txBox="1"/>
          <p:nvPr/>
        </p:nvSpPr>
        <p:spPr>
          <a:xfrm>
            <a:off x="686439" y="990235"/>
            <a:ext cx="7452341"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The Karatsuba algorithm involves 4 main steps</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30" name="Google Shape;130;p22"/>
          <p:cNvSpPr txBox="1"/>
          <p:nvPr/>
        </p:nvSpPr>
        <p:spPr>
          <a:xfrm>
            <a:off x="799559" y="1472635"/>
            <a:ext cx="7378001" cy="1384954"/>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1: Compute a.c = 12 x 56 = 672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2: Compute b.d = 34 x 78 = 2652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3: Compute (a+b)(c+d) = 46 x 134 = 6164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Step 4: Compute (3)-(2)-(1)=6164-2652-672 = 2840</a:t>
            </a:r>
            <a:endParaRPr b="0" i="0" sz="1400" u="none" cap="none" strike="noStrike">
              <a:solidFill>
                <a:schemeClr val="dk1"/>
              </a:solidFill>
              <a:latin typeface="Roboto"/>
              <a:ea typeface="Roboto"/>
              <a:cs typeface="Roboto"/>
              <a:sym typeface="Roboto"/>
            </a:endParaRPr>
          </a:p>
        </p:txBody>
      </p:sp>
      <p:sp>
        <p:nvSpPr>
          <p:cNvPr id="131" name="Google Shape;131;p22"/>
          <p:cNvSpPr txBox="1"/>
          <p:nvPr/>
        </p:nvSpPr>
        <p:spPr>
          <a:xfrm>
            <a:off x="1070517" y="3168435"/>
            <a:ext cx="7378001" cy="73862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Finally, multiply the output of step 1 by 10</a:t>
            </a:r>
            <a:r>
              <a:rPr b="0" baseline="30000" i="0" lang="en-US" sz="1400" u="none" cap="none" strike="noStrike">
                <a:solidFill>
                  <a:schemeClr val="dk1"/>
                </a:solidFill>
                <a:latin typeface="Roboto"/>
                <a:ea typeface="Roboto"/>
                <a:cs typeface="Roboto"/>
                <a:sym typeface="Roboto"/>
              </a:rPr>
              <a:t>n</a:t>
            </a:r>
            <a:r>
              <a:rPr b="0" i="0" lang="en-US" sz="1400" u="none" cap="none" strike="noStrike">
                <a:solidFill>
                  <a:schemeClr val="dk1"/>
                </a:solidFill>
                <a:latin typeface="Roboto"/>
                <a:ea typeface="Roboto"/>
                <a:cs typeface="Roboto"/>
                <a:sym typeface="Roboto"/>
              </a:rPr>
              <a:t>, the output of step 4 by 10</a:t>
            </a:r>
            <a:r>
              <a:rPr b="0" baseline="30000" i="0" lang="en-US" sz="1400" u="none" cap="none" strike="noStrike">
                <a:solidFill>
                  <a:schemeClr val="dk1"/>
                </a:solidFill>
                <a:latin typeface="Roboto"/>
                <a:ea typeface="Roboto"/>
                <a:cs typeface="Roboto"/>
                <a:sym typeface="Roboto"/>
              </a:rPr>
              <a:t>n/2</a:t>
            </a:r>
            <a:r>
              <a:rPr b="0" i="0" lang="en-US" sz="1400" u="none" cap="none" strike="noStrike">
                <a:solidFill>
                  <a:schemeClr val="dk1"/>
                </a:solidFill>
                <a:latin typeface="Roboto"/>
                <a:ea typeface="Roboto"/>
                <a:cs typeface="Roboto"/>
                <a:sym typeface="Roboto"/>
              </a:rPr>
              <a:t>, and add them both with the output of step 2.</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Roboto"/>
                <a:ea typeface="Roboto"/>
                <a:cs typeface="Roboto"/>
                <a:sym typeface="Roboto"/>
              </a:rPr>
              <a:t>             6720000 + 284000 + 2652 = 7006652</a:t>
            </a:r>
            <a:endParaRPr b="0" i="0" sz="1400" u="none" cap="none" strike="noStrike">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37" name="Google Shape;137;p24"/>
          <p:cNvSpPr/>
          <p:nvPr/>
        </p:nvSpPr>
        <p:spPr>
          <a:xfrm>
            <a:off x="555120" y="915840"/>
            <a:ext cx="7544880" cy="7694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p:txBody>
      </p:sp>
      <p:sp>
        <p:nvSpPr>
          <p:cNvPr id="138" name="Google Shape;138;p24"/>
          <p:cNvSpPr txBox="1"/>
          <p:nvPr/>
        </p:nvSpPr>
        <p:spPr>
          <a:xfrm>
            <a:off x="555120" y="1683714"/>
            <a:ext cx="8158060" cy="3000781"/>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Steps:</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1: Compute a.c = 12 x 23 = 276</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2: Compute b.d = 34 x 45 = 1530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3: Compute (a+b)(c+d) = 46 x 68 = 3128</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4: Compute (3) - (2) - (1) = 3128 - 1530 - 276 = 1322</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Finally, multiply the output of step 1 by 10000 (10</a:t>
            </a:r>
            <a:r>
              <a:rPr b="0" baseline="30000" i="0" lang="en-US" sz="1400" u="none" cap="none" strike="noStrike">
                <a:solidFill>
                  <a:srgbClr val="000000"/>
                </a:solidFill>
                <a:latin typeface="Roboto"/>
                <a:ea typeface="Roboto"/>
                <a:cs typeface="Roboto"/>
                <a:sym typeface="Roboto"/>
              </a:rPr>
              <a:t>4</a:t>
            </a:r>
            <a:r>
              <a:rPr b="0" i="0" lang="en-US" sz="1400" u="none" cap="none" strike="noStrike">
                <a:solidFill>
                  <a:srgbClr val="000000"/>
                </a:solidFill>
                <a:latin typeface="Roboto"/>
                <a:ea typeface="Roboto"/>
                <a:cs typeface="Roboto"/>
                <a:sym typeface="Roboto"/>
              </a:rPr>
              <a:t>), the output of step 4 by 100 (10</a:t>
            </a:r>
            <a:r>
              <a:rPr b="0" baseline="30000" i="0" lang="en-US" sz="1400" u="none" cap="none" strike="noStrike">
                <a:solidFill>
                  <a:srgbClr val="000000"/>
                </a:solidFill>
                <a:latin typeface="Roboto"/>
                <a:ea typeface="Roboto"/>
                <a:cs typeface="Roboto"/>
                <a:sym typeface="Roboto"/>
              </a:rPr>
              <a:t>2</a:t>
            </a:r>
            <a:r>
              <a:rPr b="0" i="0" lang="en-US" sz="1400" u="none" cap="none" strike="noStrike">
                <a:solidFill>
                  <a:srgbClr val="000000"/>
                </a:solidFill>
                <a:latin typeface="Roboto"/>
                <a:ea typeface="Roboto"/>
                <a:cs typeface="Roboto"/>
                <a:sym typeface="Roboto"/>
              </a:rPr>
              <a:t>), and add them both with the output of step 2.</a:t>
            </a:r>
            <a:endParaRPr b="0" i="0" sz="1400" u="none" cap="none" strike="noStrike">
              <a:solidFill>
                <a:srgbClr val="000000"/>
              </a:solidFill>
              <a:latin typeface="Roboto"/>
              <a:ea typeface="Roboto"/>
              <a:cs typeface="Roboto"/>
              <a:sym typeface="Roboto"/>
            </a:endParaRPr>
          </a:p>
          <a:p>
            <a:pPr indent="0" lvl="0" marL="0" marR="0" rtl="0" algn="ctr">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Result: 2760000 + 132200 + 1530 =</a:t>
            </a:r>
            <a:r>
              <a:rPr b="0" i="0" lang="en-US" sz="1400" u="none" cap="none" strike="noStrike">
                <a:solidFill>
                  <a:srgbClr val="202124"/>
                </a:solidFill>
                <a:latin typeface="Roboto"/>
                <a:ea typeface="Roboto"/>
                <a:cs typeface="Roboto"/>
                <a:sym typeface="Roboto"/>
              </a:rPr>
              <a:t> 2893730</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The product of 1234 and 2345 using the Karatsuba algorithm is 2897730.</a:t>
            </a:r>
            <a:endParaRPr b="0" i="0" sz="1400" u="none" cap="none" strike="noStrike">
              <a:solidFill>
                <a:srgbClr val="000000"/>
              </a:solidFill>
              <a:latin typeface="Roboto"/>
              <a:ea typeface="Roboto"/>
              <a:cs typeface="Roboto"/>
              <a:sym typeface="Roboto"/>
            </a:endParaRPr>
          </a:p>
        </p:txBody>
      </p:sp>
      <p:sp>
        <p:nvSpPr>
          <p:cNvPr id="139" name="Google Shape;139;p24"/>
          <p:cNvSpPr txBox="1"/>
          <p:nvPr/>
        </p:nvSpPr>
        <p:spPr>
          <a:xfrm>
            <a:off x="3016405" y="1325389"/>
            <a:ext cx="17265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X =</a:t>
            </a:r>
            <a:endParaRPr b="0" i="0" sz="1800" u="none" cap="none" strike="noStrike">
              <a:solidFill>
                <a:srgbClr val="000000"/>
              </a:solidFill>
              <a:latin typeface="Roboto"/>
              <a:ea typeface="Roboto"/>
              <a:cs typeface="Roboto"/>
              <a:sym typeface="Roboto"/>
            </a:endParaRPr>
          </a:p>
        </p:txBody>
      </p:sp>
      <p:sp>
        <p:nvSpPr>
          <p:cNvPr id="140" name="Google Shape;140;p24"/>
          <p:cNvSpPr txBox="1"/>
          <p:nvPr/>
        </p:nvSpPr>
        <p:spPr>
          <a:xfrm>
            <a:off x="4869494" y="1297098"/>
            <a:ext cx="667205"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Y</a:t>
            </a:r>
            <a:r>
              <a:rPr b="0" i="0" lang="en-US" sz="1600" u="none" cap="none" strike="noStrike">
                <a:solidFill>
                  <a:srgbClr val="000000"/>
                </a:solidFill>
                <a:latin typeface="Roboto"/>
                <a:ea typeface="Roboto"/>
                <a:cs typeface="Roboto"/>
                <a:sym typeface="Roboto"/>
              </a:rPr>
              <a:t> =</a:t>
            </a:r>
            <a:endParaRPr b="0" i="0" sz="1600" u="none" cap="none" strike="noStrike">
              <a:solidFill>
                <a:srgbClr val="000000"/>
              </a:solidFill>
              <a:latin typeface="Roboto"/>
              <a:ea typeface="Roboto"/>
              <a:cs typeface="Roboto"/>
              <a:sym typeface="Roboto"/>
            </a:endParaRPr>
          </a:p>
        </p:txBody>
      </p:sp>
      <p:graphicFrame>
        <p:nvGraphicFramePr>
          <p:cNvPr id="141" name="Google Shape;141;p24"/>
          <p:cNvGraphicFramePr/>
          <p:nvPr/>
        </p:nvGraphicFramePr>
        <p:xfrm>
          <a:off x="3593083" y="1306797"/>
          <a:ext cx="3000000" cy="3000000"/>
        </p:xfrm>
        <a:graphic>
          <a:graphicData uri="http://schemas.openxmlformats.org/drawingml/2006/table">
            <a:tbl>
              <a:tblPr bandRow="1" firstRow="1">
                <a:gradFill>
                  <a:gsLst>
                    <a:gs pos="0">
                      <a:srgbClr val="FFD17D"/>
                    </a:gs>
                    <a:gs pos="35000">
                      <a:srgbClr val="FFDCA3"/>
                    </a:gs>
                    <a:gs pos="100000">
                      <a:srgbClr val="FFF1D8"/>
                    </a:gs>
                  </a:gsLst>
                  <a:lin ang="16200000" scaled="0"/>
                </a:gradFill>
                <a:tableStyleId>{BC60D73B-C6C6-4D80-B2F7-307A12A392E5}</a:tableStyleId>
              </a:tblPr>
              <a:tblGrid>
                <a:gridCol w="420025"/>
                <a:gridCol w="4200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12</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34</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r>
            </a:tbl>
          </a:graphicData>
        </a:graphic>
      </p:graphicFrame>
      <p:sp>
        <p:nvSpPr>
          <p:cNvPr id="142" name="Google Shape;142;p24"/>
          <p:cNvSpPr txBox="1"/>
          <p:nvPr/>
        </p:nvSpPr>
        <p:spPr>
          <a:xfrm>
            <a:off x="3629825" y="989321"/>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sp>
        <p:nvSpPr>
          <p:cNvPr id="143" name="Google Shape;143;p24"/>
          <p:cNvSpPr txBox="1"/>
          <p:nvPr/>
        </p:nvSpPr>
        <p:spPr>
          <a:xfrm>
            <a:off x="4110992" y="1007493"/>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t>
            </a:r>
            <a:endParaRPr b="0" i="0" sz="1400" u="none" cap="none" strike="noStrike">
              <a:solidFill>
                <a:srgbClr val="000000"/>
              </a:solidFill>
              <a:latin typeface="Roboto"/>
              <a:ea typeface="Roboto"/>
              <a:cs typeface="Roboto"/>
              <a:sym typeface="Roboto"/>
            </a:endParaRPr>
          </a:p>
        </p:txBody>
      </p:sp>
      <p:graphicFrame>
        <p:nvGraphicFramePr>
          <p:cNvPr id="144" name="Google Shape;144;p24"/>
          <p:cNvGraphicFramePr/>
          <p:nvPr/>
        </p:nvGraphicFramePr>
        <p:xfrm>
          <a:off x="5445561" y="1287600"/>
          <a:ext cx="3000000" cy="3000000"/>
        </p:xfrm>
        <a:graphic>
          <a:graphicData uri="http://schemas.openxmlformats.org/drawingml/2006/table">
            <a:tbl>
              <a:tblPr bandRow="1" firstRow="1">
                <a:noFill/>
                <a:tableStyleId>{BC60D73B-C6C6-4D80-B2F7-307A12A392E5}</a:tableStyleId>
              </a:tblPr>
              <a:tblGrid>
                <a:gridCol w="428950"/>
                <a:gridCol w="4200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0" lang="en-US" sz="1400" u="none" cap="none" strike="noStrike">
                          <a:solidFill>
                            <a:schemeClr val="dk1"/>
                          </a:solidFill>
                          <a:latin typeface="Roboto"/>
                          <a:ea typeface="Roboto"/>
                          <a:cs typeface="Roboto"/>
                          <a:sym typeface="Roboto"/>
                        </a:rPr>
                        <a:t>23</a:t>
                      </a:r>
                      <a:endParaRPr sz="1400" u="none" cap="none" strike="noStrike"/>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45</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r>
            </a:tbl>
          </a:graphicData>
        </a:graphic>
      </p:graphicFrame>
      <p:sp>
        <p:nvSpPr>
          <p:cNvPr id="145" name="Google Shape;145;p24"/>
          <p:cNvSpPr txBox="1"/>
          <p:nvPr/>
        </p:nvSpPr>
        <p:spPr>
          <a:xfrm>
            <a:off x="5943612" y="983380"/>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
            </a:r>
            <a:endParaRPr b="0" i="0" sz="1400" u="none" cap="none" strike="noStrike">
              <a:solidFill>
                <a:srgbClr val="000000"/>
              </a:solidFill>
              <a:latin typeface="Roboto"/>
              <a:ea typeface="Roboto"/>
              <a:cs typeface="Roboto"/>
              <a:sym typeface="Roboto"/>
            </a:endParaRPr>
          </a:p>
        </p:txBody>
      </p:sp>
      <p:sp>
        <p:nvSpPr>
          <p:cNvPr id="146" name="Google Shape;146;p24"/>
          <p:cNvSpPr txBox="1"/>
          <p:nvPr/>
        </p:nvSpPr>
        <p:spPr>
          <a:xfrm>
            <a:off x="5532496" y="982284"/>
            <a:ext cx="303308"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c</a:t>
            </a:r>
            <a:endParaRPr b="0" i="0" sz="1400" u="none" cap="none" strike="noStrike">
              <a:solidFill>
                <a:srgbClr val="000000"/>
              </a:solidFill>
              <a:latin typeface="Roboto"/>
              <a:ea typeface="Roboto"/>
              <a:cs typeface="Roboto"/>
              <a:sym typeface="Roboto"/>
            </a:endParaRPr>
          </a:p>
        </p:txBody>
      </p:sp>
      <p:sp>
        <p:nvSpPr>
          <p:cNvPr id="147" name="Google Shape;147;p24"/>
          <p:cNvSpPr txBox="1"/>
          <p:nvPr/>
        </p:nvSpPr>
        <p:spPr>
          <a:xfrm>
            <a:off x="487663" y="770886"/>
            <a:ext cx="644599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Roboto"/>
                <a:ea typeface="Roboto"/>
                <a:cs typeface="Roboto"/>
                <a:sym typeface="Roboto"/>
              </a:rPr>
              <a:t>To multiply X = 1234 and Y = 2345 using the Karatsuba algorithm</a:t>
            </a:r>
            <a:endParaRPr b="1" i="0" sz="1400" u="none" cap="none" strike="noStrike">
              <a:solidFill>
                <a:srgbClr val="000000"/>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5"/>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53" name="Google Shape;153;p25"/>
          <p:cNvSpPr/>
          <p:nvPr/>
        </p:nvSpPr>
        <p:spPr>
          <a:xfrm>
            <a:off x="555120" y="915840"/>
            <a:ext cx="7544880" cy="7694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Roboto"/>
              <a:ea typeface="Roboto"/>
              <a:cs typeface="Roboto"/>
              <a:sym typeface="Roboto"/>
            </a:endParaRPr>
          </a:p>
        </p:txBody>
      </p:sp>
      <p:sp>
        <p:nvSpPr>
          <p:cNvPr id="154" name="Google Shape;154;p25"/>
          <p:cNvSpPr txBox="1"/>
          <p:nvPr/>
        </p:nvSpPr>
        <p:spPr>
          <a:xfrm>
            <a:off x="572379" y="1819266"/>
            <a:ext cx="8158060" cy="2677616"/>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1: Compute a.c = 2 x 6 = 12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2: Compute b.d = 3 x 7 = 21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3: Compute (a+b)(c+d) = (2+3)(6+7) = 5 x 13 = 65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Step 4: Compute (3) - (2) - (1) = 65 - 21 - 12 = 32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Finally, multiply the output of Step 1 by 10^n (where n is the number of digits), the output of Step 4 by 10^n/2, and add them both with the output of Step 2. </a:t>
            </a:r>
            <a:endParaRPr b="0" i="0" sz="1400" u="none" cap="none" strike="noStrike">
              <a:solidFill>
                <a:srgbClr val="000000"/>
              </a:solidFill>
              <a:latin typeface="Roboto"/>
              <a:ea typeface="Roboto"/>
              <a:cs typeface="Roboto"/>
              <a:sym typeface="Roboto"/>
            </a:endParaRPr>
          </a:p>
          <a:p>
            <a:pPr indent="0" lvl="0" marL="0" marR="0" rtl="0" algn="ctr">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1200 + 320 + 21 = 1541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product of 23 and 67 using the Karatsuba algorithm is 1541.</a:t>
            </a:r>
            <a:endParaRPr b="0" i="0" sz="1400" u="none" cap="none" strike="noStrike">
              <a:solidFill>
                <a:srgbClr val="000000"/>
              </a:solidFill>
              <a:latin typeface="Roboto"/>
              <a:ea typeface="Roboto"/>
              <a:cs typeface="Roboto"/>
              <a:sym typeface="Roboto"/>
            </a:endParaRPr>
          </a:p>
        </p:txBody>
      </p:sp>
      <p:sp>
        <p:nvSpPr>
          <p:cNvPr id="155" name="Google Shape;155;p25"/>
          <p:cNvSpPr txBox="1"/>
          <p:nvPr/>
        </p:nvSpPr>
        <p:spPr>
          <a:xfrm>
            <a:off x="3629825" y="989321"/>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t>
            </a:r>
            <a:endParaRPr b="0" i="0" sz="1400" u="none" cap="none" strike="noStrike">
              <a:solidFill>
                <a:srgbClr val="000000"/>
              </a:solidFill>
              <a:latin typeface="Roboto"/>
              <a:ea typeface="Roboto"/>
              <a:cs typeface="Roboto"/>
              <a:sym typeface="Roboto"/>
            </a:endParaRPr>
          </a:p>
        </p:txBody>
      </p:sp>
      <p:graphicFrame>
        <p:nvGraphicFramePr>
          <p:cNvPr id="156" name="Google Shape;156;p25"/>
          <p:cNvGraphicFramePr/>
          <p:nvPr/>
        </p:nvGraphicFramePr>
        <p:xfrm>
          <a:off x="3593083" y="1306797"/>
          <a:ext cx="3000000" cy="3000000"/>
        </p:xfrm>
        <a:graphic>
          <a:graphicData uri="http://schemas.openxmlformats.org/drawingml/2006/table">
            <a:tbl>
              <a:tblPr bandRow="1" firstRow="1">
                <a:noFill/>
                <a:tableStyleId>{BC60D73B-C6C6-4D80-B2F7-307A12A392E5}</a:tableStyleId>
              </a:tblPr>
              <a:tblGrid>
                <a:gridCol w="420025"/>
                <a:gridCol w="4200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 2</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3</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r>
            </a:tbl>
          </a:graphicData>
        </a:graphic>
      </p:graphicFrame>
      <p:graphicFrame>
        <p:nvGraphicFramePr>
          <p:cNvPr id="157" name="Google Shape;157;p25"/>
          <p:cNvGraphicFramePr/>
          <p:nvPr/>
        </p:nvGraphicFramePr>
        <p:xfrm>
          <a:off x="5230125" y="1321249"/>
          <a:ext cx="3000000" cy="3000000"/>
        </p:xfrm>
        <a:graphic>
          <a:graphicData uri="http://schemas.openxmlformats.org/drawingml/2006/table">
            <a:tbl>
              <a:tblPr bandRow="1" firstRow="1">
                <a:noFill/>
                <a:tableStyleId>{BC60D73B-C6C6-4D80-B2F7-307A12A392E5}</a:tableStyleId>
              </a:tblPr>
              <a:tblGrid>
                <a:gridCol w="420025"/>
                <a:gridCol w="420025"/>
              </a:tblGrid>
              <a:tr h="370850">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6</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7</a:t>
                      </a:r>
                      <a:endParaRPr sz="1400" u="none" cap="none" strike="noStrike">
                        <a:latin typeface="Roboto"/>
                        <a:ea typeface="Roboto"/>
                        <a:cs typeface="Roboto"/>
                        <a:sym typeface="Roboto"/>
                      </a:endParaRPr>
                    </a:p>
                  </a:txBody>
                  <a:tcPr marT="45725" marB="45725" marR="91450" marL="91450">
                    <a:lnL cap="flat" cmpd="sng" w="12700">
                      <a:solidFill>
                        <a:schemeClr val="dk1"/>
                      </a:solidFill>
                      <a:prstDash val="dashDot"/>
                      <a:round/>
                      <a:headEnd len="sm" w="sm" type="none"/>
                      <a:tailEnd len="sm" w="sm" type="none"/>
                    </a:lnL>
                    <a:lnR cap="flat" cmpd="sng" w="12700">
                      <a:solidFill>
                        <a:schemeClr val="dk1"/>
                      </a:solidFill>
                      <a:prstDash val="dashDot"/>
                      <a:round/>
                      <a:headEnd len="sm" w="sm" type="none"/>
                      <a:tailEnd len="sm" w="sm" type="none"/>
                    </a:lnR>
                    <a:lnT cap="flat" cmpd="sng" w="12700">
                      <a:solidFill>
                        <a:schemeClr val="dk1"/>
                      </a:solidFill>
                      <a:prstDash val="dashDot"/>
                      <a:round/>
                      <a:headEnd len="sm" w="sm" type="none"/>
                      <a:tailEnd len="sm" w="sm" type="none"/>
                    </a:lnT>
                    <a:lnB cap="flat" cmpd="sng" w="12700">
                      <a:solidFill>
                        <a:schemeClr val="dk1"/>
                      </a:solidFill>
                      <a:prstDash val="dashDot"/>
                      <a:round/>
                      <a:headEnd len="sm" w="sm" type="none"/>
                      <a:tailEnd len="sm" w="sm" type="none"/>
                    </a:lnB>
                  </a:tcPr>
                </a:tc>
              </a:tr>
            </a:tbl>
          </a:graphicData>
        </a:graphic>
      </p:graphicFrame>
      <p:sp>
        <p:nvSpPr>
          <p:cNvPr id="158" name="Google Shape;158;p25"/>
          <p:cNvSpPr txBox="1"/>
          <p:nvPr/>
        </p:nvSpPr>
        <p:spPr>
          <a:xfrm>
            <a:off x="4073363" y="979702"/>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t>
            </a:r>
            <a:endParaRPr b="0" i="0" sz="1400" u="none" cap="none" strike="noStrike">
              <a:solidFill>
                <a:srgbClr val="000000"/>
              </a:solidFill>
              <a:latin typeface="Roboto"/>
              <a:ea typeface="Roboto"/>
              <a:cs typeface="Roboto"/>
              <a:sym typeface="Roboto"/>
            </a:endParaRPr>
          </a:p>
        </p:txBody>
      </p:sp>
      <p:sp>
        <p:nvSpPr>
          <p:cNvPr id="159" name="Google Shape;159;p25"/>
          <p:cNvSpPr txBox="1"/>
          <p:nvPr/>
        </p:nvSpPr>
        <p:spPr>
          <a:xfrm>
            <a:off x="5250737" y="1043022"/>
            <a:ext cx="27443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c</a:t>
            </a:r>
            <a:endParaRPr b="0" i="0" sz="1400" u="none" cap="none" strike="noStrike">
              <a:solidFill>
                <a:srgbClr val="000000"/>
              </a:solidFill>
              <a:latin typeface="Roboto"/>
              <a:ea typeface="Roboto"/>
              <a:cs typeface="Roboto"/>
              <a:sym typeface="Roboto"/>
            </a:endParaRPr>
          </a:p>
        </p:txBody>
      </p:sp>
      <p:sp>
        <p:nvSpPr>
          <p:cNvPr id="160" name="Google Shape;160;p25"/>
          <p:cNvSpPr txBox="1"/>
          <p:nvPr/>
        </p:nvSpPr>
        <p:spPr>
          <a:xfrm>
            <a:off x="5694275" y="992763"/>
            <a:ext cx="28405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
            </a:r>
            <a:endParaRPr b="0" i="0" sz="1400" u="none" cap="none" strike="noStrike">
              <a:solidFill>
                <a:srgbClr val="000000"/>
              </a:solidFill>
              <a:latin typeface="Roboto"/>
              <a:ea typeface="Roboto"/>
              <a:cs typeface="Roboto"/>
              <a:sym typeface="Roboto"/>
            </a:endParaRPr>
          </a:p>
        </p:txBody>
      </p:sp>
      <p:sp>
        <p:nvSpPr>
          <p:cNvPr id="161" name="Google Shape;161;p25"/>
          <p:cNvSpPr txBox="1"/>
          <p:nvPr/>
        </p:nvSpPr>
        <p:spPr>
          <a:xfrm>
            <a:off x="3016405" y="1325389"/>
            <a:ext cx="17265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X =</a:t>
            </a:r>
            <a:endParaRPr b="0" i="0" sz="1800" u="none" cap="none" strike="noStrike">
              <a:solidFill>
                <a:srgbClr val="000000"/>
              </a:solidFill>
              <a:latin typeface="Roboto"/>
              <a:ea typeface="Roboto"/>
              <a:cs typeface="Roboto"/>
              <a:sym typeface="Roboto"/>
            </a:endParaRPr>
          </a:p>
        </p:txBody>
      </p:sp>
      <p:sp>
        <p:nvSpPr>
          <p:cNvPr id="162" name="Google Shape;162;p25"/>
          <p:cNvSpPr txBox="1"/>
          <p:nvPr/>
        </p:nvSpPr>
        <p:spPr>
          <a:xfrm>
            <a:off x="4572000" y="1293315"/>
            <a:ext cx="172658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Y =</a:t>
            </a:r>
            <a:endParaRPr b="0" i="0" sz="1800" u="none" cap="none" strike="noStrike">
              <a:solidFill>
                <a:srgbClr val="000000"/>
              </a:solidFill>
              <a:latin typeface="Roboto"/>
              <a:ea typeface="Roboto"/>
              <a:cs typeface="Roboto"/>
              <a:sym typeface="Roboto"/>
            </a:endParaRPr>
          </a:p>
        </p:txBody>
      </p:sp>
      <p:sp>
        <p:nvSpPr>
          <p:cNvPr id="163" name="Google Shape;163;p25"/>
          <p:cNvSpPr txBox="1"/>
          <p:nvPr/>
        </p:nvSpPr>
        <p:spPr>
          <a:xfrm>
            <a:off x="487663" y="770886"/>
            <a:ext cx="7253909" cy="33855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chemeClr val="dk1"/>
                </a:solidFill>
                <a:latin typeface="Roboto"/>
                <a:ea typeface="Roboto"/>
                <a:cs typeface="Roboto"/>
                <a:sym typeface="Roboto"/>
              </a:rPr>
              <a:t>compute the product of 23 and 67 using the Karatsuba algorithm.</a:t>
            </a:r>
            <a:endParaRPr b="1" i="0" sz="1600" u="none" cap="none" strike="noStrike">
              <a:solidFill>
                <a:schemeClr val="dk1"/>
              </a:solidFill>
              <a:latin typeface="Roboto"/>
              <a:ea typeface="Roboto"/>
              <a:cs typeface="Roboto"/>
              <a:sym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5"/>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69" name="Google Shape;169;p35"/>
          <p:cNvSpPr/>
          <p:nvPr/>
        </p:nvSpPr>
        <p:spPr>
          <a:xfrm>
            <a:off x="555120" y="915840"/>
            <a:ext cx="7544880" cy="403183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TIME COMPLEXITY</a:t>
            </a:r>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Assuming that we replace two of the multiplications with only one makes the program faster.</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Karatsuba improves the multiplication process by replacing the initial complexity from quadratic to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Where n is the number of digits of the numbers multiplying.</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Time Complexity of the algorithm can be represented as follows</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p:txBody>
      </p:sp>
      <p:pic>
        <p:nvPicPr>
          <p:cNvPr id="170" name="Google Shape;170;p35"/>
          <p:cNvPicPr preferRelativeResize="0"/>
          <p:nvPr/>
        </p:nvPicPr>
        <p:blipFill rotWithShape="1">
          <a:blip r:embed="rId3">
            <a:alphaModFix/>
          </a:blip>
          <a:srcRect b="0" l="0" r="0" t="0"/>
          <a:stretch/>
        </p:blipFill>
        <p:spPr>
          <a:xfrm>
            <a:off x="3401005" y="2784010"/>
            <a:ext cx="1619250" cy="238125"/>
          </a:xfrm>
          <a:prstGeom prst="rect">
            <a:avLst/>
          </a:prstGeom>
          <a:noFill/>
          <a:ln>
            <a:noFill/>
          </a:ln>
        </p:spPr>
      </p:pic>
      <p:pic>
        <p:nvPicPr>
          <p:cNvPr id="171" name="Google Shape;171;p35"/>
          <p:cNvPicPr preferRelativeResize="0"/>
          <p:nvPr/>
        </p:nvPicPr>
        <p:blipFill rotWithShape="1">
          <a:blip r:embed="rId4">
            <a:alphaModFix/>
          </a:blip>
          <a:srcRect b="0" l="0" r="0" t="0"/>
          <a:stretch/>
        </p:blipFill>
        <p:spPr>
          <a:xfrm>
            <a:off x="2865472" y="3973585"/>
            <a:ext cx="2924175" cy="6381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6"/>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77" name="Google Shape;177;p36"/>
          <p:cNvSpPr/>
          <p:nvPr/>
        </p:nvSpPr>
        <p:spPr>
          <a:xfrm>
            <a:off x="555120" y="915840"/>
            <a:ext cx="7544880" cy="52318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TIME COMPLEXITY</a:t>
            </a:r>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pic>
        <p:nvPicPr>
          <p:cNvPr id="178" name="Google Shape;178;p36"/>
          <p:cNvPicPr preferRelativeResize="0"/>
          <p:nvPr/>
        </p:nvPicPr>
        <p:blipFill rotWithShape="1">
          <a:blip r:embed="rId3">
            <a:alphaModFix/>
          </a:blip>
          <a:srcRect b="0" l="0" r="0" t="0"/>
          <a:stretch/>
        </p:blipFill>
        <p:spPr>
          <a:xfrm>
            <a:off x="2745105" y="1301750"/>
            <a:ext cx="2924175" cy="638175"/>
          </a:xfrm>
          <a:prstGeom prst="rect">
            <a:avLst/>
          </a:prstGeom>
          <a:noFill/>
          <a:ln>
            <a:noFill/>
          </a:ln>
        </p:spPr>
      </p:pic>
      <p:pic>
        <p:nvPicPr>
          <p:cNvPr id="179" name="Google Shape;179;p36"/>
          <p:cNvPicPr preferRelativeResize="0"/>
          <p:nvPr/>
        </p:nvPicPr>
        <p:blipFill rotWithShape="1">
          <a:blip r:embed="rId4">
            <a:alphaModFix/>
          </a:blip>
          <a:srcRect b="0" l="0" r="0" t="0"/>
          <a:stretch/>
        </p:blipFill>
        <p:spPr>
          <a:xfrm>
            <a:off x="1842770" y="1860550"/>
            <a:ext cx="4928235" cy="29273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7"/>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85" name="Google Shape;185;p37"/>
          <p:cNvSpPr/>
          <p:nvPr/>
        </p:nvSpPr>
        <p:spPr>
          <a:xfrm>
            <a:off x="766710" y="715128"/>
            <a:ext cx="7121700" cy="34162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400" u="none" cap="none" strike="noStrike">
                <a:solidFill>
                  <a:srgbClr val="000000"/>
                </a:solidFill>
                <a:latin typeface="Roboto"/>
                <a:ea typeface="Roboto"/>
                <a:cs typeface="Roboto"/>
                <a:sym typeface="Roboto"/>
              </a:rPr>
              <a:t>IMPLEMENTATION</a:t>
            </a:r>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 </a:t>
            </a:r>
            <a:endParaRPr b="0" i="0" sz="1400" u="none" cap="none" strike="noStrike">
              <a:solidFill>
                <a:srgbClr val="000000"/>
              </a:solidFill>
              <a:latin typeface="Roboto"/>
              <a:ea typeface="Roboto"/>
              <a:cs typeface="Roboto"/>
              <a:sym typeface="Roboto"/>
            </a:endParaRPr>
          </a:p>
          <a:p>
            <a:pPr indent="0" lvl="0" marL="0" marR="0" rtl="0" algn="l">
              <a:lnSpc>
                <a:spcPct val="150000"/>
              </a:lnSpc>
              <a:spcBef>
                <a:spcPts val="0"/>
              </a:spcBef>
              <a:spcAft>
                <a:spcPts val="0"/>
              </a:spcAft>
              <a:buClr>
                <a:srgbClr val="000000"/>
              </a:buClr>
              <a:buSzPts val="1600"/>
              <a:buFont typeface="Arial"/>
              <a:buNone/>
            </a:pPr>
            <a:r>
              <a:rPr b="1" i="0" lang="en-US" sz="1200" u="none" cap="none" strike="noStrike">
                <a:solidFill>
                  <a:srgbClr val="000000"/>
                </a:solidFill>
                <a:latin typeface="Roboto"/>
                <a:ea typeface="Roboto"/>
                <a:cs typeface="Roboto"/>
                <a:sym typeface="Roboto"/>
              </a:rPr>
              <a:t>ALGORITHM</a:t>
            </a:r>
            <a:endParaRPr/>
          </a:p>
          <a:p>
            <a:pPr indent="-342900" lvl="0" marL="3429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Compute starting set  (a*c)</a:t>
            </a:r>
            <a:endParaRPr b="0" i="0" sz="1400" u="none" cap="none" strike="noStrike">
              <a:solidFill>
                <a:srgbClr val="000000"/>
              </a:solidFill>
              <a:latin typeface="Roboto"/>
              <a:ea typeface="Roboto"/>
              <a:cs typeface="Roboto"/>
              <a:sym typeface="Roboto"/>
            </a:endParaRPr>
          </a:p>
          <a:p>
            <a:pPr indent="-342900" lvl="0" marL="3429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Compute set after starting set may it be ending set (b*d)</a:t>
            </a:r>
            <a:endParaRPr b="0" i="0" sz="1400" u="none" cap="none" strike="noStrike">
              <a:solidFill>
                <a:srgbClr val="000000"/>
              </a:solidFill>
              <a:latin typeface="Roboto"/>
              <a:ea typeface="Roboto"/>
              <a:cs typeface="Roboto"/>
              <a:sym typeface="Roboto"/>
            </a:endParaRPr>
          </a:p>
          <a:p>
            <a:pPr indent="-342900" lvl="0" marL="3429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Compute starting set with ending sets</a:t>
            </a:r>
            <a:r>
              <a:rPr b="0" i="0" lang="en-US" sz="1400" u="none" cap="none" strike="noStrike">
                <a:solidFill>
                  <a:schemeClr val="dk1"/>
                </a:solidFill>
                <a:latin typeface="Roboto"/>
                <a:ea typeface="Roboto"/>
                <a:cs typeface="Roboto"/>
                <a:sym typeface="Roboto"/>
              </a:rPr>
              <a:t> (a+b)(c+d) </a:t>
            </a:r>
            <a:endParaRPr b="0" i="0" sz="1400" u="none" cap="none" strike="noStrike">
              <a:solidFill>
                <a:srgbClr val="000000"/>
              </a:solidFill>
              <a:latin typeface="Roboto"/>
              <a:ea typeface="Roboto"/>
              <a:cs typeface="Roboto"/>
              <a:sym typeface="Roboto"/>
            </a:endParaRPr>
          </a:p>
          <a:p>
            <a:pPr indent="-342900" lvl="0" marL="3429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Subtract values of Step 3 from Step 2 from Step 1</a:t>
            </a:r>
            <a:endParaRPr b="0" i="0" sz="1400" u="none" cap="none" strike="noStrike">
              <a:solidFill>
                <a:srgbClr val="000000"/>
              </a:solidFill>
              <a:latin typeface="Roboto"/>
              <a:ea typeface="Roboto"/>
              <a:cs typeface="Roboto"/>
              <a:sym typeface="Roboto"/>
            </a:endParaRPr>
          </a:p>
          <a:p>
            <a:pPr indent="-342900" lvl="0" marL="3429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Add all the values with the following modifications:-</a:t>
            </a:r>
            <a:endParaRPr b="0" i="0" sz="1400" u="none" cap="none" strike="noStrike">
              <a:solidFill>
                <a:srgbClr val="000000"/>
              </a:solidFill>
              <a:latin typeface="Roboto"/>
              <a:ea typeface="Roboto"/>
              <a:cs typeface="Roboto"/>
              <a:sym typeface="Roboto"/>
            </a:endParaRPr>
          </a:p>
          <a:p>
            <a:pPr indent="-342900" lvl="1" marL="8001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Pad up 10</a:t>
            </a:r>
            <a:r>
              <a:rPr b="0" baseline="30000" i="0" lang="en-US" sz="1400" u="none" cap="none" strike="noStrike">
                <a:solidFill>
                  <a:srgbClr val="000000"/>
                </a:solidFill>
                <a:latin typeface="Roboto"/>
                <a:ea typeface="Roboto"/>
                <a:cs typeface="Roboto"/>
                <a:sym typeface="Roboto"/>
              </a:rPr>
              <a:t>n</a:t>
            </a:r>
            <a:r>
              <a:rPr b="0" i="0" lang="en-US" sz="1400" u="none" cap="none" strike="noStrike">
                <a:solidFill>
                  <a:srgbClr val="000000"/>
                </a:solidFill>
                <a:latin typeface="Roboto"/>
                <a:ea typeface="Roboto"/>
                <a:cs typeface="Roboto"/>
                <a:sym typeface="Roboto"/>
              </a:rPr>
              <a:t> to the number obtained from Step 1</a:t>
            </a:r>
            <a:endParaRPr b="0" i="0" sz="1400" u="none" cap="none" strike="noStrike">
              <a:solidFill>
                <a:srgbClr val="000000"/>
              </a:solidFill>
              <a:latin typeface="Roboto"/>
              <a:ea typeface="Roboto"/>
              <a:cs typeface="Roboto"/>
              <a:sym typeface="Roboto"/>
            </a:endParaRPr>
          </a:p>
          <a:p>
            <a:pPr indent="-342900" lvl="1" marL="8001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Step 2 value unchanged</a:t>
            </a:r>
            <a:endParaRPr b="0" i="0" sz="1400" u="none" cap="none" strike="noStrike">
              <a:solidFill>
                <a:srgbClr val="000000"/>
              </a:solidFill>
              <a:latin typeface="Roboto"/>
              <a:ea typeface="Roboto"/>
              <a:cs typeface="Roboto"/>
              <a:sym typeface="Roboto"/>
            </a:endParaRPr>
          </a:p>
          <a:p>
            <a:pPr indent="-342900" lvl="1" marL="800100" marR="0" rtl="0" algn="l">
              <a:lnSpc>
                <a:spcPct val="150000"/>
              </a:lnSpc>
              <a:spcBef>
                <a:spcPts val="0"/>
              </a:spcBef>
              <a:spcAft>
                <a:spcPts val="0"/>
              </a:spcAft>
              <a:buClr>
                <a:srgbClr val="000000"/>
              </a:buClr>
              <a:buSzPts val="1400"/>
              <a:buFont typeface="Arial"/>
              <a:buAutoNum type="arabicPeriod"/>
            </a:pPr>
            <a:r>
              <a:rPr b="0" i="0" lang="en-US" sz="1400" u="none" cap="none" strike="noStrike">
                <a:solidFill>
                  <a:srgbClr val="000000"/>
                </a:solidFill>
                <a:latin typeface="Roboto"/>
                <a:ea typeface="Roboto"/>
                <a:cs typeface="Roboto"/>
                <a:sym typeface="Roboto"/>
              </a:rPr>
              <a:t>Pad up 10</a:t>
            </a:r>
            <a:r>
              <a:rPr b="0" baseline="30000" i="0" lang="en-US" sz="1400" u="none" cap="none" strike="noStrike">
                <a:solidFill>
                  <a:srgbClr val="000000"/>
                </a:solidFill>
                <a:latin typeface="Roboto"/>
                <a:ea typeface="Roboto"/>
                <a:cs typeface="Roboto"/>
                <a:sym typeface="Roboto"/>
              </a:rPr>
              <a:t>n/2 </a:t>
            </a:r>
            <a:r>
              <a:rPr b="0" i="0" lang="en-US" sz="1400" u="none" cap="none" strike="noStrike">
                <a:solidFill>
                  <a:srgbClr val="000000"/>
                </a:solidFill>
                <a:latin typeface="Roboto"/>
                <a:ea typeface="Roboto"/>
                <a:cs typeface="Roboto"/>
                <a:sym typeface="Roboto"/>
              </a:rPr>
              <a:t>to the value obtained from Step 4.</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8"/>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
        <p:nvSpPr>
          <p:cNvPr id="191" name="Google Shape;191;p38"/>
          <p:cNvSpPr/>
          <p:nvPr/>
        </p:nvSpPr>
        <p:spPr>
          <a:xfrm>
            <a:off x="555120" y="690757"/>
            <a:ext cx="7544880" cy="4031833"/>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Program</a:t>
            </a:r>
            <a:endParaRPr/>
          </a:p>
          <a:p>
            <a:pPr indent="0" lvl="0" marL="0" marR="0" rtl="0" algn="l">
              <a:lnSpc>
                <a:spcPct val="200000"/>
              </a:lnSpc>
              <a:spcBef>
                <a:spcPts val="0"/>
              </a:spcBef>
              <a:spcAft>
                <a:spcPts val="0"/>
              </a:spcAft>
              <a:buClr>
                <a:srgbClr val="000000"/>
              </a:buClr>
              <a:buSzPts val="1600"/>
              <a:buFont typeface="Arial"/>
              <a:buNone/>
            </a:pPr>
            <a:r>
              <a:t/>
            </a:r>
            <a:endParaRPr b="1"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Input</a:t>
            </a:r>
            <a:endParaRPr b="0"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enter number1-12</a:t>
            </a:r>
            <a:endParaRPr/>
          </a:p>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enter number2-12</a:t>
            </a:r>
            <a:endParaRPr/>
          </a:p>
          <a:p>
            <a:pPr indent="0" lvl="0" marL="0" marR="0" rtl="0" algn="l">
              <a:lnSpc>
                <a:spcPct val="2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200000"/>
              </a:lnSpc>
              <a:spcBef>
                <a:spcPts val="0"/>
              </a:spcBef>
              <a:spcAft>
                <a:spcPts val="0"/>
              </a:spcAft>
              <a:buClr>
                <a:srgbClr val="000000"/>
              </a:buClr>
              <a:buSzPts val="1600"/>
              <a:buFont typeface="Arial"/>
              <a:buNone/>
            </a:pPr>
            <a:r>
              <a:rPr b="1" i="0" lang="en-US" sz="1600" u="none" cap="none" strike="noStrike">
                <a:solidFill>
                  <a:srgbClr val="000000"/>
                </a:solidFill>
                <a:latin typeface="Roboto"/>
                <a:ea typeface="Roboto"/>
                <a:cs typeface="Roboto"/>
                <a:sym typeface="Roboto"/>
              </a:rPr>
              <a:t>output</a:t>
            </a:r>
            <a:endParaRPr/>
          </a:p>
          <a:p>
            <a:pPr indent="0" lvl="0" marL="0" marR="0" rtl="0" algn="l">
              <a:lnSpc>
                <a:spcPct val="200000"/>
              </a:lnSpc>
              <a:spcBef>
                <a:spcPts val="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12 * 12 = 144</a:t>
            </a:r>
            <a:endParaRPr b="0" i="0" sz="1600" u="none" cap="none" strike="noStrike">
              <a:solidFill>
                <a:srgbClr val="000000"/>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2ba77f5bb0b_0_0"/>
          <p:cNvSpPr/>
          <p:nvPr/>
        </p:nvSpPr>
        <p:spPr>
          <a:xfrm>
            <a:off x="555120" y="915840"/>
            <a:ext cx="7545000" cy="829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197" name="Google Shape;197;g2ba77f5bb0b_0_0"/>
          <p:cNvGraphicFramePr/>
          <p:nvPr/>
        </p:nvGraphicFramePr>
        <p:xfrm>
          <a:off x="231817" y="532747"/>
          <a:ext cx="3000000" cy="3000000"/>
        </p:xfrm>
        <a:graphic>
          <a:graphicData uri="http://schemas.openxmlformats.org/drawingml/2006/table">
            <a:tbl>
              <a:tblPr bandRow="1" firstRow="1">
                <a:noFill/>
                <a:tableStyleId>{C00F9F5C-10F8-42EA-AFA0-29B8AEF730EE}</a:tableStyleId>
              </a:tblPr>
              <a:tblGrid>
                <a:gridCol w="4340175"/>
                <a:gridCol w="4340175"/>
              </a:tblGrid>
              <a:tr h="4100175">
                <a:tc>
                  <a:txBody>
                    <a:bodyPr/>
                    <a:lstStyle/>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latin typeface="Roboto"/>
                          <a:ea typeface="Roboto"/>
                          <a:cs typeface="Roboto"/>
                          <a:sym typeface="Roboto"/>
                        </a:rPr>
                        <a:t>import java.util.*;</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public class Main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public static int karatsuba(int x, int y)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if (x &lt; 10 || y &lt; 10)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return x * y;</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int m = Math.max(getNumDigits(x), getNumDigits(y));</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halfM = m / 2;</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powerOf10 = (int) Math.pow(10, halfM);</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a = x / powerOf10;</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b = x % powerOf10;</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c = y / powerOf10;</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d = y % powerOf10;</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ac = karatsuba(a, c);</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bd = karatsuba(b, d);</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abcd = karatsuba(a + b, c + d);</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result = ac * (int) Math.pow(10, 2 * halfM) + (abcd - ac - bd) * powerOf10 + bd;</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return result; }</a:t>
                      </a:r>
                      <a:endParaRPr b="0" sz="14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latin typeface="Roboto"/>
                          <a:ea typeface="Roboto"/>
                          <a:cs typeface="Roboto"/>
                          <a:sym typeface="Roboto"/>
                        </a:rPr>
                        <a:t>private static int getNumDigits(int x)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if (x == 0)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return 1;</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count = 0;</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while (x &gt; 0)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count++;</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x /= 10;</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return count;</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public static void main(String[] args) {</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Scanner s1=new Scanner(System.in);</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System.out.print("enter number1-");</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x = s1.nextInt();</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System.out.print("enter number2-");</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y = s1.nextInt();</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int product = karatsuba(x, y);</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System.out.println(x + " * " + y + " = " + product);</a:t>
                      </a:r>
                      <a:endParaRPr b="0" sz="1400" u="none" cap="none" strike="noStrike">
                        <a:solidFill>
                          <a:schemeClr val="dk1"/>
                        </a:solidFill>
                      </a:endParaRPr>
                    </a:p>
                    <a:p>
                      <a:pPr indent="0" lvl="0" marL="0" marR="0" rtl="0" algn="l">
                        <a:lnSpc>
                          <a:spcPct val="100000"/>
                        </a:lnSpc>
                        <a:spcBef>
                          <a:spcPts val="0"/>
                        </a:spcBef>
                        <a:spcAft>
                          <a:spcPts val="0"/>
                        </a:spcAft>
                        <a:buClr>
                          <a:schemeClr val="dk1"/>
                        </a:buClr>
                        <a:buSzPts val="1100"/>
                        <a:buFont typeface="Arial"/>
                        <a:buNone/>
                      </a:pPr>
                      <a:r>
                        <a:rPr b="0" lang="en-US" sz="1400" u="none" cap="none" strike="noStrike">
                          <a:solidFill>
                            <a:schemeClr val="dk1"/>
                          </a:solidFill>
                        </a:rPr>
                        <a:t>    }}</a:t>
                      </a:r>
                      <a:endParaRPr b="0" sz="1400" u="none" cap="none" strike="noStrike">
                        <a:solidFill>
                          <a:schemeClr val="dk1"/>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9"/>
          <p:cNvSpPr/>
          <p:nvPr/>
        </p:nvSpPr>
        <p:spPr>
          <a:xfrm>
            <a:off x="555120" y="915840"/>
            <a:ext cx="7544880" cy="82994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graphicFrame>
        <p:nvGraphicFramePr>
          <p:cNvPr id="203" name="Google Shape;203;p39"/>
          <p:cNvGraphicFramePr/>
          <p:nvPr/>
        </p:nvGraphicFramePr>
        <p:xfrm>
          <a:off x="237892" y="810322"/>
          <a:ext cx="3000000" cy="3000000"/>
        </p:xfrm>
        <a:graphic>
          <a:graphicData uri="http://schemas.openxmlformats.org/drawingml/2006/table">
            <a:tbl>
              <a:tblPr bandRow="1" firstRow="1">
                <a:noFill/>
                <a:tableStyleId>{C00F9F5C-10F8-42EA-AFA0-29B8AEF730EE}</a:tableStyleId>
              </a:tblPr>
              <a:tblGrid>
                <a:gridCol w="4404725"/>
                <a:gridCol w="4404725"/>
              </a:tblGrid>
              <a:tr h="4219850">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import java.math.BigInteger;</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import java.util.Scanner;</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public class KaratsubaAlgorithm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public static BigInteger karatsuba(BigInteger x, BigInteger y)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n = Math.max(x.bitLength(), y.bitLength());</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Base case: if either x or y is small, use standard multiplication</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if (n &lt;= 2000)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return x.multiply(y);</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Split the numbers into two halves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int half = (n + 32) / 64 * 32;  // round up to the nearest multiple of 64 bits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mask = BigInteger.ONE.shiftLeft(half).subtract(BigInteger.ONE);</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xLow = x.and(mask);</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yLow = y.and(mask);</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xHigh = x.shiftRight(half);</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yHigh = y.shiftRight(half);</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BigInteger z0 = karatsuba(xLow, yLow);</a:t>
                      </a:r>
                      <a:endParaRPr sz="1400" u="none" cap="none" strike="noStrike">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z1 = karatsuba(xLow.add(xHigh), yLow.add(yHigh));</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z2 = karatsuba(xHigh, yHigh);</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 Combine the results</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result = z2.shiftLeft(2 * half).add(z1.subtract(z2).subtract(z0).shiftLeft(half)).add(z0);</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return result;</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public static void main(String[] args)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Scanner scanner = new Scanner(System.in);</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System.out.print("Enter the first number: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x = scanner.nextBigInteger();</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System.out.print("Enter the second number: ");</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y = scanner.nextBigInteger();</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BigInteger product = karatsuba(x, y);</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System.out.println("Product: " + product);</a:t>
                      </a:r>
                      <a:endParaRPr sz="1400" u="none" cap="none" strike="noStrike"/>
                    </a:p>
                    <a:p>
                      <a:pPr indent="0" lvl="0" marL="0" marR="0" rtl="0" algn="l">
                        <a:lnSpc>
                          <a:spcPct val="100000"/>
                        </a:lnSpc>
                        <a:spcBef>
                          <a:spcPts val="0"/>
                        </a:spcBef>
                        <a:spcAft>
                          <a:spcPts val="0"/>
                        </a:spcAft>
                        <a:buClr>
                          <a:srgbClr val="000000"/>
                        </a:buClr>
                        <a:buSzPts val="1200"/>
                        <a:buFont typeface="Arial"/>
                        <a:buNone/>
                      </a:pPr>
                      <a:r>
                        <a:rPr b="0" lang="en-US" sz="1200" u="none" cap="none" strike="noStrike">
                          <a:solidFill>
                            <a:schemeClr val="dk1"/>
                          </a:solidFill>
                          <a:latin typeface="Roboto"/>
                          <a:ea typeface="Roboto"/>
                          <a:cs typeface="Roboto"/>
                          <a:sym typeface="Roboto"/>
                        </a:rPr>
                        <a:t>    }}</a:t>
                      </a:r>
                      <a:endParaRPr sz="1400" u="none" cap="none" strike="noStrike"/>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72cce4f963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09" name="Google Shape;209;g272cce4f963_0_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210" name="Google Shape;210;g272cce4f963_0_0"/>
          <p:cNvPicPr preferRelativeResize="0"/>
          <p:nvPr/>
        </p:nvPicPr>
        <p:blipFill rotWithShape="1">
          <a:blip r:embed="rId3">
            <a:alphaModFix/>
          </a:blip>
          <a:srcRect b="0" l="0" r="0" t="0"/>
          <a:stretch/>
        </p:blipFill>
        <p:spPr>
          <a:xfrm>
            <a:off x="0" y="0"/>
            <a:ext cx="9144003" cy="5143501"/>
          </a:xfrm>
          <a:prstGeom prst="rect">
            <a:avLst/>
          </a:prstGeom>
          <a:noFill/>
          <a:ln>
            <a:noFill/>
          </a:ln>
        </p:spPr>
      </p:pic>
      <p:pic>
        <p:nvPicPr>
          <p:cNvPr id="211" name="Google Shape;211;g272cce4f963_0_0"/>
          <p:cNvPicPr preferRelativeResize="0"/>
          <p:nvPr/>
        </p:nvPicPr>
        <p:blipFill rotWithShape="1">
          <a:blip r:embed="rId4">
            <a:alphaModFix/>
          </a:blip>
          <a:srcRect b="0" l="0" r="0" t="0"/>
          <a:stretch/>
        </p:blipFill>
        <p:spPr>
          <a:xfrm>
            <a:off x="0" y="0"/>
            <a:ext cx="9144003" cy="5143501"/>
          </a:xfrm>
          <a:prstGeom prst="rect">
            <a:avLst/>
          </a:prstGeom>
          <a:noFill/>
          <a:ln>
            <a:noFill/>
          </a:ln>
        </p:spPr>
      </p:pic>
      <p:sp>
        <p:nvSpPr>
          <p:cNvPr id="212" name="Google Shape;212;g272cce4f963_0_0"/>
          <p:cNvSpPr txBox="1"/>
          <p:nvPr/>
        </p:nvSpPr>
        <p:spPr>
          <a:xfrm>
            <a:off x="126112" y="2109730"/>
            <a:ext cx="50334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3200"/>
              <a:buFont typeface="Arial"/>
              <a:buNone/>
            </a:pPr>
            <a:r>
              <a:rPr b="1" i="0" lang="en-US" sz="3200" u="none" cap="none" strike="noStrike">
                <a:solidFill>
                  <a:srgbClr val="00B0F0"/>
                </a:solidFill>
                <a:latin typeface="Roboto Black"/>
                <a:ea typeface="Roboto Black"/>
                <a:cs typeface="Roboto Black"/>
                <a:sym typeface="Roboto Black"/>
              </a:rPr>
              <a:t>INTERVIEW QUESTIONS</a:t>
            </a:r>
            <a:endParaRPr/>
          </a:p>
        </p:txBody>
      </p:sp>
      <p:sp>
        <p:nvSpPr>
          <p:cNvPr id="213" name="Google Shape;213;g272cce4f963_0_0"/>
          <p:cNvSpPr txBox="1"/>
          <p:nvPr/>
        </p:nvSpPr>
        <p:spPr>
          <a:xfrm>
            <a:off x="1040780" y="1358649"/>
            <a:ext cx="3204000" cy="307800"/>
          </a:xfrm>
          <a:prstGeom prst="rect">
            <a:avLst/>
          </a:prstGeom>
          <a:noFill/>
          <a:ln>
            <a:noFill/>
          </a:ln>
        </p:spPr>
        <p:txBody>
          <a:bodyPr anchorCtr="0" anchor="t" bIns="45700" lIns="91425" spcFirstLastPara="1" rIns="91425" wrap="square" tIns="45700">
            <a:spAutoFit/>
          </a:bodyPr>
          <a:lstStyle/>
          <a:p>
            <a:pPr indent="-196850" lvl="0" marL="285750" marR="0" rtl="0" algn="l">
              <a:lnSpc>
                <a:spcPct val="150000"/>
              </a:lnSpc>
              <a:spcBef>
                <a:spcPts val="0"/>
              </a:spcBef>
              <a:spcAft>
                <a:spcPts val="0"/>
              </a:spcAft>
              <a:buClr>
                <a:srgbClr val="000000"/>
              </a:buClr>
              <a:buSzPts val="1400"/>
              <a:buFont typeface="Noto Sans Symbols"/>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g23f307fc558_0_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19" name="Google Shape;219;g23f307fc558_0_8"/>
          <p:cNvSpPr txBox="1"/>
          <p:nvPr/>
        </p:nvSpPr>
        <p:spPr>
          <a:xfrm>
            <a:off x="513450" y="1037696"/>
            <a:ext cx="8117100" cy="79556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150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What is the Karatsuba algorithm?</a:t>
            </a:r>
            <a:endParaRPr b="0" i="0" sz="1800" u="none" cap="none" strike="noStrike">
              <a:solidFill>
                <a:schemeClr val="dk1"/>
              </a:solidFill>
              <a:latin typeface="Roboto"/>
              <a:ea typeface="Roboto"/>
              <a:cs typeface="Roboto"/>
              <a:sym typeface="Roboto"/>
            </a:endParaRPr>
          </a:p>
        </p:txBody>
      </p:sp>
      <p:sp>
        <p:nvSpPr>
          <p:cNvPr id="220" name="Google Shape;220;g23f307fc558_0_8"/>
          <p:cNvSpPr txBox="1"/>
          <p:nvPr/>
        </p:nvSpPr>
        <p:spPr>
          <a:xfrm>
            <a:off x="895876" y="1759125"/>
            <a:ext cx="7200900" cy="1854323"/>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Karatsuba algorithm is a fast multiplication algorithm that allows multiplying large integers in a more efficient manner than the traditional multiplication algorithm. It reduces the number of recursive multiplications required by breaking down the numbers into smaller parts.</a:t>
            </a:r>
            <a:endParaRPr b="0" i="0" sz="2000" u="none" cap="none" strike="noStrike">
              <a:solidFill>
                <a:schemeClr val="dk1"/>
              </a:solidFill>
              <a:latin typeface="Roboto"/>
              <a:ea typeface="Roboto"/>
              <a:cs typeface="Roboto"/>
              <a:sym typeface="Roboto"/>
            </a:endParaRPr>
          </a:p>
        </p:txBody>
      </p:sp>
      <p:sp>
        <p:nvSpPr>
          <p:cNvPr id="221" name="Google Shape;221;g23f307fc558_0_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23f307fc558_0_1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27" name="Google Shape;227;g23f307fc558_0_18"/>
          <p:cNvSpPr txBox="1"/>
          <p:nvPr/>
        </p:nvSpPr>
        <p:spPr>
          <a:xfrm>
            <a:off x="513450" y="1469794"/>
            <a:ext cx="8117100" cy="830956"/>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1500"/>
              </a:spcAft>
              <a:buClr>
                <a:srgbClr val="000000"/>
              </a:buClr>
              <a:buSzPts val="2000"/>
              <a:buFont typeface="Arial"/>
              <a:buNone/>
            </a:pPr>
            <a:r>
              <a:rPr b="0" i="0" lang="en-US" sz="2000" u="none" cap="none" strike="noStrike">
                <a:solidFill>
                  <a:srgbClr val="000000"/>
                </a:solidFill>
                <a:latin typeface="Roboto"/>
                <a:ea typeface="Roboto"/>
                <a:cs typeface="Roboto"/>
                <a:sym typeface="Roboto"/>
              </a:rPr>
              <a:t>How does the Karatsuba algorithm work?</a:t>
            </a:r>
            <a:endParaRPr b="0" i="0" sz="2000" u="none" cap="none" strike="noStrike">
              <a:solidFill>
                <a:schemeClr val="dk1"/>
              </a:solidFill>
              <a:latin typeface="Roboto"/>
              <a:ea typeface="Roboto"/>
              <a:cs typeface="Roboto"/>
              <a:sym typeface="Roboto"/>
            </a:endParaRPr>
          </a:p>
        </p:txBody>
      </p:sp>
      <p:sp>
        <p:nvSpPr>
          <p:cNvPr id="228" name="Google Shape;228;g23f307fc558_0_18"/>
          <p:cNvSpPr txBox="1"/>
          <p:nvPr/>
        </p:nvSpPr>
        <p:spPr>
          <a:xfrm>
            <a:off x="1255518" y="1979145"/>
            <a:ext cx="7200900" cy="1484992"/>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Karatsuba algorithm works by splitting the input numbers into two halves and recursively calculating three products. These three products are combined using some arithmetic operations to obtain the final product.</a:t>
            </a:r>
            <a:endParaRPr b="0" i="0" sz="1800" u="none" cap="none" strike="noStrike">
              <a:solidFill>
                <a:schemeClr val="dk1"/>
              </a:solidFill>
              <a:latin typeface="Roboto"/>
              <a:ea typeface="Roboto"/>
              <a:cs typeface="Roboto"/>
              <a:sym typeface="Roboto"/>
            </a:endParaRPr>
          </a:p>
        </p:txBody>
      </p:sp>
      <p:sp>
        <p:nvSpPr>
          <p:cNvPr id="229" name="Google Shape;229;g23f307fc558_0_1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23f307fc558_0_30"/>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35" name="Google Shape;235;g23f307fc558_0_30"/>
          <p:cNvSpPr txBox="1"/>
          <p:nvPr/>
        </p:nvSpPr>
        <p:spPr>
          <a:xfrm>
            <a:off x="513450" y="1435474"/>
            <a:ext cx="8117100" cy="1114111"/>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150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What are the advantages of the Karatsuba algorithm over traditional multiplication?</a:t>
            </a:r>
            <a:endParaRPr b="0" i="0" sz="1800" u="none" cap="none" strike="noStrike">
              <a:solidFill>
                <a:schemeClr val="dk1"/>
              </a:solidFill>
              <a:latin typeface="Roboto"/>
              <a:ea typeface="Roboto"/>
              <a:cs typeface="Roboto"/>
              <a:sym typeface="Roboto"/>
            </a:endParaRPr>
          </a:p>
        </p:txBody>
      </p:sp>
      <p:sp>
        <p:nvSpPr>
          <p:cNvPr id="236" name="Google Shape;236;g23f307fc558_0_30"/>
          <p:cNvSpPr txBox="1"/>
          <p:nvPr/>
        </p:nvSpPr>
        <p:spPr>
          <a:xfrm>
            <a:off x="1089799" y="2156595"/>
            <a:ext cx="7200900" cy="2046684"/>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1500"/>
              </a:spcBef>
              <a:spcAft>
                <a:spcPts val="1500"/>
              </a:spcAft>
              <a:buClr>
                <a:srgbClr val="000000"/>
              </a:buClr>
              <a:buSzPts val="1600"/>
              <a:buFont typeface="Arial"/>
              <a:buNone/>
            </a:pPr>
            <a:r>
              <a:rPr b="0" i="0" lang="en-US" sz="1600" u="none" cap="none" strike="noStrike">
                <a:solidFill>
                  <a:srgbClr val="000000"/>
                </a:solidFill>
                <a:latin typeface="Roboto"/>
                <a:ea typeface="Roboto"/>
                <a:cs typeface="Roboto"/>
                <a:sym typeface="Roboto"/>
              </a:rPr>
              <a:t>The Karatsuba algorithm has a lower time complexity than traditional multiplication algorithms for large numbers. It reduces the number of multiplications required and, therefore, improves the overall efficiency of the multiplication operation.</a:t>
            </a:r>
            <a:endParaRPr b="0" i="0" sz="1800" u="none" cap="none" strike="noStrike">
              <a:solidFill>
                <a:schemeClr val="dk1"/>
              </a:solidFill>
              <a:latin typeface="Roboto"/>
              <a:ea typeface="Roboto"/>
              <a:cs typeface="Roboto"/>
              <a:sym typeface="Roboto"/>
            </a:endParaRPr>
          </a:p>
        </p:txBody>
      </p:sp>
      <p:sp>
        <p:nvSpPr>
          <p:cNvPr id="237" name="Google Shape;237;g23f307fc558_0_30"/>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g23f307fc558_0_79"/>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43" name="Google Shape;243;g23f307fc558_0_79"/>
          <p:cNvSpPr txBox="1"/>
          <p:nvPr/>
        </p:nvSpPr>
        <p:spPr>
          <a:xfrm>
            <a:off x="513450" y="1110847"/>
            <a:ext cx="8117100" cy="667322"/>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1500"/>
              </a:spcBef>
              <a:spcAft>
                <a:spcPts val="50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Can you explain the recursive steps involved in the Karatsuba algorithm?</a:t>
            </a:r>
            <a:endParaRPr b="0" i="0" sz="1400" u="none" cap="none" strike="noStrike">
              <a:solidFill>
                <a:srgbClr val="000000"/>
              </a:solidFill>
              <a:latin typeface="Roboto"/>
              <a:ea typeface="Roboto"/>
              <a:cs typeface="Roboto"/>
              <a:sym typeface="Roboto"/>
            </a:endParaRPr>
          </a:p>
        </p:txBody>
      </p:sp>
      <p:sp>
        <p:nvSpPr>
          <p:cNvPr id="244" name="Google Shape;244;g23f307fc558_0_79"/>
          <p:cNvSpPr txBox="1"/>
          <p:nvPr/>
        </p:nvSpPr>
        <p:spPr>
          <a:xfrm>
            <a:off x="1255518" y="2096718"/>
            <a:ext cx="7200900" cy="2965397"/>
          </a:xfrm>
          <a:prstGeom prst="rect">
            <a:avLst/>
          </a:prstGeom>
          <a:noFill/>
          <a:ln>
            <a:noFill/>
          </a:ln>
        </p:spPr>
        <p:txBody>
          <a:bodyPr anchorCtr="0" anchor="t" bIns="91425" lIns="91425" spcFirstLastPara="1" rIns="91425" wrap="square" tIns="91425">
            <a:spAutoFit/>
          </a:bodyPr>
          <a:lstStyle/>
          <a:p>
            <a:pPr indent="0" lvl="1" marL="0" marR="0" rtl="0" algn="l">
              <a:lnSpc>
                <a:spcPct val="150000"/>
              </a:lnSpc>
              <a:spcBef>
                <a:spcPts val="0"/>
              </a:spcBef>
              <a:spcAft>
                <a:spcPts val="0"/>
              </a:spcAft>
              <a:buClr>
                <a:srgbClr val="000000"/>
              </a:buClr>
              <a:buSzPts val="1800"/>
              <a:buFont typeface="Arial"/>
              <a:buNone/>
            </a:pPr>
            <a:r>
              <a:rPr b="0" i="0" lang="en-US" sz="1800" u="none" cap="none" strike="noStrike">
                <a:solidFill>
                  <a:srgbClr val="000000"/>
                </a:solidFill>
                <a:latin typeface="Roboto"/>
                <a:ea typeface="Roboto"/>
                <a:cs typeface="Roboto"/>
                <a:sym typeface="Roboto"/>
              </a:rPr>
              <a:t>In the Karatsuba algorithm, the input numbers are split into two halves. Three recursive multiplications are performed: one for the lower halves, one for the sum of the halves, and one for the upper halves. These products are combined using arithmetic operations to obtain the final result.</a:t>
            </a:r>
            <a:endParaRPr b="0" i="0" sz="1400" u="none" cap="none" strike="noStrike">
              <a:solidFill>
                <a:srgbClr val="000000"/>
              </a:solidFill>
              <a:latin typeface="Roboto"/>
              <a:ea typeface="Roboto"/>
              <a:cs typeface="Roboto"/>
              <a:sym typeface="Roboto"/>
            </a:endParaRPr>
          </a:p>
          <a:p>
            <a:pPr indent="0" lvl="0" marL="0" marR="0" rtl="0" algn="l">
              <a:lnSpc>
                <a:spcPct val="115000"/>
              </a:lnSpc>
              <a:spcBef>
                <a:spcPts val="1500"/>
              </a:spcBef>
              <a:spcAft>
                <a:spcPts val="150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p:txBody>
      </p:sp>
      <p:sp>
        <p:nvSpPr>
          <p:cNvPr id="245" name="Google Shape;245;g23f307fc558_0_79"/>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Interview questions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7"/>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51" name="Google Shape;251;p7"/>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Practice questions</a:t>
            </a:r>
            <a:endParaRPr/>
          </a:p>
        </p:txBody>
      </p:sp>
      <p:sp>
        <p:nvSpPr>
          <p:cNvPr id="252" name="Google Shape;252;p7"/>
          <p:cNvSpPr txBox="1"/>
          <p:nvPr/>
        </p:nvSpPr>
        <p:spPr>
          <a:xfrm>
            <a:off x="710418" y="1269136"/>
            <a:ext cx="8025619" cy="328808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Question 1:  Implement a recursive function to compute the product of two large integers using Karatsuba algorithmDescription: Implement a recursive function that uses the Karatsuba algorithm to calculate the product of two large integers represented as strings.</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Input: Two strings, `x` and `y`, representing large integers.</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Output: A string representing the product of `x` and `y`.</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Sample Input:</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x = "12345678901234567890"</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y = "98765432109876543210"</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Sample Output:</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12193263111263526900000000000000000000</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8"/>
          <p:cNvSpPr/>
          <p:nvPr/>
        </p:nvSpPr>
        <p:spPr>
          <a:xfrm>
            <a:off x="1007602" y="995377"/>
            <a:ext cx="6333300" cy="440100"/>
          </a:xfrm>
          <a:prstGeom prst="rect">
            <a:avLst/>
          </a:prstGeom>
          <a:solidFill>
            <a:srgbClr val="FFFFFF"/>
          </a:solidFill>
          <a:ln>
            <a:noFill/>
          </a:ln>
        </p:spPr>
        <p:txBody>
          <a:bodyPr anchorCtr="0" anchor="ctr" bIns="34275" lIns="68575" spcFirstLastPara="1" rIns="68575" wrap="square" tIns="34275">
            <a:no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C0C0C"/>
              </a:solidFill>
              <a:latin typeface="Roboto"/>
              <a:ea typeface="Roboto"/>
              <a:cs typeface="Roboto"/>
              <a:sym typeface="Roboto"/>
            </a:endParaRPr>
          </a:p>
        </p:txBody>
      </p:sp>
      <p:sp>
        <p:nvSpPr>
          <p:cNvPr id="258" name="Google Shape;258;p8"/>
          <p:cNvSpPr txBox="1"/>
          <p:nvPr/>
        </p:nvSpPr>
        <p:spPr>
          <a:xfrm>
            <a:off x="122130" y="445025"/>
            <a:ext cx="6341565" cy="821733"/>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b="0" i="0" lang="en-US" sz="3600" u="none" cap="none" strike="noStrike">
                <a:solidFill>
                  <a:srgbClr val="00B0F0"/>
                </a:solidFill>
                <a:latin typeface="Roboto Black"/>
                <a:ea typeface="Roboto Black"/>
                <a:cs typeface="Roboto Black"/>
                <a:sym typeface="Roboto Black"/>
              </a:rPr>
              <a:t>Practice questions</a:t>
            </a:r>
            <a:endParaRPr/>
          </a:p>
        </p:txBody>
      </p:sp>
      <p:sp>
        <p:nvSpPr>
          <p:cNvPr id="259" name="Google Shape;259;p8"/>
          <p:cNvSpPr txBox="1"/>
          <p:nvPr/>
        </p:nvSpPr>
        <p:spPr>
          <a:xfrm>
            <a:off x="710418" y="1269136"/>
            <a:ext cx="8025619" cy="328808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Question 2:  Implement the Karatsuba algorithm to multiply two polynomials</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Description: Implement the Karatsuba algorithm to multiply two polynomials represented as arrays of coefficients.</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Input: Two arrays of integers, `poly1` and `poly2`, representing the coefficients of two polynomials.</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Output: An array of integers representing the coefficients of the product polynomial.</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Sample Input:</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poly1 = [1, 2, 3]  // Represents 1 + 2x + 3x^2</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poly2 = [4, 5, 6]  // Represents 4 + 5x + 6x^2</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Sample Output:</a:t>
            </a:r>
            <a:endParaRPr/>
          </a:p>
          <a:p>
            <a:pPr indent="0" lvl="0" marL="0" marR="0" rtl="0" algn="l">
              <a:lnSpc>
                <a:spcPct val="150000"/>
              </a:lnSpc>
              <a:spcBef>
                <a:spcPts val="0"/>
              </a:spcBef>
              <a:spcAft>
                <a:spcPts val="0"/>
              </a:spcAft>
              <a:buNone/>
            </a:pPr>
            <a:r>
              <a:rPr b="0" i="0" lang="en-US" sz="1400" u="none" cap="none" strike="noStrike">
                <a:solidFill>
                  <a:srgbClr val="000000"/>
                </a:solidFill>
                <a:latin typeface="Roboto"/>
                <a:ea typeface="Roboto"/>
                <a:cs typeface="Roboto"/>
                <a:sym typeface="Roboto"/>
              </a:rPr>
              <a:t>[4, 13, 28, 27, 18]  // Represents 4 + 13x + 28x^2 + 27x^3 + 18x^4</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65" name="Google Shape;265;p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pic>
        <p:nvPicPr>
          <p:cNvPr id="266" name="Google Shape;266;p9"/>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267" name="Google Shape;267;p9"/>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US"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268" name="Google Shape;268;p9"/>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69" name="Google Shape;269;p9"/>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70" name="Google Shape;270;p9"/>
          <p:cNvSpPr txBox="1"/>
          <p:nvPr/>
        </p:nvSpPr>
        <p:spPr>
          <a:xfrm>
            <a:off x="1980750" y="4590800"/>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271" name="Google Shape;271;p9"/>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272" name="Google Shape;272;p9"/>
          <p:cNvSpPr txBox="1"/>
          <p:nvPr/>
        </p:nvSpPr>
        <p:spPr>
          <a:xfrm>
            <a:off x="3519050"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273" name="Google Shape;273;p9"/>
          <p:cNvPicPr preferRelativeResize="0"/>
          <p:nvPr/>
        </p:nvPicPr>
        <p:blipFill rotWithShape="1">
          <a:blip r:embed="rId6">
            <a:alphaModFix/>
          </a:blip>
          <a:srcRect b="0" l="0" r="0" t="0"/>
          <a:stretch/>
        </p:blipFill>
        <p:spPr>
          <a:xfrm>
            <a:off x="5223770" y="4591063"/>
            <a:ext cx="338156" cy="338150"/>
          </a:xfrm>
          <a:prstGeom prst="rect">
            <a:avLst/>
          </a:prstGeom>
          <a:noFill/>
          <a:ln>
            <a:noFill/>
          </a:ln>
        </p:spPr>
      </p:pic>
      <p:sp>
        <p:nvSpPr>
          <p:cNvPr id="274" name="Google Shape;274;p9"/>
          <p:cNvSpPr txBox="1"/>
          <p:nvPr/>
        </p:nvSpPr>
        <p:spPr>
          <a:xfrm>
            <a:off x="5457275" y="4590800"/>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275" name="Google Shape;275;p9"/>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RAMASAMY</dc:creator>
</cp:coreProperties>
</file>