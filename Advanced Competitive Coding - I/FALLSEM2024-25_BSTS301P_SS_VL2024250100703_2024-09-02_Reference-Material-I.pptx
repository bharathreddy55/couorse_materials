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806" r:id="rId18"/>
    <p:sldId id="807" r:id="rId19"/>
  </p:sldIdLst>
  <p:sldSz cx="9144000" cy="5143500" type="screen16x9"/>
  <p:notesSz cx="6858000" cy="9144000"/>
  <p:embeddedFontLst>
    <p:embeddedFont>
      <p:font typeface="Roboto" panose="02000000000000000000" pitchFamily="2" charset="0"/>
      <p:regular r:id="rId21"/>
      <p:bold r:id="rId22"/>
      <p:italic r:id="rId23"/>
      <p:boldItalic r:id="rId24"/>
    </p:embeddedFont>
    <p:embeddedFont>
      <p:font typeface="Roboto Medium" panose="02000000000000000000"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j3Zq4ey8BNruhns+R40IJdjYxG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615137-8F65-4CA1-8C3B-6254DB6BAAB3}">
  <a:tblStyle styleId="{48615137-8F65-4CA1-8C3B-6254DB6BAAB3}"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3f307fc558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58" name="Google Shape;58;g23f307fc558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2: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22: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2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Length of longest contiguous subarray containing only 1s after replacement = 6</a:t>
            </a:r>
            <a:endParaRPr dirty="0">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Length of longest contiguous subarray containing only 1s after replacement = 6</a:t>
            </a:r>
            <a:endParaRPr dirty="0">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3f307fc558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23f307fc558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dirty="0"/>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Roboto" panose="02000000000000000000" pitchFamily="2" charset="0"/>
                <a:ea typeface="Roboto" panose="02000000000000000000" pitchFamily="2" charset="0"/>
                <a:cs typeface="Roboto" panose="02000000000000000000" pitchFamily="2" charset="0"/>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166367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1"/>
        <p:cNvGrpSpPr/>
        <p:nvPr/>
      </p:nvGrpSpPr>
      <p:grpSpPr>
        <a:xfrm>
          <a:off x="0" y="0"/>
          <a:ext cx="0" cy="0"/>
          <a:chOff x="0" y="0"/>
          <a:chExt cx="0" cy="0"/>
        </a:xfrm>
      </p:grpSpPr>
      <p:sp>
        <p:nvSpPr>
          <p:cNvPr id="12" name="Google Shape;12;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14" name="Google Shape;14;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15" name="Google Shape;1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3781528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
        <p:cNvGrpSpPr/>
        <p:nvPr/>
      </p:nvGrpSpPr>
      <p:grpSpPr>
        <a:xfrm>
          <a:off x="0" y="0"/>
          <a:ext cx="0" cy="0"/>
          <a:chOff x="0" y="0"/>
          <a:chExt cx="0" cy="0"/>
        </a:xfrm>
      </p:grpSpPr>
      <p:sp>
        <p:nvSpPr>
          <p:cNvPr id="21" name="Google Shape;21;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22" name="Google Shape;22;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23" name="Google Shape;23;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77438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6" name="Google Shape;2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46502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3252728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808004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929818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784244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654144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2498706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189" lvl="0" indent="-342892">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378"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2"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23907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2" name="Google Shape;15;p82">
            <a:extLst>
              <a:ext uri="{FF2B5EF4-FFF2-40B4-BE49-F238E27FC236}">
                <a16:creationId xmlns:a16="http://schemas.microsoft.com/office/drawing/2014/main" id="{F21C88F1-B59A-7CA9-038A-0C6BD26C6437}"/>
              </a:ext>
            </a:extLst>
          </p:cNvPr>
          <p:cNvPicPr preferRelativeResize="0"/>
          <p:nvPr userDrawn="1"/>
        </p:nvPicPr>
        <p:blipFill rotWithShape="1">
          <a:blip r:embed="rId12">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2" name="Google Shape;15;p82">
            <a:extLst>
              <a:ext uri="{FF2B5EF4-FFF2-40B4-BE49-F238E27FC236}">
                <a16:creationId xmlns:a16="http://schemas.microsoft.com/office/drawing/2014/main" id="{FCA88FC8-EB57-B3D4-BB9D-2C02C280EFFB}"/>
              </a:ext>
            </a:extLst>
          </p:cNvPr>
          <p:cNvPicPr preferRelativeResize="0"/>
          <p:nvPr userDrawn="1"/>
        </p:nvPicPr>
        <p:blipFill rotWithShape="1">
          <a:blip r:embed="rId13">
            <a:alphaModFix/>
          </a:blip>
          <a:srcRect/>
          <a:stretch/>
        </p:blipFill>
        <p:spPr>
          <a:xfrm>
            <a:off x="-1" y="7219"/>
            <a:ext cx="9144001" cy="5136281"/>
          </a:xfrm>
          <a:prstGeom prst="rect">
            <a:avLst/>
          </a:prstGeom>
          <a:noFill/>
          <a:ln>
            <a:noFill/>
          </a:ln>
        </p:spPr>
      </p:pic>
    </p:spTree>
    <p:extLst>
      <p:ext uri="{BB962C8B-B14F-4D97-AF65-F5344CB8AC3E}">
        <p14:creationId xmlns:p14="http://schemas.microsoft.com/office/powerpoint/2010/main" val="29037079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forms.gle/xEEUwT9RBBfCFkZA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learn.codemithra.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54" name="Google Shape;54;p3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55" name="Google Shape;55;p33"/>
          <p:cNvPicPr preferRelativeResize="0"/>
          <p:nvPr/>
        </p:nvPicPr>
        <p:blipFill rotWithShape="1">
          <a:blip r:embed="rId3">
            <a:alphaModFix/>
          </a:blip>
          <a:srcRect/>
          <a:stretch/>
        </p:blipFill>
        <p:spPr>
          <a:xfrm>
            <a:off x="1" y="3"/>
            <a:ext cx="9144003" cy="5143501"/>
          </a:xfrm>
          <a:prstGeom prst="rect">
            <a:avLst/>
          </a:prstGeom>
          <a:noFill/>
          <a:ln>
            <a:noFill/>
          </a:ln>
        </p:spPr>
      </p:pic>
      <p:pic>
        <p:nvPicPr>
          <p:cNvPr id="56" name="Google Shape;56;p33"/>
          <p:cNvPicPr preferRelativeResize="0"/>
          <p:nvPr/>
        </p:nvPicPr>
        <p:blipFill rotWithShape="1">
          <a:blip r:embed="rId4">
            <a:alphaModFix/>
          </a:blip>
          <a:srcRect/>
          <a:stretch/>
        </p:blipFill>
        <p:spPr>
          <a:xfrm>
            <a:off x="2504603" y="600290"/>
            <a:ext cx="4134799" cy="2923400"/>
          </a:xfrm>
          <a:prstGeom prst="rect">
            <a:avLst/>
          </a:prstGeom>
          <a:noFill/>
          <a:ln>
            <a:noFill/>
          </a:ln>
        </p:spPr>
      </p:pic>
      <p:pic>
        <p:nvPicPr>
          <p:cNvPr id="57" name="Google Shape;57;p33"/>
          <p:cNvPicPr preferRelativeResize="0"/>
          <p:nvPr/>
        </p:nvPicPr>
        <p:blipFill rotWithShape="1">
          <a:blip r:embed="rId5">
            <a:alphaModFix/>
          </a:blip>
          <a:srcRect/>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3" name="Google Shape;63;g23f307fc558_0_101"/>
          <p:cNvSpPr txBox="1">
            <a:spLocks noGrp="1"/>
          </p:cNvSpPr>
          <p:nvPr>
            <p:ph type="body" idx="1"/>
          </p:nvPr>
        </p:nvSpPr>
        <p:spPr>
          <a:xfrm>
            <a:off x="729200" y="12319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sz="2000" b="1" dirty="0">
                <a:solidFill>
                  <a:schemeClr val="dk1"/>
                </a:solidFill>
                <a:highlight>
                  <a:srgbClr val="FFFFFF"/>
                </a:highlight>
              </a:rPr>
              <a:t>URL</a:t>
            </a:r>
            <a:r>
              <a:rPr lang="en-US" sz="2000" b="1" dirty="0">
                <a:solidFill>
                  <a:srgbClr val="373737"/>
                </a:solidFill>
                <a:highlight>
                  <a:srgbClr val="FFFFFF"/>
                </a:highlight>
              </a:rPr>
              <a:t>:</a:t>
            </a:r>
            <a:r>
              <a:rPr lang="en-US" sz="2000" b="1" u="sng" dirty="0">
                <a:solidFill>
                  <a:schemeClr val="hlink"/>
                </a:solidFill>
                <a:highlight>
                  <a:srgbClr val="FFFFFF"/>
                </a:highlight>
                <a:hlinkClick r:id="rId3"/>
              </a:rPr>
              <a:t>https://forms.gle/xEEUwT9RBBfCFkZA8</a:t>
            </a:r>
            <a:endParaRPr sz="2000" b="1" dirty="0">
              <a:solidFill>
                <a:srgbClr val="0C5ADB"/>
              </a:solidFill>
              <a:highlight>
                <a:srgbClr val="FFFFFF"/>
              </a:highlight>
            </a:endParaRPr>
          </a:p>
          <a:p>
            <a:pPr marL="0" lvl="0" indent="0" algn="l" rtl="0">
              <a:lnSpc>
                <a:spcPct val="115000"/>
              </a:lnSpc>
              <a:spcBef>
                <a:spcPts val="0"/>
              </a:spcBef>
              <a:spcAft>
                <a:spcPts val="0"/>
              </a:spcAft>
              <a:buSzPts val="1800"/>
              <a:buNone/>
            </a:pPr>
            <a:r>
              <a:rPr lang="en-US" sz="2000" b="1" dirty="0">
                <a:solidFill>
                  <a:schemeClr val="dk1"/>
                </a:solidFill>
                <a:highlight>
                  <a:srgbClr val="FFFFFF"/>
                </a:highlight>
              </a:rPr>
              <a:t>QR CODE</a:t>
            </a:r>
            <a:r>
              <a:rPr lang="en-US" sz="2000" b="1" dirty="0">
                <a:solidFill>
                  <a:srgbClr val="373737"/>
                </a:solidFill>
                <a:highlight>
                  <a:srgbClr val="FFFFFF"/>
                </a:highlight>
              </a:rPr>
              <a:t>:</a:t>
            </a:r>
            <a:endParaRPr sz="2000" b="1" dirty="0">
              <a:solidFill>
                <a:srgbClr val="373737"/>
              </a:solidFill>
              <a:highlight>
                <a:srgbClr val="FFFFFF"/>
              </a:highlight>
            </a:endParaRPr>
          </a:p>
        </p:txBody>
      </p:sp>
      <p:pic>
        <p:nvPicPr>
          <p:cNvPr id="64" name="Google Shape;64;g23f307fc558_0_101"/>
          <p:cNvPicPr preferRelativeResize="0"/>
          <p:nvPr/>
        </p:nvPicPr>
        <p:blipFill rotWithShape="1">
          <a:blip r:embed="rId4">
            <a:alphaModFix/>
          </a:blip>
          <a:srcRect/>
          <a:stretch/>
        </p:blipFill>
        <p:spPr>
          <a:xfrm>
            <a:off x="3373107" y="2184045"/>
            <a:ext cx="2591074" cy="2444905"/>
          </a:xfrm>
          <a:prstGeom prst="rect">
            <a:avLst/>
          </a:prstGeom>
          <a:noFill/>
          <a:ln>
            <a:noFill/>
          </a:ln>
        </p:spPr>
      </p:pic>
      <p:sp>
        <p:nvSpPr>
          <p:cNvPr id="3" name="TextBox 2">
            <a:extLst>
              <a:ext uri="{FF2B5EF4-FFF2-40B4-BE49-F238E27FC236}">
                <a16:creationId xmlns:a16="http://schemas.microsoft.com/office/drawing/2014/main" id="{21049A89-CA25-E0A1-73DB-8E1E7F8B4AF7}"/>
              </a:ext>
            </a:extLst>
          </p:cNvPr>
          <p:cNvSpPr txBox="1"/>
          <p:nvPr/>
        </p:nvSpPr>
        <p:spPr>
          <a:xfrm>
            <a:off x="2553629" y="601939"/>
            <a:ext cx="4572000" cy="307777"/>
          </a:xfrm>
          <a:prstGeom prst="rect">
            <a:avLst/>
          </a:prstGeom>
          <a:noFill/>
        </p:spPr>
        <p:txBody>
          <a:bodyPr wrap="square">
            <a:spAutoFit/>
          </a:bodyPr>
          <a:lstStyle/>
          <a:p>
            <a:pPr marL="0" marR="0" lvl="0" indent="0" algn="ctr" rtl="0">
              <a:lnSpc>
                <a:spcPct val="100000"/>
              </a:lnSpc>
              <a:spcBef>
                <a:spcPts val="0"/>
              </a:spcBef>
              <a:spcAft>
                <a:spcPts val="0"/>
              </a:spcAft>
              <a:buNone/>
            </a:pPr>
            <a:r>
              <a:rPr lang="en-US" sz="14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Arial"/>
              </a:rPr>
              <a:t>TEST TIME ON KARATSUBA ALGORITHM</a:t>
            </a:r>
            <a:endParaRPr lang="en-US" b="1"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70" name="Google Shape;70;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71" name="Google Shape;71;p35"/>
          <p:cNvPicPr preferRelativeResize="0"/>
          <p:nvPr/>
        </p:nvPicPr>
        <p:blipFill rotWithShape="1">
          <a:blip r:embed="rId3">
            <a:alphaModFix/>
          </a:blip>
          <a:srcRect/>
          <a:stretch/>
        </p:blipFill>
        <p:spPr>
          <a:xfrm>
            <a:off x="1" y="3"/>
            <a:ext cx="9144003" cy="5143501"/>
          </a:xfrm>
          <a:prstGeom prst="rect">
            <a:avLst/>
          </a:prstGeom>
          <a:noFill/>
          <a:ln>
            <a:noFill/>
          </a:ln>
        </p:spPr>
      </p:pic>
      <p:sp>
        <p:nvSpPr>
          <p:cNvPr id="72" name="Google Shape;72;p35"/>
          <p:cNvSpPr txBox="1"/>
          <p:nvPr/>
        </p:nvSpPr>
        <p:spPr>
          <a:xfrm>
            <a:off x="118946" y="2130182"/>
            <a:ext cx="4690948" cy="1292631"/>
          </a:xfrm>
          <a:prstGeom prst="rect">
            <a:avLst/>
          </a:prstGeom>
          <a:noFill/>
          <a:ln>
            <a:noFill/>
          </a:ln>
        </p:spPr>
        <p:txBody>
          <a:bodyPr spcFirstLastPara="1" wrap="square" lIns="91425" tIns="91425" rIns="91425" bIns="91425" anchor="t" anchorCtr="0">
            <a:spAutoFit/>
          </a:bodyPr>
          <a:lstStyle/>
          <a:p>
            <a:pPr algn="ctr" rtl="0">
              <a:spcBef>
                <a:spcPts val="0"/>
              </a:spcBef>
              <a:spcAft>
                <a:spcPts val="0"/>
              </a:spcAft>
            </a:pPr>
            <a:r>
              <a:rPr lang="en-US" sz="36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LONGEST SEQUENCE OF 1S AFTER FLIP</a:t>
            </a:r>
            <a:endParaRPr lang="en-US" sz="3600" b="0" dirty="0">
              <a:effectLst/>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8" name="Google Shape;78;p13"/>
          <p:cNvSpPr/>
          <p:nvPr/>
        </p:nvSpPr>
        <p:spPr>
          <a:xfrm>
            <a:off x="555120" y="915840"/>
            <a:ext cx="7544880" cy="40318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"Longest Sequence of 1s after flip" problem involves finding the maximum length of a sequence of consecutive 1s that can be obtained by flipping a limited number of 0s to 1s. </a:t>
            </a:r>
            <a:endParaRPr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This problem is commonly encountered in computer science, specifically in the context of binary strings or arrays.</a:t>
            </a:r>
            <a:endParaRPr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goal is to identify the longest sequence of 1s that can be achieved by flipping a predetermined number of 0s to 1s.</a:t>
            </a:r>
            <a:endParaRPr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flip operation involves changing a 0 to a 1. By strategically selecting which 0s to flip, we aim to maximize the length of the resulting sequence of 1s.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6" name="Google Shape;86;p15"/>
          <p:cNvSpPr/>
          <p:nvPr/>
        </p:nvSpPr>
        <p:spPr>
          <a:xfrm>
            <a:off x="644330" y="863610"/>
            <a:ext cx="754488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a:t>
            </a:r>
            <a:endParaRPr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The aim is to identify the configuration that yields the maximum length of consecutive ones within the allowed number of flips.</a:t>
            </a:r>
            <a:endParaRPr dirty="0">
              <a:latin typeface="Roboto" panose="02000000000000000000" pitchFamily="2" charset="0"/>
              <a:ea typeface="Roboto" panose="02000000000000000000" pitchFamily="2" charset="0"/>
              <a:cs typeface="Roboto" panose="02000000000000000000" pitchFamily="2" charset="0"/>
            </a:endParaRPr>
          </a:p>
          <a:p>
            <a:pPr marL="285750" marR="0" lvl="0" indent="-285750" algn="l" rtl="0">
              <a:lnSpc>
                <a:spcPct val="150000"/>
              </a:lnSpc>
              <a:spcBef>
                <a:spcPts val="0"/>
              </a:spcBef>
              <a:spcAft>
                <a:spcPts val="0"/>
              </a:spcAft>
              <a:buClr>
                <a:srgbClr val="000000"/>
              </a:buClr>
              <a:buSzPts val="1600"/>
              <a:buFont typeface="Arial"/>
              <a:buChar char="•"/>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It's important to note that the number of allowed flips can greatly impact the result. A higher number of flips generally allows for a longer sequence of ones, while a limited number of flips may result in a shorter sequence.</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4" name="Google Shape;94;p16"/>
          <p:cNvSpPr/>
          <p:nvPr/>
        </p:nvSpPr>
        <p:spPr>
          <a:xfrm>
            <a:off x="725219" y="1026443"/>
            <a:ext cx="7545000" cy="3416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Example: 11011101111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Step 1:</a:t>
            </a: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11011101111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None/>
            </a:pP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a:t>
            </a:r>
            <a:r>
              <a:rPr lang="en-US" sz="1600" b="0" i="0" u="none" strike="noStrike" cap="none" dirty="0">
                <a:solidFill>
                  <a:srgbClr val="0C5ADB"/>
                </a:solidFill>
                <a:latin typeface="Roboto" panose="02000000000000000000" pitchFamily="2" charset="0"/>
                <a:ea typeface="Roboto" panose="02000000000000000000" pitchFamily="2" charset="0"/>
                <a:cs typeface="Roboto" panose="02000000000000000000" pitchFamily="2" charset="0"/>
                <a:sym typeface="Consolas"/>
              </a:rPr>
              <a:t>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Clr>
                <a:srgbClr val="000000"/>
              </a:buClr>
              <a:buSzPts val="1600"/>
              <a:buFont typeface="Arial"/>
              <a:buNone/>
            </a:pP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Flipping the First 0 results in </a:t>
            </a:r>
            <a:r>
              <a:rPr lang="en-US" sz="1600" b="0" i="0" u="none" strike="noStrike" cap="none" dirty="0">
                <a:solidFill>
                  <a:schemeClr val="accent4"/>
                </a:solidFill>
                <a:latin typeface="Roboto" panose="02000000000000000000" pitchFamily="2" charset="0"/>
                <a:ea typeface="Roboto" panose="02000000000000000000" pitchFamily="2" charset="0"/>
                <a:cs typeface="Roboto" panose="02000000000000000000" pitchFamily="2" charset="0"/>
                <a:sym typeface="Consolas"/>
              </a:rPr>
              <a:t>111111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374151"/>
                </a:solidFill>
                <a:latin typeface="Roboto" panose="02000000000000000000" pitchFamily="2" charset="0"/>
                <a:ea typeface="Roboto" panose="02000000000000000000" pitchFamily="2" charset="0"/>
                <a:cs typeface="Roboto" panose="02000000000000000000" pitchFamily="2" charset="0"/>
                <a:sym typeface="Consolas"/>
              </a:rPr>
              <a:t>length of the sequence of consecutive 1s</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=6</a:t>
            </a:r>
            <a:b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cxnSp>
        <p:nvCxnSpPr>
          <p:cNvPr id="96" name="Google Shape;96;p16"/>
          <p:cNvCxnSpPr/>
          <p:nvPr/>
        </p:nvCxnSpPr>
        <p:spPr>
          <a:xfrm>
            <a:off x="4155688" y="2049452"/>
            <a:ext cx="0" cy="557700"/>
          </a:xfrm>
          <a:prstGeom prst="straightConnector1">
            <a:avLst/>
          </a:prstGeom>
          <a:noFill/>
          <a:ln w="19050" cap="flat" cmpd="sng">
            <a:solidFill>
              <a:schemeClr val="dk1"/>
            </a:solidFill>
            <a:prstDash val="solid"/>
            <a:round/>
            <a:headEnd type="none" w="sm" len="sm"/>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3" name="Google Shape;103;p17"/>
          <p:cNvSpPr/>
          <p:nvPr/>
        </p:nvSpPr>
        <p:spPr>
          <a:xfrm>
            <a:off x="725225" y="981825"/>
            <a:ext cx="7545000" cy="3450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Step2:</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11011101111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None/>
            </a:pP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a:t>
            </a:r>
            <a:r>
              <a:rPr lang="en-US" sz="1600" b="0" i="0" u="none" strike="noStrike" cap="none" dirty="0">
                <a:solidFill>
                  <a:srgbClr val="0C5ADB"/>
                </a:solidFill>
                <a:latin typeface="Roboto" panose="02000000000000000000" pitchFamily="2" charset="0"/>
                <a:ea typeface="Roboto" panose="02000000000000000000" pitchFamily="2" charset="0"/>
                <a:cs typeface="Roboto" panose="02000000000000000000" pitchFamily="2" charset="0"/>
                <a:sym typeface="Consolas"/>
              </a:rPr>
              <a:t>0</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a:t>
            </a:r>
            <a:r>
              <a:rPr lang="en-US" sz="1600" b="0" i="0" u="none" strike="noStrike" cap="none" dirty="0">
                <a:solidFill>
                  <a:srgbClr val="0C5ADB"/>
                </a:solidFill>
                <a:latin typeface="Roboto" panose="02000000000000000000" pitchFamily="2" charset="0"/>
                <a:ea typeface="Roboto" panose="02000000000000000000" pitchFamily="2" charset="0"/>
                <a:cs typeface="Roboto" panose="02000000000000000000" pitchFamily="2" charset="0"/>
                <a:sym typeface="Consolas"/>
              </a:rPr>
              <a:t>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2400"/>
              <a:buFont typeface="Arial"/>
              <a:buNone/>
            </a:pPr>
            <a:br>
              <a:rPr lang="en-US" sz="2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rPr>
            </a:br>
            <a:r>
              <a:rPr lang="en-US" sz="18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Flipping the second 0 results in 110</a:t>
            </a:r>
            <a:r>
              <a:rPr lang="en-US" sz="1800" b="0" i="0" u="none" strike="noStrike" cap="none" dirty="0">
                <a:solidFill>
                  <a:schemeClr val="accent4"/>
                </a:solidFill>
                <a:latin typeface="Roboto" panose="02000000000000000000" pitchFamily="2" charset="0"/>
                <a:ea typeface="Roboto" panose="02000000000000000000" pitchFamily="2" charset="0"/>
                <a:cs typeface="Roboto" panose="02000000000000000000" pitchFamily="2" charset="0"/>
                <a:sym typeface="Consolas"/>
              </a:rPr>
              <a:t>11111111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374151"/>
                </a:solidFill>
                <a:latin typeface="Roboto" panose="02000000000000000000" pitchFamily="2" charset="0"/>
                <a:ea typeface="Roboto" panose="02000000000000000000" pitchFamily="2" charset="0"/>
                <a:cs typeface="Roboto" panose="02000000000000000000" pitchFamily="2" charset="0"/>
                <a:sym typeface="Consolas"/>
              </a:rPr>
              <a:t>length of the sequence of consecutive 1s</a:t>
            </a:r>
            <a:r>
              <a:rPr lang="en-US" sz="18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=8</a:t>
            </a:r>
            <a:endParaRPr sz="18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         where the longest sequence of 1s is 8 long.</a:t>
            </a: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cxnSp>
        <p:nvCxnSpPr>
          <p:cNvPr id="105" name="Google Shape;105;p17"/>
          <p:cNvCxnSpPr/>
          <p:nvPr/>
        </p:nvCxnSpPr>
        <p:spPr>
          <a:xfrm>
            <a:off x="4624062" y="1591104"/>
            <a:ext cx="0" cy="557700"/>
          </a:xfrm>
          <a:prstGeom prst="straightConnector1">
            <a:avLst/>
          </a:prstGeom>
          <a:noFill/>
          <a:ln w="19050" cap="flat" cmpd="sng">
            <a:solidFill>
              <a:schemeClr val="dk1"/>
            </a:solidFill>
            <a:prstDash val="solid"/>
            <a:round/>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2" name="Google Shape;112;p21"/>
          <p:cNvSpPr/>
          <p:nvPr/>
        </p:nvSpPr>
        <p:spPr>
          <a:xfrm>
            <a:off x="725219" y="1295793"/>
            <a:ext cx="7545000" cy="3416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Example: 1110001111 k=2</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Step 1:</a:t>
            </a: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1110001111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  </a:t>
            </a: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a:t>
            </a:r>
            <a:r>
              <a:rPr lang="en-US" sz="1600" b="0" i="0" u="none" strike="noStrike" cap="none" dirty="0">
                <a:solidFill>
                  <a:srgbClr val="0C5ADB"/>
                </a:solidFill>
                <a:latin typeface="Roboto" panose="02000000000000000000" pitchFamily="2" charset="0"/>
                <a:ea typeface="Roboto" panose="02000000000000000000" pitchFamily="2" charset="0"/>
                <a:cs typeface="Roboto" panose="02000000000000000000" pitchFamily="2" charset="0"/>
                <a:sym typeface="Consolas"/>
              </a:rPr>
              <a:t>11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Clr>
                <a:srgbClr val="000000"/>
              </a:buClr>
              <a:buSzPts val="1600"/>
              <a:buFont typeface="Arial"/>
              <a:buNone/>
            </a:pP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After Flipping 0 results in </a:t>
            </a:r>
            <a:r>
              <a:rPr lang="en-US" sz="16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11111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374151"/>
                </a:solidFill>
                <a:latin typeface="Roboto" panose="02000000000000000000" pitchFamily="2" charset="0"/>
                <a:ea typeface="Roboto" panose="02000000000000000000" pitchFamily="2" charset="0"/>
                <a:cs typeface="Roboto" panose="02000000000000000000" pitchFamily="2" charset="0"/>
                <a:sym typeface="Consolas"/>
              </a:rPr>
              <a:t>length of the sequence of consecutive 1s</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=5</a:t>
            </a:r>
            <a:b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cxnSp>
        <p:nvCxnSpPr>
          <p:cNvPr id="114" name="Google Shape;114;p21"/>
          <p:cNvCxnSpPr/>
          <p:nvPr/>
        </p:nvCxnSpPr>
        <p:spPr>
          <a:xfrm>
            <a:off x="4327570" y="2292965"/>
            <a:ext cx="0" cy="557700"/>
          </a:xfrm>
          <a:prstGeom prst="straightConnector1">
            <a:avLst/>
          </a:prstGeom>
          <a:noFill/>
          <a:ln w="19050" cap="flat" cmpd="sng">
            <a:solidFill>
              <a:schemeClr val="dk1"/>
            </a:solidFill>
            <a:prstDash val="solid"/>
            <a:round/>
            <a:headEnd type="none" w="sm" len="sm"/>
            <a:tailEnd type="triangle" w="med" len="med"/>
          </a:ln>
        </p:spPr>
      </p:cxnSp>
      <p:cxnSp>
        <p:nvCxnSpPr>
          <p:cNvPr id="116" name="Google Shape;116;p21"/>
          <p:cNvCxnSpPr/>
          <p:nvPr/>
        </p:nvCxnSpPr>
        <p:spPr>
          <a:xfrm>
            <a:off x="4429077" y="2292965"/>
            <a:ext cx="0" cy="557700"/>
          </a:xfrm>
          <a:prstGeom prst="straightConnector1">
            <a:avLst/>
          </a:prstGeom>
          <a:noFill/>
          <a:ln w="19050" cap="flat" cmpd="sng">
            <a:solidFill>
              <a:schemeClr val="dk1"/>
            </a:solidFill>
            <a:prstDash val="solid"/>
            <a:round/>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2" name="Google Shape;122;p22"/>
          <p:cNvSpPr/>
          <p:nvPr/>
        </p:nvSpPr>
        <p:spPr>
          <a:xfrm>
            <a:off x="725219" y="1359918"/>
            <a:ext cx="7545000" cy="30468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Step 2:</a:t>
            </a: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Clr>
                <a:srgbClr val="000000"/>
              </a:buClr>
              <a:buSzPts val="1600"/>
              <a:buFont typeface="Arial"/>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1110001111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  </a:t>
            </a: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ctr"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1110</a:t>
            </a:r>
            <a:r>
              <a:rPr lang="en-US" sz="1600" b="0" i="0" u="none" strike="noStrike" cap="none" dirty="0">
                <a:solidFill>
                  <a:srgbClr val="0C5ADB"/>
                </a:solidFill>
                <a:latin typeface="Roboto" panose="02000000000000000000" pitchFamily="2" charset="0"/>
                <a:ea typeface="Roboto" panose="02000000000000000000" pitchFamily="2" charset="0"/>
                <a:cs typeface="Roboto" panose="02000000000000000000" pitchFamily="2" charset="0"/>
                <a:sym typeface="Consolas"/>
              </a:rPr>
              <a:t>11</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50000"/>
              </a:lnSpc>
              <a:spcBef>
                <a:spcPts val="0"/>
              </a:spcBef>
              <a:spcAft>
                <a:spcPts val="0"/>
              </a:spcAft>
              <a:buClr>
                <a:srgbClr val="000000"/>
              </a:buClr>
              <a:buSzPts val="1600"/>
              <a:buFont typeface="Arial"/>
              <a:buNone/>
            </a:pPr>
            <a:endParaRPr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50000"/>
              </a:lnSpc>
              <a:spcBef>
                <a:spcPts val="0"/>
              </a:spcBef>
              <a:spcAft>
                <a:spcPts val="0"/>
              </a:spcAft>
              <a:buNone/>
            </a:pP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After Flipping 0 results in 1110</a:t>
            </a:r>
            <a:r>
              <a:rPr lang="en-US" sz="16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111111</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0"/>
              </a:spcBef>
              <a:spcAft>
                <a:spcPts val="0"/>
              </a:spcAft>
              <a:buNone/>
            </a:pPr>
            <a:r>
              <a:rPr lang="en-US" sz="1600" b="0" i="0" u="none" strike="noStrike" cap="none" dirty="0">
                <a:solidFill>
                  <a:srgbClr val="374151"/>
                </a:solidFill>
                <a:latin typeface="Roboto" panose="02000000000000000000" pitchFamily="2" charset="0"/>
                <a:ea typeface="Roboto" panose="02000000000000000000" pitchFamily="2" charset="0"/>
                <a:cs typeface="Roboto" panose="02000000000000000000" pitchFamily="2" charset="0"/>
                <a:sym typeface="Consolas"/>
              </a:rPr>
              <a:t>length of the sequence of consecutive 1s</a:t>
            </a: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=6</a:t>
            </a:r>
            <a:b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r>
              <a:rPr lang="en-US" sz="1600" b="0" i="0" u="none" strike="noStrike" cap="none" dirty="0">
                <a:solidFill>
                  <a:srgbClr val="222222"/>
                </a:solidFill>
                <a:latin typeface="Roboto" panose="02000000000000000000" pitchFamily="2" charset="0"/>
                <a:ea typeface="Roboto" panose="02000000000000000000" pitchFamily="2" charset="0"/>
                <a:cs typeface="Roboto" panose="02000000000000000000" pitchFamily="2" charset="0"/>
                <a:sym typeface="Consolas"/>
              </a:rPr>
              <a:t> where the longest sequence of 1s is 6 long.</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cxnSp>
        <p:nvCxnSpPr>
          <p:cNvPr id="124" name="Google Shape;124;p22"/>
          <p:cNvCxnSpPr/>
          <p:nvPr/>
        </p:nvCxnSpPr>
        <p:spPr>
          <a:xfrm>
            <a:off x="4443577" y="1997617"/>
            <a:ext cx="0" cy="557700"/>
          </a:xfrm>
          <a:prstGeom prst="straightConnector1">
            <a:avLst/>
          </a:prstGeom>
          <a:noFill/>
          <a:ln w="19050" cap="flat" cmpd="sng">
            <a:solidFill>
              <a:schemeClr val="dk1"/>
            </a:solidFill>
            <a:prstDash val="solid"/>
            <a:round/>
            <a:headEnd type="none" w="sm" len="sm"/>
            <a:tailEnd type="triangle" w="med" len="med"/>
          </a:ln>
        </p:spPr>
      </p:cxnSp>
      <p:cxnSp>
        <p:nvCxnSpPr>
          <p:cNvPr id="126" name="Google Shape;126;p22"/>
          <p:cNvCxnSpPr/>
          <p:nvPr/>
        </p:nvCxnSpPr>
        <p:spPr>
          <a:xfrm>
            <a:off x="4572007" y="1997545"/>
            <a:ext cx="0" cy="557700"/>
          </a:xfrm>
          <a:prstGeom prst="straightConnector1">
            <a:avLst/>
          </a:prstGeom>
          <a:noFill/>
          <a:ln w="19050" cap="flat" cmpd="sng">
            <a:solidFill>
              <a:schemeClr val="dk1"/>
            </a:solidFill>
            <a:prstDash val="solid"/>
            <a:round/>
            <a:headEnd type="none" w="sm" len="sm"/>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34" name="Google Shape;134;p24"/>
          <p:cNvGraphicFramePr/>
          <p:nvPr/>
        </p:nvGraphicFramePr>
        <p:xfrm>
          <a:off x="185854" y="688387"/>
          <a:ext cx="8534400" cy="4143575"/>
        </p:xfrm>
        <a:graphic>
          <a:graphicData uri="http://schemas.openxmlformats.org/drawingml/2006/table">
            <a:tbl>
              <a:tblPr firstRow="1" bandRow="1">
                <a:noFill/>
                <a:tableStyleId>{48615137-8F65-4CA1-8C3B-6254DB6BAAB3}</a:tableStyleId>
              </a:tblPr>
              <a:tblGrid>
                <a:gridCol w="4329875">
                  <a:extLst>
                    <a:ext uri="{9D8B030D-6E8A-4147-A177-3AD203B41FA5}">
                      <a16:colId xmlns:a16="http://schemas.microsoft.com/office/drawing/2014/main" val="20000"/>
                    </a:ext>
                  </a:extLst>
                </a:gridCol>
                <a:gridCol w="4204525">
                  <a:extLst>
                    <a:ext uri="{9D8B030D-6E8A-4147-A177-3AD203B41FA5}">
                      <a16:colId xmlns:a16="http://schemas.microsoft.com/office/drawing/2014/main" val="20001"/>
                    </a:ext>
                  </a:extLst>
                </a:gridCol>
              </a:tblGrid>
              <a:tr h="4143575">
                <a:tc>
                  <a:txBody>
                    <a:bodyPr/>
                    <a:lstStyle/>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import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java.util.Scanner</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class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LongestSubarrayWithOnesAfterReplacement</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private static int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findMaxConsecutiveOnes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 a, int k)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maxOnes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Integer.MIN_VALUE</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numReplacements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windowStart</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for(int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windowEnd</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windowEnd</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a.length</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windowEnd</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if(a[</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windowEnd</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numReplacements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while(</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numReplacements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&gt; k)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if(a[</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windowStart</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numReplacements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windowStart</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maxOnes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Math.max</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maxOnes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windowEnd-windowStart+1);</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return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maxOnes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public static void main(String[]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args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int[] a = new int[]{1, 1, 1, 1, 0, 0, 0, 1, 1, 1, 1, 1, 0};</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int k = 1;</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int result =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findMaxConsecutiveOnes</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(a, k);</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System.out.printf</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("Length of longest contiguous subarray containing only 1s after replacement = %</a:t>
                      </a:r>
                      <a:r>
                        <a:rPr lang="en-US" sz="1400" b="0" i="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Arial"/>
                        </a:rPr>
                        <a:t>d%n</a:t>
                      </a: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result);</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  </a:t>
                      </a:r>
                      <a:endParaRPr dirty="0"/>
                    </a:p>
                    <a:p>
                      <a:pPr marL="0" marR="0" lvl="0" indent="0" algn="l" rtl="0">
                        <a:lnSpc>
                          <a:spcPct val="100000"/>
                        </a:lnSpc>
                        <a:spcBef>
                          <a:spcPts val="0"/>
                        </a:spcBef>
                        <a:spcAft>
                          <a:spcPts val="0"/>
                        </a:spcAft>
                        <a:buNone/>
                      </a:pPr>
                      <a:endParaRPr sz="145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2" name="Google Shape;142;p25"/>
          <p:cNvSpPr txBox="1"/>
          <p:nvPr/>
        </p:nvSpPr>
        <p:spPr>
          <a:xfrm>
            <a:off x="1334729" y="1633797"/>
            <a:ext cx="6902245" cy="156962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Time Complexity: O(n), where n is the number of bits in the binary representation of the given number.</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2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Space Complexity: O(1)</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43" name="Google Shape;143;p25"/>
          <p:cNvSpPr txBox="1"/>
          <p:nvPr/>
        </p:nvSpPr>
        <p:spPr>
          <a:xfrm>
            <a:off x="818535" y="915840"/>
            <a:ext cx="70497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Time Complexity and space complexity</a:t>
            </a: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g23f307fc558_0_8"/>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51" name="Google Shape;151;g23f307fc558_0_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52" name="Google Shape;152;g23f307fc558_0_8"/>
          <p:cNvSpPr txBox="1"/>
          <p:nvPr/>
        </p:nvSpPr>
        <p:spPr>
          <a:xfrm>
            <a:off x="513450" y="1037696"/>
            <a:ext cx="8117100" cy="130801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Describe the problem of finding the longest sequence of 1s after flipping a maximum of 'k' 0s.</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53" name="Google Shape;153;g23f307fc558_0_8"/>
          <p:cNvSpPr txBox="1"/>
          <p:nvPr/>
        </p:nvSpPr>
        <p:spPr>
          <a:xfrm>
            <a:off x="1007602" y="2140421"/>
            <a:ext cx="7200900"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This problem involves finding the longest contiguous subarray consisting of 1s, where we are allowed to flip at most 'k' 0s to 1s. The goal is to determine the maximum length of such a subarray.</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g23f307fc558_0_18"/>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61" name="Google Shape;161;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62" name="Google Shape;162;g23f307fc558_0_18"/>
          <p:cNvSpPr txBox="1"/>
          <p:nvPr/>
        </p:nvSpPr>
        <p:spPr>
          <a:xfrm>
            <a:off x="513450" y="1006846"/>
            <a:ext cx="8117100" cy="83095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500"/>
              </a:spcBef>
              <a:spcAft>
                <a:spcPts val="1500"/>
              </a:spcAft>
              <a:buNone/>
            </a:pPr>
            <a:r>
              <a:rPr lang="en-US" sz="20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time complexity of your solution?</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63" name="Google Shape;163;g23f307fc558_0_18"/>
          <p:cNvSpPr txBox="1"/>
          <p:nvPr/>
        </p:nvSpPr>
        <p:spPr>
          <a:xfrm>
            <a:off x="1166308" y="1673786"/>
            <a:ext cx="7200900" cy="217748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20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time complexity is O(n), where n is the length of the binary sequence. We iterate through the sequence only once, and each iteration takes constant time operations.</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50000"/>
              </a:lnSpc>
              <a:spcBef>
                <a:spcPts val="1500"/>
              </a:spcBef>
              <a:spcAft>
                <a:spcPts val="0"/>
              </a:spcAft>
              <a:buNone/>
            </a:pP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g23f307fc558_0_30"/>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71" name="Google Shape;171;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72" name="Google Shape;172;g23f307fc558_0_30"/>
          <p:cNvSpPr txBox="1"/>
          <p:nvPr/>
        </p:nvSpPr>
        <p:spPr>
          <a:xfrm>
            <a:off x="503288" y="1100633"/>
            <a:ext cx="8117100" cy="130801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How would you modify the solution if you were allowed to flip any number of 0s?</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73" name="Google Shape;173;g23f307fc558_0_30"/>
          <p:cNvSpPr txBox="1"/>
          <p:nvPr/>
        </p:nvSpPr>
        <p:spPr>
          <a:xfrm>
            <a:off x="1007602" y="2203358"/>
            <a:ext cx="7200900" cy="184662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If we can flip any number of 0s, we can simply count the number of 0s encountered and keep track of the maximum length of the sequence of 1s seen so far. Whenever we encounter a 0, we update the maximum length if necessary and reset the count of 0s.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g23f307fc558_0_79"/>
          <p:cNvPicPr preferRelativeResize="0"/>
          <p:nvPr/>
        </p:nvPicPr>
        <p:blipFill rotWithShape="1">
          <a:blip r:embed="rId3">
            <a:alphaModFix/>
          </a:blip>
          <a:srcRect r="53855"/>
          <a:stretch/>
        </p:blipFill>
        <p:spPr>
          <a:xfrm>
            <a:off x="8096776" y="1"/>
            <a:ext cx="1047224" cy="1102725"/>
          </a:xfrm>
          <a:prstGeom prst="rect">
            <a:avLst/>
          </a:prstGeom>
          <a:noFill/>
          <a:ln>
            <a:noFill/>
          </a:ln>
        </p:spPr>
      </p:pic>
      <p:sp>
        <p:nvSpPr>
          <p:cNvPr id="181" name="Google Shape;181;g23f307fc558_0_79"/>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2" name="Google Shape;182;g23f307fc558_0_79"/>
          <p:cNvSpPr txBox="1"/>
          <p:nvPr/>
        </p:nvSpPr>
        <p:spPr>
          <a:xfrm>
            <a:off x="513450" y="1110847"/>
            <a:ext cx="8117100"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space complexity of the given algorithm to find the longest sequence of 1s after flip?</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83" name="Google Shape;183;g23f307fc558_0_79"/>
          <p:cNvSpPr txBox="1"/>
          <p:nvPr/>
        </p:nvSpPr>
        <p:spPr>
          <a:xfrm>
            <a:off x="1121704" y="1818748"/>
            <a:ext cx="7200900" cy="226212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space complexity of the given algorithm is O(1), constant space. It does not use any extra space that grows with the input size. The algorithm only requires a few variables to keep track of the current length, maximum length, and the count of 0s encountered, which remain constant regardless of the input size.</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marL="0" marR="0" lvl="0" indent="0" algn="ctr" defTabSz="914400" rtl="0" eaLnBrk="1" fontAlgn="auto" latinLnBrk="0" hangingPunct="1">
              <a:lnSpc>
                <a:spcPct val="100000"/>
              </a:lnSpc>
              <a:spcBef>
                <a:spcPct val="0"/>
              </a:spcBef>
              <a:spcAft>
                <a:spcPts val="0"/>
              </a:spcAft>
              <a:buClr>
                <a:srgbClr val="000000"/>
              </a:buClr>
              <a:buSzPts val="1200"/>
              <a:buFontTx/>
              <a:buNone/>
              <a:tabLst/>
              <a:defRPr/>
            </a:pPr>
            <a:r>
              <a:rPr kumimoji="0" lang="en-US" altLang="en-US" sz="1200" b="0" i="0" u="none" strike="noStrike" kern="0" cap="none" spc="0" normalizeH="0" baseline="0" noProof="0" dirty="0">
                <a:ln>
                  <a:noFill/>
                </a:ln>
                <a:solidFill>
                  <a:srgbClr val="666666"/>
                </a:solidFill>
                <a:effectLst/>
                <a:uLnTx/>
                <a:uFillTx/>
                <a:latin typeface="Roboto" panose="02000000000000000000" pitchFamily="2" charset="0"/>
                <a:ea typeface="Roboto" panose="02000000000000000000" pitchFamily="2" charset="0"/>
                <a:cs typeface="Roboto" panose="02000000000000000000" pitchFamily="2" charset="0"/>
                <a:sym typeface="Roboto" panose="02000000000000000000" pitchFamily="2" charset="0"/>
                <a:hlinkClick r:id="rId4"/>
              </a:rPr>
              <a:t>https://learn.codemithra.com</a:t>
            </a:r>
            <a:endParaRPr kumimoji="0" lang="en-US" altLang="en-US" sz="1200" b="0" i="0" u="none" strike="noStrike" kern="0" cap="none" spc="0" normalizeH="0" baseline="0" noProof="0" dirty="0">
              <a:ln>
                <a:noFill/>
              </a:ln>
              <a:solidFill>
                <a:srgbClr val="666666"/>
              </a:solidFill>
              <a:effectLst/>
              <a:uLnTx/>
              <a:uFillTx/>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a:p>
            <a:pPr marL="0" marR="0" lvl="0" indent="0" algn="ctr" defTabSz="914400" rtl="0" eaLnBrk="1" fontAlgn="auto" latinLnBrk="0" hangingPunct="1">
              <a:lnSpc>
                <a:spcPct val="100000"/>
              </a:lnSpc>
              <a:spcBef>
                <a:spcPct val="0"/>
              </a:spcBef>
              <a:spcAft>
                <a:spcPts val="0"/>
              </a:spcAft>
              <a:buClr>
                <a:srgbClr val="000000"/>
              </a:buClr>
              <a:buSzPts val="1200"/>
              <a:buFontTx/>
              <a:buNone/>
              <a:tabLst/>
              <a:defRPr/>
            </a:pPr>
            <a:endParaRPr kumimoji="0" lang="en-US" altLang="en-US"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pPr>
              <a:lnSpc>
                <a:spcPct val="100000"/>
              </a:lnSpc>
              <a:buSzPts val="5200"/>
            </a:pPr>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pPr>
              <a:lnSpc>
                <a:spcPct val="100000"/>
              </a:lnSpc>
              <a:spcBef>
                <a:spcPts val="0"/>
              </a:spcBef>
              <a:buSzPts val="2800"/>
            </a:pPr>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700"/>
              <a:buFont typeface="Arial"/>
              <a:buNone/>
              <a:tabLst/>
              <a:defRPr/>
            </a:pPr>
            <a:r>
              <a:rPr kumimoji="0" lang="en-IN" sz="3700" b="0" i="0" u="none" strike="noStrike" kern="0" cap="none" spc="0" normalizeH="0" baseline="0" noProof="0" dirty="0">
                <a:ln>
                  <a:noFill/>
                </a:ln>
                <a:solidFill>
                  <a:srgbClr val="FFFFFF"/>
                </a:solidFill>
                <a:effectLst/>
                <a:uLnTx/>
                <a:uFillTx/>
                <a:latin typeface="Roboto Medium"/>
                <a:ea typeface="Roboto Medium"/>
                <a:cs typeface="Roboto Medium"/>
                <a:sym typeface="Roboto Medium"/>
              </a:rPr>
              <a:t>THANK YOU</a:t>
            </a:r>
            <a:endParaRPr kumimoji="0" sz="3700" b="0" i="0" u="none" strike="noStrike" kern="0" cap="none" spc="0" normalizeH="0" baseline="0" noProof="0" dirty="0">
              <a:ln>
                <a:noFill/>
              </a:ln>
              <a:solidFill>
                <a:srgbClr val="FFFFFF"/>
              </a:solidFill>
              <a:effectLst/>
              <a:uLnTx/>
              <a:uFillTx/>
              <a:latin typeface="Roboto Medium"/>
              <a:ea typeface="Roboto Medium"/>
              <a:cs typeface="Roboto Medium"/>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IN" sz="1000" b="0" i="0" u="none" strike="noStrike" kern="0" cap="none" spc="0" normalizeH="0" baseline="0" noProof="0">
                <a:ln>
                  <a:noFill/>
                </a:ln>
                <a:solidFill>
                  <a:srgbClr val="FFFFFF"/>
                </a:solidFill>
                <a:effectLst/>
                <a:uLnTx/>
                <a:uFillTx/>
                <a:latin typeface="Roboto Medium"/>
                <a:ea typeface="Roboto Medium"/>
                <a:cs typeface="Roboto Medium"/>
                <a:sym typeface="Roboto Medium"/>
              </a:rPr>
              <a:t>+91 78150 95095</a:t>
            </a:r>
            <a:endParaRPr kumimoji="0" sz="1000" b="0" i="0" u="none" strike="noStrike" kern="0" cap="none" spc="0" normalizeH="0" baseline="0" noProof="0">
              <a:ln>
                <a:noFill/>
              </a:ln>
              <a:solidFill>
                <a:srgbClr val="FFFFFF"/>
              </a:solidFill>
              <a:effectLst/>
              <a:uLnTx/>
              <a:uFillTx/>
              <a:latin typeface="Roboto Medium"/>
              <a:ea typeface="Roboto Medium"/>
              <a:cs typeface="Roboto Medium"/>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IN" sz="1000" b="0" i="0" u="none" strike="noStrike" kern="0" cap="none" spc="0" normalizeH="0" baseline="0" noProof="0">
                <a:ln>
                  <a:noFill/>
                </a:ln>
                <a:solidFill>
                  <a:srgbClr val="FFFFFF"/>
                </a:solidFill>
                <a:effectLst/>
                <a:uLnTx/>
                <a:uFillTx/>
                <a:latin typeface="Roboto Medium"/>
                <a:ea typeface="Roboto Medium"/>
                <a:cs typeface="Roboto Medium"/>
                <a:sym typeface="Roboto Medium"/>
              </a:rPr>
              <a:t>codemithra@ethnus.com</a:t>
            </a:r>
            <a:endParaRPr kumimoji="0" sz="1000" b="0" i="0" u="none" strike="noStrike" kern="0" cap="none" spc="0" normalizeH="0" baseline="0" noProof="0">
              <a:ln>
                <a:noFill/>
              </a:ln>
              <a:solidFill>
                <a:srgbClr val="FFFFFF"/>
              </a:solidFill>
              <a:effectLst/>
              <a:uLnTx/>
              <a:uFillTx/>
              <a:latin typeface="Roboto Medium"/>
              <a:ea typeface="Roboto Medium"/>
              <a:cs typeface="Roboto Medium"/>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IN" sz="1000" b="0" i="0" u="none" strike="noStrike" kern="0" cap="none" spc="0" normalizeH="0" baseline="0" noProof="0">
                <a:ln>
                  <a:noFill/>
                </a:ln>
                <a:solidFill>
                  <a:srgbClr val="FFFFFF"/>
                </a:solidFill>
                <a:effectLst/>
                <a:uLnTx/>
                <a:uFillTx/>
                <a:latin typeface="Roboto Medium"/>
                <a:ea typeface="Roboto Medium"/>
                <a:cs typeface="Roboto Medium"/>
                <a:sym typeface="Roboto Medium"/>
              </a:rPr>
              <a:t>www.codemithra.com</a:t>
            </a:r>
            <a:endParaRPr kumimoji="0" sz="1000" b="0" i="0" u="none" strike="noStrike" kern="0" cap="none" spc="0" normalizeH="0" baseline="0" noProof="0">
              <a:ln>
                <a:noFill/>
              </a:ln>
              <a:solidFill>
                <a:srgbClr val="FFFFFF"/>
              </a:solidFill>
              <a:effectLst/>
              <a:uLnTx/>
              <a:uFillTx/>
              <a:latin typeface="Roboto Medium"/>
              <a:ea typeface="Roboto Medium"/>
              <a:cs typeface="Roboto Medium"/>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873</Words>
  <Application>Microsoft Office PowerPoint</Application>
  <PresentationFormat>On-screen Show (16:9)</PresentationFormat>
  <Paragraphs>111</Paragraphs>
  <Slides>17</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Roboto</vt:lpstr>
      <vt:lpstr>Roboto Medium</vt:lpstr>
      <vt:lpstr>Arial</vt:lpstr>
      <vt:lpstr>Calibri</vt:lpstr>
      <vt:lpstr>Simple Light</vt:lpstr>
      <vt:lpstr>1_Simple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2</cp:revision>
  <dcterms:modified xsi:type="dcterms:W3CDTF">2024-07-15T05:06:44Z</dcterms:modified>
</cp:coreProperties>
</file>