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76" r:id="rId2"/>
    <p:sldId id="277"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806" r:id="rId21"/>
    <p:sldId id="807" r:id="rId22"/>
  </p:sldIdLst>
  <p:sldSz cx="9144000" cy="5143500" type="screen16x9"/>
  <p:notesSz cx="6858000" cy="9144000"/>
  <p:embeddedFontLst>
    <p:embeddedFont>
      <p:font typeface="Roboto" panose="02000000000000000000" pitchFamily="2" charset="0"/>
      <p:regular r:id="rId24"/>
      <p:bold r:id="rId25"/>
      <p:italic r:id="rId26"/>
      <p:boldItalic r:id="rId27"/>
    </p:embeddedFont>
    <p:embeddedFont>
      <p:font typeface="Roboto Black" panose="02000000000000000000" pitchFamily="2" charset="0"/>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ms9UeUUDZ4+o9ZtJ5NzQhEieA7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D4F47D-264E-45BD-8312-B03B0081F61C}">
  <a:tblStyle styleId="{FFD4F47D-264E-45BD-8312-B03B0081F61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b="off" i="off"/>
      <a:tcStyle>
        <a:tcBdr/>
        <a:fill>
          <a:solidFill>
            <a:srgbClr val="CDD8FB"/>
          </a:solidFill>
        </a:fill>
      </a:tcStyle>
    </a:band1H>
    <a:band2H>
      <a:tcTxStyle b="off" i="off"/>
      <a:tcStyle>
        <a:tcBdr/>
      </a:tcStyle>
    </a:band2H>
    <a:band1V>
      <a:tcTxStyle b="off" i="off"/>
      <a:tcStyle>
        <a:tcBdr/>
        <a:fill>
          <a:solidFill>
            <a:srgbClr val="CDD8FB"/>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3f307fc558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
        <p:nvSpPr>
          <p:cNvPr id="58" name="Google Shape;58;g23f307fc558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3: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3: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1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1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1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 name="Google Shape;148;p2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22: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22: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4: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24: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7" name="Google Shape;187;p2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3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3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p3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3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0" name="Google Shape;220;p3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8: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3" name="Google Shape;233;p38: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39: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2" name="Google Shape;242;p39: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3f307fc55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23f307fc558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3f307fc55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23f307fc558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3f307fc55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23f307fc558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p56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9" name="Google Shape;5199;p56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extLst>
      <p:ext uri="{BB962C8B-B14F-4D97-AF65-F5344CB8AC3E}">
        <p14:creationId xmlns:p14="http://schemas.microsoft.com/office/powerpoint/2010/main" val="2905292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800"/>
              <a:buFont typeface="Calibri"/>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3" name="Google Shape;13;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chemeClr val="dk1"/>
              </a:buClr>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1200"/>
              </a:spcBef>
              <a:spcAft>
                <a:spcPts val="0"/>
              </a:spcAft>
              <a:buClr>
                <a:schemeClr val="dk1"/>
              </a:buClr>
              <a:buSzPts val="1400"/>
              <a:buChar char="○"/>
              <a:defRPr/>
            </a:lvl2pPr>
            <a:lvl3pPr marL="1371600" lvl="2" indent="-317500" algn="l">
              <a:lnSpc>
                <a:spcPct val="115000"/>
              </a:lnSpc>
              <a:spcBef>
                <a:spcPts val="1200"/>
              </a:spcBef>
              <a:spcAft>
                <a:spcPts val="0"/>
              </a:spcAft>
              <a:buClr>
                <a:schemeClr val="dk1"/>
              </a:buClr>
              <a:buSzPts val="1400"/>
              <a:buChar char="■"/>
              <a:defRPr/>
            </a:lvl3pPr>
            <a:lvl4pPr marL="1828800" lvl="3" indent="-317500" algn="l">
              <a:lnSpc>
                <a:spcPct val="115000"/>
              </a:lnSpc>
              <a:spcBef>
                <a:spcPts val="1200"/>
              </a:spcBef>
              <a:spcAft>
                <a:spcPts val="0"/>
              </a:spcAft>
              <a:buClr>
                <a:schemeClr val="dk1"/>
              </a:buClr>
              <a:buSzPts val="1400"/>
              <a:buChar char="●"/>
              <a:defRPr/>
            </a:lvl4pPr>
            <a:lvl5pPr marL="2286000" lvl="4" indent="-317500" algn="l">
              <a:lnSpc>
                <a:spcPct val="115000"/>
              </a:lnSpc>
              <a:spcBef>
                <a:spcPts val="1200"/>
              </a:spcBef>
              <a:spcAft>
                <a:spcPts val="0"/>
              </a:spcAft>
              <a:buClr>
                <a:schemeClr val="dk1"/>
              </a:buClr>
              <a:buSzPts val="1400"/>
              <a:buChar char="○"/>
              <a:defRPr/>
            </a:lvl5pPr>
            <a:lvl6pPr marL="2743200" lvl="5" indent="-317500" algn="l">
              <a:lnSpc>
                <a:spcPct val="115000"/>
              </a:lnSpc>
              <a:spcBef>
                <a:spcPts val="1200"/>
              </a:spcBef>
              <a:spcAft>
                <a:spcPts val="0"/>
              </a:spcAft>
              <a:buClr>
                <a:schemeClr val="dk1"/>
              </a:buClr>
              <a:buSzPts val="1400"/>
              <a:buChar char="■"/>
              <a:defRPr/>
            </a:lvl6pPr>
            <a:lvl7pPr marL="3200400" lvl="6" indent="-317500" algn="l">
              <a:lnSpc>
                <a:spcPct val="115000"/>
              </a:lnSpc>
              <a:spcBef>
                <a:spcPts val="1200"/>
              </a:spcBef>
              <a:spcAft>
                <a:spcPts val="0"/>
              </a:spcAft>
              <a:buClr>
                <a:schemeClr val="dk1"/>
              </a:buClr>
              <a:buSzPts val="1400"/>
              <a:buChar char="●"/>
              <a:defRPr/>
            </a:lvl7pPr>
            <a:lvl8pPr marL="3657600" lvl="7" indent="-317500" algn="l">
              <a:lnSpc>
                <a:spcPct val="115000"/>
              </a:lnSpc>
              <a:spcBef>
                <a:spcPts val="1200"/>
              </a:spcBef>
              <a:spcAft>
                <a:spcPts val="0"/>
              </a:spcAft>
              <a:buClr>
                <a:schemeClr val="dk1"/>
              </a:buClr>
              <a:buSzPts val="1400"/>
              <a:buChar char="○"/>
              <a:defRPr/>
            </a:lvl8pPr>
            <a:lvl9pPr marL="4114800" lvl="8" indent="-317500" algn="l">
              <a:lnSpc>
                <a:spcPct val="115000"/>
              </a:lnSpc>
              <a:spcBef>
                <a:spcPts val="1200"/>
              </a:spcBef>
              <a:spcAft>
                <a:spcPts val="1200"/>
              </a:spcAft>
              <a:buClr>
                <a:schemeClr val="dk1"/>
              </a:buClr>
              <a:buSzPts val="1400"/>
              <a:buChar char="■"/>
              <a:defRPr/>
            </a:lvl9pPr>
          </a:lstStyle>
          <a:p>
            <a:endParaRPr dirty="0"/>
          </a:p>
        </p:txBody>
      </p:sp>
      <p:sp>
        <p:nvSpPr>
          <p:cNvPr id="14" name="Google Shape;1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Roboto" panose="02000000000000000000" pitchFamily="2" charset="0"/>
                <a:ea typeface="Roboto" panose="02000000000000000000" pitchFamily="2" charset="0"/>
                <a:cs typeface="Roboto" panose="02000000000000000000" pitchFamily="2" charset="0"/>
                <a:sym typeface="Calibri"/>
              </a:defRPr>
            </a:lvl1pPr>
            <a:lvl2pPr marL="0" marR="0" lvl="1"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17" name="Google Shape;1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18" name="Google Shape;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dirty="0"/>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4" name="Google Shape;24;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5" name="Google Shape;25;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6" name="Google Shape;2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dirty="0"/>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dirty="0"/>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dirty="0"/>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atin typeface="Roboto" panose="02000000000000000000" pitchFamily="2" charset="0"/>
                <a:ea typeface="Roboto" panose="02000000000000000000" pitchFamily="2" charset="0"/>
                <a:cs typeface="Roboto" panose="02000000000000000000" pitchFamily="2" charset="0"/>
              </a:defRPr>
            </a:lvl1pPr>
          </a:lstStyle>
          <a:p>
            <a:endParaRPr dirty="0"/>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rPr dirty="0"/>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dirty="0"/>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dirty="0"/>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dirty="0"/>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pic>
        <p:nvPicPr>
          <p:cNvPr id="2" name="Google Shape;9;p10">
            <a:extLst>
              <a:ext uri="{FF2B5EF4-FFF2-40B4-BE49-F238E27FC236}">
                <a16:creationId xmlns:a16="http://schemas.microsoft.com/office/drawing/2014/main" id="{E22864B1-D9D7-F14B-0099-D660ABAC1273}"/>
              </a:ext>
            </a:extLst>
          </p:cNvPr>
          <p:cNvPicPr preferRelativeResize="0"/>
          <p:nvPr userDrawn="1"/>
        </p:nvPicPr>
        <p:blipFill rotWithShape="1">
          <a:blip r:embed="rId13">
            <a:alphaModFix/>
          </a:blip>
          <a:srcRect/>
          <a:stretch/>
        </p:blipFill>
        <p:spPr>
          <a:xfrm>
            <a:off x="0" y="0"/>
            <a:ext cx="9144003" cy="514350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orms.gle/prKvyLf9HCepeagW6"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hyperlink" Target="https://learn.codemithra.co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58" name="Google Shape;58;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59" name="Google Shape;59;p1"/>
          <p:cNvPicPr preferRelativeResize="0"/>
          <p:nvPr/>
        </p:nvPicPr>
        <p:blipFill rotWithShape="1">
          <a:blip r:embed="rId3">
            <a:alphaModFix/>
          </a:blip>
          <a:srcRect/>
          <a:stretch/>
        </p:blipFill>
        <p:spPr>
          <a:xfrm>
            <a:off x="0" y="0"/>
            <a:ext cx="9144003" cy="5143501"/>
          </a:xfrm>
          <a:prstGeom prst="rect">
            <a:avLst/>
          </a:prstGeom>
          <a:noFill/>
          <a:ln>
            <a:noFill/>
          </a:ln>
        </p:spPr>
      </p:pic>
      <p:pic>
        <p:nvPicPr>
          <p:cNvPr id="60" name="Google Shape;60;p1"/>
          <p:cNvPicPr preferRelativeResize="0"/>
          <p:nvPr/>
        </p:nvPicPr>
        <p:blipFill rotWithShape="1">
          <a:blip r:embed="rId4">
            <a:alphaModFix/>
          </a:blip>
          <a:srcRect/>
          <a:stretch/>
        </p:blipFill>
        <p:spPr>
          <a:xfrm>
            <a:off x="2504600" y="600288"/>
            <a:ext cx="4134799" cy="2923400"/>
          </a:xfrm>
          <a:prstGeom prst="rect">
            <a:avLst/>
          </a:prstGeom>
          <a:noFill/>
          <a:ln>
            <a:noFill/>
          </a:ln>
        </p:spPr>
      </p:pic>
      <p:pic>
        <p:nvPicPr>
          <p:cNvPr id="61" name="Google Shape;61;p1"/>
          <p:cNvPicPr preferRelativeResize="0"/>
          <p:nvPr/>
        </p:nvPicPr>
        <p:blipFill rotWithShape="1">
          <a:blip r:embed="rId5">
            <a:alphaModFix/>
          </a:blip>
          <a:srcRect/>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67" name="Google Shape;6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68" name="Google Shape;68;p2"/>
          <p:cNvPicPr preferRelativeResize="0"/>
          <p:nvPr/>
        </p:nvPicPr>
        <p:blipFill rotWithShape="1">
          <a:blip r:embed="rId3">
            <a:alphaModFix/>
          </a:blip>
          <a:srcRect/>
          <a:stretch/>
        </p:blipFill>
        <p:spPr>
          <a:xfrm>
            <a:off x="0" y="0"/>
            <a:ext cx="9144003" cy="5143501"/>
          </a:xfrm>
          <a:prstGeom prst="rect">
            <a:avLst/>
          </a:prstGeom>
          <a:noFill/>
          <a:ln>
            <a:noFill/>
          </a:ln>
        </p:spPr>
      </p:pic>
      <p:sp>
        <p:nvSpPr>
          <p:cNvPr id="69" name="Google Shape;69;p2"/>
          <p:cNvSpPr txBox="1"/>
          <p:nvPr/>
        </p:nvSpPr>
        <p:spPr>
          <a:xfrm>
            <a:off x="126380" y="1594922"/>
            <a:ext cx="4690948" cy="2449871"/>
          </a:xfrm>
          <a:prstGeom prst="rect">
            <a:avLst/>
          </a:prstGeom>
          <a:noFill/>
          <a:ln>
            <a:noFill/>
          </a:ln>
        </p:spPr>
        <p:txBody>
          <a:bodyPr spcFirstLastPara="1" wrap="square" lIns="91425" tIns="91425" rIns="91425" bIns="91425" anchor="t" anchorCtr="0">
            <a:spAutoFit/>
          </a:bodyPr>
          <a:lstStyle/>
          <a:p>
            <a:pPr algn="ctr">
              <a:lnSpc>
                <a:spcPct val="115000"/>
              </a:lnSpc>
            </a:pPr>
            <a:r>
              <a:rPr lang="en-US" sz="3200" i="0" u="none" strike="noStrike" cap="none" dirty="0">
                <a:solidFill>
                  <a:schemeClr val="bg1"/>
                </a:solidFill>
                <a:latin typeface="Roboto Black" panose="02000000000000000000" pitchFamily="2" charset="0"/>
                <a:ea typeface="Roboto Black" panose="02000000000000000000" pitchFamily="2" charset="0"/>
                <a:cs typeface="Roboto Black" panose="02000000000000000000" pitchFamily="2" charset="0"/>
                <a:sym typeface="Consolas"/>
              </a:rPr>
              <a:t>MAXIMUM EQUILIBRIUM SUM PROBLEM</a:t>
            </a:r>
            <a:endParaRPr lang="en-US" sz="3200" i="0" u="none" strike="noStrike" cap="none" dirty="0">
              <a:solidFill>
                <a:schemeClr val="bg1"/>
              </a:solidFill>
              <a:latin typeface="Roboto Black" panose="02000000000000000000" pitchFamily="2" charset="0"/>
              <a:ea typeface="Roboto Black" panose="02000000000000000000" pitchFamily="2" charset="0"/>
              <a:cs typeface="Roboto Black" panose="02000000000000000000" pitchFamily="2" charset="0"/>
              <a:sym typeface="Roboto Black"/>
            </a:endParaRPr>
          </a:p>
          <a:p>
            <a:pPr marL="0" marR="0" lvl="0" indent="0" algn="ctr" rtl="0">
              <a:lnSpc>
                <a:spcPct val="115000"/>
              </a:lnSpc>
              <a:spcBef>
                <a:spcPts val="0"/>
              </a:spcBef>
              <a:spcAft>
                <a:spcPts val="0"/>
              </a:spcAft>
              <a:buNone/>
            </a:pPr>
            <a:endParaRPr sz="3200" dirty="0">
              <a:solidFill>
                <a:schemeClr val="bg1"/>
              </a:solidFill>
              <a:latin typeface="Roboto Black" panose="02000000000000000000" pitchFamily="2" charset="0"/>
              <a:ea typeface="Roboto Black" panose="02000000000000000000" pitchFamily="2" charset="0"/>
              <a:cs typeface="Roboto Black" panose="020000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2" name="Google Shape;62;g23f307fc558_0_101"/>
          <p:cNvSpPr/>
          <p:nvPr/>
        </p:nvSpPr>
        <p:spPr>
          <a:xfrm>
            <a:off x="2147550" y="514549"/>
            <a:ext cx="5242200" cy="588175"/>
          </a:xfrm>
          <a:prstGeom prst="roundRect">
            <a:avLst>
              <a:gd name="adj" fmla="val 16667"/>
            </a:avLst>
          </a:prstGeom>
          <a:solidFill>
            <a:srgbClr val="FF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lt1"/>
                </a:solidFill>
                <a:latin typeface="Roboto" panose="02000000000000000000" pitchFamily="2" charset="0"/>
                <a:ea typeface="Roboto" panose="02000000000000000000" pitchFamily="2" charset="0"/>
                <a:cs typeface="Roboto" panose="02000000000000000000" pitchFamily="2" charset="0"/>
                <a:sym typeface="Consolas"/>
              </a:rPr>
              <a:t>TEST TIME ON MAXIMUM SUM OF HOURGLASS IN MATRIX</a:t>
            </a:r>
            <a:endParaRPr sz="1600" b="1" i="0" u="none" strike="noStrike" cap="none" dirty="0">
              <a:solidFill>
                <a:schemeClr val="lt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63" name="Google Shape;63;g23f307fc558_0_101"/>
          <p:cNvSpPr txBox="1">
            <a:spLocks noGrp="1"/>
          </p:cNvSpPr>
          <p:nvPr>
            <p:ph type="body" idx="1"/>
          </p:nvPr>
        </p:nvSpPr>
        <p:spPr>
          <a:xfrm>
            <a:off x="729200" y="1231900"/>
            <a:ext cx="80862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sz="2500" b="1" dirty="0">
                <a:solidFill>
                  <a:schemeClr val="dk1"/>
                </a:solidFill>
                <a:highlight>
                  <a:srgbClr val="FFFFFF"/>
                </a:highlight>
              </a:rPr>
              <a:t>URL</a:t>
            </a:r>
            <a:r>
              <a:rPr lang="en-US" sz="2500" b="1" dirty="0">
                <a:solidFill>
                  <a:srgbClr val="373737"/>
                </a:solidFill>
                <a:highlight>
                  <a:srgbClr val="FFFFFF"/>
                </a:highlight>
              </a:rPr>
              <a:t>:</a:t>
            </a:r>
            <a:r>
              <a:rPr lang="en-US" sz="2500" b="1" u="sng" dirty="0">
                <a:solidFill>
                  <a:schemeClr val="hlink"/>
                </a:solidFill>
                <a:highlight>
                  <a:srgbClr val="FFFFFF"/>
                </a:highlight>
                <a:hlinkClick r:id="rId3"/>
              </a:rPr>
              <a:t>https://forms.gle/prKvyLf9HCepeagW6</a:t>
            </a:r>
            <a:endParaRPr sz="1900" b="1" dirty="0">
              <a:solidFill>
                <a:schemeClr val="dk1"/>
              </a:solidFill>
              <a:highlight>
                <a:srgbClr val="FFFFFF"/>
              </a:highlight>
            </a:endParaRPr>
          </a:p>
          <a:p>
            <a:pPr marL="0" lvl="0" indent="0" algn="l" rtl="0">
              <a:lnSpc>
                <a:spcPct val="115000"/>
              </a:lnSpc>
              <a:spcBef>
                <a:spcPts val="0"/>
              </a:spcBef>
              <a:spcAft>
                <a:spcPts val="0"/>
              </a:spcAft>
              <a:buSzPts val="1800"/>
              <a:buNone/>
            </a:pPr>
            <a:r>
              <a:rPr lang="en-US" sz="2400" b="1" dirty="0">
                <a:solidFill>
                  <a:schemeClr val="dk1"/>
                </a:solidFill>
                <a:highlight>
                  <a:srgbClr val="FFFFFF"/>
                </a:highlight>
              </a:rPr>
              <a:t>QR CODE</a:t>
            </a:r>
            <a:r>
              <a:rPr lang="en-US" sz="2400" b="1" dirty="0">
                <a:solidFill>
                  <a:srgbClr val="373737"/>
                </a:solidFill>
                <a:highlight>
                  <a:srgbClr val="FFFFFF"/>
                </a:highlight>
              </a:rPr>
              <a:t>:</a:t>
            </a:r>
            <a:endParaRPr sz="2400" b="1" dirty="0">
              <a:solidFill>
                <a:srgbClr val="373737"/>
              </a:solidFill>
              <a:highlight>
                <a:srgbClr val="FFFFFF"/>
              </a:highlight>
            </a:endParaRPr>
          </a:p>
        </p:txBody>
      </p:sp>
      <p:pic>
        <p:nvPicPr>
          <p:cNvPr id="64" name="Google Shape;64;g23f307fc558_0_101"/>
          <p:cNvPicPr preferRelativeResize="0"/>
          <p:nvPr/>
        </p:nvPicPr>
        <p:blipFill rotWithShape="1">
          <a:blip r:embed="rId4">
            <a:alphaModFix/>
          </a:blip>
          <a:srcRect/>
          <a:stretch/>
        </p:blipFill>
        <p:spPr>
          <a:xfrm>
            <a:off x="3254643" y="2082707"/>
            <a:ext cx="2780977" cy="26947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8" name="Google Shape;78;p13"/>
          <p:cNvSpPr/>
          <p:nvPr/>
        </p:nvSpPr>
        <p:spPr>
          <a:xfrm>
            <a:off x="1044000" y="1446533"/>
            <a:ext cx="7544880" cy="2246729"/>
          </a:xfrm>
          <a:prstGeom prst="rect">
            <a:avLst/>
          </a:prstGeom>
          <a:noFill/>
          <a:ln>
            <a:noFill/>
          </a:ln>
        </p:spPr>
        <p:txBody>
          <a:bodyPr spcFirstLastPara="1" wrap="square" lIns="91425" tIns="45700" rIns="91425" bIns="45700" anchor="t" anchorCtr="0">
            <a:spAutoFit/>
          </a:bodyPr>
          <a:lstStyle/>
          <a:p>
            <a:pPr marL="0" marR="0" lvl="0" indent="0" algn="just" rtl="0">
              <a:lnSpc>
                <a:spcPct val="20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The maximum equilibrium sum problem involves finding the split point in an array where the sum of elements on the left of that split is closest to equaling the sum of elements on the right of that split.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just" rtl="0">
              <a:lnSpc>
                <a:spcPct val="200000"/>
              </a:lnSpc>
              <a:spcBef>
                <a:spcPts val="0"/>
              </a:spcBef>
              <a:spcAft>
                <a:spcPts val="0"/>
              </a:spcAft>
              <a:buClr>
                <a:srgbClr val="000000"/>
              </a:buClr>
              <a:buSzPts val="1600"/>
              <a:buFont typeface="Arial"/>
              <a:buNone/>
            </a:pP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81" name="Google Shape;81;p13"/>
          <p:cNvSpPr/>
          <p:nvPr/>
        </p:nvSpPr>
        <p:spPr>
          <a:xfrm>
            <a:off x="1045150" y="883933"/>
            <a:ext cx="7544880" cy="58473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Introduction:</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88;p4">
            <a:extLst>
              <a:ext uri="{FF2B5EF4-FFF2-40B4-BE49-F238E27FC236}">
                <a16:creationId xmlns:a16="http://schemas.microsoft.com/office/drawing/2014/main" id="{1AF538C2-FF21-DFE1-28C6-CECE22C5CB8B}"/>
              </a:ext>
            </a:extLst>
          </p:cNvPr>
          <p:cNvSpPr txBox="1"/>
          <p:nvPr/>
        </p:nvSpPr>
        <p:spPr>
          <a:xfrm>
            <a:off x="363739" y="410346"/>
            <a:ext cx="7167051" cy="680156"/>
          </a:xfrm>
          <a:prstGeom prst="rect">
            <a:avLst/>
          </a:prstGeom>
          <a:noFill/>
          <a:ln>
            <a:solidFill>
              <a:schemeClr val="bg1"/>
            </a:solid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3500"/>
              <a:buFont typeface="Arial"/>
              <a:buNone/>
            </a:pPr>
            <a:r>
              <a:rPr lang="en-US" sz="2800" b="1" i="0" u="none" strike="noStrike" cap="none" dirty="0">
                <a:solidFill>
                  <a:schemeClr val="accent1"/>
                </a:solidFill>
                <a:latin typeface="Roboto" panose="02000000000000000000" pitchFamily="2" charset="0"/>
                <a:ea typeface="Roboto" panose="02000000000000000000" pitchFamily="2" charset="0"/>
                <a:cs typeface="Roboto" panose="02000000000000000000" pitchFamily="2" charset="0"/>
                <a:sym typeface="Consolas"/>
              </a:rPr>
              <a:t>MAXIMUM EQUILIBRIUM SUM PROBLEM</a:t>
            </a:r>
            <a:endParaRPr lang="en-US" sz="2800" b="1" i="0" u="none" strike="noStrike" cap="none" dirty="0">
              <a:solidFill>
                <a:schemeClr val="accent1"/>
              </a:solidFill>
              <a:latin typeface="Roboto" panose="02000000000000000000" pitchFamily="2" charset="0"/>
              <a:ea typeface="Roboto" panose="02000000000000000000" pitchFamily="2" charset="0"/>
              <a:cs typeface="Roboto" panose="02000000000000000000" pitchFamily="2" charset="0"/>
              <a:sym typeface="Roboto Blac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87" name="Google Shape;87;p15"/>
          <p:cNvSpPr/>
          <p:nvPr/>
        </p:nvSpPr>
        <p:spPr>
          <a:xfrm>
            <a:off x="1044000" y="1611533"/>
            <a:ext cx="3899260" cy="2169784"/>
          </a:xfrm>
          <a:prstGeom prst="rect">
            <a:avLst/>
          </a:prstGeom>
          <a:noFill/>
          <a:ln>
            <a:noFill/>
          </a:ln>
        </p:spPr>
        <p:txBody>
          <a:bodyPr spcFirstLastPara="1" wrap="square" lIns="91425" tIns="45700" rIns="91425" bIns="45700" anchor="t" anchorCtr="0">
            <a:spAutoFit/>
          </a:bodyPr>
          <a:lstStyle/>
          <a:p>
            <a:pPr marL="0" marR="0" lvl="2" indent="0" algn="l" rtl="0">
              <a:lnSpc>
                <a:spcPct val="150000"/>
              </a:lnSpc>
              <a:spcBef>
                <a:spcPts val="0"/>
              </a:spcBef>
              <a:spcAft>
                <a:spcPts val="0"/>
              </a:spcAft>
              <a:buClr>
                <a:srgbClr val="000000"/>
              </a:buClr>
              <a:buSzPts val="1800"/>
              <a:buFont typeface="Arial"/>
              <a:buChar char="•"/>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An </a:t>
            </a:r>
            <a:r>
              <a:rPr lang="en-US" sz="18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Equilibrium </a:t>
            </a:r>
            <a:r>
              <a:rPr lang="en-US" sz="1800" b="1"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S</a:t>
            </a:r>
            <a:r>
              <a:rPr lang="en-US" sz="18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um</a:t>
            </a:r>
            <a:r>
              <a:rPr lang="en-US" sz="1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 </a:t>
            </a: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is found at an index </a:t>
            </a:r>
            <a:r>
              <a:rPr lang="en-US" sz="1800" b="0" i="0" u="none" strike="noStrike" cap="none" dirty="0" err="1">
                <a:solidFill>
                  <a:srgbClr val="050E17"/>
                </a:solidFill>
                <a:latin typeface="Roboto" panose="02000000000000000000" pitchFamily="2" charset="0"/>
                <a:ea typeface="Roboto" panose="02000000000000000000" pitchFamily="2" charset="0"/>
                <a:cs typeface="Roboto" panose="02000000000000000000" pitchFamily="2" charset="0"/>
                <a:sym typeface="Consolas"/>
              </a:rPr>
              <a:t>i</a:t>
            </a: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where the sum of array elements from 0 to i-1 equals the sum of elements from </a:t>
            </a:r>
            <a:r>
              <a:rPr lang="en-US" sz="1800" b="0" i="0" u="none" strike="noStrike" cap="none" dirty="0" err="1">
                <a:solidFill>
                  <a:srgbClr val="050E17"/>
                </a:solidFill>
                <a:latin typeface="Roboto" panose="02000000000000000000" pitchFamily="2" charset="0"/>
                <a:ea typeface="Roboto" panose="02000000000000000000" pitchFamily="2" charset="0"/>
                <a:cs typeface="Roboto" panose="02000000000000000000" pitchFamily="2" charset="0"/>
                <a:sym typeface="Consolas"/>
              </a:rPr>
              <a:t>i</a:t>
            </a: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to the end of the array.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90" name="Google Shape;90;p15"/>
          <p:cNvSpPr/>
          <p:nvPr/>
        </p:nvSpPr>
        <p:spPr>
          <a:xfrm>
            <a:off x="1052025" y="815183"/>
            <a:ext cx="7544880"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a:t>
            </a:r>
            <a:r>
              <a:rPr lang="en-US" sz="18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Equilibrium Sum vs Maximum Equilibrium Sum</a:t>
            </a:r>
            <a:endParaRPr sz="1600" b="1"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91" name="Google Shape;91;p15"/>
          <p:cNvSpPr/>
          <p:nvPr/>
        </p:nvSpPr>
        <p:spPr>
          <a:xfrm>
            <a:off x="5115139" y="1578308"/>
            <a:ext cx="3468015" cy="307772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Char char="•"/>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The </a:t>
            </a:r>
            <a:r>
              <a:rPr lang="en-US" sz="18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Maximum Equilibrium Sum</a:t>
            </a: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is found by choosing the split point </a:t>
            </a:r>
            <a:r>
              <a:rPr lang="en-US" sz="1800" b="0" i="0" u="none" strike="noStrike" cap="none" dirty="0" err="1">
                <a:solidFill>
                  <a:srgbClr val="050E17"/>
                </a:solidFill>
                <a:latin typeface="Roboto" panose="02000000000000000000" pitchFamily="2" charset="0"/>
                <a:ea typeface="Roboto" panose="02000000000000000000" pitchFamily="2" charset="0"/>
                <a:cs typeface="Roboto" panose="02000000000000000000" pitchFamily="2" charset="0"/>
                <a:sym typeface="Consolas"/>
              </a:rPr>
              <a:t>i</a:t>
            </a: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where the absolute difference between the left sum and right sum is the smallest.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200000"/>
              </a:lnSpc>
              <a:spcBef>
                <a:spcPts val="0"/>
              </a:spcBef>
              <a:spcAft>
                <a:spcPts val="0"/>
              </a:spcAft>
              <a:buClr>
                <a:srgbClr val="000000"/>
              </a:buClr>
              <a:buSzPts val="1600"/>
              <a:buFont typeface="Arial"/>
              <a:buNone/>
            </a:pP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10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fade">
                                      <p:cBhvr>
                                        <p:cTn id="12" dur="500"/>
                                        <p:tgtEl>
                                          <p:spTgt spid="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fade">
                                      <p:cBhvr>
                                        <p:cTn id="1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97" name="Google Shape;97;p16"/>
          <p:cNvSpPr/>
          <p:nvPr/>
        </p:nvSpPr>
        <p:spPr>
          <a:xfrm>
            <a:off x="100739" y="949455"/>
            <a:ext cx="8903776" cy="6155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Finding the </a:t>
            </a:r>
            <a:r>
              <a:rPr lang="en-US" sz="18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Maximum Equilibrium Sum</a:t>
            </a: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of the array {1, 2, 3, 5, 3,2,1}</a:t>
            </a:r>
            <a:b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b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00" name="Google Shape;100;p16"/>
          <p:cNvSpPr txBox="1"/>
          <p:nvPr/>
        </p:nvSpPr>
        <p:spPr>
          <a:xfrm>
            <a:off x="1044001" y="150664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at index 0:</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01" name="Google Shape;101;p16"/>
          <p:cNvGraphicFramePr/>
          <p:nvPr/>
        </p:nvGraphicFramePr>
        <p:xfrm>
          <a:off x="6487805" y="2228941"/>
          <a:ext cx="1937250" cy="370850"/>
        </p:xfrm>
        <a:graphic>
          <a:graphicData uri="http://schemas.openxmlformats.org/drawingml/2006/table">
            <a:tbl>
              <a:tblPr firstRow="1" bandRow="1">
                <a:noFill/>
                <a:tableStyleId>{FFD4F47D-264E-45BD-8312-B03B0081F61C}</a:tableStyleId>
              </a:tblPr>
              <a:tblGrid>
                <a:gridCol w="276750">
                  <a:extLst>
                    <a:ext uri="{9D8B030D-6E8A-4147-A177-3AD203B41FA5}">
                      <a16:colId xmlns:a16="http://schemas.microsoft.com/office/drawing/2014/main" val="20000"/>
                    </a:ext>
                  </a:extLst>
                </a:gridCol>
                <a:gridCol w="276750">
                  <a:extLst>
                    <a:ext uri="{9D8B030D-6E8A-4147-A177-3AD203B41FA5}">
                      <a16:colId xmlns:a16="http://schemas.microsoft.com/office/drawing/2014/main" val="20001"/>
                    </a:ext>
                  </a:extLst>
                </a:gridCol>
                <a:gridCol w="276750">
                  <a:extLst>
                    <a:ext uri="{9D8B030D-6E8A-4147-A177-3AD203B41FA5}">
                      <a16:colId xmlns:a16="http://schemas.microsoft.com/office/drawing/2014/main" val="20002"/>
                    </a:ext>
                  </a:extLst>
                </a:gridCol>
                <a:gridCol w="276750">
                  <a:extLst>
                    <a:ext uri="{9D8B030D-6E8A-4147-A177-3AD203B41FA5}">
                      <a16:colId xmlns:a16="http://schemas.microsoft.com/office/drawing/2014/main" val="20003"/>
                    </a:ext>
                  </a:extLst>
                </a:gridCol>
                <a:gridCol w="276750">
                  <a:extLst>
                    <a:ext uri="{9D8B030D-6E8A-4147-A177-3AD203B41FA5}">
                      <a16:colId xmlns:a16="http://schemas.microsoft.com/office/drawing/2014/main" val="20004"/>
                    </a:ext>
                  </a:extLst>
                </a:gridCol>
                <a:gridCol w="276750">
                  <a:extLst>
                    <a:ext uri="{9D8B030D-6E8A-4147-A177-3AD203B41FA5}">
                      <a16:colId xmlns:a16="http://schemas.microsoft.com/office/drawing/2014/main" val="20005"/>
                    </a:ext>
                  </a:extLst>
                </a:gridCol>
                <a:gridCol w="276750">
                  <a:extLst>
                    <a:ext uri="{9D8B030D-6E8A-4147-A177-3AD203B41FA5}">
                      <a16:colId xmlns:a16="http://schemas.microsoft.com/office/drawing/2014/main" val="20006"/>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5</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extLst>
                  <a:ext uri="{0D108BD9-81ED-4DB2-BD59-A6C34878D82A}">
                    <a16:rowId xmlns:a16="http://schemas.microsoft.com/office/drawing/2014/main" val="10000"/>
                  </a:ext>
                </a:extLst>
              </a:tr>
            </a:tbl>
          </a:graphicData>
        </a:graphic>
      </p:graphicFrame>
      <p:graphicFrame>
        <p:nvGraphicFramePr>
          <p:cNvPr id="102" name="Google Shape;102;p16"/>
          <p:cNvGraphicFramePr/>
          <p:nvPr/>
        </p:nvGraphicFramePr>
        <p:xfrm>
          <a:off x="6487804" y="3002504"/>
          <a:ext cx="1937250" cy="370850"/>
        </p:xfrm>
        <a:graphic>
          <a:graphicData uri="http://schemas.openxmlformats.org/drawingml/2006/table">
            <a:tbl>
              <a:tblPr firstRow="1" bandRow="1">
                <a:noFill/>
                <a:tableStyleId>{FFD4F47D-264E-45BD-8312-B03B0081F61C}</a:tableStyleId>
              </a:tblPr>
              <a:tblGrid>
                <a:gridCol w="276750">
                  <a:extLst>
                    <a:ext uri="{9D8B030D-6E8A-4147-A177-3AD203B41FA5}">
                      <a16:colId xmlns:a16="http://schemas.microsoft.com/office/drawing/2014/main" val="20000"/>
                    </a:ext>
                  </a:extLst>
                </a:gridCol>
                <a:gridCol w="276750">
                  <a:extLst>
                    <a:ext uri="{9D8B030D-6E8A-4147-A177-3AD203B41FA5}">
                      <a16:colId xmlns:a16="http://schemas.microsoft.com/office/drawing/2014/main" val="20001"/>
                    </a:ext>
                  </a:extLst>
                </a:gridCol>
                <a:gridCol w="276750">
                  <a:extLst>
                    <a:ext uri="{9D8B030D-6E8A-4147-A177-3AD203B41FA5}">
                      <a16:colId xmlns:a16="http://schemas.microsoft.com/office/drawing/2014/main" val="20002"/>
                    </a:ext>
                  </a:extLst>
                </a:gridCol>
                <a:gridCol w="276750">
                  <a:extLst>
                    <a:ext uri="{9D8B030D-6E8A-4147-A177-3AD203B41FA5}">
                      <a16:colId xmlns:a16="http://schemas.microsoft.com/office/drawing/2014/main" val="20003"/>
                    </a:ext>
                  </a:extLst>
                </a:gridCol>
                <a:gridCol w="276750">
                  <a:extLst>
                    <a:ext uri="{9D8B030D-6E8A-4147-A177-3AD203B41FA5}">
                      <a16:colId xmlns:a16="http://schemas.microsoft.com/office/drawing/2014/main" val="20004"/>
                    </a:ext>
                  </a:extLst>
                </a:gridCol>
                <a:gridCol w="276750">
                  <a:extLst>
                    <a:ext uri="{9D8B030D-6E8A-4147-A177-3AD203B41FA5}">
                      <a16:colId xmlns:a16="http://schemas.microsoft.com/office/drawing/2014/main" val="20005"/>
                    </a:ext>
                  </a:extLst>
                </a:gridCol>
                <a:gridCol w="276750">
                  <a:extLst>
                    <a:ext uri="{9D8B030D-6E8A-4147-A177-3AD203B41FA5}">
                      <a16:colId xmlns:a16="http://schemas.microsoft.com/office/drawing/2014/main" val="20006"/>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0</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5</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extLst>
                  <a:ext uri="{0D108BD9-81ED-4DB2-BD59-A6C34878D82A}">
                    <a16:rowId xmlns:a16="http://schemas.microsoft.com/office/drawing/2014/main" val="10000"/>
                  </a:ext>
                </a:extLst>
              </a:tr>
            </a:tbl>
          </a:graphicData>
        </a:graphic>
      </p:graphicFrame>
      <p:cxnSp>
        <p:nvCxnSpPr>
          <p:cNvPr id="103" name="Google Shape;103;p16"/>
          <p:cNvCxnSpPr/>
          <p:nvPr/>
        </p:nvCxnSpPr>
        <p:spPr>
          <a:xfrm rot="10800000">
            <a:off x="6617776" y="2599781"/>
            <a:ext cx="0" cy="319428"/>
          </a:xfrm>
          <a:prstGeom prst="straightConnector1">
            <a:avLst/>
          </a:prstGeom>
          <a:noFill/>
          <a:ln w="9525" cap="flat" cmpd="sng">
            <a:solidFill>
              <a:srgbClr val="3B7FF2"/>
            </a:solidFill>
            <a:prstDash val="solid"/>
            <a:round/>
            <a:headEnd type="none" w="sm" len="sm"/>
            <a:tailEnd type="triangle" w="med" len="med"/>
          </a:ln>
        </p:spPr>
      </p:cxnSp>
      <p:cxnSp>
        <p:nvCxnSpPr>
          <p:cNvPr id="104" name="Google Shape;104;p16"/>
          <p:cNvCxnSpPr/>
          <p:nvPr/>
        </p:nvCxnSpPr>
        <p:spPr>
          <a:xfrm rot="10800000">
            <a:off x="6919993" y="2600216"/>
            <a:ext cx="0" cy="319428"/>
          </a:xfrm>
          <a:prstGeom prst="straightConnector1">
            <a:avLst/>
          </a:prstGeom>
          <a:noFill/>
          <a:ln w="9525" cap="flat" cmpd="sng">
            <a:solidFill>
              <a:srgbClr val="3B7FF2"/>
            </a:solidFill>
            <a:prstDash val="solid"/>
            <a:round/>
            <a:headEnd type="none" w="sm" len="sm"/>
            <a:tailEnd type="triangle" w="med" len="med"/>
          </a:ln>
        </p:spPr>
      </p:cxnSp>
      <p:cxnSp>
        <p:nvCxnSpPr>
          <p:cNvPr id="105" name="Google Shape;105;p16"/>
          <p:cNvCxnSpPr/>
          <p:nvPr/>
        </p:nvCxnSpPr>
        <p:spPr>
          <a:xfrm rot="10800000">
            <a:off x="7178298" y="2589884"/>
            <a:ext cx="0" cy="319428"/>
          </a:xfrm>
          <a:prstGeom prst="straightConnector1">
            <a:avLst/>
          </a:prstGeom>
          <a:noFill/>
          <a:ln w="9525" cap="flat" cmpd="sng">
            <a:solidFill>
              <a:srgbClr val="3B7FF2"/>
            </a:solidFill>
            <a:prstDash val="solid"/>
            <a:round/>
            <a:headEnd type="none" w="sm" len="sm"/>
            <a:tailEnd type="triangle" w="med" len="med"/>
          </a:ln>
        </p:spPr>
      </p:cxnSp>
      <p:sp>
        <p:nvSpPr>
          <p:cNvPr id="106" name="Google Shape;106;p16"/>
          <p:cNvSpPr txBox="1"/>
          <p:nvPr/>
        </p:nvSpPr>
        <p:spPr>
          <a:xfrm>
            <a:off x="1045151" y="16934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07" name="Google Shape;107;p16"/>
          <p:cNvSpPr txBox="1"/>
          <p:nvPr/>
        </p:nvSpPr>
        <p:spPr>
          <a:xfrm>
            <a:off x="1039426" y="19008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16 (2 + 3 + 5 + 3 + 2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08" name="Google Shape;108;p16"/>
          <p:cNvSpPr txBox="1"/>
          <p:nvPr/>
        </p:nvSpPr>
        <p:spPr>
          <a:xfrm>
            <a:off x="1033701" y="21150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Absolute difference = 15</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09" name="Google Shape;109;p16"/>
          <p:cNvSpPr txBox="1"/>
          <p:nvPr/>
        </p:nvSpPr>
        <p:spPr>
          <a:xfrm>
            <a:off x="1038276" y="253904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at index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0" name="Google Shape;110;p16"/>
          <p:cNvSpPr txBox="1"/>
          <p:nvPr/>
        </p:nvSpPr>
        <p:spPr>
          <a:xfrm>
            <a:off x="1039426" y="27258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3</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1" name="Google Shape;111;p16"/>
          <p:cNvSpPr txBox="1"/>
          <p:nvPr/>
        </p:nvSpPr>
        <p:spPr>
          <a:xfrm>
            <a:off x="1033701" y="29332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14 (3 + 5 + 3 + 2 + 1)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2" name="Google Shape;112;p16"/>
          <p:cNvSpPr txBox="1"/>
          <p:nvPr/>
        </p:nvSpPr>
        <p:spPr>
          <a:xfrm>
            <a:off x="1027976" y="31474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Absolute difference = 11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3" name="Google Shape;113;p16"/>
          <p:cNvSpPr txBox="1"/>
          <p:nvPr/>
        </p:nvSpPr>
        <p:spPr>
          <a:xfrm>
            <a:off x="1046301" y="35508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at index 2:</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4" name="Google Shape;114;p16"/>
          <p:cNvSpPr txBox="1"/>
          <p:nvPr/>
        </p:nvSpPr>
        <p:spPr>
          <a:xfrm>
            <a:off x="1047451" y="37375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6</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5" name="Google Shape;115;p16"/>
          <p:cNvSpPr txBox="1"/>
          <p:nvPr/>
        </p:nvSpPr>
        <p:spPr>
          <a:xfrm>
            <a:off x="1041726" y="39449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11 (5 + 3 + 2 +1 )</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16" name="Google Shape;116;p16"/>
          <p:cNvSpPr txBox="1"/>
          <p:nvPr/>
        </p:nvSpPr>
        <p:spPr>
          <a:xfrm>
            <a:off x="1036001" y="415926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Absolute difference = 5</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fade">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Effect transition="in" filter="fade">
                                      <p:cBhvr>
                                        <p:cTn id="17" dur="500"/>
                                        <p:tgtEl>
                                          <p:spTgt spid="1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500"/>
                                        <p:tgtEl>
                                          <p:spTgt spid="10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1"/>
                                          </p:stCondLst>
                                        </p:cTn>
                                        <p:tgtEl>
                                          <p:spTgt spid="10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500"/>
                                        <p:tgtEl>
                                          <p:spTgt spid="10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1"/>
                                          </p:stCondLst>
                                        </p:cTn>
                                        <p:tgtEl>
                                          <p:spTgt spid="104"/>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05"/>
                                        </p:tgtEl>
                                        <p:attrNameLst>
                                          <p:attrName>style.visibility</p:attrName>
                                        </p:attrNameLst>
                                      </p:cBhvr>
                                      <p:to>
                                        <p:strVal val="visible"/>
                                      </p:to>
                                    </p:set>
                                    <p:animEffect transition="in" filter="fade">
                                      <p:cBhvr>
                                        <p:cTn id="40" dur="500"/>
                                        <p:tgtEl>
                                          <p:spTgt spid="105"/>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1"/>
                                          </p:stCondLst>
                                        </p:cTn>
                                        <p:tgtEl>
                                          <p:spTgt spid="10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fade">
                                      <p:cBhvr>
                                        <p:cTn id="49" dur="500"/>
                                        <p:tgtEl>
                                          <p:spTgt spid="10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06"/>
                                        </p:tgtEl>
                                        <p:attrNameLst>
                                          <p:attrName>style.visibility</p:attrName>
                                        </p:attrNameLst>
                                      </p:cBhvr>
                                      <p:to>
                                        <p:strVal val="visible"/>
                                      </p:to>
                                    </p:set>
                                    <p:animEffect transition="in" filter="fade">
                                      <p:cBhvr>
                                        <p:cTn id="54" dur="500"/>
                                        <p:tgtEl>
                                          <p:spTgt spid="10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07"/>
                                        </p:tgtEl>
                                        <p:attrNameLst>
                                          <p:attrName>style.visibility</p:attrName>
                                        </p:attrNameLst>
                                      </p:cBhvr>
                                      <p:to>
                                        <p:strVal val="visible"/>
                                      </p:to>
                                    </p:set>
                                    <p:animEffect transition="in" filter="fade">
                                      <p:cBhvr>
                                        <p:cTn id="59" dur="500"/>
                                        <p:tgtEl>
                                          <p:spTgt spid="10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08"/>
                                        </p:tgtEl>
                                        <p:attrNameLst>
                                          <p:attrName>style.visibility</p:attrName>
                                        </p:attrNameLst>
                                      </p:cBhvr>
                                      <p:to>
                                        <p:strVal val="visible"/>
                                      </p:to>
                                    </p:set>
                                    <p:animEffect transition="in" filter="fade">
                                      <p:cBhvr>
                                        <p:cTn id="64" dur="500"/>
                                        <p:tgtEl>
                                          <p:spTgt spid="10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09"/>
                                        </p:tgtEl>
                                        <p:attrNameLst>
                                          <p:attrName>style.visibility</p:attrName>
                                        </p:attrNameLst>
                                      </p:cBhvr>
                                      <p:to>
                                        <p:strVal val="visible"/>
                                      </p:to>
                                    </p:set>
                                    <p:animEffect transition="in" filter="fade">
                                      <p:cBhvr>
                                        <p:cTn id="69" dur="500"/>
                                        <p:tgtEl>
                                          <p:spTgt spid="10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10"/>
                                        </p:tgtEl>
                                        <p:attrNameLst>
                                          <p:attrName>style.visibility</p:attrName>
                                        </p:attrNameLst>
                                      </p:cBhvr>
                                      <p:to>
                                        <p:strVal val="visible"/>
                                      </p:to>
                                    </p:set>
                                    <p:animEffect transition="in" filter="fade">
                                      <p:cBhvr>
                                        <p:cTn id="74" dur="500"/>
                                        <p:tgtEl>
                                          <p:spTgt spid="11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11"/>
                                        </p:tgtEl>
                                        <p:attrNameLst>
                                          <p:attrName>style.visibility</p:attrName>
                                        </p:attrNameLst>
                                      </p:cBhvr>
                                      <p:to>
                                        <p:strVal val="visible"/>
                                      </p:to>
                                    </p:set>
                                    <p:animEffect transition="in" filter="fade">
                                      <p:cBhvr>
                                        <p:cTn id="79" dur="500"/>
                                        <p:tgtEl>
                                          <p:spTgt spid="11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12"/>
                                        </p:tgtEl>
                                        <p:attrNameLst>
                                          <p:attrName>style.visibility</p:attrName>
                                        </p:attrNameLst>
                                      </p:cBhvr>
                                      <p:to>
                                        <p:strVal val="visible"/>
                                      </p:to>
                                    </p:set>
                                    <p:animEffect transition="in" filter="fade">
                                      <p:cBhvr>
                                        <p:cTn id="84" dur="500"/>
                                        <p:tgtEl>
                                          <p:spTgt spid="11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13"/>
                                        </p:tgtEl>
                                        <p:attrNameLst>
                                          <p:attrName>style.visibility</p:attrName>
                                        </p:attrNameLst>
                                      </p:cBhvr>
                                      <p:to>
                                        <p:strVal val="visible"/>
                                      </p:to>
                                    </p:set>
                                    <p:animEffect transition="in" filter="fade">
                                      <p:cBhvr>
                                        <p:cTn id="89" dur="500"/>
                                        <p:tgtEl>
                                          <p:spTgt spid="11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14"/>
                                        </p:tgtEl>
                                        <p:attrNameLst>
                                          <p:attrName>style.visibility</p:attrName>
                                        </p:attrNameLst>
                                      </p:cBhvr>
                                      <p:to>
                                        <p:strVal val="visible"/>
                                      </p:to>
                                    </p:set>
                                    <p:animEffect transition="in" filter="fade">
                                      <p:cBhvr>
                                        <p:cTn id="94" dur="500"/>
                                        <p:tgtEl>
                                          <p:spTgt spid="114"/>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115"/>
                                        </p:tgtEl>
                                        <p:attrNameLst>
                                          <p:attrName>style.visibility</p:attrName>
                                        </p:attrNameLst>
                                      </p:cBhvr>
                                      <p:to>
                                        <p:strVal val="visible"/>
                                      </p:to>
                                    </p:set>
                                    <p:animEffect transition="in" filter="fade">
                                      <p:cBhvr>
                                        <p:cTn id="99" dur="500"/>
                                        <p:tgtEl>
                                          <p:spTgt spid="115"/>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116"/>
                                        </p:tgtEl>
                                        <p:attrNameLst>
                                          <p:attrName>style.visibility</p:attrName>
                                        </p:attrNameLst>
                                      </p:cBhvr>
                                      <p:to>
                                        <p:strVal val="visible"/>
                                      </p:to>
                                    </p:set>
                                    <p:animEffect transition="in" filter="fade">
                                      <p:cBhvr>
                                        <p:cTn id="104"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24" name="Google Shape;124;p17"/>
          <p:cNvGraphicFramePr/>
          <p:nvPr/>
        </p:nvGraphicFramePr>
        <p:xfrm>
          <a:off x="6487805" y="2228941"/>
          <a:ext cx="1937250" cy="370850"/>
        </p:xfrm>
        <a:graphic>
          <a:graphicData uri="http://schemas.openxmlformats.org/drawingml/2006/table">
            <a:tbl>
              <a:tblPr firstRow="1" bandRow="1">
                <a:noFill/>
                <a:tableStyleId>{FFD4F47D-264E-45BD-8312-B03B0081F61C}</a:tableStyleId>
              </a:tblPr>
              <a:tblGrid>
                <a:gridCol w="276750">
                  <a:extLst>
                    <a:ext uri="{9D8B030D-6E8A-4147-A177-3AD203B41FA5}">
                      <a16:colId xmlns:a16="http://schemas.microsoft.com/office/drawing/2014/main" val="20000"/>
                    </a:ext>
                  </a:extLst>
                </a:gridCol>
                <a:gridCol w="276750">
                  <a:extLst>
                    <a:ext uri="{9D8B030D-6E8A-4147-A177-3AD203B41FA5}">
                      <a16:colId xmlns:a16="http://schemas.microsoft.com/office/drawing/2014/main" val="20001"/>
                    </a:ext>
                  </a:extLst>
                </a:gridCol>
                <a:gridCol w="276750">
                  <a:extLst>
                    <a:ext uri="{9D8B030D-6E8A-4147-A177-3AD203B41FA5}">
                      <a16:colId xmlns:a16="http://schemas.microsoft.com/office/drawing/2014/main" val="20002"/>
                    </a:ext>
                  </a:extLst>
                </a:gridCol>
                <a:gridCol w="276750">
                  <a:extLst>
                    <a:ext uri="{9D8B030D-6E8A-4147-A177-3AD203B41FA5}">
                      <a16:colId xmlns:a16="http://schemas.microsoft.com/office/drawing/2014/main" val="20003"/>
                    </a:ext>
                  </a:extLst>
                </a:gridCol>
                <a:gridCol w="276750">
                  <a:extLst>
                    <a:ext uri="{9D8B030D-6E8A-4147-A177-3AD203B41FA5}">
                      <a16:colId xmlns:a16="http://schemas.microsoft.com/office/drawing/2014/main" val="20004"/>
                    </a:ext>
                  </a:extLst>
                </a:gridCol>
                <a:gridCol w="276750">
                  <a:extLst>
                    <a:ext uri="{9D8B030D-6E8A-4147-A177-3AD203B41FA5}">
                      <a16:colId xmlns:a16="http://schemas.microsoft.com/office/drawing/2014/main" val="20005"/>
                    </a:ext>
                  </a:extLst>
                </a:gridCol>
                <a:gridCol w="276750">
                  <a:extLst>
                    <a:ext uri="{9D8B030D-6E8A-4147-A177-3AD203B41FA5}">
                      <a16:colId xmlns:a16="http://schemas.microsoft.com/office/drawing/2014/main" val="20006"/>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5</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extLst>
                  <a:ext uri="{0D108BD9-81ED-4DB2-BD59-A6C34878D82A}">
                    <a16:rowId xmlns:a16="http://schemas.microsoft.com/office/drawing/2014/main" val="10000"/>
                  </a:ext>
                </a:extLst>
              </a:tr>
            </a:tbl>
          </a:graphicData>
        </a:graphic>
      </p:graphicFrame>
      <p:graphicFrame>
        <p:nvGraphicFramePr>
          <p:cNvPr id="125" name="Google Shape;125;p17"/>
          <p:cNvGraphicFramePr/>
          <p:nvPr/>
        </p:nvGraphicFramePr>
        <p:xfrm>
          <a:off x="6487804" y="3002504"/>
          <a:ext cx="1937250" cy="370850"/>
        </p:xfrm>
        <a:graphic>
          <a:graphicData uri="http://schemas.openxmlformats.org/drawingml/2006/table">
            <a:tbl>
              <a:tblPr firstRow="1" bandRow="1">
                <a:noFill/>
                <a:tableStyleId>{FFD4F47D-264E-45BD-8312-B03B0081F61C}</a:tableStyleId>
              </a:tblPr>
              <a:tblGrid>
                <a:gridCol w="276750">
                  <a:extLst>
                    <a:ext uri="{9D8B030D-6E8A-4147-A177-3AD203B41FA5}">
                      <a16:colId xmlns:a16="http://schemas.microsoft.com/office/drawing/2014/main" val="20000"/>
                    </a:ext>
                  </a:extLst>
                </a:gridCol>
                <a:gridCol w="276750">
                  <a:extLst>
                    <a:ext uri="{9D8B030D-6E8A-4147-A177-3AD203B41FA5}">
                      <a16:colId xmlns:a16="http://schemas.microsoft.com/office/drawing/2014/main" val="20001"/>
                    </a:ext>
                  </a:extLst>
                </a:gridCol>
                <a:gridCol w="276750">
                  <a:extLst>
                    <a:ext uri="{9D8B030D-6E8A-4147-A177-3AD203B41FA5}">
                      <a16:colId xmlns:a16="http://schemas.microsoft.com/office/drawing/2014/main" val="20002"/>
                    </a:ext>
                  </a:extLst>
                </a:gridCol>
                <a:gridCol w="276750">
                  <a:extLst>
                    <a:ext uri="{9D8B030D-6E8A-4147-A177-3AD203B41FA5}">
                      <a16:colId xmlns:a16="http://schemas.microsoft.com/office/drawing/2014/main" val="20003"/>
                    </a:ext>
                  </a:extLst>
                </a:gridCol>
                <a:gridCol w="276750">
                  <a:extLst>
                    <a:ext uri="{9D8B030D-6E8A-4147-A177-3AD203B41FA5}">
                      <a16:colId xmlns:a16="http://schemas.microsoft.com/office/drawing/2014/main" val="20004"/>
                    </a:ext>
                  </a:extLst>
                </a:gridCol>
                <a:gridCol w="276750">
                  <a:extLst>
                    <a:ext uri="{9D8B030D-6E8A-4147-A177-3AD203B41FA5}">
                      <a16:colId xmlns:a16="http://schemas.microsoft.com/office/drawing/2014/main" val="20005"/>
                    </a:ext>
                  </a:extLst>
                </a:gridCol>
                <a:gridCol w="276750">
                  <a:extLst>
                    <a:ext uri="{9D8B030D-6E8A-4147-A177-3AD203B41FA5}">
                      <a16:colId xmlns:a16="http://schemas.microsoft.com/office/drawing/2014/main" val="20006"/>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0</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5</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extLst>
                  <a:ext uri="{0D108BD9-81ED-4DB2-BD59-A6C34878D82A}">
                    <a16:rowId xmlns:a16="http://schemas.microsoft.com/office/drawing/2014/main" val="10000"/>
                  </a:ext>
                </a:extLst>
              </a:tr>
            </a:tbl>
          </a:graphicData>
        </a:graphic>
      </p:graphicFrame>
      <p:cxnSp>
        <p:nvCxnSpPr>
          <p:cNvPr id="126" name="Google Shape;126;p17"/>
          <p:cNvCxnSpPr/>
          <p:nvPr/>
        </p:nvCxnSpPr>
        <p:spPr>
          <a:xfrm rot="10800000">
            <a:off x="8283844" y="2589884"/>
            <a:ext cx="0" cy="319428"/>
          </a:xfrm>
          <a:prstGeom prst="straightConnector1">
            <a:avLst/>
          </a:prstGeom>
          <a:noFill/>
          <a:ln w="9525" cap="flat" cmpd="sng">
            <a:solidFill>
              <a:srgbClr val="3B7FF2"/>
            </a:solidFill>
            <a:prstDash val="solid"/>
            <a:round/>
            <a:headEnd type="none" w="sm" len="sm"/>
            <a:tailEnd type="triangle" w="med" len="med"/>
          </a:ln>
        </p:spPr>
      </p:cxnSp>
      <p:cxnSp>
        <p:nvCxnSpPr>
          <p:cNvPr id="127" name="Google Shape;127;p17"/>
          <p:cNvCxnSpPr/>
          <p:nvPr/>
        </p:nvCxnSpPr>
        <p:spPr>
          <a:xfrm rot="10800000">
            <a:off x="7456446" y="2598068"/>
            <a:ext cx="0" cy="319428"/>
          </a:xfrm>
          <a:prstGeom prst="straightConnector1">
            <a:avLst/>
          </a:prstGeom>
          <a:noFill/>
          <a:ln w="9525" cap="flat" cmpd="sng">
            <a:solidFill>
              <a:srgbClr val="3B7FF2"/>
            </a:solidFill>
            <a:prstDash val="solid"/>
            <a:round/>
            <a:headEnd type="none" w="sm" len="sm"/>
            <a:tailEnd type="triangle" w="med" len="med"/>
          </a:ln>
        </p:spPr>
      </p:cxnSp>
      <p:cxnSp>
        <p:nvCxnSpPr>
          <p:cNvPr id="128" name="Google Shape;128;p17"/>
          <p:cNvCxnSpPr/>
          <p:nvPr/>
        </p:nvCxnSpPr>
        <p:spPr>
          <a:xfrm rot="10800000">
            <a:off x="7736237" y="2603669"/>
            <a:ext cx="0" cy="319428"/>
          </a:xfrm>
          <a:prstGeom prst="straightConnector1">
            <a:avLst/>
          </a:prstGeom>
          <a:noFill/>
          <a:ln w="9525" cap="flat" cmpd="sng">
            <a:solidFill>
              <a:srgbClr val="3B7FF2"/>
            </a:solidFill>
            <a:prstDash val="solid"/>
            <a:round/>
            <a:headEnd type="none" w="sm" len="sm"/>
            <a:tailEnd type="triangle" w="med" len="med"/>
          </a:ln>
        </p:spPr>
      </p:cxnSp>
      <p:cxnSp>
        <p:nvCxnSpPr>
          <p:cNvPr id="129" name="Google Shape;129;p17"/>
          <p:cNvCxnSpPr/>
          <p:nvPr/>
        </p:nvCxnSpPr>
        <p:spPr>
          <a:xfrm rot="10800000">
            <a:off x="8012624" y="2598068"/>
            <a:ext cx="0" cy="319428"/>
          </a:xfrm>
          <a:prstGeom prst="straightConnector1">
            <a:avLst/>
          </a:prstGeom>
          <a:noFill/>
          <a:ln w="9525" cap="flat" cmpd="sng">
            <a:solidFill>
              <a:srgbClr val="3B7FF2"/>
            </a:solidFill>
            <a:prstDash val="solid"/>
            <a:round/>
            <a:headEnd type="none" w="sm" len="sm"/>
            <a:tailEnd type="triangle" w="med" len="med"/>
          </a:ln>
        </p:spPr>
      </p:cxnSp>
      <p:sp>
        <p:nvSpPr>
          <p:cNvPr id="130" name="Google Shape;130;p17"/>
          <p:cNvSpPr txBox="1"/>
          <p:nvPr/>
        </p:nvSpPr>
        <p:spPr>
          <a:xfrm>
            <a:off x="1046301" y="79394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at index 3:</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1" name="Google Shape;131;p17"/>
          <p:cNvSpPr txBox="1"/>
          <p:nvPr/>
        </p:nvSpPr>
        <p:spPr>
          <a:xfrm>
            <a:off x="1047451" y="9807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11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2" name="Google Shape;132;p17"/>
          <p:cNvSpPr txBox="1"/>
          <p:nvPr/>
        </p:nvSpPr>
        <p:spPr>
          <a:xfrm>
            <a:off x="1041726" y="11881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6 (3 + 2 + 1)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3" name="Google Shape;133;p17"/>
          <p:cNvSpPr txBox="1"/>
          <p:nvPr/>
        </p:nvSpPr>
        <p:spPr>
          <a:xfrm>
            <a:off x="1036001" y="14023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Absolute difference = 5</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4" name="Google Shape;134;p17"/>
          <p:cNvSpPr txBox="1"/>
          <p:nvPr/>
        </p:nvSpPr>
        <p:spPr>
          <a:xfrm>
            <a:off x="1047451" y="18332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at index 4:</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5" name="Google Shape;135;p17"/>
          <p:cNvSpPr txBox="1"/>
          <p:nvPr/>
        </p:nvSpPr>
        <p:spPr>
          <a:xfrm>
            <a:off x="1048601" y="20199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14 (1 + 2 + 3 + 5)</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6" name="Google Shape;136;p17"/>
          <p:cNvSpPr txBox="1"/>
          <p:nvPr/>
        </p:nvSpPr>
        <p:spPr>
          <a:xfrm>
            <a:off x="1042876" y="22273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6 (3 + 2 + 1)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7" name="Google Shape;137;p17"/>
          <p:cNvSpPr txBox="1"/>
          <p:nvPr/>
        </p:nvSpPr>
        <p:spPr>
          <a:xfrm>
            <a:off x="1037151" y="244166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Absolute difference = 8</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8" name="Google Shape;138;p17"/>
          <p:cNvSpPr txBox="1"/>
          <p:nvPr/>
        </p:nvSpPr>
        <p:spPr>
          <a:xfrm>
            <a:off x="1048601" y="287936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at index 5:</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9" name="Google Shape;139;p17"/>
          <p:cNvSpPr txBox="1"/>
          <p:nvPr/>
        </p:nvSpPr>
        <p:spPr>
          <a:xfrm>
            <a:off x="1049751" y="306614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16</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0" name="Google Shape;140;p17"/>
          <p:cNvSpPr txBox="1"/>
          <p:nvPr/>
        </p:nvSpPr>
        <p:spPr>
          <a:xfrm>
            <a:off x="1044026" y="327354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3 (2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1" name="Google Shape;141;p17"/>
          <p:cNvSpPr txBox="1"/>
          <p:nvPr/>
        </p:nvSpPr>
        <p:spPr>
          <a:xfrm>
            <a:off x="1038301" y="34878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Absolute difference = 13</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2" name="Google Shape;142;p17"/>
          <p:cNvSpPr txBox="1"/>
          <p:nvPr/>
        </p:nvSpPr>
        <p:spPr>
          <a:xfrm>
            <a:off x="1049751" y="385676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at index 6:</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3" name="Google Shape;143;p17"/>
          <p:cNvSpPr txBox="1"/>
          <p:nvPr/>
        </p:nvSpPr>
        <p:spPr>
          <a:xfrm>
            <a:off x="1050901" y="404354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17</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4" name="Google Shape;144;p17"/>
          <p:cNvSpPr txBox="1"/>
          <p:nvPr/>
        </p:nvSpPr>
        <p:spPr>
          <a:xfrm>
            <a:off x="1045176" y="425094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0</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5" name="Google Shape;145;p17"/>
          <p:cNvSpPr txBox="1"/>
          <p:nvPr/>
        </p:nvSpPr>
        <p:spPr>
          <a:xfrm>
            <a:off x="1039451" y="44652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Absolute difference = 17</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fade">
                                      <p:cBhvr>
                                        <p:cTn id="7" dur="5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fade">
                                      <p:cBhvr>
                                        <p:cTn id="12" dur="500"/>
                                        <p:tgtEl>
                                          <p:spTgt spid="1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fade">
                                      <p:cBhvr>
                                        <p:cTn id="17" dur="500"/>
                                        <p:tgtEl>
                                          <p:spTgt spid="1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0"/>
                                        </p:tgtEl>
                                        <p:attrNameLst>
                                          <p:attrName>style.visibility</p:attrName>
                                        </p:attrNameLst>
                                      </p:cBhvr>
                                      <p:to>
                                        <p:strVal val="visible"/>
                                      </p:to>
                                    </p:set>
                                    <p:animEffect transition="in" filter="fade">
                                      <p:cBhvr>
                                        <p:cTn id="22" dur="500"/>
                                        <p:tgtEl>
                                          <p:spTgt spid="1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1"/>
                                        </p:tgtEl>
                                        <p:attrNameLst>
                                          <p:attrName>style.visibility</p:attrName>
                                        </p:attrNameLst>
                                      </p:cBhvr>
                                      <p:to>
                                        <p:strVal val="visible"/>
                                      </p:to>
                                    </p:set>
                                    <p:animEffect transition="in" filter="fade">
                                      <p:cBhvr>
                                        <p:cTn id="27" dur="500"/>
                                        <p:tgtEl>
                                          <p:spTgt spid="1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2"/>
                                        </p:tgtEl>
                                        <p:attrNameLst>
                                          <p:attrName>style.visibility</p:attrName>
                                        </p:attrNameLst>
                                      </p:cBhvr>
                                      <p:to>
                                        <p:strVal val="visible"/>
                                      </p:to>
                                    </p:set>
                                    <p:animEffect transition="in" filter="fade">
                                      <p:cBhvr>
                                        <p:cTn id="32" dur="500"/>
                                        <p:tgtEl>
                                          <p:spTgt spid="1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3"/>
                                        </p:tgtEl>
                                        <p:attrNameLst>
                                          <p:attrName>style.visibility</p:attrName>
                                        </p:attrNameLst>
                                      </p:cBhvr>
                                      <p:to>
                                        <p:strVal val="visible"/>
                                      </p:to>
                                    </p:set>
                                    <p:animEffect transition="in" filter="fade">
                                      <p:cBhvr>
                                        <p:cTn id="37" dur="500"/>
                                        <p:tgtEl>
                                          <p:spTgt spid="133"/>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1"/>
                                          </p:stCondLst>
                                        </p:cTn>
                                        <p:tgtEl>
                                          <p:spTgt spid="127"/>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28"/>
                                        </p:tgtEl>
                                        <p:attrNameLst>
                                          <p:attrName>style.visibility</p:attrName>
                                        </p:attrNameLst>
                                      </p:cBhvr>
                                      <p:to>
                                        <p:strVal val="visible"/>
                                      </p:to>
                                    </p:set>
                                    <p:animEffect transition="in" filter="fade">
                                      <p:cBhvr>
                                        <p:cTn id="46" dur="500"/>
                                        <p:tgtEl>
                                          <p:spTgt spid="12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34"/>
                                        </p:tgtEl>
                                        <p:attrNameLst>
                                          <p:attrName>style.visibility</p:attrName>
                                        </p:attrNameLst>
                                      </p:cBhvr>
                                      <p:to>
                                        <p:strVal val="visible"/>
                                      </p:to>
                                    </p:set>
                                    <p:animEffect transition="in" filter="fade">
                                      <p:cBhvr>
                                        <p:cTn id="51" dur="500"/>
                                        <p:tgtEl>
                                          <p:spTgt spid="13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35"/>
                                        </p:tgtEl>
                                        <p:attrNameLst>
                                          <p:attrName>style.visibility</p:attrName>
                                        </p:attrNameLst>
                                      </p:cBhvr>
                                      <p:to>
                                        <p:strVal val="visible"/>
                                      </p:to>
                                    </p:set>
                                    <p:animEffect transition="in" filter="fade">
                                      <p:cBhvr>
                                        <p:cTn id="56" dur="500"/>
                                        <p:tgtEl>
                                          <p:spTgt spid="1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36"/>
                                        </p:tgtEl>
                                        <p:attrNameLst>
                                          <p:attrName>style.visibility</p:attrName>
                                        </p:attrNameLst>
                                      </p:cBhvr>
                                      <p:to>
                                        <p:strVal val="visible"/>
                                      </p:to>
                                    </p:set>
                                    <p:animEffect transition="in" filter="fade">
                                      <p:cBhvr>
                                        <p:cTn id="61" dur="500"/>
                                        <p:tgtEl>
                                          <p:spTgt spid="13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37"/>
                                        </p:tgtEl>
                                        <p:attrNameLst>
                                          <p:attrName>style.visibility</p:attrName>
                                        </p:attrNameLst>
                                      </p:cBhvr>
                                      <p:to>
                                        <p:strVal val="visible"/>
                                      </p:to>
                                    </p:set>
                                    <p:animEffect transition="in" filter="fade">
                                      <p:cBhvr>
                                        <p:cTn id="66" dur="500"/>
                                        <p:tgtEl>
                                          <p:spTgt spid="13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1"/>
                                          </p:stCondLst>
                                        </p:cTn>
                                        <p:tgtEl>
                                          <p:spTgt spid="128"/>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29"/>
                                        </p:tgtEl>
                                        <p:attrNameLst>
                                          <p:attrName>style.visibility</p:attrName>
                                        </p:attrNameLst>
                                      </p:cBhvr>
                                      <p:to>
                                        <p:strVal val="visible"/>
                                      </p:to>
                                    </p:set>
                                    <p:animEffect transition="in" filter="fade">
                                      <p:cBhvr>
                                        <p:cTn id="75" dur="500"/>
                                        <p:tgtEl>
                                          <p:spTgt spid="12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38"/>
                                        </p:tgtEl>
                                        <p:attrNameLst>
                                          <p:attrName>style.visibility</p:attrName>
                                        </p:attrNameLst>
                                      </p:cBhvr>
                                      <p:to>
                                        <p:strVal val="visible"/>
                                      </p:to>
                                    </p:set>
                                    <p:animEffect transition="in" filter="fade">
                                      <p:cBhvr>
                                        <p:cTn id="80" dur="500"/>
                                        <p:tgtEl>
                                          <p:spTgt spid="13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39"/>
                                        </p:tgtEl>
                                        <p:attrNameLst>
                                          <p:attrName>style.visibility</p:attrName>
                                        </p:attrNameLst>
                                      </p:cBhvr>
                                      <p:to>
                                        <p:strVal val="visible"/>
                                      </p:to>
                                    </p:set>
                                    <p:animEffect transition="in" filter="fade">
                                      <p:cBhvr>
                                        <p:cTn id="85" dur="500"/>
                                        <p:tgtEl>
                                          <p:spTgt spid="139"/>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40"/>
                                        </p:tgtEl>
                                        <p:attrNameLst>
                                          <p:attrName>style.visibility</p:attrName>
                                        </p:attrNameLst>
                                      </p:cBhvr>
                                      <p:to>
                                        <p:strVal val="visible"/>
                                      </p:to>
                                    </p:set>
                                    <p:animEffect transition="in" filter="fade">
                                      <p:cBhvr>
                                        <p:cTn id="90" dur="500"/>
                                        <p:tgtEl>
                                          <p:spTgt spid="140"/>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41"/>
                                        </p:tgtEl>
                                        <p:attrNameLst>
                                          <p:attrName>style.visibility</p:attrName>
                                        </p:attrNameLst>
                                      </p:cBhvr>
                                      <p:to>
                                        <p:strVal val="visible"/>
                                      </p:to>
                                    </p:set>
                                    <p:animEffect transition="in" filter="fade">
                                      <p:cBhvr>
                                        <p:cTn id="95" dur="500"/>
                                        <p:tgtEl>
                                          <p:spTgt spid="141"/>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nodeType="clickEffect">
                                  <p:stCondLst>
                                    <p:cond delay="0"/>
                                  </p:stCondLst>
                                  <p:childTnLst>
                                    <p:set>
                                      <p:cBhvr>
                                        <p:cTn id="99" dur="1" fill="hold">
                                          <p:stCondLst>
                                            <p:cond delay="1"/>
                                          </p:stCondLst>
                                        </p:cTn>
                                        <p:tgtEl>
                                          <p:spTgt spid="129"/>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126"/>
                                        </p:tgtEl>
                                        <p:attrNameLst>
                                          <p:attrName>style.visibility</p:attrName>
                                        </p:attrNameLst>
                                      </p:cBhvr>
                                      <p:to>
                                        <p:strVal val="visible"/>
                                      </p:to>
                                    </p:set>
                                    <p:animEffect transition="in" filter="fade">
                                      <p:cBhvr>
                                        <p:cTn id="104" dur="500"/>
                                        <p:tgtEl>
                                          <p:spTgt spid="12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142"/>
                                        </p:tgtEl>
                                        <p:attrNameLst>
                                          <p:attrName>style.visibility</p:attrName>
                                        </p:attrNameLst>
                                      </p:cBhvr>
                                      <p:to>
                                        <p:strVal val="visible"/>
                                      </p:to>
                                    </p:set>
                                    <p:animEffect transition="in" filter="fade">
                                      <p:cBhvr>
                                        <p:cTn id="109" dur="500"/>
                                        <p:tgtEl>
                                          <p:spTgt spid="142"/>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143"/>
                                        </p:tgtEl>
                                        <p:attrNameLst>
                                          <p:attrName>style.visibility</p:attrName>
                                        </p:attrNameLst>
                                      </p:cBhvr>
                                      <p:to>
                                        <p:strVal val="visible"/>
                                      </p:to>
                                    </p:set>
                                    <p:animEffect transition="in" filter="fade">
                                      <p:cBhvr>
                                        <p:cTn id="114" dur="500"/>
                                        <p:tgtEl>
                                          <p:spTgt spid="143"/>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144"/>
                                        </p:tgtEl>
                                        <p:attrNameLst>
                                          <p:attrName>style.visibility</p:attrName>
                                        </p:attrNameLst>
                                      </p:cBhvr>
                                      <p:to>
                                        <p:strVal val="visible"/>
                                      </p:to>
                                    </p:set>
                                    <p:animEffect transition="in" filter="fade">
                                      <p:cBhvr>
                                        <p:cTn id="119" dur="500"/>
                                        <p:tgtEl>
                                          <p:spTgt spid="144"/>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145"/>
                                        </p:tgtEl>
                                        <p:attrNameLst>
                                          <p:attrName>style.visibility</p:attrName>
                                        </p:attrNameLst>
                                      </p:cBhvr>
                                      <p:to>
                                        <p:strVal val="visible"/>
                                      </p:to>
                                    </p:set>
                                    <p:animEffect transition="in" filter="fade">
                                      <p:cBhvr>
                                        <p:cTn id="124"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51" name="Google Shape;151;p21"/>
          <p:cNvSpPr/>
          <p:nvPr/>
        </p:nvSpPr>
        <p:spPr>
          <a:xfrm>
            <a:off x="1044000" y="1226533"/>
            <a:ext cx="7544880"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54" name="Google Shape;154;p21"/>
          <p:cNvSpPr txBox="1"/>
          <p:nvPr/>
        </p:nvSpPr>
        <p:spPr>
          <a:xfrm>
            <a:off x="1278610" y="1226533"/>
            <a:ext cx="6899565" cy="83095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split point with the minimum absolute difference between left and right sums is at index 3.</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55" name="Google Shape;155;p21"/>
          <p:cNvSpPr txBox="1"/>
          <p:nvPr/>
        </p:nvSpPr>
        <p:spPr>
          <a:xfrm>
            <a:off x="1173501" y="206926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Therefore;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56" name="Google Shape;156;p21"/>
          <p:cNvSpPr txBox="1"/>
          <p:nvPr/>
        </p:nvSpPr>
        <p:spPr>
          <a:xfrm>
            <a:off x="1807151" y="2400419"/>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Left sum = 11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57" name="Google Shape;157;p21"/>
          <p:cNvSpPr txBox="1"/>
          <p:nvPr/>
        </p:nvSpPr>
        <p:spPr>
          <a:xfrm>
            <a:off x="1801426" y="26971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Right sum = 6</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58" name="Google Shape;158;p21"/>
          <p:cNvSpPr txBox="1"/>
          <p:nvPr/>
        </p:nvSpPr>
        <p:spPr>
          <a:xfrm>
            <a:off x="1795701" y="2987094"/>
            <a:ext cx="4710532" cy="338514"/>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Split point = 5</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59" name="Google Shape;159;p21"/>
          <p:cNvGraphicFramePr/>
          <p:nvPr/>
        </p:nvGraphicFramePr>
        <p:xfrm>
          <a:off x="6487805" y="2228941"/>
          <a:ext cx="1937250" cy="370850"/>
        </p:xfrm>
        <a:graphic>
          <a:graphicData uri="http://schemas.openxmlformats.org/drawingml/2006/table">
            <a:tbl>
              <a:tblPr firstRow="1" bandRow="1">
                <a:noFill/>
                <a:tableStyleId>{FFD4F47D-264E-45BD-8312-B03B0081F61C}</a:tableStyleId>
              </a:tblPr>
              <a:tblGrid>
                <a:gridCol w="276750">
                  <a:extLst>
                    <a:ext uri="{9D8B030D-6E8A-4147-A177-3AD203B41FA5}">
                      <a16:colId xmlns:a16="http://schemas.microsoft.com/office/drawing/2014/main" val="20000"/>
                    </a:ext>
                  </a:extLst>
                </a:gridCol>
                <a:gridCol w="276750">
                  <a:extLst>
                    <a:ext uri="{9D8B030D-6E8A-4147-A177-3AD203B41FA5}">
                      <a16:colId xmlns:a16="http://schemas.microsoft.com/office/drawing/2014/main" val="20001"/>
                    </a:ext>
                  </a:extLst>
                </a:gridCol>
                <a:gridCol w="276750">
                  <a:extLst>
                    <a:ext uri="{9D8B030D-6E8A-4147-A177-3AD203B41FA5}">
                      <a16:colId xmlns:a16="http://schemas.microsoft.com/office/drawing/2014/main" val="20002"/>
                    </a:ext>
                  </a:extLst>
                </a:gridCol>
                <a:gridCol w="276750">
                  <a:extLst>
                    <a:ext uri="{9D8B030D-6E8A-4147-A177-3AD203B41FA5}">
                      <a16:colId xmlns:a16="http://schemas.microsoft.com/office/drawing/2014/main" val="20003"/>
                    </a:ext>
                  </a:extLst>
                </a:gridCol>
                <a:gridCol w="276750">
                  <a:extLst>
                    <a:ext uri="{9D8B030D-6E8A-4147-A177-3AD203B41FA5}">
                      <a16:colId xmlns:a16="http://schemas.microsoft.com/office/drawing/2014/main" val="20004"/>
                    </a:ext>
                  </a:extLst>
                </a:gridCol>
                <a:gridCol w="276750">
                  <a:extLst>
                    <a:ext uri="{9D8B030D-6E8A-4147-A177-3AD203B41FA5}">
                      <a16:colId xmlns:a16="http://schemas.microsoft.com/office/drawing/2014/main" val="20005"/>
                    </a:ext>
                  </a:extLst>
                </a:gridCol>
                <a:gridCol w="276750">
                  <a:extLst>
                    <a:ext uri="{9D8B030D-6E8A-4147-A177-3AD203B41FA5}">
                      <a16:colId xmlns:a16="http://schemas.microsoft.com/office/drawing/2014/main" val="20006"/>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5</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extLst>
                  <a:ext uri="{0D108BD9-81ED-4DB2-BD59-A6C34878D82A}">
                    <a16:rowId xmlns:a16="http://schemas.microsoft.com/office/drawing/2014/main" val="10000"/>
                  </a:ext>
                </a:extLst>
              </a:tr>
            </a:tbl>
          </a:graphicData>
        </a:graphic>
      </p:graphicFrame>
      <p:graphicFrame>
        <p:nvGraphicFramePr>
          <p:cNvPr id="160" name="Google Shape;160;p21"/>
          <p:cNvGraphicFramePr/>
          <p:nvPr/>
        </p:nvGraphicFramePr>
        <p:xfrm>
          <a:off x="6487804" y="3002504"/>
          <a:ext cx="1937250" cy="370850"/>
        </p:xfrm>
        <a:graphic>
          <a:graphicData uri="http://schemas.openxmlformats.org/drawingml/2006/table">
            <a:tbl>
              <a:tblPr firstRow="1" bandRow="1">
                <a:noFill/>
                <a:tableStyleId>{FFD4F47D-264E-45BD-8312-B03B0081F61C}</a:tableStyleId>
              </a:tblPr>
              <a:tblGrid>
                <a:gridCol w="276750">
                  <a:extLst>
                    <a:ext uri="{9D8B030D-6E8A-4147-A177-3AD203B41FA5}">
                      <a16:colId xmlns:a16="http://schemas.microsoft.com/office/drawing/2014/main" val="20000"/>
                    </a:ext>
                  </a:extLst>
                </a:gridCol>
                <a:gridCol w="276750">
                  <a:extLst>
                    <a:ext uri="{9D8B030D-6E8A-4147-A177-3AD203B41FA5}">
                      <a16:colId xmlns:a16="http://schemas.microsoft.com/office/drawing/2014/main" val="20001"/>
                    </a:ext>
                  </a:extLst>
                </a:gridCol>
                <a:gridCol w="276750">
                  <a:extLst>
                    <a:ext uri="{9D8B030D-6E8A-4147-A177-3AD203B41FA5}">
                      <a16:colId xmlns:a16="http://schemas.microsoft.com/office/drawing/2014/main" val="20002"/>
                    </a:ext>
                  </a:extLst>
                </a:gridCol>
                <a:gridCol w="276750">
                  <a:extLst>
                    <a:ext uri="{9D8B030D-6E8A-4147-A177-3AD203B41FA5}">
                      <a16:colId xmlns:a16="http://schemas.microsoft.com/office/drawing/2014/main" val="20003"/>
                    </a:ext>
                  </a:extLst>
                </a:gridCol>
                <a:gridCol w="276750">
                  <a:extLst>
                    <a:ext uri="{9D8B030D-6E8A-4147-A177-3AD203B41FA5}">
                      <a16:colId xmlns:a16="http://schemas.microsoft.com/office/drawing/2014/main" val="20004"/>
                    </a:ext>
                  </a:extLst>
                </a:gridCol>
                <a:gridCol w="276750">
                  <a:extLst>
                    <a:ext uri="{9D8B030D-6E8A-4147-A177-3AD203B41FA5}">
                      <a16:colId xmlns:a16="http://schemas.microsoft.com/office/drawing/2014/main" val="20005"/>
                    </a:ext>
                  </a:extLst>
                </a:gridCol>
                <a:gridCol w="276750">
                  <a:extLst>
                    <a:ext uri="{9D8B030D-6E8A-4147-A177-3AD203B41FA5}">
                      <a16:colId xmlns:a16="http://schemas.microsoft.com/office/drawing/2014/main" val="20006"/>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0</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5</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tc>
                <a:extLst>
                  <a:ext uri="{0D108BD9-81ED-4DB2-BD59-A6C34878D82A}">
                    <a16:rowId xmlns:a16="http://schemas.microsoft.com/office/drawing/2014/main" val="10000"/>
                  </a:ext>
                </a:extLst>
              </a:tr>
            </a:tbl>
          </a:graphicData>
        </a:graphic>
      </p:graphicFrame>
      <p:cxnSp>
        <p:nvCxnSpPr>
          <p:cNvPr id="161" name="Google Shape;161;p21"/>
          <p:cNvCxnSpPr/>
          <p:nvPr/>
        </p:nvCxnSpPr>
        <p:spPr>
          <a:xfrm rot="10800000">
            <a:off x="7453298" y="2624259"/>
            <a:ext cx="0" cy="319428"/>
          </a:xfrm>
          <a:prstGeom prst="straightConnector1">
            <a:avLst/>
          </a:prstGeom>
          <a:noFill/>
          <a:ln w="9525" cap="flat" cmpd="sng">
            <a:solidFill>
              <a:srgbClr val="3B7FF2"/>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1000"/>
                                        <p:tgtEl>
                                          <p:spTgt spid="1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9"/>
                                        </p:tgtEl>
                                        <p:attrNameLst>
                                          <p:attrName>style.visibility</p:attrName>
                                        </p:attrNameLst>
                                      </p:cBhvr>
                                      <p:to>
                                        <p:strVal val="visible"/>
                                      </p:to>
                                    </p:set>
                                    <p:animEffect transition="in" filter="fade">
                                      <p:cBhvr>
                                        <p:cTn id="12" dur="500"/>
                                        <p:tgtEl>
                                          <p:spTgt spid="159"/>
                                        </p:tgtEl>
                                      </p:cBhvr>
                                    </p:animEffect>
                                  </p:childTnLst>
                                </p:cTn>
                              </p:par>
                              <p:par>
                                <p:cTn id="13" presetID="10" presetClass="entr" presetSubtype="0" fill="hold" nodeType="withEffect">
                                  <p:stCondLst>
                                    <p:cond delay="0"/>
                                  </p:stCondLst>
                                  <p:childTnLst>
                                    <p:set>
                                      <p:cBhvr>
                                        <p:cTn id="14" dur="1" fill="hold">
                                          <p:stCondLst>
                                            <p:cond delay="0"/>
                                          </p:stCondLst>
                                        </p:cTn>
                                        <p:tgtEl>
                                          <p:spTgt spid="160"/>
                                        </p:tgtEl>
                                        <p:attrNameLst>
                                          <p:attrName>style.visibility</p:attrName>
                                        </p:attrNameLst>
                                      </p:cBhvr>
                                      <p:to>
                                        <p:strVal val="visible"/>
                                      </p:to>
                                    </p:set>
                                    <p:animEffect transition="in" filter="fade">
                                      <p:cBhvr>
                                        <p:cTn id="15" dur="500"/>
                                        <p:tgtEl>
                                          <p:spTgt spid="16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1"/>
                                        </p:tgtEl>
                                        <p:attrNameLst>
                                          <p:attrName>style.visibility</p:attrName>
                                        </p:attrNameLst>
                                      </p:cBhvr>
                                      <p:to>
                                        <p:strVal val="visible"/>
                                      </p:to>
                                    </p:set>
                                    <p:animEffect transition="in" filter="fade">
                                      <p:cBhvr>
                                        <p:cTn id="20" dur="500"/>
                                        <p:tgtEl>
                                          <p:spTgt spid="16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5"/>
                                        </p:tgtEl>
                                        <p:attrNameLst>
                                          <p:attrName>style.visibility</p:attrName>
                                        </p:attrNameLst>
                                      </p:cBhvr>
                                      <p:to>
                                        <p:strVal val="visible"/>
                                      </p:to>
                                    </p:set>
                                    <p:animEffect transition="in" filter="fade">
                                      <p:cBhvr>
                                        <p:cTn id="25" dur="500"/>
                                        <p:tgtEl>
                                          <p:spTgt spid="15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56"/>
                                        </p:tgtEl>
                                        <p:attrNameLst>
                                          <p:attrName>style.visibility</p:attrName>
                                        </p:attrNameLst>
                                      </p:cBhvr>
                                      <p:to>
                                        <p:strVal val="visible"/>
                                      </p:to>
                                    </p:set>
                                    <p:animEffect transition="in" filter="fade">
                                      <p:cBhvr>
                                        <p:cTn id="30" dur="500"/>
                                        <p:tgtEl>
                                          <p:spTgt spid="15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54"/>
                                        </p:tgtEl>
                                        <p:attrNameLst>
                                          <p:attrName>style.visibility</p:attrName>
                                        </p:attrNameLst>
                                      </p:cBhvr>
                                      <p:to>
                                        <p:strVal val="visible"/>
                                      </p:to>
                                    </p:set>
                                    <p:animEffect transition="in" filter="fade">
                                      <p:cBhvr>
                                        <p:cTn id="35" dur="500"/>
                                        <p:tgtEl>
                                          <p:spTgt spid="15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58"/>
                                        </p:tgtEl>
                                        <p:attrNameLst>
                                          <p:attrName>style.visibility</p:attrName>
                                        </p:attrNameLst>
                                      </p:cBhvr>
                                      <p:to>
                                        <p:strVal val="visible"/>
                                      </p:to>
                                    </p:set>
                                    <p:animEffect transition="in" filter="fade">
                                      <p:cBhvr>
                                        <p:cTn id="40"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2"/>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67" name="Google Shape;167;p22"/>
          <p:cNvSpPr/>
          <p:nvPr/>
        </p:nvSpPr>
        <p:spPr>
          <a:xfrm>
            <a:off x="1044000" y="899829"/>
            <a:ext cx="7544880"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More details about the Maximum Equilibrium Sum problem:</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70" name="Google Shape;170;p22"/>
          <p:cNvSpPr txBox="1"/>
          <p:nvPr/>
        </p:nvSpPr>
        <p:spPr>
          <a:xfrm>
            <a:off x="694394" y="1350283"/>
            <a:ext cx="7796463" cy="830956"/>
          </a:xfrm>
          <a:prstGeom prst="rect">
            <a:avLst/>
          </a:prstGeom>
          <a:noFill/>
          <a:ln>
            <a:noFill/>
          </a:ln>
        </p:spPr>
        <p:txBody>
          <a:bodyPr spcFirstLastPara="1" wrap="square" lIns="91425" tIns="45700" rIns="91425" bIns="45700" anchor="t" anchorCtr="0">
            <a:spAutoFit/>
          </a:bodyPr>
          <a:lstStyle/>
          <a:p>
            <a:pPr marL="0" marR="0" lvl="0" indent="-101600" algn="l" rtl="0">
              <a:lnSpc>
                <a:spcPct val="150000"/>
              </a:lnSpc>
              <a:spcBef>
                <a:spcPts val="0"/>
              </a:spcBef>
              <a:spcAft>
                <a:spcPts val="0"/>
              </a:spcAft>
              <a:buClr>
                <a:srgbClr val="000000"/>
              </a:buClr>
              <a:buSzPts val="1600"/>
              <a:buFont typeface="Noto Sans Symbols"/>
              <a:buChar char="⮚"/>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goal is to find the split point in an array where the sum of elements on the left side is closest to equaling the sum of elements on the right side.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71" name="Google Shape;171;p22"/>
          <p:cNvSpPr txBox="1"/>
          <p:nvPr/>
        </p:nvSpPr>
        <p:spPr>
          <a:xfrm>
            <a:off x="695544" y="2588933"/>
            <a:ext cx="7796463" cy="830956"/>
          </a:xfrm>
          <a:prstGeom prst="rect">
            <a:avLst/>
          </a:prstGeom>
          <a:noFill/>
          <a:ln>
            <a:noFill/>
          </a:ln>
        </p:spPr>
        <p:txBody>
          <a:bodyPr spcFirstLastPara="1" wrap="square" lIns="91425" tIns="45700" rIns="91425" bIns="45700" anchor="t" anchorCtr="0">
            <a:spAutoFit/>
          </a:bodyPr>
          <a:lstStyle/>
          <a:p>
            <a:pPr marL="0" marR="0" lvl="0" indent="-101600" algn="l" rtl="0">
              <a:lnSpc>
                <a:spcPct val="150000"/>
              </a:lnSpc>
              <a:spcBef>
                <a:spcPts val="0"/>
              </a:spcBef>
              <a:spcAft>
                <a:spcPts val="0"/>
              </a:spcAft>
              <a:buClr>
                <a:srgbClr val="000000"/>
              </a:buClr>
              <a:buSzPts val="1600"/>
              <a:buFont typeface="Noto Sans Symbols"/>
              <a:buChar char="⮚"/>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This split point represents the maximum equilibrium sum. It has the minimum absolute difference between the left sum and right sum.</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72" name="Google Shape;172;p22"/>
          <p:cNvSpPr txBox="1"/>
          <p:nvPr/>
        </p:nvSpPr>
        <p:spPr>
          <a:xfrm>
            <a:off x="696694" y="3566333"/>
            <a:ext cx="7796463" cy="830956"/>
          </a:xfrm>
          <a:prstGeom prst="rect">
            <a:avLst/>
          </a:prstGeom>
          <a:noFill/>
          <a:ln>
            <a:noFill/>
          </a:ln>
        </p:spPr>
        <p:txBody>
          <a:bodyPr spcFirstLastPara="1" wrap="square" lIns="91425" tIns="45700" rIns="91425" bIns="45700" anchor="t" anchorCtr="0">
            <a:spAutoFit/>
          </a:bodyPr>
          <a:lstStyle/>
          <a:p>
            <a:pPr marL="0" marR="0" lvl="0" indent="-101600" algn="l" rtl="0">
              <a:lnSpc>
                <a:spcPct val="150000"/>
              </a:lnSpc>
              <a:spcBef>
                <a:spcPts val="0"/>
              </a:spcBef>
              <a:spcAft>
                <a:spcPts val="0"/>
              </a:spcAft>
              <a:buClr>
                <a:srgbClr val="000000"/>
              </a:buClr>
              <a:buSzPts val="1600"/>
              <a:buFont typeface="Noto Sans Symbols"/>
              <a:buChar char="⮚"/>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An equilibrium sum is found at an index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where the sum of elements from 0 to i-1 equals the sum of elements from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to the end of the array.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fade">
                                      <p:cBhvr>
                                        <p:cTn id="7" dur="1000"/>
                                        <p:tgtEl>
                                          <p:spTgt spid="1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0"/>
                                        </p:tgtEl>
                                        <p:attrNameLst>
                                          <p:attrName>style.visibility</p:attrName>
                                        </p:attrNameLst>
                                      </p:cBhvr>
                                      <p:to>
                                        <p:strVal val="visible"/>
                                      </p:to>
                                    </p:set>
                                    <p:animEffect transition="in" filter="fade">
                                      <p:cBhvr>
                                        <p:cTn id="12" dur="500"/>
                                        <p:tgtEl>
                                          <p:spTgt spid="1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1"/>
                                        </p:tgtEl>
                                        <p:attrNameLst>
                                          <p:attrName>style.visibility</p:attrName>
                                        </p:attrNameLst>
                                      </p:cBhvr>
                                      <p:to>
                                        <p:strVal val="visible"/>
                                      </p:to>
                                    </p:set>
                                    <p:animEffect transition="in" filter="fade">
                                      <p:cBhvr>
                                        <p:cTn id="17" dur="500"/>
                                        <p:tgtEl>
                                          <p:spTgt spid="17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2"/>
                                        </p:tgtEl>
                                        <p:attrNameLst>
                                          <p:attrName>style.visibility</p:attrName>
                                        </p:attrNameLst>
                                      </p:cBhvr>
                                      <p:to>
                                        <p:strVal val="visible"/>
                                      </p:to>
                                    </p:set>
                                    <p:animEffect transition="in" filter="fade">
                                      <p:cBhvr>
                                        <p:cTn id="22"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80" name="Google Shape;180;p24"/>
          <p:cNvSpPr/>
          <p:nvPr/>
        </p:nvSpPr>
        <p:spPr>
          <a:xfrm>
            <a:off x="1044000" y="899829"/>
            <a:ext cx="7544880"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Techniques</a:t>
            </a:r>
            <a:endParaRPr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81" name="Google Shape;181;p24"/>
          <p:cNvSpPr/>
          <p:nvPr/>
        </p:nvSpPr>
        <p:spPr>
          <a:xfrm>
            <a:off x="495014" y="1327229"/>
            <a:ext cx="8095016"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Simple Approach</a:t>
            </a:r>
            <a:endParaRPr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82" name="Google Shape;182;p24"/>
          <p:cNvSpPr txBox="1"/>
          <p:nvPr/>
        </p:nvSpPr>
        <p:spPr>
          <a:xfrm>
            <a:off x="515644" y="1680283"/>
            <a:ext cx="7796463" cy="83095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It involves iterating over all possible split points and calculating the left sum and right sum for each split. This has O(n^2) time complexity.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83" name="Google Shape;183;p24"/>
          <p:cNvSpPr/>
          <p:nvPr/>
        </p:nvSpPr>
        <p:spPr>
          <a:xfrm>
            <a:off x="496164" y="2950879"/>
            <a:ext cx="8095016"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Precompute both left sums and right sums</a:t>
            </a:r>
            <a:endParaRPr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84" name="Google Shape;184;p24"/>
          <p:cNvSpPr txBox="1"/>
          <p:nvPr/>
        </p:nvSpPr>
        <p:spPr>
          <a:xfrm>
            <a:off x="516794" y="3303933"/>
            <a:ext cx="7796463" cy="83095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This allows for calculating the right sum for each split. This reduces the time complexity to O(n).</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1000"/>
                                        <p:tgtEl>
                                          <p:spTgt spid="18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1"/>
                                        </p:tgtEl>
                                        <p:attrNameLst>
                                          <p:attrName>style.visibility</p:attrName>
                                        </p:attrNameLst>
                                      </p:cBhvr>
                                      <p:to>
                                        <p:strVal val="visible"/>
                                      </p:to>
                                    </p:set>
                                    <p:animEffect transition="in" filter="fade">
                                      <p:cBhvr>
                                        <p:cTn id="12" dur="500"/>
                                        <p:tgtEl>
                                          <p:spTgt spid="1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2"/>
                                        </p:tgtEl>
                                        <p:attrNameLst>
                                          <p:attrName>style.visibility</p:attrName>
                                        </p:attrNameLst>
                                      </p:cBhvr>
                                      <p:to>
                                        <p:strVal val="visible"/>
                                      </p:to>
                                    </p:set>
                                    <p:animEffect transition="in" filter="fade">
                                      <p:cBhvr>
                                        <p:cTn id="17" dur="500"/>
                                        <p:tgtEl>
                                          <p:spTgt spid="18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3"/>
                                        </p:tgtEl>
                                        <p:attrNameLst>
                                          <p:attrName>style.visibility</p:attrName>
                                        </p:attrNameLst>
                                      </p:cBhvr>
                                      <p:to>
                                        <p:strVal val="visible"/>
                                      </p:to>
                                    </p:set>
                                    <p:animEffect transition="in" filter="fade">
                                      <p:cBhvr>
                                        <p:cTn id="22" dur="500"/>
                                        <p:tgtEl>
                                          <p:spTgt spid="18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4"/>
                                        </p:tgtEl>
                                        <p:attrNameLst>
                                          <p:attrName>style.visibility</p:attrName>
                                        </p:attrNameLst>
                                      </p:cBhvr>
                                      <p:to>
                                        <p:strVal val="visible"/>
                                      </p:to>
                                    </p:set>
                                    <p:animEffect transition="in" filter="fade">
                                      <p:cBhvr>
                                        <p:cTn id="27" dur="5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92" name="Google Shape;192;p25"/>
          <p:cNvSpPr txBox="1"/>
          <p:nvPr/>
        </p:nvSpPr>
        <p:spPr>
          <a:xfrm>
            <a:off x="515640" y="1097062"/>
            <a:ext cx="8434632"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Arial"/>
              <a:buAutoNum type="arabicPeriod"/>
            </a:pPr>
            <a:r>
              <a:rPr lang="en-US"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It initializes res to </a:t>
            </a:r>
            <a:r>
              <a:rPr lang="en-US" sz="1600" b="0" i="0" u="none" strike="noStrike" cap="none" dirty="0" err="1">
                <a:solidFill>
                  <a:srgbClr val="050E17"/>
                </a:solidFill>
                <a:latin typeface="Roboto" panose="02000000000000000000" pitchFamily="2" charset="0"/>
                <a:ea typeface="Roboto" panose="02000000000000000000" pitchFamily="2" charset="0"/>
                <a:cs typeface="Roboto" panose="02000000000000000000" pitchFamily="2" charset="0"/>
                <a:sym typeface="Consolas"/>
              </a:rPr>
              <a:t>Integer.MIN_VALUE</a:t>
            </a:r>
            <a:r>
              <a:rPr lang="en-US"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to store the maximum equilibrium sum seen so far.</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93" name="Google Shape;193;p25"/>
          <p:cNvSpPr/>
          <p:nvPr/>
        </p:nvSpPr>
        <p:spPr>
          <a:xfrm>
            <a:off x="1044000" y="721079"/>
            <a:ext cx="7544880"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Simple Approach</a:t>
            </a:r>
            <a:endParaRPr sz="16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94" name="Google Shape;194;p25"/>
          <p:cNvSpPr txBox="1"/>
          <p:nvPr/>
        </p:nvSpPr>
        <p:spPr>
          <a:xfrm>
            <a:off x="513292" y="1706672"/>
            <a:ext cx="8434632" cy="246221"/>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rabicPeriod" startAt="2"/>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It iterates from 0 to n-1, where n is the array size. For each index i:</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95" name="Google Shape;195;p25"/>
          <p:cNvSpPr txBox="1"/>
          <p:nvPr/>
        </p:nvSpPr>
        <p:spPr>
          <a:xfrm>
            <a:off x="665692" y="2119330"/>
            <a:ext cx="8070345" cy="246221"/>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lphaLcParenR"/>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It calculates the prefix sum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prefix_sum</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from index 0 to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96" name="Google Shape;196;p25"/>
          <p:cNvSpPr txBox="1"/>
          <p:nvPr/>
        </p:nvSpPr>
        <p:spPr>
          <a:xfrm>
            <a:off x="670378" y="2440546"/>
            <a:ext cx="8070345" cy="246221"/>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lphaLcParenR" startAt="2"/>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It calculates the suffix sum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suffix_sum</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from index i+1 to n-1.</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97" name="Google Shape;197;p25"/>
          <p:cNvSpPr txBox="1"/>
          <p:nvPr/>
        </p:nvSpPr>
        <p:spPr>
          <a:xfrm>
            <a:off x="668030" y="2754728"/>
            <a:ext cx="8070345" cy="492443"/>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lphaLcParenR" startAt="2"/>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It checks if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prefix_sum</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suffix_sum</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If so, it has found an equilibrium point. It updates res to the maximum of res and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prefix_sum</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98" name="Google Shape;198;p25"/>
          <p:cNvSpPr txBox="1"/>
          <p:nvPr/>
        </p:nvSpPr>
        <p:spPr>
          <a:xfrm>
            <a:off x="510944" y="3744184"/>
            <a:ext cx="8434632" cy="246221"/>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rabicPeriod" startAt="3"/>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Then, res contains the maximum equilibrium sum in the array.</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99" name="Google Shape;199;p25"/>
          <p:cNvSpPr txBox="1"/>
          <p:nvPr/>
        </p:nvSpPr>
        <p:spPr>
          <a:xfrm>
            <a:off x="508596" y="4227182"/>
            <a:ext cx="8434632" cy="246221"/>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rabicPeriod" startAt="4"/>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Finally, It prints the result</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1000"/>
                                        <p:tgtEl>
                                          <p:spTgt spid="1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2"/>
                                        </p:tgtEl>
                                        <p:attrNameLst>
                                          <p:attrName>style.visibility</p:attrName>
                                        </p:attrNameLst>
                                      </p:cBhvr>
                                      <p:to>
                                        <p:strVal val="visible"/>
                                      </p:to>
                                    </p:set>
                                    <p:animEffect transition="in" filter="fade">
                                      <p:cBhvr>
                                        <p:cTn id="12" dur="500"/>
                                        <p:tgtEl>
                                          <p:spTgt spid="19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
                                        </p:tgtEl>
                                        <p:attrNameLst>
                                          <p:attrName>style.visibility</p:attrName>
                                        </p:attrNameLst>
                                      </p:cBhvr>
                                      <p:to>
                                        <p:strVal val="visible"/>
                                      </p:to>
                                    </p:set>
                                    <p:animEffect transition="in" filter="fade">
                                      <p:cBhvr>
                                        <p:cTn id="17" dur="500"/>
                                        <p:tgtEl>
                                          <p:spTgt spid="19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5"/>
                                        </p:tgtEl>
                                        <p:attrNameLst>
                                          <p:attrName>style.visibility</p:attrName>
                                        </p:attrNameLst>
                                      </p:cBhvr>
                                      <p:to>
                                        <p:strVal val="visible"/>
                                      </p:to>
                                    </p:set>
                                    <p:animEffect transition="in" filter="fade">
                                      <p:cBhvr>
                                        <p:cTn id="22" dur="500"/>
                                        <p:tgtEl>
                                          <p:spTgt spid="19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6"/>
                                        </p:tgtEl>
                                        <p:attrNameLst>
                                          <p:attrName>style.visibility</p:attrName>
                                        </p:attrNameLst>
                                      </p:cBhvr>
                                      <p:to>
                                        <p:strVal val="visible"/>
                                      </p:to>
                                    </p:set>
                                    <p:animEffect transition="in" filter="fade">
                                      <p:cBhvr>
                                        <p:cTn id="27" dur="500"/>
                                        <p:tgtEl>
                                          <p:spTgt spid="19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7"/>
                                        </p:tgtEl>
                                        <p:attrNameLst>
                                          <p:attrName>style.visibility</p:attrName>
                                        </p:attrNameLst>
                                      </p:cBhvr>
                                      <p:to>
                                        <p:strVal val="visible"/>
                                      </p:to>
                                    </p:set>
                                    <p:animEffect transition="in" filter="fade">
                                      <p:cBhvr>
                                        <p:cTn id="32" dur="500"/>
                                        <p:tgtEl>
                                          <p:spTgt spid="19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8"/>
                                        </p:tgtEl>
                                        <p:attrNameLst>
                                          <p:attrName>style.visibility</p:attrName>
                                        </p:attrNameLst>
                                      </p:cBhvr>
                                      <p:to>
                                        <p:strVal val="visible"/>
                                      </p:to>
                                    </p:set>
                                    <p:animEffect transition="in" filter="fade">
                                      <p:cBhvr>
                                        <p:cTn id="37" dur="500"/>
                                        <p:tgtEl>
                                          <p:spTgt spid="19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9"/>
                                        </p:tgtEl>
                                        <p:attrNameLst>
                                          <p:attrName>style.visibility</p:attrName>
                                        </p:attrNameLst>
                                      </p:cBhvr>
                                      <p:to>
                                        <p:strVal val="visible"/>
                                      </p:to>
                                    </p:set>
                                    <p:animEffect transition="in" filter="fade">
                                      <p:cBhvr>
                                        <p:cTn id="42"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07" name="Google Shape;207;p35"/>
          <p:cNvSpPr txBox="1"/>
          <p:nvPr/>
        </p:nvSpPr>
        <p:spPr>
          <a:xfrm>
            <a:off x="674176" y="1330812"/>
            <a:ext cx="8276095" cy="4616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endParaRPr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208" name="Google Shape;208;p35"/>
          <p:cNvGraphicFramePr/>
          <p:nvPr/>
        </p:nvGraphicFramePr>
        <p:xfrm>
          <a:off x="193729" y="688387"/>
          <a:ext cx="8593800" cy="4145290"/>
        </p:xfrm>
        <a:graphic>
          <a:graphicData uri="http://schemas.openxmlformats.org/drawingml/2006/table">
            <a:tbl>
              <a:tblPr firstRow="1" bandRow="1">
                <a:noFill/>
                <a:tableStyleId>{FFD4F47D-264E-45BD-8312-B03B0081F61C}</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import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java.</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util</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class Main {</a:t>
                      </a:r>
                      <a:endParaRPr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static int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findMaxSum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res =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Integer.MIN_VALUE</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&lt; n;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prefix_sum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j = 0; j &lt;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j++</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prefix_sum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[j];</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suffix_sum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j = n - 1; j &gt;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j--)</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suffix_sum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[j];</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prefix_sum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suffix_sum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res =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Math.max</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(res,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prefix_sum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return res;</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u="none" strike="noStrike" cap="none" dirty="0"/>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public static void main(String[]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args</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Scanner s = new Scanner(System.in);</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System.out.println</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("Enter size of the array");</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 =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s.nextInt</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new int[n];</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System.out.println</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("Enter elements of the array");</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&lt; n;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b="0"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s.nextInt</a:t>
                      </a: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lvl="0" indent="0" algn="l" rtl="0">
                        <a:spcBef>
                          <a:spcPts val="0"/>
                        </a:spcBef>
                        <a:spcAft>
                          <a:spcPts val="0"/>
                        </a:spcAft>
                        <a:buClr>
                          <a:schemeClr val="dk1"/>
                        </a:buClr>
                        <a:buSzPts val="1100"/>
                        <a:buFont typeface="Arial"/>
                        <a:buNone/>
                      </a:pPr>
                      <a:r>
                        <a:rPr lang="en-US"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b="0"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System.out.println</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findMaxSum</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n));</a:t>
                      </a:r>
                      <a:endParaRPr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u="none" strike="noStrike" cap="none" dirty="0"/>
                    </a:p>
                    <a:p>
                      <a:pPr marL="0" marR="0" lvl="0" indent="0" algn="l" rtl="0">
                        <a:lnSpc>
                          <a:spcPct val="100000"/>
                        </a:lnSpc>
                        <a:spcBef>
                          <a:spcPts val="0"/>
                        </a:spcBef>
                        <a:spcAft>
                          <a:spcPts val="0"/>
                        </a:spcAft>
                        <a:buClr>
                          <a:srgbClr val="000000"/>
                        </a:buClr>
                        <a:buSzPts val="1400"/>
                        <a:buFont typeface="Arial"/>
                        <a:buNone/>
                      </a:pPr>
                      <a:endParaRPr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16" name="Google Shape;216;p36"/>
          <p:cNvSpPr txBox="1"/>
          <p:nvPr/>
        </p:nvSpPr>
        <p:spPr>
          <a:xfrm>
            <a:off x="674176" y="1330812"/>
            <a:ext cx="8276095" cy="50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Time and space complexity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17" name="Google Shape;217;p36"/>
          <p:cNvSpPr txBox="1"/>
          <p:nvPr/>
        </p:nvSpPr>
        <p:spPr>
          <a:xfrm>
            <a:off x="2041560" y="1841967"/>
            <a:ext cx="4572000" cy="1077178"/>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Time Complexity: O(n</a:t>
            </a:r>
            <a:r>
              <a:rPr lang="en-US" sz="1600" b="0" i="0" u="none" strike="noStrike" cap="none" baseline="3000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2</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b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b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Space Complexity: O(1)</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25" name="Google Shape;225;p37"/>
          <p:cNvSpPr txBox="1"/>
          <p:nvPr/>
        </p:nvSpPr>
        <p:spPr>
          <a:xfrm>
            <a:off x="515640" y="1255187"/>
            <a:ext cx="843450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Arial"/>
              <a:buAutoNum type="arabicPeriod"/>
            </a:pPr>
            <a:r>
              <a:rPr lang="en-US"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The method first calculates the prefix sum of </a:t>
            </a:r>
            <a:r>
              <a:rPr lang="en-US" sz="1600" b="0" i="0" u="none" strike="noStrike" cap="none" dirty="0" err="1">
                <a:solidFill>
                  <a:srgbClr val="050E17"/>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and stores it in the  </a:t>
            </a:r>
            <a:r>
              <a:rPr lang="en-US" sz="1600" b="0" i="0" u="none" strike="noStrike" cap="none" dirty="0" err="1">
                <a:solidFill>
                  <a:srgbClr val="050E17"/>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array.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26" name="Google Shape;226;p37"/>
          <p:cNvSpPr/>
          <p:nvPr/>
        </p:nvSpPr>
        <p:spPr>
          <a:xfrm>
            <a:off x="1044000" y="810454"/>
            <a:ext cx="7544880"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Precompute both left sums and right sums</a:t>
            </a:r>
            <a:endParaRPr sz="16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27" name="Google Shape;227;p37"/>
          <p:cNvSpPr txBox="1"/>
          <p:nvPr/>
        </p:nvSpPr>
        <p:spPr>
          <a:xfrm>
            <a:off x="513292" y="1899172"/>
            <a:ext cx="8434632" cy="246221"/>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rabicPeriod" startAt="2"/>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It then calculates the suffix sum of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and stores it in the </a:t>
            </a:r>
            <a:r>
              <a:rPr lang="en-US" sz="1600" b="0" i="0" u="none" strike="noStrike" cap="none" dirty="0" err="1">
                <a:solidFill>
                  <a:srgbClr val="000000"/>
                </a:solidFill>
                <a:latin typeface="Roboto" panose="02000000000000000000" pitchFamily="2" charset="0"/>
                <a:ea typeface="Roboto" panose="02000000000000000000" pitchFamily="2" charset="0"/>
                <a:cs typeface="Roboto" panose="02000000000000000000" pitchFamily="2" charset="0"/>
                <a:sym typeface="Consolas"/>
              </a:rPr>
              <a:t>suffSum</a:t>
            </a: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 array.</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28" name="Google Shape;228;p37"/>
          <p:cNvSpPr txBox="1"/>
          <p:nvPr/>
        </p:nvSpPr>
        <p:spPr>
          <a:xfrm>
            <a:off x="510944" y="2589184"/>
            <a:ext cx="8434632" cy="492443"/>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rabicPeriod" startAt="3"/>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If the suffix sum of the entire array is equal to the prefix sum of the entire array, the method updates the maximum equilibrium sum.</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29" name="Google Shape;229;p37"/>
          <p:cNvSpPr txBox="1"/>
          <p:nvPr/>
        </p:nvSpPr>
        <p:spPr>
          <a:xfrm>
            <a:off x="508596" y="3347182"/>
            <a:ext cx="8434632" cy="492443"/>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rabicPeriod" startAt="4"/>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Then iterates over the array from right to left, calculating the suffix sum of each subarray and comparing it with the prefix sum of the same subarray.</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30" name="Google Shape;230;p37"/>
          <p:cNvSpPr txBox="1"/>
          <p:nvPr/>
        </p:nvSpPr>
        <p:spPr>
          <a:xfrm>
            <a:off x="509746" y="4193957"/>
            <a:ext cx="8434632" cy="246221"/>
          </a:xfrm>
          <a:prstGeom prst="rect">
            <a:avLst/>
          </a:prstGeom>
          <a:noFill/>
          <a:ln>
            <a:noFill/>
          </a:ln>
        </p:spPr>
        <p:txBody>
          <a:bodyPr spcFirstLastPara="1" wrap="square" lIns="0" tIns="0" rIns="0" bIns="0" anchor="t" anchorCtr="0">
            <a:spAutoFit/>
          </a:bodyPr>
          <a:lstStyle/>
          <a:p>
            <a:pPr marL="241300" marR="0" lvl="0" indent="-241300" algn="l" rtl="0">
              <a:lnSpc>
                <a:spcPct val="100000"/>
              </a:lnSpc>
              <a:spcBef>
                <a:spcPts val="0"/>
              </a:spcBef>
              <a:spcAft>
                <a:spcPts val="0"/>
              </a:spcAft>
              <a:buClr>
                <a:srgbClr val="000000"/>
              </a:buClr>
              <a:buSzPts val="1600"/>
              <a:buFont typeface="Arial"/>
              <a:buAutoNum type="arabicPeriod" startAt="5"/>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If they are equal, the method updates the maximum equilibrium sum.</a:t>
            </a:r>
            <a:endParaRPr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10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
                                        </p:tgtEl>
                                        <p:attrNameLst>
                                          <p:attrName>style.visibility</p:attrName>
                                        </p:attrNameLst>
                                      </p:cBhvr>
                                      <p:to>
                                        <p:strVal val="visible"/>
                                      </p:to>
                                    </p:set>
                                    <p:animEffect transition="in" filter="fade">
                                      <p:cBhvr>
                                        <p:cTn id="12" dur="500"/>
                                        <p:tgtEl>
                                          <p:spTgt spid="2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7"/>
                                        </p:tgtEl>
                                        <p:attrNameLst>
                                          <p:attrName>style.visibility</p:attrName>
                                        </p:attrNameLst>
                                      </p:cBhvr>
                                      <p:to>
                                        <p:strVal val="visible"/>
                                      </p:to>
                                    </p:set>
                                    <p:animEffect transition="in" filter="fade">
                                      <p:cBhvr>
                                        <p:cTn id="17" dur="500"/>
                                        <p:tgtEl>
                                          <p:spTgt spid="2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8"/>
                                        </p:tgtEl>
                                        <p:attrNameLst>
                                          <p:attrName>style.visibility</p:attrName>
                                        </p:attrNameLst>
                                      </p:cBhvr>
                                      <p:to>
                                        <p:strVal val="visible"/>
                                      </p:to>
                                    </p:set>
                                    <p:animEffect transition="in" filter="fade">
                                      <p:cBhvr>
                                        <p:cTn id="22" dur="500"/>
                                        <p:tgtEl>
                                          <p:spTgt spid="2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9"/>
                                        </p:tgtEl>
                                        <p:attrNameLst>
                                          <p:attrName>style.visibility</p:attrName>
                                        </p:attrNameLst>
                                      </p:cBhvr>
                                      <p:to>
                                        <p:strVal val="visible"/>
                                      </p:to>
                                    </p:set>
                                    <p:animEffect transition="in" filter="fade">
                                      <p:cBhvr>
                                        <p:cTn id="27" dur="500"/>
                                        <p:tgtEl>
                                          <p:spTgt spid="2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0"/>
                                        </p:tgtEl>
                                        <p:attrNameLst>
                                          <p:attrName>style.visibility</p:attrName>
                                        </p:attrNameLst>
                                      </p:cBhvr>
                                      <p:to>
                                        <p:strVal val="visible"/>
                                      </p:to>
                                    </p:set>
                                    <p:animEffect transition="in" filter="fade">
                                      <p:cBhvr>
                                        <p:cTn id="32"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8"/>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38" name="Google Shape;238;p38"/>
          <p:cNvSpPr txBox="1"/>
          <p:nvPr/>
        </p:nvSpPr>
        <p:spPr>
          <a:xfrm>
            <a:off x="674176" y="1330812"/>
            <a:ext cx="8276095" cy="4616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endParaRPr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239" name="Google Shape;239;p38"/>
          <p:cNvGraphicFramePr/>
          <p:nvPr/>
        </p:nvGraphicFramePr>
        <p:xfrm>
          <a:off x="193729" y="972593"/>
          <a:ext cx="8756550" cy="3476400"/>
        </p:xfrm>
        <a:graphic>
          <a:graphicData uri="http://schemas.openxmlformats.org/drawingml/2006/table">
            <a:tbl>
              <a:tblPr firstRow="1" bandRow="1">
                <a:noFill/>
                <a:tableStyleId>{FFD4F47D-264E-45BD-8312-B03B0081F61C}</a:tableStyleId>
              </a:tblPr>
              <a:tblGrid>
                <a:gridCol w="4081100">
                  <a:extLst>
                    <a:ext uri="{9D8B030D-6E8A-4147-A177-3AD203B41FA5}">
                      <a16:colId xmlns:a16="http://schemas.microsoft.com/office/drawing/2014/main" val="20000"/>
                    </a:ext>
                  </a:extLst>
                </a:gridCol>
                <a:gridCol w="4675450">
                  <a:extLst>
                    <a:ext uri="{9D8B030D-6E8A-4147-A177-3AD203B41FA5}">
                      <a16:colId xmlns:a16="http://schemas.microsoft.com/office/drawing/2014/main" val="20001"/>
                    </a:ext>
                  </a:extLst>
                </a:gridCol>
              </a:tblGrid>
              <a:tr h="3476400">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import java.io.*;</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public class Main {</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static 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findMaxSum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new int[n];</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new int[n];</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Integer.MIN_VALUE</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[0]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[0];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1;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&lt; n;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- 1]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 - 1]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 - 1];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 - 1]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 - 1])</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Math.max</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 - 1]);</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n - 2;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&gt;= 0;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4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+ 1]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suffSum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Math.max</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preSum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return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static public void main (String[]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args</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 -2, 5, 3, 3, 2, 6, -4, 2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 =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arr.length</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System.out.println</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findMaxSum</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4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n));</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US"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400" u="none" strike="noStrike" cap="none" dirty="0"/>
                    </a:p>
                    <a:p>
                      <a:pPr marL="0" marR="0" lvl="0" indent="0" algn="l" rtl="0">
                        <a:lnSpc>
                          <a:spcPct val="100000"/>
                        </a:lnSpc>
                        <a:spcBef>
                          <a:spcPts val="0"/>
                        </a:spcBef>
                        <a:spcAft>
                          <a:spcPts val="0"/>
                        </a:spcAft>
                        <a:buClr>
                          <a:srgbClr val="000000"/>
                        </a:buClr>
                        <a:buSzPts val="1400"/>
                        <a:buFont typeface="Arial"/>
                        <a:buNone/>
                      </a:pPr>
                      <a:endParaRPr sz="14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9"/>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47" name="Google Shape;247;p39"/>
          <p:cNvSpPr txBox="1"/>
          <p:nvPr/>
        </p:nvSpPr>
        <p:spPr>
          <a:xfrm>
            <a:off x="674176" y="1973238"/>
            <a:ext cx="8276095" cy="50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Time and space complexity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48" name="Google Shape;248;p39"/>
          <p:cNvSpPr txBox="1"/>
          <p:nvPr/>
        </p:nvSpPr>
        <p:spPr>
          <a:xfrm>
            <a:off x="2816475" y="2521596"/>
            <a:ext cx="4572000" cy="1077178"/>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Time Complexity: O(n) </a:t>
            </a:r>
            <a:b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b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Space Complexity: O(1)</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49" name="Google Shape;249;p39"/>
          <p:cNvSpPr txBox="1"/>
          <p:nvPr/>
        </p:nvSpPr>
        <p:spPr>
          <a:xfrm>
            <a:off x="674176" y="1286674"/>
            <a:ext cx="7369444" cy="83095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Precompute both left sums and right sums </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70C0"/>
                </a:solidFill>
                <a:latin typeface="Roboto" panose="02000000000000000000" pitchFamily="2" charset="0"/>
                <a:ea typeface="Roboto" panose="02000000000000000000" pitchFamily="2" charset="0"/>
                <a:cs typeface="Roboto" panose="02000000000000000000" pitchFamily="2" charset="0"/>
                <a:sym typeface="Consolas"/>
              </a:rPr>
              <a:t> </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7" name="Google Shape;257;g23f307fc558_0_8"/>
          <p:cNvSpPr/>
          <p:nvPr/>
        </p:nvSpPr>
        <p:spPr>
          <a:xfrm>
            <a:off x="571727" y="1381458"/>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58" name="Google Shape;258;g23f307fc558_0_8"/>
          <p:cNvSpPr txBox="1"/>
          <p:nvPr/>
        </p:nvSpPr>
        <p:spPr>
          <a:xfrm>
            <a:off x="549489" y="1416856"/>
            <a:ext cx="8117100" cy="8925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a:t>
            </a: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the maximum equilibrium sum problem</a:t>
            </a: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59" name="Google Shape;259;g23f307fc558_0_8"/>
          <p:cNvSpPr txBox="1"/>
          <p:nvPr/>
        </p:nvSpPr>
        <p:spPr>
          <a:xfrm>
            <a:off x="1007602" y="1934288"/>
            <a:ext cx="7200900" cy="143113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The maximum equilibrium sum problem involves finding the split point in an array where the sum of elements on the left of that split is closest to equaling the sum of elements on the right of that split.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 name="Google Shape;372;p49">
            <a:extLst>
              <a:ext uri="{FF2B5EF4-FFF2-40B4-BE49-F238E27FC236}">
                <a16:creationId xmlns:a16="http://schemas.microsoft.com/office/drawing/2014/main" id="{70E8BC42-1B74-2724-89B3-6A9AACCFBC44}"/>
              </a:ext>
            </a:extLst>
          </p:cNvPr>
          <p:cNvSpPr txBox="1"/>
          <p:nvPr/>
        </p:nvSpPr>
        <p:spPr>
          <a:xfrm>
            <a:off x="122130" y="445025"/>
            <a:ext cx="6341565" cy="82173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IN" sz="36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7" name="Google Shape;267;g23f307fc558_0_1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68" name="Google Shape;268;g23f307fc558_0_18"/>
          <p:cNvSpPr txBox="1"/>
          <p:nvPr/>
        </p:nvSpPr>
        <p:spPr>
          <a:xfrm>
            <a:off x="565070" y="1278615"/>
            <a:ext cx="81171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the time complexity of your algorithm?</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69" name="Google Shape;269;g23f307fc558_0_18"/>
          <p:cNvSpPr txBox="1"/>
          <p:nvPr/>
        </p:nvSpPr>
        <p:spPr>
          <a:xfrm>
            <a:off x="1023170" y="2074177"/>
            <a:ext cx="7200900" cy="143113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time complexity is O(n) where n is the length of the array, as we traverse the array only once.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372;p49">
            <a:extLst>
              <a:ext uri="{FF2B5EF4-FFF2-40B4-BE49-F238E27FC236}">
                <a16:creationId xmlns:a16="http://schemas.microsoft.com/office/drawing/2014/main" id="{EE042980-BF2B-E94C-1682-4A2844CD9A95}"/>
              </a:ext>
            </a:extLst>
          </p:cNvPr>
          <p:cNvSpPr txBox="1"/>
          <p:nvPr/>
        </p:nvSpPr>
        <p:spPr>
          <a:xfrm>
            <a:off x="122130" y="445025"/>
            <a:ext cx="6341565" cy="82173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IN" sz="36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5" name="Google Shape;275;g23f307fc558_0_30"/>
          <p:cNvSpPr/>
          <p:nvPr/>
        </p:nvSpPr>
        <p:spPr>
          <a:xfrm>
            <a:off x="1007602" y="79060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76" name="Google Shape;276;g23f307fc558_0_30"/>
          <p:cNvSpPr txBox="1"/>
          <p:nvPr/>
        </p:nvSpPr>
        <p:spPr>
          <a:xfrm>
            <a:off x="549502" y="1260839"/>
            <a:ext cx="8117100" cy="50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the space complexity of your algorithm?</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77" name="Google Shape;277;g23f307fc558_0_30"/>
          <p:cNvSpPr txBox="1"/>
          <p:nvPr/>
        </p:nvSpPr>
        <p:spPr>
          <a:xfrm>
            <a:off x="1007602" y="2214262"/>
            <a:ext cx="7200900" cy="1015632"/>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space complexity is O(1) as we do not use any additional space.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372;p49">
            <a:extLst>
              <a:ext uri="{FF2B5EF4-FFF2-40B4-BE49-F238E27FC236}">
                <a16:creationId xmlns:a16="http://schemas.microsoft.com/office/drawing/2014/main" id="{EA200591-8298-B30C-84F7-2E16BF353E8C}"/>
              </a:ext>
            </a:extLst>
          </p:cNvPr>
          <p:cNvSpPr txBox="1"/>
          <p:nvPr/>
        </p:nvSpPr>
        <p:spPr>
          <a:xfrm>
            <a:off x="122130" y="445025"/>
            <a:ext cx="6341565" cy="82173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IN" sz="36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00"/>
        <p:cNvGrpSpPr/>
        <p:nvPr/>
      </p:nvGrpSpPr>
      <p:grpSpPr>
        <a:xfrm>
          <a:off x="0" y="0"/>
          <a:ext cx="0" cy="0"/>
          <a:chOff x="0" y="0"/>
          <a:chExt cx="0" cy="0"/>
        </a:xfrm>
      </p:grpSpPr>
      <p:sp>
        <p:nvSpPr>
          <p:cNvPr id="5201" name="Google Shape;5201;p561"/>
          <p:cNvSpPr/>
          <p:nvPr/>
        </p:nvSpPr>
        <p:spPr>
          <a:xfrm>
            <a:off x="555120" y="915840"/>
            <a:ext cx="7544880" cy="830956"/>
          </a:xfrm>
          <a:prstGeom prst="rect">
            <a:avLst/>
          </a:prstGeom>
          <a:noFill/>
          <a:ln>
            <a:noFill/>
          </a:ln>
        </p:spPr>
        <p:txBody>
          <a:bodyPr spcFirstLastPara="1" wrap="square" lIns="91425" tIns="45700" rIns="91425" bIns="45700" anchor="t" anchorCtr="0">
            <a:spAutoFit/>
          </a:bodyPr>
          <a:lstStyle/>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p:txBody>
      </p:sp>
      <p:pic>
        <p:nvPicPr>
          <p:cNvPr id="76805" name="Google Shape;1420;p18">
            <a:extLst>
              <a:ext uri="{FF2B5EF4-FFF2-40B4-BE49-F238E27FC236}">
                <a16:creationId xmlns:a16="http://schemas.microsoft.com/office/drawing/2014/main" id="{EF29B0C4-6766-C518-F208-025B01250D6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9160" y="913210"/>
            <a:ext cx="2855119" cy="28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Google Shape;1421;p18">
            <a:extLst>
              <a:ext uri="{FF2B5EF4-FFF2-40B4-BE49-F238E27FC236}">
                <a16:creationId xmlns:a16="http://schemas.microsoft.com/office/drawing/2014/main" id="{04A2AACF-A287-93F4-A91D-C8DE8603E40D}"/>
              </a:ext>
            </a:extLst>
          </p:cNvPr>
          <p:cNvSpPr>
            <a:spLocks noChangeArrowheads="1"/>
          </p:cNvSpPr>
          <p:nvPr/>
        </p:nvSpPr>
        <p:spPr bwMode="auto">
          <a:xfrm>
            <a:off x="1634729" y="4055269"/>
            <a:ext cx="5183981" cy="28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625" tIns="82925" rIns="81625" bIns="82925" anchor="ctr"/>
          <a:lstStyle>
            <a:lvl1pPr>
              <a:lnSpc>
                <a:spcPct val="90000"/>
              </a:lnSpc>
              <a:spcBef>
                <a:spcPts val="1000"/>
              </a:spcBef>
              <a:buFont typeface="Arial" panose="020B0604020202020204" pitchFamily="34" charset="0"/>
              <a:buChar char="•"/>
              <a:defRPr sz="2800">
                <a:solidFill>
                  <a:schemeClr val="tx1"/>
                </a:solidFill>
                <a:latin typeface="Roboto" panose="020000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Roboto" panose="020000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Roboto" panose="020000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9pPr>
          </a:lstStyle>
          <a:p>
            <a:pPr algn="ctr" eaLnBrk="1" hangingPunct="1">
              <a:lnSpc>
                <a:spcPct val="100000"/>
              </a:lnSpc>
              <a:spcBef>
                <a:spcPct val="0"/>
              </a:spcBef>
              <a:buClr>
                <a:srgbClr val="000000"/>
              </a:buClr>
              <a:buSzPts val="1200"/>
              <a:buFontTx/>
              <a:buNone/>
            </a:pPr>
            <a:r>
              <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hlinkClick r:id="rId4"/>
              </a:rPr>
              <a:t>https://learn.codemithra.com</a:t>
            </a:r>
            <a:endPar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endParaRPr>
          </a:p>
          <a:p>
            <a:pPr algn="ctr" eaLnBrk="1" hangingPunct="1">
              <a:lnSpc>
                <a:spcPct val="100000"/>
              </a:lnSpc>
              <a:spcBef>
                <a:spcPct val="0"/>
              </a:spcBef>
              <a:buClr>
                <a:srgbClr val="000000"/>
              </a:buClr>
              <a:buSzPts val="1200"/>
              <a:buFontTx/>
              <a:buNone/>
            </a:pPr>
            <a:endParaRPr lang="en-US" altLang="en-US" sz="1200" dirty="0">
              <a:solidFill>
                <a:srgbClr val="000000"/>
              </a:solidFill>
              <a:ea typeface="Roboto" panose="02000000000000000000" pitchFamily="2" charset="0"/>
              <a:cs typeface="Roboto" panose="02000000000000000000" pitchFamily="2" charset="0"/>
              <a:sym typeface="Arial" panose="020B0604020202020204" pitchFamily="34" charset="0"/>
            </a:endParaRPr>
          </a:p>
        </p:txBody>
      </p:sp>
    </p:spTree>
    <p:extLst>
      <p:ext uri="{BB962C8B-B14F-4D97-AF65-F5344CB8AC3E}">
        <p14:creationId xmlns:p14="http://schemas.microsoft.com/office/powerpoint/2010/main" val="4121189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ctrTitle"/>
          </p:nvPr>
        </p:nvSpPr>
        <p:spPr>
          <a:xfrm>
            <a:off x="311708" y="744575"/>
            <a:ext cx="8520600" cy="2052600"/>
          </a:xfrm>
          <a:prstGeom prst="rect">
            <a:avLst/>
          </a:prstGeom>
          <a:noFill/>
          <a:ln>
            <a:noFill/>
          </a:ln>
        </p:spPr>
        <p:txBody>
          <a:bodyPr spcFirstLastPara="1" vert="horz" wrap="square" lIns="91425" tIns="91425" rIns="91425" bIns="91425" rtlCol="0" anchor="b" anchorCtr="0">
            <a:normAutofit/>
          </a:bodyPr>
          <a:lstStyle/>
          <a:p>
            <a:pPr>
              <a:lnSpc>
                <a:spcPct val="100000"/>
              </a:lnSpc>
              <a:buSzPts val="5200"/>
            </a:pPr>
            <a:endParaRPr/>
          </a:p>
        </p:txBody>
      </p:sp>
      <p:sp>
        <p:nvSpPr>
          <p:cNvPr id="128" name="Google Shape;128;p9"/>
          <p:cNvSpPr txBox="1">
            <a:spLocks noGrp="1"/>
          </p:cNvSpPr>
          <p:nvPr>
            <p:ph type="subTitle" idx="1"/>
          </p:nvPr>
        </p:nvSpPr>
        <p:spPr>
          <a:xfrm>
            <a:off x="311700" y="2834125"/>
            <a:ext cx="8520600" cy="792600"/>
          </a:xfrm>
          <a:prstGeom prst="rect">
            <a:avLst/>
          </a:prstGeom>
          <a:noFill/>
          <a:ln>
            <a:noFill/>
          </a:ln>
        </p:spPr>
        <p:txBody>
          <a:bodyPr spcFirstLastPara="1" vert="horz" wrap="square" lIns="91425" tIns="91425" rIns="91425" bIns="91425" rtlCol="0" anchor="t" anchorCtr="0">
            <a:normAutofit/>
          </a:bodyPr>
          <a:lstStyle/>
          <a:p>
            <a:pPr>
              <a:lnSpc>
                <a:spcPct val="100000"/>
              </a:lnSpc>
              <a:spcBef>
                <a:spcPts val="0"/>
              </a:spcBef>
              <a:buSzPts val="2800"/>
            </a:pPr>
            <a:endParaRPr/>
          </a:p>
        </p:txBody>
      </p:sp>
      <p:pic>
        <p:nvPicPr>
          <p:cNvPr id="129" name="Google Shape;129;p9"/>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130" name="Google Shape;130;p9"/>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a:buClr>
                <a:srgbClr val="000000"/>
              </a:buClr>
              <a:buSzPts val="3700"/>
            </a:pPr>
            <a:r>
              <a:rPr lang="en-IN" sz="37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THANK YOU</a:t>
            </a:r>
            <a:endParaRPr sz="37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pic>
        <p:nvPicPr>
          <p:cNvPr id="131" name="Google Shape;131;p9"/>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132" name="Google Shape;132;p9"/>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133" name="Google Shape;133;p9"/>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+91 78150 95095</a:t>
            </a:r>
            <a:endParaRPr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cxnSp>
        <p:nvCxnSpPr>
          <p:cNvPr id="134" name="Google Shape;134;p9"/>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135" name="Google Shape;135;p9"/>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codemithra@ethnus.com</a:t>
            </a:r>
            <a:endParaRPr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pic>
        <p:nvPicPr>
          <p:cNvPr id="136" name="Google Shape;136;p9"/>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137" name="Google Shape;137;p9"/>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www.codemithra.com</a:t>
            </a:r>
            <a:endParaRPr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cxnSp>
        <p:nvCxnSpPr>
          <p:cNvPr id="138" name="Google Shape;138;p9"/>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1519</Words>
  <Application>Microsoft Office PowerPoint</Application>
  <PresentationFormat>On-screen Show (16:9)</PresentationFormat>
  <Paragraphs>218</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Roboto</vt:lpstr>
      <vt:lpstr>Roboto Black</vt:lpstr>
      <vt:lpstr>Noto Sans Symbols</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lastModifiedBy>poojaramaraj71@gmail.com</cp:lastModifiedBy>
  <cp:revision>3</cp:revision>
  <dcterms:modified xsi:type="dcterms:W3CDTF">2024-07-22T04:34:55Z</dcterms:modified>
</cp:coreProperties>
</file>