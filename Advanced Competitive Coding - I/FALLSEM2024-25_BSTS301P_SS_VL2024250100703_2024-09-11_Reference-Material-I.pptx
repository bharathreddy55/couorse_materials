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73" r:id="rId2"/>
    <p:sldId id="257" r:id="rId3"/>
    <p:sldId id="275" r:id="rId4"/>
    <p:sldId id="259" r:id="rId5"/>
    <p:sldId id="260" r:id="rId6"/>
    <p:sldId id="261" r:id="rId7"/>
    <p:sldId id="262" r:id="rId8"/>
    <p:sldId id="263" r:id="rId9"/>
    <p:sldId id="264" r:id="rId10"/>
    <p:sldId id="265" r:id="rId11"/>
    <p:sldId id="266" r:id="rId12"/>
    <p:sldId id="267" r:id="rId13"/>
    <p:sldId id="268" r:id="rId14"/>
    <p:sldId id="269" r:id="rId15"/>
    <p:sldId id="270" r:id="rId16"/>
    <p:sldId id="806" r:id="rId17"/>
    <p:sldId id="807" r:id="rId18"/>
  </p:sldIdLst>
  <p:sldSz cx="9144000" cy="5143500" type="screen16x9"/>
  <p:notesSz cx="6858000" cy="9144000"/>
  <p:embeddedFontLst>
    <p:embeddedFont>
      <p:font typeface="Consolas" panose="020B0609020204030204" pitchFamily="49" charset="0"/>
      <p:regular r:id="rId20"/>
      <p:bold r:id="rId21"/>
      <p:italic r:id="rId22"/>
      <p:boldItalic r:id="rId23"/>
    </p:embeddedFont>
    <p:embeddedFont>
      <p:font typeface="Roboto" panose="02000000000000000000" pitchFamily="2"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1" roundtripDataSignature="AMtx7mg/5g/eBNYWfa9frUhUyQCsGdstF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19CD060-CA51-46FF-BB07-23E3C53714E6}">
  <a:tblStyle styleId="{019CD060-CA51-46FF-BB07-23E3C53714E6}"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83" autoAdjust="0"/>
    <p:restoredTop sz="94660"/>
  </p:normalViewPr>
  <p:slideViewPr>
    <p:cSldViewPr snapToGrid="0">
      <p:cViewPr varScale="1">
        <p:scale>
          <a:sx n="103" d="100"/>
          <a:sy n="103" d="100"/>
        </p:scale>
        <p:origin x="701"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notesMaster" Target="notesMasters/notesMaster1.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 name="Google Shape;51;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23f307fc558_0_1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8" name="Google Shape;58;g23f307fc558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13: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5" name="Google Shape;75;p13: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15: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4" name="Google Shape;84;p15: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6: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3" name="Google Shape;93;p16: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17: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2" name="Google Shape;102;p17: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21: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0" name="Google Shape;120;p21: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22: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0" name="Google Shape;130;p22: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24: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8" name="Google Shape;138;p24: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25: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7" name="Google Shape;147;p25: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r>
              <a:rPr lang="en-US" sz="2000"/>
              <a:t>Maximum sum of hour glass = 13</a:t>
            </a:r>
            <a:endParaRPr sz="1200" b="0" strike="noStrike">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35: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5" name="Google Shape;155;p35: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r>
              <a:rPr lang="en-US" sz="2000"/>
              <a:t>Maximum sum of hour glass = 13</a:t>
            </a:r>
            <a:endParaRPr sz="1200" b="0" strike="noStrike">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23f307fc558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3" name="Google Shape;163;g23f307fc558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a:solidFill>
                <a:schemeClr val="dk1"/>
              </a:solidFill>
            </a:endParaRPr>
          </a:p>
          <a:p>
            <a:pPr marL="45720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sz="1200">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23f307fc558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23f307fc558_0_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a:solidFill>
                <a:schemeClr val="dk1"/>
              </a:solidFill>
            </a:endParaRPr>
          </a:p>
          <a:p>
            <a:pPr marL="45720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sz="1200">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23f307fc558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3" name="Google Shape;183;g23f307fc558_0_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a:solidFill>
                <a:schemeClr val="dk1"/>
              </a:solidFill>
            </a:endParaRPr>
          </a:p>
          <a:p>
            <a:pPr marL="457200" lvl="0" indent="0" algn="l" rtl="0">
              <a:lnSpc>
                <a:spcPct val="100000"/>
              </a:lnSpc>
              <a:spcBef>
                <a:spcPts val="0"/>
              </a:spcBef>
              <a:spcAft>
                <a:spcPts val="0"/>
              </a:spcAft>
              <a:buSzPts val="1100"/>
              <a:buNone/>
            </a:pPr>
            <a:endParaRPr>
              <a:solidFill>
                <a:schemeClr val="dk1"/>
              </a:solidFill>
            </a:endParaRPr>
          </a:p>
          <a:p>
            <a:pPr marL="0" lvl="0" indent="0" algn="l" rtl="0">
              <a:lnSpc>
                <a:spcPct val="100000"/>
              </a:lnSpc>
              <a:spcBef>
                <a:spcPts val="0"/>
              </a:spcBef>
              <a:spcAft>
                <a:spcPts val="0"/>
              </a:spcAft>
              <a:buSzPts val="1100"/>
              <a:buNone/>
            </a:pPr>
            <a:endParaRPr sz="1200">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7"/>
        <p:cNvGrpSpPr/>
        <p:nvPr/>
      </p:nvGrpSpPr>
      <p:grpSpPr>
        <a:xfrm>
          <a:off x="0" y="0"/>
          <a:ext cx="0" cy="0"/>
          <a:chOff x="0" y="0"/>
          <a:chExt cx="0" cy="0"/>
        </a:xfrm>
      </p:grpSpPr>
      <p:sp>
        <p:nvSpPr>
          <p:cNvPr id="5198" name="Google Shape;5198;p561:notes"/>
          <p:cNvSpPr>
            <a:spLocks noGrp="1" noRot="1" noChangeAspect="1"/>
          </p:cNvSpPr>
          <p:nvPr>
            <p:ph type="sldImg" idx="2"/>
          </p:nvPr>
        </p:nvSpPr>
        <p:spPr>
          <a:xfrm>
            <a:off x="685800" y="1143000"/>
            <a:ext cx="5484813"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99" name="Google Shape;5199;p561:notes"/>
          <p:cNvSpPr txBox="1">
            <a:spLocks noGrp="1"/>
          </p:cNvSpPr>
          <p:nvPr>
            <p:ph type="body" idx="1"/>
          </p:nvPr>
        </p:nvSpPr>
        <p:spPr>
          <a:xfrm>
            <a:off x="685800" y="4400640"/>
            <a:ext cx="5486040" cy="360036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100"/>
              <a:buNone/>
            </a:pPr>
            <a:endParaRPr sz="1200" b="0" strike="noStrike" dirty="0">
              <a:latin typeface="Roboto" panose="02000000000000000000" pitchFamily="2" charset="0"/>
              <a:ea typeface="Roboto" panose="02000000000000000000" pitchFamily="2" charset="0"/>
              <a:cs typeface="Roboto" panose="02000000000000000000" pitchFamily="2" charset="0"/>
              <a:sym typeface="Arial"/>
            </a:endParaRPr>
          </a:p>
        </p:txBody>
      </p:sp>
    </p:spTree>
    <p:extLst>
      <p:ext uri="{BB962C8B-B14F-4D97-AF65-F5344CB8AC3E}">
        <p14:creationId xmlns:p14="http://schemas.microsoft.com/office/powerpoint/2010/main" val="29052926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
        <p:cNvGrpSpPr/>
        <p:nvPr/>
      </p:nvGrpSpPr>
      <p:grpSpPr>
        <a:xfrm>
          <a:off x="0" y="0"/>
          <a:ext cx="0" cy="0"/>
          <a:chOff x="0" y="0"/>
          <a:chExt cx="0" cy="0"/>
        </a:xfrm>
      </p:grpSpPr>
      <p:sp>
        <p:nvSpPr>
          <p:cNvPr id="10" name="Google Shape;10;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
        <p:cNvGrpSpPr/>
        <p:nvPr/>
      </p:nvGrpSpPr>
      <p:grpSpPr>
        <a:xfrm>
          <a:off x="0" y="0"/>
          <a:ext cx="0" cy="0"/>
          <a:chOff x="0" y="0"/>
          <a:chExt cx="0" cy="0"/>
        </a:xfrm>
      </p:grpSpPr>
      <p:sp>
        <p:nvSpPr>
          <p:cNvPr id="12" name="Google Shape;12;p2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800"/>
              <a:buFont typeface="Calibri"/>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3" name="Google Shape;13;p2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Clr>
                <a:schemeClr val="dk1"/>
              </a:buClr>
              <a:buSzPts val="1800"/>
              <a:buChar char="●"/>
              <a:defRPr/>
            </a:lvl1pPr>
            <a:lvl2pPr marL="914400" lvl="1" indent="-317500" algn="l">
              <a:lnSpc>
                <a:spcPct val="115000"/>
              </a:lnSpc>
              <a:spcBef>
                <a:spcPts val="1200"/>
              </a:spcBef>
              <a:spcAft>
                <a:spcPts val="0"/>
              </a:spcAft>
              <a:buClr>
                <a:schemeClr val="dk1"/>
              </a:buClr>
              <a:buSzPts val="1400"/>
              <a:buChar char="○"/>
              <a:defRPr/>
            </a:lvl2pPr>
            <a:lvl3pPr marL="1371600" lvl="2" indent="-317500" algn="l">
              <a:lnSpc>
                <a:spcPct val="115000"/>
              </a:lnSpc>
              <a:spcBef>
                <a:spcPts val="1200"/>
              </a:spcBef>
              <a:spcAft>
                <a:spcPts val="0"/>
              </a:spcAft>
              <a:buClr>
                <a:schemeClr val="dk1"/>
              </a:buClr>
              <a:buSzPts val="1400"/>
              <a:buChar char="■"/>
              <a:defRPr/>
            </a:lvl3pPr>
            <a:lvl4pPr marL="1828800" lvl="3" indent="-317500" algn="l">
              <a:lnSpc>
                <a:spcPct val="115000"/>
              </a:lnSpc>
              <a:spcBef>
                <a:spcPts val="1200"/>
              </a:spcBef>
              <a:spcAft>
                <a:spcPts val="0"/>
              </a:spcAft>
              <a:buClr>
                <a:schemeClr val="dk1"/>
              </a:buClr>
              <a:buSzPts val="1400"/>
              <a:buChar char="●"/>
              <a:defRPr/>
            </a:lvl4pPr>
            <a:lvl5pPr marL="2286000" lvl="4" indent="-317500" algn="l">
              <a:lnSpc>
                <a:spcPct val="115000"/>
              </a:lnSpc>
              <a:spcBef>
                <a:spcPts val="1200"/>
              </a:spcBef>
              <a:spcAft>
                <a:spcPts val="0"/>
              </a:spcAft>
              <a:buClr>
                <a:schemeClr val="dk1"/>
              </a:buClr>
              <a:buSzPts val="1400"/>
              <a:buChar char="○"/>
              <a:defRPr/>
            </a:lvl5pPr>
            <a:lvl6pPr marL="2743200" lvl="5" indent="-317500" algn="l">
              <a:lnSpc>
                <a:spcPct val="115000"/>
              </a:lnSpc>
              <a:spcBef>
                <a:spcPts val="1200"/>
              </a:spcBef>
              <a:spcAft>
                <a:spcPts val="0"/>
              </a:spcAft>
              <a:buClr>
                <a:schemeClr val="dk1"/>
              </a:buClr>
              <a:buSzPts val="1400"/>
              <a:buChar char="■"/>
              <a:defRPr/>
            </a:lvl6pPr>
            <a:lvl7pPr marL="3200400" lvl="6" indent="-317500" algn="l">
              <a:lnSpc>
                <a:spcPct val="115000"/>
              </a:lnSpc>
              <a:spcBef>
                <a:spcPts val="1200"/>
              </a:spcBef>
              <a:spcAft>
                <a:spcPts val="0"/>
              </a:spcAft>
              <a:buClr>
                <a:schemeClr val="dk1"/>
              </a:buClr>
              <a:buSzPts val="1400"/>
              <a:buChar char="●"/>
              <a:defRPr/>
            </a:lvl7pPr>
            <a:lvl8pPr marL="3657600" lvl="7" indent="-317500" algn="l">
              <a:lnSpc>
                <a:spcPct val="115000"/>
              </a:lnSpc>
              <a:spcBef>
                <a:spcPts val="1200"/>
              </a:spcBef>
              <a:spcAft>
                <a:spcPts val="0"/>
              </a:spcAft>
              <a:buClr>
                <a:schemeClr val="dk1"/>
              </a:buClr>
              <a:buSzPts val="1400"/>
              <a:buChar char="○"/>
              <a:defRPr/>
            </a:lvl8pPr>
            <a:lvl9pPr marL="4114800" lvl="8" indent="-317500" algn="l">
              <a:lnSpc>
                <a:spcPct val="115000"/>
              </a:lnSpc>
              <a:spcBef>
                <a:spcPts val="1200"/>
              </a:spcBef>
              <a:spcAft>
                <a:spcPts val="1200"/>
              </a:spcAft>
              <a:buClr>
                <a:schemeClr val="dk1"/>
              </a:buClr>
              <a:buSzPts val="1400"/>
              <a:buChar char="■"/>
              <a:defRPr/>
            </a:lvl9pPr>
          </a:lstStyle>
          <a:p>
            <a:endParaRPr/>
          </a:p>
        </p:txBody>
      </p:sp>
      <p:sp>
        <p:nvSpPr>
          <p:cNvPr id="14" name="Google Shape;14;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6"/>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7" name="Google Shape;17;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8" name="Google Shape;18;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sp>
        <p:nvSpPr>
          <p:cNvPr id="20" name="Google Shape;20;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1" name="Google Shape;21;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4" name="Google Shape;24;p2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5" name="Google Shape;25;p2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6" name="Google Shape;26;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2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30"/>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2" name="Google Shape;32;p30"/>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3" name="Google Shape;33;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31"/>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6" name="Google Shape;36;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32"/>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32"/>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0" name="Google Shape;40;p32"/>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1" name="Google Shape;41;p32"/>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2" name="Google Shape;42;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33"/>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5" name="Google Shape;45;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34"/>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34"/>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9" name="Google Shape;49;p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2" name="Google Shape;9;p21">
            <a:extLst>
              <a:ext uri="{FF2B5EF4-FFF2-40B4-BE49-F238E27FC236}">
                <a16:creationId xmlns:a16="http://schemas.microsoft.com/office/drawing/2014/main" id="{2E584811-DE85-301F-FCDC-2A7474B7E12A}"/>
              </a:ext>
            </a:extLst>
          </p:cNvPr>
          <p:cNvPicPr preferRelativeResize="0"/>
          <p:nvPr userDrawn="1"/>
        </p:nvPicPr>
        <p:blipFill rotWithShape="1">
          <a:blip r:embed="rId13">
            <a:alphaModFix/>
          </a:blip>
          <a:srcRect/>
          <a:stretch/>
        </p:blipFill>
        <p:spPr>
          <a:xfrm>
            <a:off x="0" y="0"/>
            <a:ext cx="9144003" cy="514350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hyperlink" Target="https://forms.gle/4LD4LutpGGuCE5zR8"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hyperlink" Target="https://learn.codemithra.com/"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33"/>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5200"/>
              <a:buNone/>
            </a:pPr>
            <a:endParaRPr/>
          </a:p>
        </p:txBody>
      </p:sp>
      <p:sp>
        <p:nvSpPr>
          <p:cNvPr id="54" name="Google Shape;54;p33"/>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457200" lvl="0" indent="-342900" algn="ctr" rtl="0">
              <a:lnSpc>
                <a:spcPct val="100000"/>
              </a:lnSpc>
              <a:spcBef>
                <a:spcPts val="0"/>
              </a:spcBef>
              <a:spcAft>
                <a:spcPts val="0"/>
              </a:spcAft>
              <a:buSzPts val="2800"/>
              <a:buNone/>
            </a:pPr>
            <a:endParaRPr/>
          </a:p>
        </p:txBody>
      </p:sp>
      <p:pic>
        <p:nvPicPr>
          <p:cNvPr id="55" name="Google Shape;55;p33"/>
          <p:cNvPicPr preferRelativeResize="0"/>
          <p:nvPr/>
        </p:nvPicPr>
        <p:blipFill rotWithShape="1">
          <a:blip r:embed="rId3">
            <a:alphaModFix/>
          </a:blip>
          <a:srcRect/>
          <a:stretch/>
        </p:blipFill>
        <p:spPr>
          <a:xfrm>
            <a:off x="1" y="3"/>
            <a:ext cx="9144003" cy="5143501"/>
          </a:xfrm>
          <a:prstGeom prst="rect">
            <a:avLst/>
          </a:prstGeom>
          <a:noFill/>
          <a:ln>
            <a:noFill/>
          </a:ln>
        </p:spPr>
      </p:pic>
      <p:pic>
        <p:nvPicPr>
          <p:cNvPr id="56" name="Google Shape;56;p33"/>
          <p:cNvPicPr preferRelativeResize="0"/>
          <p:nvPr/>
        </p:nvPicPr>
        <p:blipFill rotWithShape="1">
          <a:blip r:embed="rId4">
            <a:alphaModFix/>
          </a:blip>
          <a:srcRect/>
          <a:stretch/>
        </p:blipFill>
        <p:spPr>
          <a:xfrm>
            <a:off x="2504603" y="600290"/>
            <a:ext cx="4134799" cy="2923400"/>
          </a:xfrm>
          <a:prstGeom prst="rect">
            <a:avLst/>
          </a:prstGeom>
          <a:noFill/>
          <a:ln>
            <a:noFill/>
          </a:ln>
        </p:spPr>
      </p:pic>
      <p:pic>
        <p:nvPicPr>
          <p:cNvPr id="57" name="Google Shape;57;p33"/>
          <p:cNvPicPr preferRelativeResize="0"/>
          <p:nvPr/>
        </p:nvPicPr>
        <p:blipFill rotWithShape="1">
          <a:blip r:embed="rId5">
            <a:alphaModFix/>
          </a:blip>
          <a:srcRect/>
          <a:stretch/>
        </p:blipFill>
        <p:spPr>
          <a:xfrm>
            <a:off x="2200053" y="3386140"/>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3" name="Google Shape;63;g23f307fc558_0_101"/>
          <p:cNvSpPr txBox="1">
            <a:spLocks noGrp="1"/>
          </p:cNvSpPr>
          <p:nvPr>
            <p:ph type="body" idx="1"/>
          </p:nvPr>
        </p:nvSpPr>
        <p:spPr>
          <a:xfrm>
            <a:off x="729200" y="1231900"/>
            <a:ext cx="8086200"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US" b="1" dirty="0">
                <a:solidFill>
                  <a:schemeClr val="dk1"/>
                </a:solidFill>
                <a:highlight>
                  <a:srgbClr val="FFFFFF"/>
                </a:highlight>
              </a:rPr>
              <a:t>URL</a:t>
            </a:r>
            <a:r>
              <a:rPr lang="en-US" b="1" dirty="0">
                <a:solidFill>
                  <a:srgbClr val="373737"/>
                </a:solidFill>
                <a:highlight>
                  <a:srgbClr val="FFFFFF"/>
                </a:highlight>
              </a:rPr>
              <a:t>:</a:t>
            </a:r>
            <a:r>
              <a:rPr lang="en-US" b="1" u="sng" dirty="0">
                <a:solidFill>
                  <a:schemeClr val="hlink"/>
                </a:solidFill>
                <a:highlight>
                  <a:srgbClr val="FFFFFF"/>
                </a:highlight>
                <a:hlinkClick r:id="rId3"/>
              </a:rPr>
              <a:t>https://forms.gle/4LD4LutpGGuCE5zR8</a:t>
            </a:r>
            <a:endParaRPr b="1" dirty="0">
              <a:solidFill>
                <a:schemeClr val="dk1"/>
              </a:solidFill>
              <a:highlight>
                <a:srgbClr val="FFFFFF"/>
              </a:highlight>
            </a:endParaRPr>
          </a:p>
          <a:p>
            <a:pPr marL="0" lvl="0" indent="0" algn="l" rtl="0">
              <a:lnSpc>
                <a:spcPct val="115000"/>
              </a:lnSpc>
              <a:spcBef>
                <a:spcPts val="0"/>
              </a:spcBef>
              <a:spcAft>
                <a:spcPts val="0"/>
              </a:spcAft>
              <a:buSzPts val="1800"/>
              <a:buNone/>
            </a:pPr>
            <a:r>
              <a:rPr lang="en-US" b="1" dirty="0">
                <a:solidFill>
                  <a:schemeClr val="dk1"/>
                </a:solidFill>
                <a:highlight>
                  <a:srgbClr val="FFFFFF"/>
                </a:highlight>
              </a:rPr>
              <a:t>QR CODE</a:t>
            </a:r>
            <a:r>
              <a:rPr lang="en-US" b="1" dirty="0">
                <a:solidFill>
                  <a:srgbClr val="373737"/>
                </a:solidFill>
                <a:highlight>
                  <a:srgbClr val="FFFFFF"/>
                </a:highlight>
              </a:rPr>
              <a:t>:</a:t>
            </a:r>
            <a:endParaRPr b="1" dirty="0">
              <a:solidFill>
                <a:srgbClr val="373737"/>
              </a:solidFill>
              <a:highlight>
                <a:srgbClr val="FFFFFF"/>
              </a:highlight>
            </a:endParaRPr>
          </a:p>
        </p:txBody>
      </p:sp>
      <p:pic>
        <p:nvPicPr>
          <p:cNvPr id="64" name="Google Shape;64;g23f307fc558_0_101"/>
          <p:cNvPicPr preferRelativeResize="0"/>
          <p:nvPr/>
        </p:nvPicPr>
        <p:blipFill rotWithShape="1">
          <a:blip r:embed="rId4">
            <a:alphaModFix/>
          </a:blip>
          <a:srcRect/>
          <a:stretch/>
        </p:blipFill>
        <p:spPr>
          <a:xfrm>
            <a:off x="3076414" y="1957431"/>
            <a:ext cx="2773228" cy="2671520"/>
          </a:xfrm>
          <a:prstGeom prst="rect">
            <a:avLst/>
          </a:prstGeom>
          <a:noFill/>
          <a:ln>
            <a:noFill/>
          </a:ln>
        </p:spPr>
      </p:pic>
      <p:sp>
        <p:nvSpPr>
          <p:cNvPr id="3" name="TextBox 2">
            <a:extLst>
              <a:ext uri="{FF2B5EF4-FFF2-40B4-BE49-F238E27FC236}">
                <a16:creationId xmlns:a16="http://schemas.microsoft.com/office/drawing/2014/main" id="{B6DAC9A1-37E8-3EA4-8AE7-8F4570DDCADE}"/>
              </a:ext>
            </a:extLst>
          </p:cNvPr>
          <p:cNvSpPr txBox="1"/>
          <p:nvPr/>
        </p:nvSpPr>
        <p:spPr>
          <a:xfrm>
            <a:off x="2286000" y="699858"/>
            <a:ext cx="4572000" cy="338554"/>
          </a:xfrm>
          <a:prstGeom prst="rect">
            <a:avLst/>
          </a:prstGeom>
          <a:noFill/>
        </p:spPr>
        <p:txBody>
          <a:bodyPr wrap="square">
            <a:spAutoFit/>
          </a:bodyPr>
          <a:lstStyle/>
          <a:p>
            <a:pPr marL="0" marR="0" lvl="0" indent="0" algn="ctr" rtl="0">
              <a:lnSpc>
                <a:spcPct val="100000"/>
              </a:lnSpc>
              <a:spcBef>
                <a:spcPts val="0"/>
              </a:spcBef>
              <a:spcAft>
                <a:spcPts val="0"/>
              </a:spcAft>
              <a:buNone/>
            </a:pPr>
            <a:r>
              <a:rPr lang="en-US" sz="1600" b="1" i="0" u="none" strike="noStrike" cap="none" dirty="0">
                <a:solidFill>
                  <a:schemeClr val="accent1"/>
                </a:solidFill>
                <a:latin typeface="Consolas"/>
                <a:ea typeface="Consolas"/>
                <a:cs typeface="Consolas"/>
                <a:sym typeface="Consolas"/>
              </a:rPr>
              <a:t>TEST TIME ON MAXIMUM PRODUCT SUBARRAY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3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endParaRPr/>
          </a:p>
        </p:txBody>
      </p:sp>
      <p:sp>
        <p:nvSpPr>
          <p:cNvPr id="70" name="Google Shape;70;p3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800"/>
              <a:buNone/>
            </a:pPr>
            <a:endParaRPr/>
          </a:p>
        </p:txBody>
      </p:sp>
      <p:pic>
        <p:nvPicPr>
          <p:cNvPr id="71" name="Google Shape;71;p35"/>
          <p:cNvPicPr preferRelativeResize="0"/>
          <p:nvPr/>
        </p:nvPicPr>
        <p:blipFill rotWithShape="1">
          <a:blip r:embed="rId3">
            <a:alphaModFix/>
          </a:blip>
          <a:srcRect/>
          <a:stretch/>
        </p:blipFill>
        <p:spPr>
          <a:xfrm>
            <a:off x="-3" y="0"/>
            <a:ext cx="9144003" cy="5143501"/>
          </a:xfrm>
          <a:prstGeom prst="rect">
            <a:avLst/>
          </a:prstGeom>
          <a:noFill/>
          <a:ln>
            <a:noFill/>
          </a:ln>
        </p:spPr>
      </p:pic>
      <p:sp>
        <p:nvSpPr>
          <p:cNvPr id="72" name="Google Shape;72;p35"/>
          <p:cNvSpPr txBox="1"/>
          <p:nvPr/>
        </p:nvSpPr>
        <p:spPr>
          <a:xfrm>
            <a:off x="178420" y="1568044"/>
            <a:ext cx="4690948" cy="1538853"/>
          </a:xfrm>
          <a:prstGeom prst="rect">
            <a:avLst/>
          </a:prstGeom>
          <a:noFill/>
          <a:ln>
            <a:noFill/>
          </a:ln>
        </p:spPr>
        <p:txBody>
          <a:bodyPr spcFirstLastPara="1" wrap="square" lIns="91425" tIns="91425" rIns="91425" bIns="91425" anchor="t" anchorCtr="0">
            <a:spAutoFit/>
          </a:bodyPr>
          <a:lstStyle/>
          <a:p>
            <a:pPr algn="ctr"/>
            <a:r>
              <a:rPr lang="en-US" sz="3200" b="1" i="0" u="none" strike="noStrike" cap="none" dirty="0">
                <a:solidFill>
                  <a:schemeClr val="lt1"/>
                </a:solidFill>
                <a:latin typeface="Consolas"/>
                <a:ea typeface="Consolas"/>
                <a:cs typeface="Consolas"/>
                <a:sym typeface="Consolas"/>
              </a:rPr>
              <a:t>MAXIMUM SUM OF HOURGLASS IN MATRIX</a:t>
            </a:r>
          </a:p>
          <a:p>
            <a:pPr marL="0" marR="0" lvl="0" indent="0" algn="ctr" rtl="0">
              <a:lnSpc>
                <a:spcPct val="100000"/>
              </a:lnSpc>
              <a:spcBef>
                <a:spcPts val="0"/>
              </a:spcBef>
              <a:spcAft>
                <a:spcPts val="0"/>
              </a:spcAft>
              <a:buNone/>
            </a:pPr>
            <a:endParaRPr lang="en-US" sz="2400" b="1" i="0" u="none" strike="noStrike" cap="none" dirty="0">
              <a:solidFill>
                <a:schemeClr val="bg1"/>
              </a:solidFill>
              <a:latin typeface="Roboto" panose="02000000000000000000" pitchFamily="2" charset="0"/>
              <a:ea typeface="Roboto" panose="02000000000000000000" pitchFamily="2" charset="0"/>
              <a:cs typeface="Roboto" panose="02000000000000000000" pitchFamily="2" charset="0"/>
              <a:sym typeface="Roboto Black"/>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3"/>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78" name="Google Shape;78;p13"/>
          <p:cNvSpPr/>
          <p:nvPr/>
        </p:nvSpPr>
        <p:spPr>
          <a:xfrm>
            <a:off x="491025" y="968650"/>
            <a:ext cx="8472900" cy="4031700"/>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Clr>
                <a:srgbClr val="000000"/>
              </a:buClr>
              <a:buSzPts val="1600"/>
              <a:buFont typeface="Arial"/>
              <a:buNone/>
            </a:pPr>
            <a:r>
              <a:rPr lang="en-US" sz="1600" b="0" i="0" u="none" strike="noStrike" cap="none">
                <a:solidFill>
                  <a:schemeClr val="dk1"/>
                </a:solidFill>
                <a:latin typeface="Consolas"/>
                <a:ea typeface="Consolas"/>
                <a:cs typeface="Consolas"/>
                <a:sym typeface="Consolas"/>
              </a:rPr>
              <a:t>Introduction</a:t>
            </a:r>
            <a:endParaRPr/>
          </a:p>
          <a:p>
            <a:pPr marL="0" marR="0" lvl="0" indent="0" algn="l" rtl="0">
              <a:lnSpc>
                <a:spcPct val="200000"/>
              </a:lnSpc>
              <a:spcBef>
                <a:spcPts val="0"/>
              </a:spcBef>
              <a:spcAft>
                <a:spcPts val="0"/>
              </a:spcAft>
              <a:buClr>
                <a:srgbClr val="000000"/>
              </a:buClr>
              <a:buSzPts val="1600"/>
              <a:buFont typeface="Arial"/>
              <a:buNone/>
            </a:pPr>
            <a:r>
              <a:rPr lang="en-US" sz="1600" b="0" i="0" u="none" strike="noStrike" cap="none">
                <a:solidFill>
                  <a:srgbClr val="0F0F0F"/>
                </a:solidFill>
                <a:latin typeface="Consolas"/>
                <a:ea typeface="Consolas"/>
                <a:cs typeface="Consolas"/>
                <a:sym typeface="Consolas"/>
              </a:rPr>
              <a:t>In this problem, we have a matrix i.e. two-dimensional (2D) array. </a:t>
            </a:r>
            <a:endParaRPr/>
          </a:p>
          <a:p>
            <a:pPr marL="0" marR="0" lvl="0" indent="0" algn="l" rtl="0">
              <a:lnSpc>
                <a:spcPct val="200000"/>
              </a:lnSpc>
              <a:spcBef>
                <a:spcPts val="0"/>
              </a:spcBef>
              <a:spcAft>
                <a:spcPts val="0"/>
              </a:spcAft>
              <a:buClr>
                <a:srgbClr val="000000"/>
              </a:buClr>
              <a:buSzPts val="1600"/>
              <a:buFont typeface="Arial"/>
              <a:buNone/>
            </a:pPr>
            <a:r>
              <a:rPr lang="en-US" sz="1600" b="0" i="0" u="none" strike="noStrike" cap="none">
                <a:solidFill>
                  <a:srgbClr val="0F0F0F"/>
                </a:solidFill>
                <a:latin typeface="Consolas"/>
                <a:ea typeface="Consolas"/>
                <a:cs typeface="Consolas"/>
                <a:sym typeface="Consolas"/>
              </a:rPr>
              <a:t>Example:</a:t>
            </a:r>
            <a:endParaRPr sz="1600" b="0" i="0" u="none" strike="noStrike" cap="none">
              <a:solidFill>
                <a:srgbClr val="0F0F0F"/>
              </a:solidFill>
              <a:latin typeface="Consolas"/>
              <a:ea typeface="Consolas"/>
              <a:cs typeface="Consolas"/>
              <a:sym typeface="Consolas"/>
            </a:endParaRPr>
          </a:p>
          <a:p>
            <a:pPr marL="0" marR="0" lvl="0" indent="0" algn="l" rtl="0">
              <a:lnSpc>
                <a:spcPct val="200000"/>
              </a:lnSpc>
              <a:spcBef>
                <a:spcPts val="0"/>
              </a:spcBef>
              <a:spcAft>
                <a:spcPts val="0"/>
              </a:spcAft>
              <a:buClr>
                <a:srgbClr val="000000"/>
              </a:buClr>
              <a:buSzPts val="1600"/>
              <a:buFont typeface="Arial"/>
              <a:buNone/>
            </a:pPr>
            <a:endParaRPr sz="1600" b="0" i="0" u="none" strike="noStrike" cap="none">
              <a:solidFill>
                <a:srgbClr val="0F0F0F"/>
              </a:solidFill>
              <a:latin typeface="Consolas"/>
              <a:ea typeface="Consolas"/>
              <a:cs typeface="Consolas"/>
              <a:sym typeface="Consolas"/>
            </a:endParaRPr>
          </a:p>
          <a:p>
            <a:pPr marL="0" marR="0" lvl="0" indent="0" algn="l" rtl="0">
              <a:lnSpc>
                <a:spcPct val="200000"/>
              </a:lnSpc>
              <a:spcBef>
                <a:spcPts val="0"/>
              </a:spcBef>
              <a:spcAft>
                <a:spcPts val="0"/>
              </a:spcAft>
              <a:buClr>
                <a:srgbClr val="000000"/>
              </a:buClr>
              <a:buSzPts val="1600"/>
              <a:buFont typeface="Arial"/>
              <a:buNone/>
            </a:pPr>
            <a:endParaRPr sz="1600" b="0" i="0" u="none" strike="noStrike" cap="none">
              <a:solidFill>
                <a:srgbClr val="0F0F0F"/>
              </a:solidFill>
              <a:latin typeface="Consolas"/>
              <a:ea typeface="Consolas"/>
              <a:cs typeface="Consolas"/>
              <a:sym typeface="Consolas"/>
            </a:endParaRPr>
          </a:p>
          <a:p>
            <a:pPr marL="0" marR="0" lvl="0" indent="0" algn="l" rtl="0">
              <a:lnSpc>
                <a:spcPct val="200000"/>
              </a:lnSpc>
              <a:spcBef>
                <a:spcPts val="0"/>
              </a:spcBef>
              <a:spcAft>
                <a:spcPts val="0"/>
              </a:spcAft>
              <a:buClr>
                <a:srgbClr val="000000"/>
              </a:buClr>
              <a:buSzPts val="1600"/>
              <a:buFont typeface="Arial"/>
              <a:buNone/>
            </a:pPr>
            <a:endParaRPr sz="1600" b="0" i="0" u="none" strike="noStrike" cap="none">
              <a:solidFill>
                <a:srgbClr val="0F0F0F"/>
              </a:solidFill>
              <a:latin typeface="Consolas"/>
              <a:ea typeface="Consolas"/>
              <a:cs typeface="Consolas"/>
              <a:sym typeface="Consolas"/>
            </a:endParaRPr>
          </a:p>
          <a:p>
            <a:pPr marL="0" marR="0" lvl="0" indent="0" algn="l" rtl="0">
              <a:lnSpc>
                <a:spcPct val="200000"/>
              </a:lnSpc>
              <a:spcBef>
                <a:spcPts val="0"/>
              </a:spcBef>
              <a:spcAft>
                <a:spcPts val="0"/>
              </a:spcAft>
              <a:buClr>
                <a:srgbClr val="000000"/>
              </a:buClr>
              <a:buSzPts val="1600"/>
              <a:buFont typeface="Arial"/>
              <a:buNone/>
            </a:pPr>
            <a:r>
              <a:rPr lang="en-US" sz="1600" b="0" i="0" u="none" strike="noStrike" cap="none">
                <a:solidFill>
                  <a:srgbClr val="0F0F0F"/>
                </a:solidFill>
                <a:latin typeface="Consolas"/>
                <a:ea typeface="Consolas"/>
                <a:cs typeface="Consolas"/>
                <a:sym typeface="Consolas"/>
              </a:rPr>
              <a:t>We have to find the maximum sum of the hourglass value of a matrix.</a:t>
            </a:r>
            <a:endParaRPr sz="1600" b="0" i="0" u="none" strike="noStrike" cap="none">
              <a:solidFill>
                <a:schemeClr val="dk1"/>
              </a:solidFill>
              <a:latin typeface="Consolas"/>
              <a:ea typeface="Consolas"/>
              <a:cs typeface="Consolas"/>
              <a:sym typeface="Consolas"/>
            </a:endParaRPr>
          </a:p>
        </p:txBody>
      </p:sp>
      <p:pic>
        <p:nvPicPr>
          <p:cNvPr id="81" name="Google Shape;81;p13"/>
          <p:cNvPicPr preferRelativeResize="0"/>
          <p:nvPr/>
        </p:nvPicPr>
        <p:blipFill rotWithShape="1">
          <a:blip r:embed="rId3">
            <a:alphaModFix/>
          </a:blip>
          <a:srcRect/>
          <a:stretch/>
        </p:blipFill>
        <p:spPr>
          <a:xfrm>
            <a:off x="2731235" y="2085048"/>
            <a:ext cx="2960176" cy="15268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5"/>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87" name="Google Shape;87;p15"/>
          <p:cNvSpPr/>
          <p:nvPr/>
        </p:nvSpPr>
        <p:spPr>
          <a:xfrm>
            <a:off x="385479" y="1112562"/>
            <a:ext cx="5232600" cy="3539400"/>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Clr>
                <a:srgbClr val="000000"/>
              </a:buClr>
              <a:buSzPts val="1600"/>
              <a:buFont typeface="Arial"/>
              <a:buNone/>
            </a:pPr>
            <a:r>
              <a:rPr lang="en-US" sz="1600" b="0" i="0" u="none" strike="noStrike" cap="none">
                <a:solidFill>
                  <a:schemeClr val="dk1"/>
                </a:solidFill>
                <a:latin typeface="Consolas"/>
                <a:ea typeface="Consolas"/>
                <a:cs typeface="Consolas"/>
                <a:sym typeface="Consolas"/>
              </a:rPr>
              <a:t>Introduction</a:t>
            </a:r>
            <a:endParaRPr/>
          </a:p>
          <a:p>
            <a:pPr marL="0" marR="0" lvl="0" indent="0" algn="l" rtl="0">
              <a:lnSpc>
                <a:spcPct val="200000"/>
              </a:lnSpc>
              <a:spcBef>
                <a:spcPts val="0"/>
              </a:spcBef>
              <a:spcAft>
                <a:spcPts val="0"/>
              </a:spcAft>
              <a:buClr>
                <a:srgbClr val="000000"/>
              </a:buClr>
              <a:buSzPts val="1600"/>
              <a:buFont typeface="Arial"/>
              <a:buNone/>
            </a:pPr>
            <a:r>
              <a:rPr lang="en-US" sz="1600" b="0" i="0" u="none" strike="noStrike" cap="none">
                <a:solidFill>
                  <a:srgbClr val="0F0F0F"/>
                </a:solidFill>
                <a:latin typeface="Consolas"/>
                <a:ea typeface="Consolas"/>
                <a:cs typeface="Consolas"/>
                <a:sym typeface="Consolas"/>
              </a:rPr>
              <a:t>Hourglass:</a:t>
            </a:r>
            <a:endParaRPr/>
          </a:p>
          <a:p>
            <a:pPr marL="0" marR="0" lvl="0" indent="0" algn="l" rtl="0">
              <a:lnSpc>
                <a:spcPct val="200000"/>
              </a:lnSpc>
              <a:spcBef>
                <a:spcPts val="0"/>
              </a:spcBef>
              <a:spcAft>
                <a:spcPts val="0"/>
              </a:spcAft>
              <a:buClr>
                <a:srgbClr val="000000"/>
              </a:buClr>
              <a:buSzPts val="1600"/>
              <a:buFont typeface="Arial"/>
              <a:buNone/>
            </a:pPr>
            <a:r>
              <a:rPr lang="en-US" sz="1600" b="0" i="0" u="none" strike="noStrike" cap="none">
                <a:solidFill>
                  <a:srgbClr val="0F0F0F"/>
                </a:solidFill>
                <a:latin typeface="Consolas"/>
                <a:ea typeface="Consolas"/>
                <a:cs typeface="Consolas"/>
                <a:sym typeface="Consolas"/>
              </a:rPr>
              <a:t>         The hourglass concept in the algorithm comes from the device which is used to measure the passage of time. The device is called sandglass.</a:t>
            </a:r>
            <a:endParaRPr sz="1600" b="0" i="0" u="none" strike="noStrike" cap="none">
              <a:solidFill>
                <a:schemeClr val="dk1"/>
              </a:solidFill>
              <a:latin typeface="Consolas"/>
              <a:ea typeface="Consolas"/>
              <a:cs typeface="Consolas"/>
              <a:sym typeface="Consolas"/>
            </a:endParaRPr>
          </a:p>
          <a:p>
            <a:pPr marL="0" marR="0" lvl="0" indent="0" algn="l" rtl="0">
              <a:lnSpc>
                <a:spcPct val="200000"/>
              </a:lnSpc>
              <a:spcBef>
                <a:spcPts val="0"/>
              </a:spcBef>
              <a:spcAft>
                <a:spcPts val="0"/>
              </a:spcAft>
              <a:buClr>
                <a:srgbClr val="000000"/>
              </a:buClr>
              <a:buSzPts val="1600"/>
              <a:buFont typeface="Arial"/>
              <a:buNone/>
            </a:pPr>
            <a:endParaRPr sz="1600" b="0" i="0" u="none" strike="noStrike" cap="none">
              <a:solidFill>
                <a:schemeClr val="dk1"/>
              </a:solidFill>
              <a:latin typeface="Consolas"/>
              <a:ea typeface="Consolas"/>
              <a:cs typeface="Consolas"/>
              <a:sym typeface="Consolas"/>
            </a:endParaRPr>
          </a:p>
        </p:txBody>
      </p:sp>
      <p:pic>
        <p:nvPicPr>
          <p:cNvPr id="90" name="Google Shape;90;p15"/>
          <p:cNvPicPr preferRelativeResize="0"/>
          <p:nvPr/>
        </p:nvPicPr>
        <p:blipFill rotWithShape="1">
          <a:blip r:embed="rId3">
            <a:alphaModFix/>
          </a:blip>
          <a:srcRect/>
          <a:stretch/>
        </p:blipFill>
        <p:spPr>
          <a:xfrm>
            <a:off x="6606567" y="991892"/>
            <a:ext cx="2347163" cy="361012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6"/>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96" name="Google Shape;96;p16"/>
          <p:cNvSpPr/>
          <p:nvPr/>
        </p:nvSpPr>
        <p:spPr>
          <a:xfrm>
            <a:off x="866272" y="875807"/>
            <a:ext cx="5232524" cy="3570168"/>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Clr>
                <a:srgbClr val="000000"/>
              </a:buClr>
              <a:buSzPts val="1600"/>
              <a:buFont typeface="Arial"/>
              <a:buNone/>
            </a:pPr>
            <a:r>
              <a:rPr lang="en-US" sz="1600" b="0" i="0" u="none" strike="noStrike" cap="none">
                <a:solidFill>
                  <a:schemeClr val="dk1"/>
                </a:solidFill>
                <a:latin typeface="Consolas"/>
                <a:ea typeface="Consolas"/>
                <a:cs typeface="Consolas"/>
                <a:sym typeface="Consolas"/>
              </a:rPr>
              <a:t>Introduction</a:t>
            </a:r>
            <a:endParaRPr/>
          </a:p>
          <a:p>
            <a:pPr marL="0" marR="0" lvl="0" indent="0" algn="l" rtl="0">
              <a:lnSpc>
                <a:spcPct val="200000"/>
              </a:lnSpc>
              <a:spcBef>
                <a:spcPts val="0"/>
              </a:spcBef>
              <a:spcAft>
                <a:spcPts val="0"/>
              </a:spcAft>
              <a:buClr>
                <a:srgbClr val="000000"/>
              </a:buClr>
              <a:buSzPts val="1600"/>
              <a:buFont typeface="Arial"/>
              <a:buNone/>
            </a:pPr>
            <a:r>
              <a:rPr lang="en-US" sz="1600" b="0" i="0" u="none" strike="noStrike" cap="none">
                <a:solidFill>
                  <a:srgbClr val="0F0F0F"/>
                </a:solidFill>
                <a:latin typeface="Consolas"/>
                <a:ea typeface="Consolas"/>
                <a:cs typeface="Consolas"/>
                <a:sym typeface="Consolas"/>
              </a:rPr>
              <a:t>Hourglass format:</a:t>
            </a:r>
            <a:endParaRPr/>
          </a:p>
          <a:p>
            <a:pPr marL="0" marR="0" lvl="0" indent="0" algn="l" rtl="0">
              <a:lnSpc>
                <a:spcPct val="2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Hourglass is a 7-element shape made in the matrix in the following form:</a:t>
            </a:r>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2286000" marR="0" lvl="5" indent="0" algn="l" rtl="0">
              <a:lnSpc>
                <a:spcPct val="100000"/>
              </a:lnSpc>
              <a:spcBef>
                <a:spcPts val="0"/>
              </a:spcBef>
              <a:spcAft>
                <a:spcPts val="0"/>
              </a:spcAft>
              <a:buClr>
                <a:srgbClr val="000000"/>
              </a:buClr>
              <a:buSzPts val="2800"/>
              <a:buFont typeface="Arial"/>
              <a:buNone/>
            </a:pPr>
            <a:r>
              <a:rPr lang="en-US" sz="2800" b="0" i="0" u="none" strike="noStrike" cap="none">
                <a:solidFill>
                  <a:srgbClr val="FF0000"/>
                </a:solidFill>
                <a:latin typeface="Arial"/>
                <a:ea typeface="Arial"/>
                <a:cs typeface="Arial"/>
                <a:sym typeface="Arial"/>
              </a:rPr>
              <a:t>X X X</a:t>
            </a:r>
            <a:endParaRPr sz="2800" b="0" i="0" u="none" strike="noStrike" cap="none">
              <a:solidFill>
                <a:srgbClr val="FF0000"/>
              </a:solidFill>
              <a:latin typeface="Arial"/>
              <a:ea typeface="Arial"/>
              <a:cs typeface="Arial"/>
              <a:sym typeface="Arial"/>
            </a:endParaRPr>
          </a:p>
          <a:p>
            <a:pPr marL="2286000" marR="0" lvl="5" indent="0" algn="l" rtl="0">
              <a:lnSpc>
                <a:spcPct val="100000"/>
              </a:lnSpc>
              <a:spcBef>
                <a:spcPts val="0"/>
              </a:spcBef>
              <a:spcAft>
                <a:spcPts val="0"/>
              </a:spcAft>
              <a:buClr>
                <a:srgbClr val="000000"/>
              </a:buClr>
              <a:buSzPts val="2800"/>
              <a:buFont typeface="Arial"/>
              <a:buNone/>
            </a:pPr>
            <a:r>
              <a:rPr lang="en-US" sz="2800" b="0" i="0" u="none" strike="noStrike" cap="none">
                <a:solidFill>
                  <a:srgbClr val="FF0000"/>
                </a:solidFill>
                <a:latin typeface="Arial"/>
                <a:ea typeface="Arial"/>
                <a:cs typeface="Arial"/>
                <a:sym typeface="Arial"/>
              </a:rPr>
              <a:t>   X</a:t>
            </a:r>
            <a:endParaRPr/>
          </a:p>
          <a:p>
            <a:pPr marL="2286000" marR="0" lvl="5" indent="0" algn="l" rtl="0">
              <a:lnSpc>
                <a:spcPct val="100000"/>
              </a:lnSpc>
              <a:spcBef>
                <a:spcPts val="0"/>
              </a:spcBef>
              <a:spcAft>
                <a:spcPts val="0"/>
              </a:spcAft>
              <a:buClr>
                <a:srgbClr val="000000"/>
              </a:buClr>
              <a:buSzPts val="2800"/>
              <a:buFont typeface="Arial"/>
              <a:buNone/>
            </a:pPr>
            <a:r>
              <a:rPr lang="en-US" sz="2800" b="0" i="0" u="none" strike="noStrike" cap="none">
                <a:solidFill>
                  <a:srgbClr val="FF0000"/>
                </a:solidFill>
                <a:latin typeface="Arial"/>
                <a:ea typeface="Arial"/>
                <a:cs typeface="Arial"/>
                <a:sym typeface="Arial"/>
              </a:rPr>
              <a:t>X X X</a:t>
            </a:r>
            <a:endParaRPr sz="3200" b="0" i="0" u="none" strike="noStrike" cap="none">
              <a:solidFill>
                <a:srgbClr val="FF0000"/>
              </a:solidFill>
              <a:latin typeface="Consolas"/>
              <a:ea typeface="Consolas"/>
              <a:cs typeface="Consolas"/>
              <a:sym typeface="Consolas"/>
            </a:endParaRPr>
          </a:p>
        </p:txBody>
      </p:sp>
      <p:pic>
        <p:nvPicPr>
          <p:cNvPr id="99" name="Google Shape;99;p16"/>
          <p:cNvPicPr preferRelativeResize="0"/>
          <p:nvPr/>
        </p:nvPicPr>
        <p:blipFill rotWithShape="1">
          <a:blip r:embed="rId3">
            <a:alphaModFix/>
          </a:blip>
          <a:srcRect/>
          <a:stretch/>
        </p:blipFill>
        <p:spPr>
          <a:xfrm>
            <a:off x="6606567" y="991892"/>
            <a:ext cx="2347163" cy="361012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7"/>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105" name="Google Shape;105;p17"/>
          <p:cNvSpPr/>
          <p:nvPr/>
        </p:nvSpPr>
        <p:spPr>
          <a:xfrm>
            <a:off x="384251" y="608887"/>
            <a:ext cx="6278400" cy="4031700"/>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Clr>
                <a:srgbClr val="000000"/>
              </a:buClr>
              <a:buSzPts val="1600"/>
              <a:buFont typeface="Arial"/>
              <a:buNone/>
            </a:pPr>
            <a:r>
              <a:rPr lang="en-US" sz="1600" b="0" i="0" u="none" strike="noStrike" cap="none" dirty="0">
                <a:solidFill>
                  <a:schemeClr val="dk1"/>
                </a:solidFill>
                <a:latin typeface="Consolas"/>
                <a:ea typeface="Consolas"/>
                <a:cs typeface="Consolas"/>
                <a:sym typeface="Consolas"/>
              </a:rPr>
              <a:t>Important note:</a:t>
            </a:r>
            <a:endParaRPr dirty="0"/>
          </a:p>
          <a:p>
            <a:pPr marL="342900" marR="0" lvl="0" indent="-342900" algn="l" rtl="0">
              <a:lnSpc>
                <a:spcPct val="200000"/>
              </a:lnSpc>
              <a:spcBef>
                <a:spcPts val="0"/>
              </a:spcBef>
              <a:spcAft>
                <a:spcPts val="0"/>
              </a:spcAft>
              <a:buClr>
                <a:srgbClr val="000000"/>
              </a:buClr>
              <a:buSzPts val="1600"/>
              <a:buFont typeface="Arial"/>
              <a:buAutoNum type="arabicPeriod"/>
            </a:pPr>
            <a:r>
              <a:rPr lang="en-US" sz="1600" b="0" i="0" u="none" strike="noStrike" cap="none" dirty="0">
                <a:solidFill>
                  <a:srgbClr val="0F0F0F"/>
                </a:solidFill>
                <a:latin typeface="Consolas"/>
                <a:ea typeface="Consolas"/>
                <a:cs typeface="Consolas"/>
                <a:sym typeface="Consolas"/>
              </a:rPr>
              <a:t>The number of rows or columns of hourglass must be equal to 3 i.e. three index values at the top, one in the middle, and three at the bottom </a:t>
            </a:r>
            <a:endParaRPr dirty="0"/>
          </a:p>
          <a:p>
            <a:pPr marL="342900" marR="0" lvl="0" indent="-342900" algn="l" rtl="0">
              <a:lnSpc>
                <a:spcPct val="200000"/>
              </a:lnSpc>
              <a:spcBef>
                <a:spcPts val="0"/>
              </a:spcBef>
              <a:spcAft>
                <a:spcPts val="0"/>
              </a:spcAft>
              <a:buClr>
                <a:srgbClr val="000000"/>
              </a:buClr>
              <a:buSzPts val="1600"/>
              <a:buFont typeface="Arial"/>
              <a:buAutoNum type="arabicPeriod"/>
            </a:pPr>
            <a:r>
              <a:rPr lang="en-US" sz="1600" b="0" i="0" u="none" strike="noStrike" cap="none" dirty="0">
                <a:solidFill>
                  <a:srgbClr val="0F0F0F"/>
                </a:solidFill>
                <a:latin typeface="Consolas"/>
                <a:ea typeface="Consolas"/>
                <a:cs typeface="Consolas"/>
                <a:sym typeface="Consolas"/>
              </a:rPr>
              <a:t>The total number of hourglasses in a matrix is equal to (R-2) * (C-2), where R refers to the number of Rows and C refers to the number of Columns. </a:t>
            </a:r>
            <a:endParaRPr sz="1600" b="0" i="0" u="none" strike="noStrike" cap="none" dirty="0">
              <a:solidFill>
                <a:schemeClr val="dk1"/>
              </a:solidFill>
              <a:latin typeface="Consolas"/>
              <a:ea typeface="Consolas"/>
              <a:cs typeface="Consolas"/>
              <a:sym typeface="Consolas"/>
            </a:endParaRPr>
          </a:p>
        </p:txBody>
      </p:sp>
      <p:sp>
        <p:nvSpPr>
          <p:cNvPr id="108" name="Google Shape;108;p17"/>
          <p:cNvSpPr/>
          <p:nvPr/>
        </p:nvSpPr>
        <p:spPr>
          <a:xfrm>
            <a:off x="7369444" y="1745785"/>
            <a:ext cx="1611824" cy="439476"/>
          </a:xfrm>
          <a:prstGeom prst="rect">
            <a:avLst/>
          </a:prstGeom>
          <a:solidFill>
            <a:schemeClr val="lt1"/>
          </a:solidFill>
          <a:ln w="25400" cap="flat" cmpd="sng">
            <a:solidFill>
              <a:srgbClr val="7030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9" name="Google Shape;109;p17"/>
          <p:cNvSpPr/>
          <p:nvPr/>
        </p:nvSpPr>
        <p:spPr>
          <a:xfrm>
            <a:off x="7974944" y="2185261"/>
            <a:ext cx="451587" cy="439476"/>
          </a:xfrm>
          <a:prstGeom prst="rect">
            <a:avLst/>
          </a:prstGeom>
          <a:solidFill>
            <a:schemeClr val="lt1"/>
          </a:solidFill>
          <a:ln w="25400" cap="flat" cmpd="sng">
            <a:solidFill>
              <a:srgbClr val="7030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10" name="Google Shape;110;p17"/>
          <p:cNvSpPr/>
          <p:nvPr/>
        </p:nvSpPr>
        <p:spPr>
          <a:xfrm>
            <a:off x="7369445" y="2624737"/>
            <a:ext cx="1611824" cy="439476"/>
          </a:xfrm>
          <a:prstGeom prst="rect">
            <a:avLst/>
          </a:prstGeom>
          <a:solidFill>
            <a:schemeClr val="lt1"/>
          </a:solidFill>
          <a:ln w="25400" cap="flat" cmpd="sng">
            <a:solidFill>
              <a:srgbClr val="7030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cxnSp>
        <p:nvCxnSpPr>
          <p:cNvPr id="111" name="Google Shape;111;p17"/>
          <p:cNvCxnSpPr/>
          <p:nvPr/>
        </p:nvCxnSpPr>
        <p:spPr>
          <a:xfrm>
            <a:off x="7974944" y="1745785"/>
            <a:ext cx="0" cy="501469"/>
          </a:xfrm>
          <a:prstGeom prst="straightConnector1">
            <a:avLst/>
          </a:prstGeom>
          <a:noFill/>
          <a:ln w="25400" cap="flat" cmpd="sng">
            <a:solidFill>
              <a:srgbClr val="7030A0"/>
            </a:solidFill>
            <a:prstDash val="solid"/>
            <a:round/>
            <a:headEnd type="none" w="sm" len="sm"/>
            <a:tailEnd type="none" w="sm" len="sm"/>
          </a:ln>
          <a:effectLst>
            <a:outerShdw blurRad="40000" dist="20000" dir="5400000" rotWithShape="0">
              <a:srgbClr val="000000">
                <a:alpha val="37647"/>
              </a:srgbClr>
            </a:outerShdw>
          </a:effectLst>
        </p:spPr>
      </p:cxnSp>
      <p:cxnSp>
        <p:nvCxnSpPr>
          <p:cNvPr id="112" name="Google Shape;112;p17"/>
          <p:cNvCxnSpPr/>
          <p:nvPr/>
        </p:nvCxnSpPr>
        <p:spPr>
          <a:xfrm>
            <a:off x="7974944" y="2562744"/>
            <a:ext cx="0" cy="501469"/>
          </a:xfrm>
          <a:prstGeom prst="straightConnector1">
            <a:avLst/>
          </a:prstGeom>
          <a:noFill/>
          <a:ln w="25400" cap="flat" cmpd="sng">
            <a:solidFill>
              <a:srgbClr val="7030A0"/>
            </a:solidFill>
            <a:prstDash val="solid"/>
            <a:round/>
            <a:headEnd type="none" w="sm" len="sm"/>
            <a:tailEnd type="none" w="sm" len="sm"/>
          </a:ln>
          <a:effectLst>
            <a:outerShdw blurRad="40000" dist="20000" dir="5400000" rotWithShape="0">
              <a:srgbClr val="000000">
                <a:alpha val="37647"/>
              </a:srgbClr>
            </a:outerShdw>
          </a:effectLst>
        </p:spPr>
      </p:cxnSp>
      <p:cxnSp>
        <p:nvCxnSpPr>
          <p:cNvPr id="113" name="Google Shape;113;p17"/>
          <p:cNvCxnSpPr/>
          <p:nvPr/>
        </p:nvCxnSpPr>
        <p:spPr>
          <a:xfrm>
            <a:off x="8422431" y="1745785"/>
            <a:ext cx="0" cy="501469"/>
          </a:xfrm>
          <a:prstGeom prst="straightConnector1">
            <a:avLst/>
          </a:prstGeom>
          <a:noFill/>
          <a:ln w="25400" cap="flat" cmpd="sng">
            <a:solidFill>
              <a:srgbClr val="7030A0"/>
            </a:solidFill>
            <a:prstDash val="solid"/>
            <a:round/>
            <a:headEnd type="none" w="sm" len="sm"/>
            <a:tailEnd type="none" w="sm" len="sm"/>
          </a:ln>
          <a:effectLst>
            <a:outerShdw blurRad="40000" dist="20000" dir="5400000" rotWithShape="0">
              <a:srgbClr val="000000">
                <a:alpha val="37647"/>
              </a:srgbClr>
            </a:outerShdw>
          </a:effectLst>
        </p:spPr>
      </p:cxnSp>
      <p:cxnSp>
        <p:nvCxnSpPr>
          <p:cNvPr id="114" name="Google Shape;114;p17"/>
          <p:cNvCxnSpPr/>
          <p:nvPr/>
        </p:nvCxnSpPr>
        <p:spPr>
          <a:xfrm>
            <a:off x="8422431" y="2562744"/>
            <a:ext cx="0" cy="501469"/>
          </a:xfrm>
          <a:prstGeom prst="straightConnector1">
            <a:avLst/>
          </a:prstGeom>
          <a:noFill/>
          <a:ln w="25400" cap="flat" cmpd="sng">
            <a:solidFill>
              <a:srgbClr val="7030A0"/>
            </a:solidFill>
            <a:prstDash val="solid"/>
            <a:round/>
            <a:headEnd type="none" w="sm" len="sm"/>
            <a:tailEnd type="none" w="sm" len="sm"/>
          </a:ln>
          <a:effectLst>
            <a:outerShdw blurRad="40000" dist="20000" dir="5400000" rotWithShape="0">
              <a:srgbClr val="000000">
                <a:alpha val="37647"/>
              </a:srgbClr>
            </a:outerShdw>
          </a:effectLst>
        </p:spPr>
      </p:cxnSp>
      <p:sp>
        <p:nvSpPr>
          <p:cNvPr id="115" name="Google Shape;115;p17"/>
          <p:cNvSpPr txBox="1"/>
          <p:nvPr/>
        </p:nvSpPr>
        <p:spPr>
          <a:xfrm>
            <a:off x="7920821" y="1469004"/>
            <a:ext cx="48282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FF0000"/>
                </a:solidFill>
                <a:latin typeface="Consolas"/>
                <a:ea typeface="Consolas"/>
                <a:cs typeface="Consolas"/>
                <a:sym typeface="Consolas"/>
              </a:rPr>
              <a:t>TOP</a:t>
            </a:r>
            <a:endParaRPr/>
          </a:p>
        </p:txBody>
      </p:sp>
      <p:sp>
        <p:nvSpPr>
          <p:cNvPr id="116" name="Google Shape;116;p17"/>
          <p:cNvSpPr txBox="1"/>
          <p:nvPr/>
        </p:nvSpPr>
        <p:spPr>
          <a:xfrm>
            <a:off x="7810245" y="2254967"/>
            <a:ext cx="780983"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FF0000"/>
                </a:solidFill>
                <a:latin typeface="Consolas"/>
                <a:ea typeface="Consolas"/>
                <a:cs typeface="Consolas"/>
                <a:sym typeface="Consolas"/>
              </a:rPr>
              <a:t>MIDDLE</a:t>
            </a:r>
            <a:endParaRPr/>
          </a:p>
        </p:txBody>
      </p:sp>
      <p:sp>
        <p:nvSpPr>
          <p:cNvPr id="117" name="Google Shape;117;p17"/>
          <p:cNvSpPr txBox="1"/>
          <p:nvPr/>
        </p:nvSpPr>
        <p:spPr>
          <a:xfrm>
            <a:off x="7825743" y="3126206"/>
            <a:ext cx="780983"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FF0000"/>
                </a:solidFill>
                <a:latin typeface="Consolas"/>
                <a:ea typeface="Consolas"/>
                <a:cs typeface="Consolas"/>
                <a:sym typeface="Consolas"/>
              </a:rPr>
              <a:t>BOTTOM</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1"/>
          <p:cNvSpPr/>
          <p:nvPr/>
        </p:nvSpPr>
        <p:spPr>
          <a:xfrm>
            <a:off x="3370882" y="875807"/>
            <a:ext cx="5339166"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All the possible hourglass in this Matrix are:</a:t>
            </a:r>
            <a:endParaRPr sz="1600" b="0" i="0" u="none" strike="noStrike" cap="none">
              <a:solidFill>
                <a:srgbClr val="000000"/>
              </a:solidFill>
              <a:latin typeface="Consolas"/>
              <a:ea typeface="Consolas"/>
              <a:cs typeface="Consolas"/>
              <a:sym typeface="Consolas"/>
            </a:endParaRPr>
          </a:p>
        </p:txBody>
      </p:sp>
      <p:sp>
        <p:nvSpPr>
          <p:cNvPr id="123" name="Google Shape;123;p21"/>
          <p:cNvSpPr/>
          <p:nvPr/>
        </p:nvSpPr>
        <p:spPr>
          <a:xfrm>
            <a:off x="866272" y="875807"/>
            <a:ext cx="2171396" cy="2800726"/>
          </a:xfrm>
          <a:prstGeom prst="rect">
            <a:avLst/>
          </a:prstGeom>
          <a:noFill/>
          <a:ln>
            <a:noFill/>
          </a:ln>
        </p:spPr>
        <p:txBody>
          <a:bodyPr spcFirstLastPara="1" wrap="square" lIns="91425" tIns="45700" rIns="91425" bIns="45700" anchor="t" anchorCtr="0">
            <a:spAutoFit/>
          </a:bodyPr>
          <a:lstStyle/>
          <a:p>
            <a:pPr marL="0" marR="0" lvl="3" indent="0" algn="l" rtl="0">
              <a:lnSpc>
                <a:spcPct val="100000"/>
              </a:lnSpc>
              <a:spcBef>
                <a:spcPts val="0"/>
              </a:spcBef>
              <a:spcAft>
                <a:spcPts val="0"/>
              </a:spcAft>
              <a:buNone/>
            </a:pPr>
            <a:r>
              <a:rPr lang="en-US" sz="1600" b="1" i="0" u="none" strike="noStrike" cap="none">
                <a:solidFill>
                  <a:schemeClr val="dk1"/>
                </a:solidFill>
                <a:latin typeface="Consolas"/>
                <a:ea typeface="Consolas"/>
                <a:cs typeface="Consolas"/>
                <a:sym typeface="Consolas"/>
              </a:rPr>
              <a:t>Example 1:</a:t>
            </a:r>
            <a:endParaRPr/>
          </a:p>
          <a:p>
            <a:pPr marL="0" marR="0" lvl="3" indent="0" algn="l" rtl="0">
              <a:lnSpc>
                <a:spcPct val="100000"/>
              </a:lnSpc>
              <a:spcBef>
                <a:spcPts val="0"/>
              </a:spcBef>
              <a:spcAft>
                <a:spcPts val="0"/>
              </a:spcAft>
              <a:buNone/>
            </a:pPr>
            <a:br>
              <a:rPr lang="en-US" sz="1600" b="0" i="0" u="none" strike="noStrike" cap="none">
                <a:solidFill>
                  <a:schemeClr val="dk1"/>
                </a:solidFill>
                <a:latin typeface="Consolas"/>
                <a:ea typeface="Consolas"/>
                <a:cs typeface="Consolas"/>
                <a:sym typeface="Consolas"/>
              </a:rPr>
            </a:br>
            <a:r>
              <a:rPr lang="en-US" sz="1600" b="0" i="0" u="none" strike="noStrike" cap="none">
                <a:solidFill>
                  <a:schemeClr val="dk1"/>
                </a:solidFill>
                <a:latin typeface="Consolas"/>
                <a:ea typeface="Consolas"/>
                <a:cs typeface="Consolas"/>
                <a:sym typeface="Consolas"/>
              </a:rPr>
              <a:t>Let Rows = 5</a:t>
            </a:r>
            <a:br>
              <a:rPr lang="en-US" sz="1600" b="0" i="0" u="none" strike="noStrike" cap="none">
                <a:solidFill>
                  <a:schemeClr val="dk1"/>
                </a:solidFill>
                <a:latin typeface="Consolas"/>
                <a:ea typeface="Consolas"/>
                <a:cs typeface="Consolas"/>
                <a:sym typeface="Consolas"/>
              </a:rPr>
            </a:br>
            <a:r>
              <a:rPr lang="en-US" sz="1600" b="0" i="0" u="none" strike="noStrike" cap="none">
                <a:solidFill>
                  <a:schemeClr val="dk1"/>
                </a:solidFill>
                <a:latin typeface="Consolas"/>
                <a:ea typeface="Consolas"/>
                <a:cs typeface="Consolas"/>
                <a:sym typeface="Consolas"/>
              </a:rPr>
              <a:t>Columns = 5</a:t>
            </a:r>
            <a:endParaRPr/>
          </a:p>
          <a:p>
            <a:pPr marL="0" marR="0" lvl="3" indent="0" algn="l" rtl="0">
              <a:lnSpc>
                <a:spcPct val="100000"/>
              </a:lnSpc>
              <a:spcBef>
                <a:spcPts val="0"/>
              </a:spcBef>
              <a:spcAft>
                <a:spcPts val="0"/>
              </a:spcAft>
              <a:buNone/>
            </a:pPr>
            <a:br>
              <a:rPr lang="en-US" sz="1600" b="0" i="0" u="none" strike="noStrike" cap="none">
                <a:solidFill>
                  <a:schemeClr val="dk1"/>
                </a:solidFill>
                <a:latin typeface="Consolas"/>
                <a:ea typeface="Consolas"/>
                <a:cs typeface="Consolas"/>
                <a:sym typeface="Consolas"/>
              </a:rPr>
            </a:br>
            <a:r>
              <a:rPr lang="en-US" sz="1600" b="0" i="0" u="none" strike="noStrike" cap="none">
                <a:solidFill>
                  <a:schemeClr val="dk1"/>
                </a:solidFill>
                <a:latin typeface="Consolas"/>
                <a:ea typeface="Consolas"/>
                <a:cs typeface="Consolas"/>
                <a:sym typeface="Consolas"/>
              </a:rPr>
              <a:t>Matrix is:</a:t>
            </a:r>
            <a:br>
              <a:rPr lang="en-US" sz="1600" b="0" i="0" u="none" strike="noStrike" cap="none">
                <a:solidFill>
                  <a:schemeClr val="dk1"/>
                </a:solidFill>
                <a:latin typeface="Consolas"/>
                <a:ea typeface="Consolas"/>
                <a:cs typeface="Consolas"/>
                <a:sym typeface="Consolas"/>
              </a:rPr>
            </a:br>
            <a:r>
              <a:rPr lang="en-US" sz="1600" b="0" i="0" u="none" strike="noStrike" cap="none">
                <a:solidFill>
                  <a:schemeClr val="dk1"/>
                </a:solidFill>
                <a:latin typeface="Consolas"/>
                <a:ea typeface="Consolas"/>
                <a:cs typeface="Consolas"/>
                <a:sym typeface="Consolas"/>
              </a:rPr>
              <a:t>1  2  4  5  6</a:t>
            </a:r>
            <a:br>
              <a:rPr lang="en-US" sz="1600" b="0" i="0" u="none" strike="noStrike" cap="none">
                <a:solidFill>
                  <a:schemeClr val="dk1"/>
                </a:solidFill>
                <a:latin typeface="Consolas"/>
                <a:ea typeface="Consolas"/>
                <a:cs typeface="Consolas"/>
                <a:sym typeface="Consolas"/>
              </a:rPr>
            </a:br>
            <a:r>
              <a:rPr lang="en-US" sz="1600" b="0" i="0" u="none" strike="noStrike" cap="none">
                <a:solidFill>
                  <a:schemeClr val="dk1"/>
                </a:solidFill>
                <a:latin typeface="Consolas"/>
                <a:ea typeface="Consolas"/>
                <a:cs typeface="Consolas"/>
                <a:sym typeface="Consolas"/>
              </a:rPr>
              <a:t>7  5  2  3  6</a:t>
            </a:r>
            <a:br>
              <a:rPr lang="en-US" sz="1600" b="0" i="0" u="none" strike="noStrike" cap="none">
                <a:solidFill>
                  <a:schemeClr val="dk1"/>
                </a:solidFill>
                <a:latin typeface="Consolas"/>
                <a:ea typeface="Consolas"/>
                <a:cs typeface="Consolas"/>
                <a:sym typeface="Consolas"/>
              </a:rPr>
            </a:br>
            <a:r>
              <a:rPr lang="en-US" sz="1600" b="0" i="0" u="none" strike="noStrike" cap="none">
                <a:solidFill>
                  <a:schemeClr val="dk1"/>
                </a:solidFill>
                <a:latin typeface="Consolas"/>
                <a:ea typeface="Consolas"/>
                <a:cs typeface="Consolas"/>
                <a:sym typeface="Consolas"/>
              </a:rPr>
              <a:t>0  0  0  0  0</a:t>
            </a:r>
            <a:br>
              <a:rPr lang="en-US" sz="1600" b="0" i="0" u="none" strike="noStrike" cap="none">
                <a:solidFill>
                  <a:schemeClr val="dk1"/>
                </a:solidFill>
                <a:latin typeface="Consolas"/>
                <a:ea typeface="Consolas"/>
                <a:cs typeface="Consolas"/>
                <a:sym typeface="Consolas"/>
              </a:rPr>
            </a:br>
            <a:r>
              <a:rPr lang="en-US" sz="1600" b="0" i="0" u="none" strike="noStrike" cap="none">
                <a:solidFill>
                  <a:schemeClr val="dk1"/>
                </a:solidFill>
                <a:latin typeface="Consolas"/>
                <a:ea typeface="Consolas"/>
                <a:cs typeface="Consolas"/>
                <a:sym typeface="Consolas"/>
              </a:rPr>
              <a:t>7  5  1  3  5</a:t>
            </a:r>
            <a:br>
              <a:rPr lang="en-US" sz="1600" b="0" i="0" u="none" strike="noStrike" cap="none">
                <a:solidFill>
                  <a:schemeClr val="dk1"/>
                </a:solidFill>
                <a:latin typeface="Consolas"/>
                <a:ea typeface="Consolas"/>
                <a:cs typeface="Consolas"/>
                <a:sym typeface="Consolas"/>
              </a:rPr>
            </a:br>
            <a:r>
              <a:rPr lang="en-US" sz="1600" b="0" i="0" u="none" strike="noStrike" cap="none">
                <a:solidFill>
                  <a:schemeClr val="dk1"/>
                </a:solidFill>
                <a:latin typeface="Consolas"/>
                <a:ea typeface="Consolas"/>
                <a:cs typeface="Consolas"/>
                <a:sym typeface="Consolas"/>
              </a:rPr>
              <a:t>0  0  0  0  0</a:t>
            </a:r>
            <a:endParaRPr sz="1600" b="0" i="0" u="none" strike="noStrike" cap="none">
              <a:solidFill>
                <a:schemeClr val="dk1"/>
              </a:solidFill>
              <a:latin typeface="Consolas"/>
              <a:ea typeface="Consolas"/>
              <a:cs typeface="Consolas"/>
              <a:sym typeface="Consolas"/>
            </a:endParaRPr>
          </a:p>
        </p:txBody>
      </p:sp>
      <p:sp>
        <p:nvSpPr>
          <p:cNvPr id="126" name="Google Shape;126;p21"/>
          <p:cNvSpPr txBox="1"/>
          <p:nvPr/>
        </p:nvSpPr>
        <p:spPr>
          <a:xfrm>
            <a:off x="4858718" y="1541575"/>
            <a:ext cx="3521648" cy="23083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0" i="0" u="none" strike="noStrike" cap="none">
                <a:solidFill>
                  <a:srgbClr val="333333"/>
                </a:solidFill>
                <a:latin typeface="Consolas"/>
                <a:ea typeface="Consolas"/>
                <a:cs typeface="Consolas"/>
                <a:sym typeface="Consolas"/>
              </a:rPr>
              <a:t>1 2 4    2 4 5    4 5 6</a:t>
            </a:r>
            <a:br>
              <a:rPr lang="en-US" sz="1600" b="0" i="0" u="none" strike="noStrike" cap="none">
                <a:solidFill>
                  <a:srgbClr val="333333"/>
                </a:solidFill>
                <a:latin typeface="Consolas"/>
                <a:ea typeface="Consolas"/>
                <a:cs typeface="Consolas"/>
                <a:sym typeface="Consolas"/>
              </a:rPr>
            </a:br>
            <a:r>
              <a:rPr lang="en-US" sz="1600" b="0" i="0" u="none" strike="noStrike" cap="none">
                <a:solidFill>
                  <a:srgbClr val="333333"/>
                </a:solidFill>
                <a:latin typeface="Consolas"/>
                <a:ea typeface="Consolas"/>
                <a:cs typeface="Consolas"/>
                <a:sym typeface="Consolas"/>
              </a:rPr>
              <a:t>  5  	   2        3</a:t>
            </a:r>
            <a:br>
              <a:rPr lang="en-US" sz="1600" b="0" i="0" u="none" strike="noStrike" cap="none">
                <a:solidFill>
                  <a:srgbClr val="333333"/>
                </a:solidFill>
                <a:latin typeface="Consolas"/>
                <a:ea typeface="Consolas"/>
                <a:cs typeface="Consolas"/>
                <a:sym typeface="Consolas"/>
              </a:rPr>
            </a:br>
            <a:r>
              <a:rPr lang="en-US" sz="1600" b="0" i="0" u="none" strike="noStrike" cap="none">
                <a:solidFill>
                  <a:srgbClr val="333333"/>
                </a:solidFill>
                <a:latin typeface="Consolas"/>
                <a:ea typeface="Consolas"/>
                <a:cs typeface="Consolas"/>
                <a:sym typeface="Consolas"/>
              </a:rPr>
              <a:t>0 0 0    0 0 0    0 0 0</a:t>
            </a:r>
            <a:endParaRPr/>
          </a:p>
          <a:p>
            <a:pPr marL="0" marR="0" lvl="0" indent="0" algn="l" rtl="0">
              <a:lnSpc>
                <a:spcPct val="100000"/>
              </a:lnSpc>
              <a:spcBef>
                <a:spcPts val="0"/>
              </a:spcBef>
              <a:spcAft>
                <a:spcPts val="0"/>
              </a:spcAft>
              <a:buNone/>
            </a:pPr>
            <a:r>
              <a:rPr lang="en-US" sz="1600" b="1" i="0" u="none" strike="noStrike" cap="none">
                <a:solidFill>
                  <a:srgbClr val="FF0000"/>
                </a:solidFill>
                <a:latin typeface="Consolas"/>
                <a:ea typeface="Consolas"/>
                <a:cs typeface="Consolas"/>
                <a:sym typeface="Consolas"/>
              </a:rPr>
              <a:t>7 5 2</a:t>
            </a:r>
            <a:r>
              <a:rPr lang="en-US" sz="1600" b="0" i="0" u="none" strike="noStrike" cap="none">
                <a:solidFill>
                  <a:srgbClr val="FF0000"/>
                </a:solidFill>
                <a:latin typeface="Consolas"/>
                <a:ea typeface="Consolas"/>
                <a:cs typeface="Consolas"/>
                <a:sym typeface="Consolas"/>
              </a:rPr>
              <a:t>    </a:t>
            </a:r>
            <a:r>
              <a:rPr lang="en-US" sz="1600" b="0" i="0" u="none" strike="noStrike" cap="none">
                <a:solidFill>
                  <a:srgbClr val="333333"/>
                </a:solidFill>
                <a:latin typeface="Consolas"/>
                <a:ea typeface="Consolas"/>
                <a:cs typeface="Consolas"/>
                <a:sym typeface="Consolas"/>
              </a:rPr>
              <a:t>5 2 3    2 3 6</a:t>
            </a:r>
            <a:br>
              <a:rPr lang="en-US" sz="1600" b="0" i="0" u="none" strike="noStrike" cap="none">
                <a:solidFill>
                  <a:srgbClr val="333333"/>
                </a:solidFill>
                <a:latin typeface="Consolas"/>
                <a:ea typeface="Consolas"/>
                <a:cs typeface="Consolas"/>
                <a:sym typeface="Consolas"/>
              </a:rPr>
            </a:br>
            <a:r>
              <a:rPr lang="en-US" sz="1600" b="0" i="0" u="none" strike="noStrike" cap="none">
                <a:solidFill>
                  <a:srgbClr val="333333"/>
                </a:solidFill>
                <a:latin typeface="Consolas"/>
                <a:ea typeface="Consolas"/>
                <a:cs typeface="Consolas"/>
                <a:sym typeface="Consolas"/>
              </a:rPr>
              <a:t> </a:t>
            </a:r>
            <a:r>
              <a:rPr lang="en-US" sz="1600" b="0" i="0" u="none" strike="noStrike" cap="none">
                <a:solidFill>
                  <a:srgbClr val="FF0000"/>
                </a:solidFill>
                <a:latin typeface="Consolas"/>
                <a:ea typeface="Consolas"/>
                <a:cs typeface="Consolas"/>
                <a:sym typeface="Consolas"/>
              </a:rPr>
              <a:t> </a:t>
            </a:r>
            <a:r>
              <a:rPr lang="en-US" sz="1600" b="1" i="0" u="none" strike="noStrike" cap="none">
                <a:solidFill>
                  <a:srgbClr val="FF0000"/>
                </a:solidFill>
                <a:latin typeface="Consolas"/>
                <a:ea typeface="Consolas"/>
                <a:cs typeface="Consolas"/>
                <a:sym typeface="Consolas"/>
              </a:rPr>
              <a:t>0</a:t>
            </a:r>
            <a:r>
              <a:rPr lang="en-US" sz="1600" b="0" i="0" u="none" strike="noStrike" cap="none">
                <a:solidFill>
                  <a:srgbClr val="FF0000"/>
                </a:solidFill>
                <a:latin typeface="Consolas"/>
                <a:ea typeface="Consolas"/>
                <a:cs typeface="Consolas"/>
                <a:sym typeface="Consolas"/>
              </a:rPr>
              <a:t>        </a:t>
            </a:r>
            <a:r>
              <a:rPr lang="en-US" sz="1600" b="0" i="0" u="none" strike="noStrike" cap="none">
                <a:solidFill>
                  <a:srgbClr val="333333"/>
                </a:solidFill>
                <a:latin typeface="Consolas"/>
                <a:ea typeface="Consolas"/>
                <a:cs typeface="Consolas"/>
                <a:sym typeface="Consolas"/>
              </a:rPr>
              <a:t>0        0</a:t>
            </a:r>
            <a:br>
              <a:rPr lang="en-US" sz="1600" b="0" i="0" u="none" strike="noStrike" cap="none">
                <a:solidFill>
                  <a:srgbClr val="333333"/>
                </a:solidFill>
                <a:latin typeface="Consolas"/>
                <a:ea typeface="Consolas"/>
                <a:cs typeface="Consolas"/>
                <a:sym typeface="Consolas"/>
              </a:rPr>
            </a:br>
            <a:r>
              <a:rPr lang="en-US" sz="1600" b="1" i="0" u="none" strike="noStrike" cap="none">
                <a:solidFill>
                  <a:srgbClr val="FF0000"/>
                </a:solidFill>
                <a:latin typeface="Consolas"/>
                <a:ea typeface="Consolas"/>
                <a:cs typeface="Consolas"/>
                <a:sym typeface="Consolas"/>
              </a:rPr>
              <a:t>7 5 1</a:t>
            </a:r>
            <a:r>
              <a:rPr lang="en-US" sz="1600" b="0" i="0" u="none" strike="noStrike" cap="none">
                <a:solidFill>
                  <a:srgbClr val="FF0000"/>
                </a:solidFill>
                <a:latin typeface="Consolas"/>
                <a:ea typeface="Consolas"/>
                <a:cs typeface="Consolas"/>
                <a:sym typeface="Consolas"/>
              </a:rPr>
              <a:t>    </a:t>
            </a:r>
            <a:r>
              <a:rPr lang="en-US" sz="1600" b="0" i="0" u="none" strike="noStrike" cap="none">
                <a:solidFill>
                  <a:srgbClr val="333333"/>
                </a:solidFill>
                <a:latin typeface="Consolas"/>
                <a:ea typeface="Consolas"/>
                <a:cs typeface="Consolas"/>
                <a:sym typeface="Consolas"/>
              </a:rPr>
              <a:t>5 1 3    1 3 5</a:t>
            </a:r>
            <a:endParaRPr/>
          </a:p>
          <a:p>
            <a:pPr marL="0" marR="0" lvl="0" indent="0" algn="l" rtl="0">
              <a:lnSpc>
                <a:spcPct val="100000"/>
              </a:lnSpc>
              <a:spcBef>
                <a:spcPts val="0"/>
              </a:spcBef>
              <a:spcAft>
                <a:spcPts val="0"/>
              </a:spcAft>
              <a:buNone/>
            </a:pPr>
            <a:r>
              <a:rPr lang="en-US" sz="1600" b="0" i="0" u="none" strike="noStrike" cap="none">
                <a:solidFill>
                  <a:srgbClr val="333333"/>
                </a:solidFill>
                <a:latin typeface="Consolas"/>
                <a:ea typeface="Consolas"/>
                <a:cs typeface="Consolas"/>
                <a:sym typeface="Consolas"/>
              </a:rPr>
              <a:t>0 0 0    0 0 0    0 0 0</a:t>
            </a:r>
            <a:br>
              <a:rPr lang="en-US" sz="1600" b="0" i="0" u="none" strike="noStrike" cap="none">
                <a:solidFill>
                  <a:srgbClr val="333333"/>
                </a:solidFill>
                <a:latin typeface="Consolas"/>
                <a:ea typeface="Consolas"/>
                <a:cs typeface="Consolas"/>
                <a:sym typeface="Consolas"/>
              </a:rPr>
            </a:br>
            <a:r>
              <a:rPr lang="en-US" sz="1600" b="0" i="0" u="none" strike="noStrike" cap="none">
                <a:solidFill>
                  <a:srgbClr val="333333"/>
                </a:solidFill>
                <a:latin typeface="Consolas"/>
                <a:ea typeface="Consolas"/>
                <a:cs typeface="Consolas"/>
                <a:sym typeface="Consolas"/>
              </a:rPr>
              <a:t>  5        1        3</a:t>
            </a:r>
            <a:br>
              <a:rPr lang="en-US" sz="1600" b="0" i="0" u="none" strike="noStrike" cap="none">
                <a:solidFill>
                  <a:srgbClr val="333333"/>
                </a:solidFill>
                <a:latin typeface="Consolas"/>
                <a:ea typeface="Consolas"/>
                <a:cs typeface="Consolas"/>
                <a:sym typeface="Consolas"/>
              </a:rPr>
            </a:br>
            <a:r>
              <a:rPr lang="en-US" sz="1600" b="0" i="0" u="none" strike="noStrike" cap="none">
                <a:solidFill>
                  <a:srgbClr val="333333"/>
                </a:solidFill>
                <a:latin typeface="Consolas"/>
                <a:ea typeface="Consolas"/>
                <a:cs typeface="Consolas"/>
                <a:sym typeface="Consolas"/>
              </a:rPr>
              <a:t>0 0 0    0 0 0    0 0 0</a:t>
            </a:r>
            <a:endParaRPr/>
          </a:p>
        </p:txBody>
      </p:sp>
      <p:sp>
        <p:nvSpPr>
          <p:cNvPr id="127" name="Google Shape;127;p21"/>
          <p:cNvSpPr txBox="1"/>
          <p:nvPr/>
        </p:nvSpPr>
        <p:spPr>
          <a:xfrm>
            <a:off x="2535044" y="4177153"/>
            <a:ext cx="4572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Consolas"/>
                <a:ea typeface="Consolas"/>
                <a:cs typeface="Consolas"/>
                <a:sym typeface="Consolas"/>
              </a:rPr>
              <a:t>Maximum sum of hourglass is 27</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2"/>
          <p:cNvSpPr/>
          <p:nvPr/>
        </p:nvSpPr>
        <p:spPr>
          <a:xfrm>
            <a:off x="387458" y="1289953"/>
            <a:ext cx="2781946" cy="2554505"/>
          </a:xfrm>
          <a:prstGeom prst="rect">
            <a:avLst/>
          </a:prstGeom>
          <a:noFill/>
          <a:ln>
            <a:noFill/>
          </a:ln>
        </p:spPr>
        <p:txBody>
          <a:bodyPr spcFirstLastPara="1" wrap="square" lIns="91425" tIns="45700" rIns="91425" bIns="45700" anchor="t" anchorCtr="0">
            <a:spAutoFit/>
          </a:bodyPr>
          <a:lstStyle/>
          <a:p>
            <a:pPr marL="0" marR="0" lvl="3" indent="0" algn="l" rtl="0">
              <a:lnSpc>
                <a:spcPct val="100000"/>
              </a:lnSpc>
              <a:spcBef>
                <a:spcPts val="0"/>
              </a:spcBef>
              <a:spcAft>
                <a:spcPts val="0"/>
              </a:spcAft>
              <a:buNone/>
            </a:pPr>
            <a:r>
              <a:rPr lang="en-US" sz="1600" b="1" i="0" u="none" strike="noStrike" cap="none" dirty="0">
                <a:solidFill>
                  <a:srgbClr val="333333"/>
                </a:solidFill>
                <a:latin typeface="Consolas"/>
                <a:ea typeface="Consolas"/>
                <a:cs typeface="Consolas"/>
                <a:sym typeface="Consolas"/>
              </a:rPr>
              <a:t>Example 2:</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Consolas"/>
                <a:ea typeface="Consolas"/>
                <a:cs typeface="Consolas"/>
                <a:sym typeface="Consolas"/>
              </a:rPr>
              <a:t>Consider the</a:t>
            </a:r>
            <a:endParaRPr dirty="0"/>
          </a:p>
          <a:p>
            <a:pPr marL="0" marR="0" lvl="3" indent="0" algn="l" rtl="0">
              <a:lnSpc>
                <a:spcPct val="100000"/>
              </a:lnSpc>
              <a:spcBef>
                <a:spcPts val="0"/>
              </a:spcBef>
              <a:spcAft>
                <a:spcPts val="0"/>
              </a:spcAft>
              <a:buNone/>
            </a:pPr>
            <a:r>
              <a:rPr lang="en-US" sz="1600" b="0" i="0" u="none" strike="noStrike" cap="none" dirty="0">
                <a:solidFill>
                  <a:srgbClr val="333333"/>
                </a:solidFill>
                <a:latin typeface="Consolas"/>
                <a:ea typeface="Consolas"/>
                <a:cs typeface="Consolas"/>
                <a:sym typeface="Consolas"/>
              </a:rPr>
              <a:t>Rows = 4</a:t>
            </a:r>
            <a:br>
              <a:rPr lang="en-US" sz="1600" b="0" i="0" u="none" strike="noStrike" cap="none" dirty="0">
                <a:solidFill>
                  <a:srgbClr val="000000"/>
                </a:solidFill>
                <a:latin typeface="Consolas"/>
                <a:ea typeface="Consolas"/>
                <a:cs typeface="Consolas"/>
                <a:sym typeface="Consolas"/>
              </a:rPr>
            </a:br>
            <a:r>
              <a:rPr lang="en-US" sz="1600" b="0" i="0" u="none" strike="noStrike" cap="none" dirty="0">
                <a:solidFill>
                  <a:srgbClr val="333333"/>
                </a:solidFill>
                <a:latin typeface="Consolas"/>
                <a:ea typeface="Consolas"/>
                <a:cs typeface="Consolas"/>
                <a:sym typeface="Consolas"/>
              </a:rPr>
              <a:t>Columns = 4</a:t>
            </a:r>
            <a:endParaRPr dirty="0"/>
          </a:p>
          <a:p>
            <a:pPr marL="0" marR="0" lvl="3" indent="0" algn="l" rtl="0">
              <a:lnSpc>
                <a:spcPct val="100000"/>
              </a:lnSpc>
              <a:spcBef>
                <a:spcPts val="0"/>
              </a:spcBef>
              <a:spcAft>
                <a:spcPts val="0"/>
              </a:spcAft>
              <a:buNone/>
            </a:pPr>
            <a:br>
              <a:rPr lang="en-US" sz="1600" b="0" i="0" u="none" strike="noStrike" cap="none" dirty="0">
                <a:solidFill>
                  <a:srgbClr val="000000"/>
                </a:solidFill>
                <a:latin typeface="Consolas"/>
                <a:ea typeface="Consolas"/>
                <a:cs typeface="Consolas"/>
                <a:sym typeface="Consolas"/>
              </a:rPr>
            </a:br>
            <a:r>
              <a:rPr lang="en-US" sz="1600" b="0" i="0" u="none" strike="noStrike" cap="none" dirty="0">
                <a:solidFill>
                  <a:srgbClr val="000000"/>
                </a:solidFill>
                <a:latin typeface="Consolas"/>
                <a:ea typeface="Consolas"/>
                <a:cs typeface="Consolas"/>
                <a:sym typeface="Consolas"/>
              </a:rPr>
              <a:t> matrix:-</a:t>
            </a:r>
            <a:endParaRPr dirty="0"/>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Consolas"/>
                <a:ea typeface="Consolas"/>
                <a:cs typeface="Consolas"/>
                <a:sym typeface="Consolas"/>
              </a:rPr>
              <a:t>    2 4 0 0</a:t>
            </a:r>
            <a:endParaRPr dirty="0"/>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Consolas"/>
                <a:ea typeface="Consolas"/>
                <a:cs typeface="Consolas"/>
                <a:sym typeface="Consolas"/>
              </a:rPr>
              <a:t>    0 1 1 0</a:t>
            </a:r>
            <a:endParaRPr dirty="0"/>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Consolas"/>
                <a:ea typeface="Consolas"/>
                <a:cs typeface="Consolas"/>
                <a:sym typeface="Consolas"/>
              </a:rPr>
              <a:t>    4 2 1 0</a:t>
            </a:r>
            <a:endParaRPr dirty="0"/>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Consolas"/>
                <a:ea typeface="Consolas"/>
                <a:cs typeface="Consolas"/>
                <a:sym typeface="Consolas"/>
              </a:rPr>
              <a:t>    0 3 0 1</a:t>
            </a:r>
            <a:endParaRPr dirty="0"/>
          </a:p>
        </p:txBody>
      </p:sp>
      <p:sp>
        <p:nvSpPr>
          <p:cNvPr id="135" name="Google Shape;135;p22"/>
          <p:cNvSpPr txBox="1"/>
          <p:nvPr/>
        </p:nvSpPr>
        <p:spPr>
          <a:xfrm>
            <a:off x="2627176" y="926750"/>
            <a:ext cx="5904854" cy="337675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600"/>
              <a:buFont typeface="Arial"/>
              <a:buNone/>
            </a:pPr>
            <a:r>
              <a:rPr lang="en-US" sz="1600" b="0" i="0" u="none" strike="noStrike" cap="none" dirty="0">
                <a:solidFill>
                  <a:schemeClr val="dk1"/>
                </a:solidFill>
                <a:latin typeface="Consolas"/>
                <a:ea typeface="Consolas"/>
                <a:cs typeface="Consolas"/>
                <a:sym typeface="Consolas"/>
              </a:rPr>
              <a:t>Hourglass can be created using the following indexes:-</a:t>
            </a:r>
            <a:endParaRPr dirty="0"/>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chemeClr val="dk1"/>
                </a:solidFill>
                <a:latin typeface="Consolas"/>
                <a:ea typeface="Consolas"/>
                <a:cs typeface="Consolas"/>
                <a:sym typeface="Consolas"/>
              </a:rPr>
              <a:t>matrix[</a:t>
            </a:r>
            <a:r>
              <a:rPr lang="en-US" sz="1400" b="0" i="0" u="none" strike="noStrike" cap="none" dirty="0" err="1">
                <a:solidFill>
                  <a:schemeClr val="dk1"/>
                </a:solidFill>
                <a:latin typeface="Consolas"/>
                <a:ea typeface="Consolas"/>
                <a:cs typeface="Consolas"/>
                <a:sym typeface="Consolas"/>
              </a:rPr>
              <a:t>i</a:t>
            </a:r>
            <a:r>
              <a:rPr lang="en-US" sz="1400" b="0" i="0" u="none" strike="noStrike" cap="none" dirty="0">
                <a:solidFill>
                  <a:schemeClr val="dk1"/>
                </a:solidFill>
                <a:latin typeface="Consolas"/>
                <a:ea typeface="Consolas"/>
                <a:cs typeface="Consolas"/>
                <a:sym typeface="Consolas"/>
              </a:rPr>
              <a:t>][j]          matrix[</a:t>
            </a:r>
            <a:r>
              <a:rPr lang="en-US" sz="1400" b="0" i="0" u="none" strike="noStrike" cap="none" dirty="0" err="1">
                <a:solidFill>
                  <a:schemeClr val="dk1"/>
                </a:solidFill>
                <a:latin typeface="Consolas"/>
                <a:ea typeface="Consolas"/>
                <a:cs typeface="Consolas"/>
                <a:sym typeface="Consolas"/>
              </a:rPr>
              <a:t>i</a:t>
            </a:r>
            <a:r>
              <a:rPr lang="en-US" sz="1400" b="0" i="0" u="none" strike="noStrike" cap="none" dirty="0">
                <a:solidFill>
                  <a:schemeClr val="dk1"/>
                </a:solidFill>
                <a:latin typeface="Consolas"/>
                <a:ea typeface="Consolas"/>
                <a:cs typeface="Consolas"/>
                <a:sym typeface="Consolas"/>
              </a:rPr>
              <a:t>][j+1]      matrix[</a:t>
            </a:r>
            <a:r>
              <a:rPr lang="en-US" sz="1400" b="0" i="0" u="none" strike="noStrike" cap="none" dirty="0" err="1">
                <a:solidFill>
                  <a:schemeClr val="dk1"/>
                </a:solidFill>
                <a:latin typeface="Consolas"/>
                <a:ea typeface="Consolas"/>
                <a:cs typeface="Consolas"/>
                <a:sym typeface="Consolas"/>
              </a:rPr>
              <a:t>i</a:t>
            </a:r>
            <a:r>
              <a:rPr lang="en-US" sz="1400" b="0" i="0" u="none" strike="noStrike" cap="none" dirty="0">
                <a:solidFill>
                  <a:schemeClr val="dk1"/>
                </a:solidFill>
                <a:latin typeface="Consolas"/>
                <a:ea typeface="Consolas"/>
                <a:cs typeface="Consolas"/>
                <a:sym typeface="Consolas"/>
              </a:rPr>
              <a:t>][j+2]</a:t>
            </a:r>
            <a:endParaRPr dirty="0"/>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chemeClr val="dk1"/>
                </a:solidFill>
                <a:latin typeface="Consolas"/>
                <a:ea typeface="Consolas"/>
                <a:cs typeface="Consolas"/>
                <a:sym typeface="Consolas"/>
              </a:rPr>
              <a:t>                     matrix[i+1][j+1]</a:t>
            </a:r>
            <a:endParaRPr dirty="0"/>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chemeClr val="dk1"/>
                </a:solidFill>
                <a:latin typeface="Consolas"/>
                <a:ea typeface="Consolas"/>
                <a:cs typeface="Consolas"/>
                <a:sym typeface="Consolas"/>
              </a:rPr>
              <a:t>matrix[i+2][j]       matrix[i+2][j+1]     matrix[i+2][j+2]</a:t>
            </a:r>
            <a:endParaRPr dirty="0"/>
          </a:p>
          <a:p>
            <a:pPr marL="0" marR="0" lvl="0" indent="0" algn="l"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Consolas"/>
              <a:ea typeface="Consolas"/>
              <a:cs typeface="Consolas"/>
              <a:sym typeface="Consolas"/>
            </a:endParaRPr>
          </a:p>
          <a:p>
            <a:pPr marL="0" marR="0" lvl="0" indent="0" algn="l" rtl="0">
              <a:lnSpc>
                <a:spcPct val="150000"/>
              </a:lnSpc>
              <a:spcBef>
                <a:spcPts val="0"/>
              </a:spcBef>
              <a:spcAft>
                <a:spcPts val="0"/>
              </a:spcAft>
              <a:buClr>
                <a:srgbClr val="000000"/>
              </a:buClr>
              <a:buSzPts val="1600"/>
              <a:buFont typeface="Arial"/>
              <a:buNone/>
            </a:pPr>
            <a:r>
              <a:rPr lang="en-US" sz="1600" b="0" i="0" u="none" strike="noStrike" cap="none" dirty="0">
                <a:solidFill>
                  <a:schemeClr val="dk1"/>
                </a:solidFill>
                <a:latin typeface="Consolas"/>
                <a:ea typeface="Consolas"/>
                <a:cs typeface="Consolas"/>
                <a:sym typeface="Consolas"/>
              </a:rPr>
              <a:t>We will find the sum of all these elements of the array from [0][0] to [R-2][C-2] starting points. And the find the </a:t>
            </a:r>
            <a:r>
              <a:rPr lang="en-US" sz="1600" b="0" i="0" u="none" strike="noStrike" cap="none" dirty="0" err="1">
                <a:solidFill>
                  <a:schemeClr val="dk1"/>
                </a:solidFill>
                <a:latin typeface="Consolas"/>
                <a:ea typeface="Consolas"/>
                <a:cs typeface="Consolas"/>
                <a:sym typeface="Consolas"/>
              </a:rPr>
              <a:t>maxSum</a:t>
            </a:r>
            <a:r>
              <a:rPr lang="en-US" sz="1600" b="0" i="0" u="none" strike="noStrike" cap="none" dirty="0">
                <a:solidFill>
                  <a:schemeClr val="dk1"/>
                </a:solidFill>
                <a:latin typeface="Consolas"/>
                <a:ea typeface="Consolas"/>
                <a:cs typeface="Consolas"/>
                <a:sym typeface="Consolas"/>
              </a:rPr>
              <a:t> for all these hourglasses created from array elements.</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4"/>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141" name="Google Shape;141;p24"/>
          <p:cNvSpPr/>
          <p:nvPr/>
        </p:nvSpPr>
        <p:spPr>
          <a:xfrm>
            <a:off x="2121635" y="909338"/>
            <a:ext cx="5232524" cy="304694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Consolas"/>
                <a:ea typeface="Consolas"/>
                <a:cs typeface="Consolas"/>
                <a:sym typeface="Consolas"/>
              </a:rPr>
              <a:t>The hourglasses are :</a:t>
            </a:r>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FF0000"/>
                </a:solidFill>
                <a:latin typeface="Consolas"/>
                <a:ea typeface="Consolas"/>
                <a:cs typeface="Consolas"/>
                <a:sym typeface="Consolas"/>
              </a:rPr>
              <a:t>2    4    0       </a:t>
            </a:r>
            <a:r>
              <a:rPr lang="en-US" sz="1600" b="0" i="0" u="none" strike="noStrike" cap="none">
                <a:solidFill>
                  <a:schemeClr val="dk1"/>
                </a:solidFill>
                <a:latin typeface="Consolas"/>
                <a:ea typeface="Consolas"/>
                <a:cs typeface="Consolas"/>
                <a:sym typeface="Consolas"/>
              </a:rPr>
              <a:t>0    1    1</a:t>
            </a:r>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Consolas"/>
                <a:ea typeface="Consolas"/>
                <a:cs typeface="Consolas"/>
                <a:sym typeface="Consolas"/>
              </a:rPr>
              <a:t>     </a:t>
            </a:r>
            <a:r>
              <a:rPr lang="en-US" sz="1600" b="0" i="0" u="none" strike="noStrike" cap="none">
                <a:solidFill>
                  <a:srgbClr val="FF0000"/>
                </a:solidFill>
                <a:latin typeface="Consolas"/>
                <a:ea typeface="Consolas"/>
                <a:cs typeface="Consolas"/>
                <a:sym typeface="Consolas"/>
              </a:rPr>
              <a:t>1</a:t>
            </a:r>
            <a:r>
              <a:rPr lang="en-US" sz="1600" b="0" i="0" u="none" strike="noStrike" cap="none">
                <a:solidFill>
                  <a:schemeClr val="dk1"/>
                </a:solidFill>
                <a:latin typeface="Consolas"/>
                <a:ea typeface="Consolas"/>
                <a:cs typeface="Consolas"/>
                <a:sym typeface="Consolas"/>
              </a:rPr>
              <a:t>                 2</a:t>
            </a:r>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FF0000"/>
                </a:solidFill>
                <a:latin typeface="Consolas"/>
                <a:ea typeface="Consolas"/>
                <a:cs typeface="Consolas"/>
                <a:sym typeface="Consolas"/>
              </a:rPr>
              <a:t>4    2    1       </a:t>
            </a:r>
            <a:r>
              <a:rPr lang="en-US" sz="1600" b="0" i="0" u="none" strike="noStrike" cap="none">
                <a:solidFill>
                  <a:schemeClr val="dk1"/>
                </a:solidFill>
                <a:latin typeface="Consolas"/>
                <a:ea typeface="Consolas"/>
                <a:cs typeface="Consolas"/>
                <a:sym typeface="Consolas"/>
              </a:rPr>
              <a:t>0    3    0</a:t>
            </a:r>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Consolas"/>
                <a:ea typeface="Consolas"/>
                <a:cs typeface="Consolas"/>
                <a:sym typeface="Consolas"/>
              </a:rPr>
              <a:t>4    0    0       1    1    0</a:t>
            </a:r>
            <a:endParaRPr sz="1600" b="0"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Consolas"/>
                <a:ea typeface="Consolas"/>
                <a:cs typeface="Consolas"/>
                <a:sym typeface="Consolas"/>
              </a:rPr>
              <a:t>     1                 1</a:t>
            </a:r>
            <a:endParaRPr sz="1600" b="0"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Consolas"/>
                <a:ea typeface="Consolas"/>
                <a:cs typeface="Consolas"/>
                <a:sym typeface="Consolas"/>
              </a:rPr>
              <a:t>2    1    0       3    0    1</a:t>
            </a:r>
            <a:endParaRPr sz="1600" b="0" i="0" u="none" strike="noStrike" cap="none">
              <a:solidFill>
                <a:schemeClr val="dk1"/>
              </a:solidFill>
              <a:latin typeface="Consolas"/>
              <a:ea typeface="Consolas"/>
              <a:cs typeface="Consolas"/>
              <a:sym typeface="Consolas"/>
            </a:endParaRPr>
          </a:p>
          <a:p>
            <a:pPr marL="0" marR="0" lvl="0" indent="0" algn="l" rtl="0">
              <a:lnSpc>
                <a:spcPct val="200000"/>
              </a:lnSpc>
              <a:spcBef>
                <a:spcPts val="0"/>
              </a:spcBef>
              <a:spcAft>
                <a:spcPts val="0"/>
              </a:spcAft>
              <a:buClr>
                <a:srgbClr val="000000"/>
              </a:buClr>
              <a:buSzPts val="1600"/>
              <a:buFont typeface="Arial"/>
              <a:buNone/>
            </a:pPr>
            <a:endParaRPr sz="1600" b="0" i="0" u="none" strike="noStrike" cap="none">
              <a:solidFill>
                <a:schemeClr val="dk1"/>
              </a:solidFill>
              <a:latin typeface="Consolas"/>
              <a:ea typeface="Consolas"/>
              <a:cs typeface="Consolas"/>
              <a:sym typeface="Consolas"/>
            </a:endParaRPr>
          </a:p>
        </p:txBody>
      </p:sp>
      <p:sp>
        <p:nvSpPr>
          <p:cNvPr id="144" name="Google Shape;144;p24"/>
          <p:cNvSpPr txBox="1"/>
          <p:nvPr/>
        </p:nvSpPr>
        <p:spPr>
          <a:xfrm>
            <a:off x="2286000" y="4058383"/>
            <a:ext cx="4572000"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Maximum sum of hourglass is 14</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5"/>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graphicFrame>
        <p:nvGraphicFramePr>
          <p:cNvPr id="152" name="Google Shape;152;p25"/>
          <p:cNvGraphicFramePr/>
          <p:nvPr>
            <p:extLst>
              <p:ext uri="{D42A27DB-BD31-4B8C-83A1-F6EECF244321}">
                <p14:modId xmlns:p14="http://schemas.microsoft.com/office/powerpoint/2010/main" val="98569748"/>
              </p:ext>
            </p:extLst>
          </p:nvPr>
        </p:nvGraphicFramePr>
        <p:xfrm>
          <a:off x="181737" y="978319"/>
          <a:ext cx="8780525" cy="3657610"/>
        </p:xfrm>
        <a:graphic>
          <a:graphicData uri="http://schemas.openxmlformats.org/drawingml/2006/table">
            <a:tbl>
              <a:tblPr firstRow="1" bandRow="1">
                <a:noFill/>
                <a:tableStyleId>{019CD060-CA51-46FF-BB07-23E3C53714E6}</a:tableStyleId>
              </a:tblPr>
              <a:tblGrid>
                <a:gridCol w="4653725">
                  <a:extLst>
                    <a:ext uri="{9D8B030D-6E8A-4147-A177-3AD203B41FA5}">
                      <a16:colId xmlns:a16="http://schemas.microsoft.com/office/drawing/2014/main" val="20000"/>
                    </a:ext>
                  </a:extLst>
                </a:gridCol>
                <a:gridCol w="4126800">
                  <a:extLst>
                    <a:ext uri="{9D8B030D-6E8A-4147-A177-3AD203B41FA5}">
                      <a16:colId xmlns:a16="http://schemas.microsoft.com/office/drawing/2014/main" val="20001"/>
                    </a:ext>
                  </a:extLst>
                </a:gridCol>
              </a:tblGrid>
              <a:tr h="3539273">
                <a:tc>
                  <a:txBody>
                    <a:bodyPr/>
                    <a:lstStyle/>
                    <a:p>
                      <a:pPr marL="0" marR="0" lvl="0" indent="0" algn="l" rtl="0">
                        <a:lnSpc>
                          <a:spcPct val="100000"/>
                        </a:lnSpc>
                        <a:spcBef>
                          <a:spcPts val="0"/>
                        </a:spcBef>
                        <a:spcAft>
                          <a:spcPts val="0"/>
                        </a:spcAft>
                        <a:buNone/>
                      </a:pPr>
                      <a:r>
                        <a:rPr lang="en-US" sz="1300" u="none" strike="noStrike" cap="none" dirty="0">
                          <a:latin typeface="Consolas"/>
                          <a:ea typeface="Consolas"/>
                          <a:cs typeface="Consolas"/>
                          <a:sym typeface="Consolas"/>
                        </a:rPr>
                        <a:t>import java.io.*;</a:t>
                      </a:r>
                      <a:endParaRPr dirty="0">
                        <a:latin typeface="Consolas"/>
                        <a:ea typeface="Consolas"/>
                        <a:cs typeface="Consolas"/>
                        <a:sym typeface="Consolas"/>
                      </a:endParaRPr>
                    </a:p>
                    <a:p>
                      <a:pPr marL="0" marR="0" lvl="0" indent="0" algn="l" rtl="0">
                        <a:lnSpc>
                          <a:spcPct val="100000"/>
                        </a:lnSpc>
                        <a:spcBef>
                          <a:spcPts val="0"/>
                        </a:spcBef>
                        <a:spcAft>
                          <a:spcPts val="0"/>
                        </a:spcAft>
                        <a:buNone/>
                      </a:pPr>
                      <a:r>
                        <a:rPr lang="en-US" sz="1300" u="none" strike="noStrike" cap="none" dirty="0">
                          <a:latin typeface="Consolas"/>
                          <a:ea typeface="Consolas"/>
                          <a:cs typeface="Consolas"/>
                          <a:sym typeface="Consolas"/>
                        </a:rPr>
                        <a:t>class Main {	</a:t>
                      </a:r>
                      <a:endParaRPr dirty="0">
                        <a:latin typeface="Consolas"/>
                        <a:ea typeface="Consolas"/>
                        <a:cs typeface="Consolas"/>
                        <a:sym typeface="Consolas"/>
                      </a:endParaRPr>
                    </a:p>
                    <a:p>
                      <a:pPr marL="0" marR="0" lvl="0" indent="0" algn="l" rtl="0">
                        <a:lnSpc>
                          <a:spcPct val="100000"/>
                        </a:lnSpc>
                        <a:spcBef>
                          <a:spcPts val="0"/>
                        </a:spcBef>
                        <a:spcAft>
                          <a:spcPts val="0"/>
                        </a:spcAft>
                        <a:buNone/>
                      </a:pPr>
                      <a:r>
                        <a:rPr lang="en-US" sz="1300" u="none" strike="noStrike" cap="none" dirty="0">
                          <a:latin typeface="Consolas"/>
                          <a:ea typeface="Consolas"/>
                          <a:cs typeface="Consolas"/>
                          <a:sym typeface="Consolas"/>
                        </a:rPr>
                        <a:t>static int row = 5;</a:t>
                      </a:r>
                      <a:endParaRPr dirty="0">
                        <a:latin typeface="Consolas"/>
                        <a:ea typeface="Consolas"/>
                        <a:cs typeface="Consolas"/>
                        <a:sym typeface="Consolas"/>
                      </a:endParaRPr>
                    </a:p>
                    <a:p>
                      <a:pPr marL="0" marR="0" lvl="0" indent="0" algn="l" rtl="0">
                        <a:lnSpc>
                          <a:spcPct val="100000"/>
                        </a:lnSpc>
                        <a:spcBef>
                          <a:spcPts val="0"/>
                        </a:spcBef>
                        <a:spcAft>
                          <a:spcPts val="0"/>
                        </a:spcAft>
                        <a:buNone/>
                      </a:pPr>
                      <a:r>
                        <a:rPr lang="en-US" sz="1300" u="none" strike="noStrike" cap="none" dirty="0">
                          <a:latin typeface="Consolas"/>
                          <a:ea typeface="Consolas"/>
                          <a:cs typeface="Consolas"/>
                          <a:sym typeface="Consolas"/>
                        </a:rPr>
                        <a:t>static int col = 5;</a:t>
                      </a:r>
                      <a:endParaRPr dirty="0">
                        <a:latin typeface="Consolas"/>
                        <a:ea typeface="Consolas"/>
                        <a:cs typeface="Consolas"/>
                        <a:sym typeface="Consolas"/>
                      </a:endParaRPr>
                    </a:p>
                    <a:p>
                      <a:pPr marL="0" marR="0" lvl="0" indent="0" algn="l" rtl="0">
                        <a:lnSpc>
                          <a:spcPct val="100000"/>
                        </a:lnSpc>
                        <a:spcBef>
                          <a:spcPts val="0"/>
                        </a:spcBef>
                        <a:spcAft>
                          <a:spcPts val="0"/>
                        </a:spcAft>
                        <a:buNone/>
                      </a:pPr>
                      <a:r>
                        <a:rPr lang="en-US" sz="1300" u="none" strike="noStrike" cap="none" dirty="0">
                          <a:latin typeface="Consolas"/>
                          <a:ea typeface="Consolas"/>
                          <a:cs typeface="Consolas"/>
                          <a:sym typeface="Consolas"/>
                        </a:rPr>
                        <a:t>static int </a:t>
                      </a:r>
                      <a:r>
                        <a:rPr lang="en-US" sz="1300" u="none" strike="noStrike" cap="none" dirty="0" err="1">
                          <a:latin typeface="Consolas"/>
                          <a:ea typeface="Consolas"/>
                          <a:cs typeface="Consolas"/>
                          <a:sym typeface="Consolas"/>
                        </a:rPr>
                        <a:t>findMaxSum</a:t>
                      </a:r>
                      <a:r>
                        <a:rPr lang="en-US" sz="1300" u="none" strike="noStrike" cap="none" dirty="0">
                          <a:latin typeface="Consolas"/>
                          <a:ea typeface="Consolas"/>
                          <a:cs typeface="Consolas"/>
                          <a:sym typeface="Consolas"/>
                        </a:rPr>
                        <a:t>(int [][]mat)</a:t>
                      </a:r>
                      <a:endParaRPr dirty="0">
                        <a:latin typeface="Consolas"/>
                        <a:ea typeface="Consolas"/>
                        <a:cs typeface="Consolas"/>
                        <a:sym typeface="Consolas"/>
                      </a:endParaRPr>
                    </a:p>
                    <a:p>
                      <a:pPr marL="0" marR="0" lvl="0" indent="0" algn="l" rtl="0">
                        <a:lnSpc>
                          <a:spcPct val="100000"/>
                        </a:lnSpc>
                        <a:spcBef>
                          <a:spcPts val="0"/>
                        </a:spcBef>
                        <a:spcAft>
                          <a:spcPts val="0"/>
                        </a:spcAft>
                        <a:buNone/>
                      </a:pPr>
                      <a:r>
                        <a:rPr lang="en-US" sz="1300" u="none" strike="noStrike" cap="none" dirty="0">
                          <a:latin typeface="Consolas"/>
                          <a:ea typeface="Consolas"/>
                          <a:cs typeface="Consolas"/>
                          <a:sym typeface="Consolas"/>
                        </a:rPr>
                        <a:t>{if (row &lt; 3 || col &lt; 3){</a:t>
                      </a:r>
                      <a:endParaRPr dirty="0">
                        <a:latin typeface="Consolas"/>
                        <a:ea typeface="Consolas"/>
                        <a:cs typeface="Consolas"/>
                        <a:sym typeface="Consolas"/>
                      </a:endParaRPr>
                    </a:p>
                    <a:p>
                      <a:pPr marL="0" marR="0" lvl="0" indent="0" algn="l" rtl="0">
                        <a:lnSpc>
                          <a:spcPct val="100000"/>
                        </a:lnSpc>
                        <a:spcBef>
                          <a:spcPts val="0"/>
                        </a:spcBef>
                        <a:spcAft>
                          <a:spcPts val="0"/>
                        </a:spcAft>
                        <a:buNone/>
                      </a:pPr>
                      <a:r>
                        <a:rPr lang="en-US" sz="1300" u="none" strike="noStrike" cap="none" dirty="0">
                          <a:latin typeface="Consolas"/>
                          <a:ea typeface="Consolas"/>
                          <a:cs typeface="Consolas"/>
                          <a:sym typeface="Consolas"/>
                        </a:rPr>
                        <a:t>   </a:t>
                      </a:r>
                      <a:r>
                        <a:rPr lang="en-US" sz="1300" u="none" strike="noStrike" cap="none" dirty="0" err="1">
                          <a:latin typeface="Consolas"/>
                          <a:ea typeface="Consolas"/>
                          <a:cs typeface="Consolas"/>
                          <a:sym typeface="Consolas"/>
                        </a:rPr>
                        <a:t>System.out.println</a:t>
                      </a:r>
                      <a:r>
                        <a:rPr lang="en-US" sz="1300" u="none" strike="noStrike" cap="none" dirty="0">
                          <a:latin typeface="Consolas"/>
                          <a:ea typeface="Consolas"/>
                          <a:cs typeface="Consolas"/>
                          <a:sym typeface="Consolas"/>
                        </a:rPr>
                        <a:t>("Not possible to give");</a:t>
                      </a:r>
                      <a:endParaRPr dirty="0">
                        <a:latin typeface="Consolas"/>
                        <a:ea typeface="Consolas"/>
                        <a:cs typeface="Consolas"/>
                        <a:sym typeface="Consolas"/>
                      </a:endParaRPr>
                    </a:p>
                    <a:p>
                      <a:pPr marL="0" marR="0" lvl="0" indent="0" algn="l" rtl="0">
                        <a:lnSpc>
                          <a:spcPct val="100000"/>
                        </a:lnSpc>
                        <a:spcBef>
                          <a:spcPts val="0"/>
                        </a:spcBef>
                        <a:spcAft>
                          <a:spcPts val="0"/>
                        </a:spcAft>
                        <a:buNone/>
                      </a:pPr>
                      <a:r>
                        <a:rPr lang="en-US" sz="1300" u="none" strike="noStrike" cap="none" dirty="0">
                          <a:latin typeface="Consolas"/>
                          <a:ea typeface="Consolas"/>
                          <a:cs typeface="Consolas"/>
                          <a:sym typeface="Consolas"/>
                        </a:rPr>
                        <a:t>           </a:t>
                      </a:r>
                      <a:r>
                        <a:rPr lang="en-US" sz="1300" u="none" strike="noStrike" cap="none" dirty="0" err="1">
                          <a:latin typeface="Consolas"/>
                          <a:ea typeface="Consolas"/>
                          <a:cs typeface="Consolas"/>
                          <a:sym typeface="Consolas"/>
                        </a:rPr>
                        <a:t>System.exit</a:t>
                      </a:r>
                      <a:r>
                        <a:rPr lang="en-US" sz="1300" u="none" strike="noStrike" cap="none" dirty="0">
                          <a:latin typeface="Consolas"/>
                          <a:ea typeface="Consolas"/>
                          <a:cs typeface="Consolas"/>
                          <a:sym typeface="Consolas"/>
                        </a:rPr>
                        <a:t>(0);</a:t>
                      </a:r>
                      <a:endParaRPr dirty="0">
                        <a:latin typeface="Consolas"/>
                        <a:ea typeface="Consolas"/>
                        <a:cs typeface="Consolas"/>
                        <a:sym typeface="Consolas"/>
                      </a:endParaRPr>
                    </a:p>
                    <a:p>
                      <a:pPr marL="0" marR="0" lvl="0" indent="0" algn="l" rtl="0">
                        <a:lnSpc>
                          <a:spcPct val="100000"/>
                        </a:lnSpc>
                        <a:spcBef>
                          <a:spcPts val="0"/>
                        </a:spcBef>
                        <a:spcAft>
                          <a:spcPts val="0"/>
                        </a:spcAft>
                        <a:buNone/>
                      </a:pPr>
                      <a:r>
                        <a:rPr lang="en-US" sz="1300" u="none" strike="noStrike" cap="none" dirty="0">
                          <a:latin typeface="Consolas"/>
                          <a:ea typeface="Consolas"/>
                          <a:cs typeface="Consolas"/>
                          <a:sym typeface="Consolas"/>
                        </a:rPr>
                        <a:t>	      }</a:t>
                      </a:r>
                      <a:endParaRPr dirty="0">
                        <a:latin typeface="Consolas"/>
                        <a:ea typeface="Consolas"/>
                        <a:cs typeface="Consolas"/>
                        <a:sym typeface="Consolas"/>
                      </a:endParaRPr>
                    </a:p>
                    <a:p>
                      <a:pPr marL="0" marR="0" lvl="0" indent="0" algn="l" rtl="0">
                        <a:lnSpc>
                          <a:spcPct val="100000"/>
                        </a:lnSpc>
                        <a:spcBef>
                          <a:spcPts val="0"/>
                        </a:spcBef>
                        <a:spcAft>
                          <a:spcPts val="0"/>
                        </a:spcAft>
                        <a:buNone/>
                      </a:pPr>
                      <a:r>
                        <a:rPr lang="en-US" sz="1300" u="none" strike="noStrike" cap="none" dirty="0">
                          <a:latin typeface="Consolas"/>
                          <a:ea typeface="Consolas"/>
                          <a:cs typeface="Consolas"/>
                          <a:sym typeface="Consolas"/>
                        </a:rPr>
                        <a:t>	int </a:t>
                      </a:r>
                      <a:r>
                        <a:rPr lang="en-US" sz="1300" u="none" strike="noStrike" cap="none" dirty="0" err="1">
                          <a:latin typeface="Consolas"/>
                          <a:ea typeface="Consolas"/>
                          <a:cs typeface="Consolas"/>
                          <a:sym typeface="Consolas"/>
                        </a:rPr>
                        <a:t>max_sum</a:t>
                      </a:r>
                      <a:r>
                        <a:rPr lang="en-US" sz="1300" u="none" strike="noStrike" cap="none" dirty="0">
                          <a:latin typeface="Consolas"/>
                          <a:ea typeface="Consolas"/>
                          <a:cs typeface="Consolas"/>
                          <a:sym typeface="Consolas"/>
                        </a:rPr>
                        <a:t> = </a:t>
                      </a:r>
                      <a:r>
                        <a:rPr lang="en-US" sz="1300" u="none" strike="noStrike" cap="none" dirty="0" err="1">
                          <a:latin typeface="Consolas"/>
                          <a:ea typeface="Consolas"/>
                          <a:cs typeface="Consolas"/>
                          <a:sym typeface="Consolas"/>
                        </a:rPr>
                        <a:t>Integer.MIN_VALUE</a:t>
                      </a:r>
                      <a:r>
                        <a:rPr lang="en-US" sz="1300" u="none" strike="noStrike" cap="none" dirty="0">
                          <a:latin typeface="Consolas"/>
                          <a:ea typeface="Consolas"/>
                          <a:cs typeface="Consolas"/>
                          <a:sym typeface="Consolas"/>
                        </a:rPr>
                        <a:t>;</a:t>
                      </a:r>
                      <a:endParaRPr dirty="0">
                        <a:latin typeface="Consolas"/>
                        <a:ea typeface="Consolas"/>
                        <a:cs typeface="Consolas"/>
                        <a:sym typeface="Consolas"/>
                      </a:endParaRPr>
                    </a:p>
                    <a:p>
                      <a:pPr marL="0" marR="0" lvl="0" indent="0" algn="l" rtl="0">
                        <a:lnSpc>
                          <a:spcPct val="100000"/>
                        </a:lnSpc>
                        <a:spcBef>
                          <a:spcPts val="0"/>
                        </a:spcBef>
                        <a:spcAft>
                          <a:spcPts val="0"/>
                        </a:spcAft>
                        <a:buNone/>
                      </a:pPr>
                      <a:r>
                        <a:rPr lang="en-US" sz="1300" u="none" strike="noStrike" cap="none" dirty="0">
                          <a:latin typeface="Consolas"/>
                          <a:ea typeface="Consolas"/>
                          <a:cs typeface="Consolas"/>
                          <a:sym typeface="Consolas"/>
                        </a:rPr>
                        <a:t>	for (int </a:t>
                      </a:r>
                      <a:r>
                        <a:rPr lang="en-US" sz="1300" u="none" strike="noStrike" cap="none" dirty="0" err="1">
                          <a:latin typeface="Consolas"/>
                          <a:ea typeface="Consolas"/>
                          <a:cs typeface="Consolas"/>
                          <a:sym typeface="Consolas"/>
                        </a:rPr>
                        <a:t>i</a:t>
                      </a:r>
                      <a:r>
                        <a:rPr lang="en-US" sz="1300" u="none" strike="noStrike" cap="none" dirty="0">
                          <a:latin typeface="Consolas"/>
                          <a:ea typeface="Consolas"/>
                          <a:cs typeface="Consolas"/>
                          <a:sym typeface="Consolas"/>
                        </a:rPr>
                        <a:t> = 0; </a:t>
                      </a:r>
                      <a:r>
                        <a:rPr lang="en-US" sz="1300" u="none" strike="noStrike" cap="none" dirty="0" err="1">
                          <a:latin typeface="Consolas"/>
                          <a:ea typeface="Consolas"/>
                          <a:cs typeface="Consolas"/>
                          <a:sym typeface="Consolas"/>
                        </a:rPr>
                        <a:t>i</a:t>
                      </a:r>
                      <a:r>
                        <a:rPr lang="en-US" sz="1300" u="none" strike="noStrike" cap="none" dirty="0">
                          <a:latin typeface="Consolas"/>
                          <a:ea typeface="Consolas"/>
                          <a:cs typeface="Consolas"/>
                          <a:sym typeface="Consolas"/>
                        </a:rPr>
                        <a:t> &lt; row - 2; </a:t>
                      </a:r>
                      <a:r>
                        <a:rPr lang="en-US" sz="1300" u="none" strike="noStrike" cap="none" dirty="0" err="1">
                          <a:latin typeface="Consolas"/>
                          <a:ea typeface="Consolas"/>
                          <a:cs typeface="Consolas"/>
                          <a:sym typeface="Consolas"/>
                        </a:rPr>
                        <a:t>i</a:t>
                      </a:r>
                      <a:r>
                        <a:rPr lang="en-US" sz="1300" u="none" strike="noStrike" cap="none" dirty="0">
                          <a:latin typeface="Consolas"/>
                          <a:ea typeface="Consolas"/>
                          <a:cs typeface="Consolas"/>
                          <a:sym typeface="Consolas"/>
                        </a:rPr>
                        <a:t>++){</a:t>
                      </a:r>
                      <a:endParaRPr dirty="0">
                        <a:latin typeface="Consolas"/>
                        <a:ea typeface="Consolas"/>
                        <a:cs typeface="Consolas"/>
                        <a:sym typeface="Consolas"/>
                      </a:endParaRPr>
                    </a:p>
                    <a:p>
                      <a:pPr marL="0" marR="0" lvl="0" indent="0" algn="l" rtl="0">
                        <a:lnSpc>
                          <a:spcPct val="100000"/>
                        </a:lnSpc>
                        <a:spcBef>
                          <a:spcPts val="0"/>
                        </a:spcBef>
                        <a:spcAft>
                          <a:spcPts val="0"/>
                        </a:spcAft>
                        <a:buNone/>
                      </a:pPr>
                      <a:r>
                        <a:rPr lang="en-US" sz="1300" u="none" strike="noStrike" cap="none" dirty="0">
                          <a:latin typeface="Consolas"/>
                          <a:ea typeface="Consolas"/>
                          <a:cs typeface="Consolas"/>
                          <a:sym typeface="Consolas"/>
                        </a:rPr>
                        <a:t>	for (int j = 0; j &lt; col - 2; </a:t>
                      </a:r>
                      <a:r>
                        <a:rPr lang="en-US" sz="1300" u="none" strike="noStrike" cap="none" dirty="0" err="1">
                          <a:latin typeface="Consolas"/>
                          <a:ea typeface="Consolas"/>
                          <a:cs typeface="Consolas"/>
                          <a:sym typeface="Consolas"/>
                        </a:rPr>
                        <a:t>j++</a:t>
                      </a:r>
                      <a:r>
                        <a:rPr lang="en-US" sz="1300" u="none" strike="noStrike" cap="none" dirty="0">
                          <a:latin typeface="Consolas"/>
                          <a:ea typeface="Consolas"/>
                          <a:cs typeface="Consolas"/>
                          <a:sym typeface="Consolas"/>
                        </a:rPr>
                        <a:t>){</a:t>
                      </a:r>
                      <a:endParaRPr dirty="0">
                        <a:latin typeface="Consolas"/>
                        <a:ea typeface="Consolas"/>
                        <a:cs typeface="Consolas"/>
                        <a:sym typeface="Consolas"/>
                      </a:endParaRPr>
                    </a:p>
                    <a:p>
                      <a:pPr marL="0" marR="0" lvl="0" indent="0" algn="l" rtl="0">
                        <a:lnSpc>
                          <a:spcPct val="100000"/>
                        </a:lnSpc>
                        <a:spcBef>
                          <a:spcPts val="0"/>
                        </a:spcBef>
                        <a:spcAft>
                          <a:spcPts val="0"/>
                        </a:spcAft>
                        <a:buNone/>
                      </a:pPr>
                      <a:r>
                        <a:rPr lang="en-US" sz="1300" u="none" strike="noStrike" cap="none" dirty="0">
                          <a:latin typeface="Consolas"/>
                          <a:ea typeface="Consolas"/>
                          <a:cs typeface="Consolas"/>
                          <a:sym typeface="Consolas"/>
                        </a:rPr>
                        <a:t>           int sum = (mat[</a:t>
                      </a:r>
                      <a:r>
                        <a:rPr lang="en-US" sz="1300" u="none" strike="noStrike" cap="none" dirty="0" err="1">
                          <a:latin typeface="Consolas"/>
                          <a:ea typeface="Consolas"/>
                          <a:cs typeface="Consolas"/>
                          <a:sym typeface="Consolas"/>
                        </a:rPr>
                        <a:t>i</a:t>
                      </a:r>
                      <a:r>
                        <a:rPr lang="en-US" sz="1300" u="none" strike="noStrike" cap="none" dirty="0">
                          <a:latin typeface="Consolas"/>
                          <a:ea typeface="Consolas"/>
                          <a:cs typeface="Consolas"/>
                          <a:sym typeface="Consolas"/>
                        </a:rPr>
                        <a:t>][j] + mat[</a:t>
                      </a:r>
                      <a:r>
                        <a:rPr lang="en-US" sz="1300" u="none" strike="noStrike" cap="none" dirty="0" err="1">
                          <a:latin typeface="Consolas"/>
                          <a:ea typeface="Consolas"/>
                          <a:cs typeface="Consolas"/>
                          <a:sym typeface="Consolas"/>
                        </a:rPr>
                        <a:t>i</a:t>
                      </a:r>
                      <a:r>
                        <a:rPr lang="en-US" sz="1300" u="none" strike="noStrike" cap="none" dirty="0">
                          <a:latin typeface="Consolas"/>
                          <a:ea typeface="Consolas"/>
                          <a:cs typeface="Consolas"/>
                          <a:sym typeface="Consolas"/>
                        </a:rPr>
                        <a:t>][j + 1] +</a:t>
                      </a:r>
                      <a:endParaRPr dirty="0">
                        <a:latin typeface="Consolas"/>
                        <a:ea typeface="Consolas"/>
                        <a:cs typeface="Consolas"/>
                        <a:sym typeface="Consolas"/>
                      </a:endParaRPr>
                    </a:p>
                    <a:p>
                      <a:pPr marL="0" marR="0" lvl="0" indent="0" algn="l" rtl="0">
                        <a:lnSpc>
                          <a:spcPct val="100000"/>
                        </a:lnSpc>
                        <a:spcBef>
                          <a:spcPts val="0"/>
                        </a:spcBef>
                        <a:spcAft>
                          <a:spcPts val="0"/>
                        </a:spcAft>
                        <a:buNone/>
                      </a:pPr>
                      <a:r>
                        <a:rPr lang="en-US" sz="1300" u="none" strike="noStrike" cap="none" dirty="0">
                          <a:latin typeface="Consolas"/>
                          <a:ea typeface="Consolas"/>
                          <a:cs typeface="Consolas"/>
                          <a:sym typeface="Consolas"/>
                        </a:rPr>
                        <a:t>	mat[</a:t>
                      </a:r>
                      <a:r>
                        <a:rPr lang="en-US" sz="1300" u="none" strike="noStrike" cap="none" dirty="0" err="1">
                          <a:latin typeface="Consolas"/>
                          <a:ea typeface="Consolas"/>
                          <a:cs typeface="Consolas"/>
                          <a:sym typeface="Consolas"/>
                        </a:rPr>
                        <a:t>i</a:t>
                      </a:r>
                      <a:r>
                        <a:rPr lang="en-US" sz="1300" u="none" strike="noStrike" cap="none" dirty="0">
                          <a:latin typeface="Consolas"/>
                          <a:ea typeface="Consolas"/>
                          <a:cs typeface="Consolas"/>
                          <a:sym typeface="Consolas"/>
                        </a:rPr>
                        <a:t>][j + 2]) + (mat[</a:t>
                      </a:r>
                      <a:r>
                        <a:rPr lang="en-US" sz="1300" u="none" strike="noStrike" cap="none" dirty="0" err="1">
                          <a:latin typeface="Consolas"/>
                          <a:ea typeface="Consolas"/>
                          <a:cs typeface="Consolas"/>
                          <a:sym typeface="Consolas"/>
                        </a:rPr>
                        <a:t>i</a:t>
                      </a:r>
                      <a:r>
                        <a:rPr lang="en-US" sz="1300" u="none" strike="noStrike" cap="none" dirty="0">
                          <a:latin typeface="Consolas"/>
                          <a:ea typeface="Consolas"/>
                          <a:cs typeface="Consolas"/>
                          <a:sym typeface="Consolas"/>
                        </a:rPr>
                        <a:t> + 1][j + 1]) +</a:t>
                      </a:r>
                      <a:endParaRPr dirty="0">
                        <a:latin typeface="Consolas"/>
                        <a:ea typeface="Consolas"/>
                        <a:cs typeface="Consolas"/>
                        <a:sym typeface="Consolas"/>
                      </a:endParaRPr>
                    </a:p>
                    <a:p>
                      <a:pPr marL="0" marR="0" lvl="0" indent="0" algn="l" rtl="0">
                        <a:lnSpc>
                          <a:spcPct val="100000"/>
                        </a:lnSpc>
                        <a:spcBef>
                          <a:spcPts val="0"/>
                        </a:spcBef>
                        <a:spcAft>
                          <a:spcPts val="0"/>
                        </a:spcAft>
                        <a:buNone/>
                      </a:pPr>
                      <a:r>
                        <a:rPr lang="en-US" sz="1300" u="none" strike="noStrike" cap="none" dirty="0">
                          <a:latin typeface="Consolas"/>
                          <a:ea typeface="Consolas"/>
                          <a:cs typeface="Consolas"/>
                          <a:sym typeface="Consolas"/>
                        </a:rPr>
                        <a:t>           (mat[</a:t>
                      </a:r>
                      <a:r>
                        <a:rPr lang="en-US" sz="1300" u="none" strike="noStrike" cap="none" dirty="0" err="1">
                          <a:latin typeface="Consolas"/>
                          <a:ea typeface="Consolas"/>
                          <a:cs typeface="Consolas"/>
                          <a:sym typeface="Consolas"/>
                        </a:rPr>
                        <a:t>i</a:t>
                      </a:r>
                      <a:r>
                        <a:rPr lang="en-US" sz="1300" u="none" strike="noStrike" cap="none" dirty="0">
                          <a:latin typeface="Consolas"/>
                          <a:ea typeface="Consolas"/>
                          <a:cs typeface="Consolas"/>
                          <a:sym typeface="Consolas"/>
                        </a:rPr>
                        <a:t> + 2][j] + mat[</a:t>
                      </a:r>
                      <a:r>
                        <a:rPr lang="en-US" sz="1300" u="none" strike="noStrike" cap="none" dirty="0" err="1">
                          <a:latin typeface="Consolas"/>
                          <a:ea typeface="Consolas"/>
                          <a:cs typeface="Consolas"/>
                          <a:sym typeface="Consolas"/>
                        </a:rPr>
                        <a:t>i</a:t>
                      </a:r>
                      <a:r>
                        <a:rPr lang="en-US" sz="1300" u="none" strike="noStrike" cap="none" dirty="0">
                          <a:latin typeface="Consolas"/>
                          <a:ea typeface="Consolas"/>
                          <a:cs typeface="Consolas"/>
                          <a:sym typeface="Consolas"/>
                        </a:rPr>
                        <a:t> + 2][j + 1] +</a:t>
                      </a:r>
                      <a:endParaRPr dirty="0">
                        <a:latin typeface="Consolas"/>
                        <a:ea typeface="Consolas"/>
                        <a:cs typeface="Consolas"/>
                        <a:sym typeface="Consolas"/>
                      </a:endParaRPr>
                    </a:p>
                    <a:p>
                      <a:pPr marL="0" marR="0" lvl="0" indent="0" algn="l" rtl="0">
                        <a:lnSpc>
                          <a:spcPct val="100000"/>
                        </a:lnSpc>
                        <a:spcBef>
                          <a:spcPts val="0"/>
                        </a:spcBef>
                        <a:spcAft>
                          <a:spcPts val="0"/>
                        </a:spcAft>
                        <a:buNone/>
                      </a:pPr>
                      <a:r>
                        <a:rPr lang="en-US" sz="1300" u="none" strike="noStrike" cap="none" dirty="0">
                          <a:latin typeface="Consolas"/>
                          <a:ea typeface="Consolas"/>
                          <a:cs typeface="Consolas"/>
                          <a:sym typeface="Consolas"/>
                        </a:rPr>
                        <a:t>           mat[</a:t>
                      </a:r>
                      <a:r>
                        <a:rPr lang="en-US" sz="1300" u="none" strike="noStrike" cap="none" dirty="0" err="1">
                          <a:latin typeface="Consolas"/>
                          <a:ea typeface="Consolas"/>
                          <a:cs typeface="Consolas"/>
                          <a:sym typeface="Consolas"/>
                        </a:rPr>
                        <a:t>i</a:t>
                      </a:r>
                      <a:r>
                        <a:rPr lang="en-US" sz="1300" u="none" strike="noStrike" cap="none" dirty="0">
                          <a:latin typeface="Consolas"/>
                          <a:ea typeface="Consolas"/>
                          <a:cs typeface="Consolas"/>
                          <a:sym typeface="Consolas"/>
                        </a:rPr>
                        <a:t> + 2][j + 2]);</a:t>
                      </a:r>
                      <a:endParaRPr dirty="0">
                        <a:latin typeface="Consolas"/>
                        <a:ea typeface="Consolas"/>
                        <a:cs typeface="Consolas"/>
                        <a:sym typeface="Consolas"/>
                      </a:endParaRPr>
                    </a:p>
                    <a:p>
                      <a:pPr marL="0" marR="0" lvl="0" indent="0" algn="l" rtl="0">
                        <a:lnSpc>
                          <a:spcPct val="100000"/>
                        </a:lnSpc>
                        <a:spcBef>
                          <a:spcPts val="0"/>
                        </a:spcBef>
                        <a:spcAft>
                          <a:spcPts val="0"/>
                        </a:spcAft>
                        <a:buNone/>
                      </a:pPr>
                      <a:r>
                        <a:rPr lang="en-US" sz="1300" u="none" strike="noStrike" cap="none" dirty="0">
                          <a:latin typeface="Consolas"/>
                          <a:ea typeface="Consolas"/>
                          <a:cs typeface="Consolas"/>
                          <a:sym typeface="Consolas"/>
                        </a:rPr>
                        <a:t>           </a:t>
                      </a:r>
                      <a:r>
                        <a:rPr lang="en-US" sz="1300" u="none" strike="noStrike" cap="none" dirty="0" err="1">
                          <a:latin typeface="Consolas"/>
                          <a:ea typeface="Consolas"/>
                          <a:cs typeface="Consolas"/>
                          <a:sym typeface="Consolas"/>
                        </a:rPr>
                        <a:t>max_sum</a:t>
                      </a:r>
                      <a:r>
                        <a:rPr lang="en-US" sz="1300" u="none" strike="noStrike" cap="none" dirty="0">
                          <a:latin typeface="Consolas"/>
                          <a:ea typeface="Consolas"/>
                          <a:cs typeface="Consolas"/>
                          <a:sym typeface="Consolas"/>
                        </a:rPr>
                        <a:t> = </a:t>
                      </a:r>
                      <a:r>
                        <a:rPr lang="en-US" sz="1300" u="none" strike="noStrike" cap="none" dirty="0" err="1">
                          <a:latin typeface="Consolas"/>
                          <a:ea typeface="Consolas"/>
                          <a:cs typeface="Consolas"/>
                          <a:sym typeface="Consolas"/>
                        </a:rPr>
                        <a:t>Math.max</a:t>
                      </a:r>
                      <a:r>
                        <a:rPr lang="en-US" sz="1300" u="none" strike="noStrike" cap="none" dirty="0">
                          <a:latin typeface="Consolas"/>
                          <a:ea typeface="Consolas"/>
                          <a:cs typeface="Consolas"/>
                          <a:sym typeface="Consolas"/>
                        </a:rPr>
                        <a:t>(</a:t>
                      </a:r>
                      <a:r>
                        <a:rPr lang="en-US" sz="1300" u="none" strike="noStrike" cap="none" dirty="0" err="1">
                          <a:latin typeface="Consolas"/>
                          <a:ea typeface="Consolas"/>
                          <a:cs typeface="Consolas"/>
                          <a:sym typeface="Consolas"/>
                        </a:rPr>
                        <a:t>max_sum</a:t>
                      </a:r>
                      <a:r>
                        <a:rPr lang="en-US" sz="1300" u="none" strike="noStrike" cap="none" dirty="0">
                          <a:latin typeface="Consolas"/>
                          <a:ea typeface="Consolas"/>
                          <a:cs typeface="Consolas"/>
                          <a:sym typeface="Consolas"/>
                        </a:rPr>
                        <a:t>, sum);</a:t>
                      </a:r>
                      <a:endParaRPr dirty="0">
                        <a:latin typeface="Consolas"/>
                        <a:ea typeface="Consolas"/>
                        <a:cs typeface="Consolas"/>
                        <a:sym typeface="Consolas"/>
                      </a:endParaRPr>
                    </a:p>
                    <a:p>
                      <a:pPr marL="0" marR="0" lvl="0" indent="0" algn="l" rtl="0">
                        <a:lnSpc>
                          <a:spcPct val="100000"/>
                        </a:lnSpc>
                        <a:spcBef>
                          <a:spcPts val="0"/>
                        </a:spcBef>
                        <a:spcAft>
                          <a:spcPts val="0"/>
                        </a:spcAft>
                        <a:buNone/>
                      </a:pPr>
                      <a:r>
                        <a:rPr lang="en-US" sz="1300" u="none" strike="noStrike" cap="none" dirty="0">
                          <a:latin typeface="Consolas"/>
                          <a:ea typeface="Consolas"/>
                          <a:cs typeface="Consolas"/>
                          <a:sym typeface="Consolas"/>
                        </a:rPr>
                        <a:t>	}}</a:t>
                      </a:r>
                      <a:endParaRPr dirty="0">
                        <a:latin typeface="Consolas"/>
                        <a:ea typeface="Consolas"/>
                        <a:cs typeface="Consolas"/>
                        <a:sym typeface="Consolas"/>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300" u="none" strike="noStrike" cap="none" dirty="0">
                          <a:latin typeface="Consolas"/>
                          <a:ea typeface="Consolas"/>
                          <a:cs typeface="Consolas"/>
                          <a:sym typeface="Consolas"/>
                        </a:rPr>
                        <a:t>return </a:t>
                      </a:r>
                      <a:r>
                        <a:rPr lang="en-US" sz="1300" u="none" strike="noStrike" cap="none" dirty="0" err="1">
                          <a:latin typeface="Consolas"/>
                          <a:ea typeface="Consolas"/>
                          <a:cs typeface="Consolas"/>
                          <a:sym typeface="Consolas"/>
                        </a:rPr>
                        <a:t>max_sum</a:t>
                      </a:r>
                      <a:r>
                        <a:rPr lang="en-US" sz="1300" u="none" strike="noStrike" cap="none" dirty="0">
                          <a:latin typeface="Consolas"/>
                          <a:ea typeface="Consolas"/>
                          <a:cs typeface="Consolas"/>
                          <a:sym typeface="Consolas"/>
                        </a:rPr>
                        <a:t>;</a:t>
                      </a:r>
                      <a:endParaRPr dirty="0"/>
                    </a:p>
                    <a:p>
                      <a:pPr marL="0" marR="0" lvl="0" indent="0" algn="l" rtl="0">
                        <a:lnSpc>
                          <a:spcPct val="100000"/>
                        </a:lnSpc>
                        <a:spcBef>
                          <a:spcPts val="0"/>
                        </a:spcBef>
                        <a:spcAft>
                          <a:spcPts val="0"/>
                        </a:spcAft>
                        <a:buNone/>
                      </a:pPr>
                      <a:r>
                        <a:rPr lang="en-US" sz="1300" u="none" strike="noStrike" cap="none" dirty="0">
                          <a:latin typeface="Consolas"/>
                          <a:ea typeface="Consolas"/>
                          <a:cs typeface="Consolas"/>
                          <a:sym typeface="Consolas"/>
                        </a:rPr>
                        <a:t>}</a:t>
                      </a:r>
                      <a:endParaRPr dirty="0"/>
                    </a:p>
                    <a:p>
                      <a:pPr marL="0" marR="0" lvl="0" indent="0" algn="l" rtl="0">
                        <a:lnSpc>
                          <a:spcPct val="100000"/>
                        </a:lnSpc>
                        <a:spcBef>
                          <a:spcPts val="0"/>
                        </a:spcBef>
                        <a:spcAft>
                          <a:spcPts val="0"/>
                        </a:spcAft>
                        <a:buNone/>
                      </a:pPr>
                      <a:r>
                        <a:rPr lang="en-US" sz="1300" u="none" strike="noStrike" cap="none" dirty="0">
                          <a:latin typeface="Consolas"/>
                          <a:ea typeface="Consolas"/>
                          <a:cs typeface="Consolas"/>
                          <a:sym typeface="Consolas"/>
                        </a:rPr>
                        <a:t>static public void main (String[] </a:t>
                      </a:r>
                      <a:r>
                        <a:rPr lang="en-US" sz="1300" u="none" strike="noStrike" cap="none" dirty="0" err="1">
                          <a:latin typeface="Consolas"/>
                          <a:ea typeface="Consolas"/>
                          <a:cs typeface="Consolas"/>
                          <a:sym typeface="Consolas"/>
                        </a:rPr>
                        <a:t>args</a:t>
                      </a:r>
                      <a:r>
                        <a:rPr lang="en-US" sz="1300" u="none" strike="noStrike" cap="none" dirty="0">
                          <a:latin typeface="Consolas"/>
                          <a:ea typeface="Consolas"/>
                          <a:cs typeface="Consolas"/>
                          <a:sym typeface="Consolas"/>
                        </a:rPr>
                        <a:t>)</a:t>
                      </a:r>
                      <a:endParaRPr dirty="0"/>
                    </a:p>
                    <a:p>
                      <a:pPr marL="0" marR="0" lvl="0" indent="0" algn="l" rtl="0">
                        <a:lnSpc>
                          <a:spcPct val="100000"/>
                        </a:lnSpc>
                        <a:spcBef>
                          <a:spcPts val="0"/>
                        </a:spcBef>
                        <a:spcAft>
                          <a:spcPts val="0"/>
                        </a:spcAft>
                        <a:buNone/>
                      </a:pPr>
                      <a:r>
                        <a:rPr lang="en-US" sz="1300" u="none" strike="noStrike" cap="none" dirty="0">
                          <a:latin typeface="Consolas"/>
                          <a:ea typeface="Consolas"/>
                          <a:cs typeface="Consolas"/>
                          <a:sym typeface="Consolas"/>
                        </a:rPr>
                        <a:t>	{</a:t>
                      </a:r>
                      <a:endParaRPr dirty="0"/>
                    </a:p>
                    <a:p>
                      <a:pPr marL="0" marR="0" lvl="0" indent="0" algn="l" rtl="0">
                        <a:lnSpc>
                          <a:spcPct val="100000"/>
                        </a:lnSpc>
                        <a:spcBef>
                          <a:spcPts val="0"/>
                        </a:spcBef>
                        <a:spcAft>
                          <a:spcPts val="0"/>
                        </a:spcAft>
                        <a:buNone/>
                      </a:pPr>
                      <a:r>
                        <a:rPr lang="en-US" sz="1300" u="none" strike="noStrike" cap="none" dirty="0">
                          <a:latin typeface="Consolas"/>
                          <a:ea typeface="Consolas"/>
                          <a:cs typeface="Consolas"/>
                          <a:sym typeface="Consolas"/>
                        </a:rPr>
                        <a:t>	int [][]mat = </a:t>
                      </a:r>
                      <a:endParaRPr dirty="0"/>
                    </a:p>
                    <a:p>
                      <a:pPr marL="0" marR="0" lvl="0" indent="0" algn="l" rtl="0">
                        <a:lnSpc>
                          <a:spcPct val="100000"/>
                        </a:lnSpc>
                        <a:spcBef>
                          <a:spcPts val="0"/>
                        </a:spcBef>
                        <a:spcAft>
                          <a:spcPts val="0"/>
                        </a:spcAft>
                        <a:buNone/>
                      </a:pPr>
                      <a:r>
                        <a:rPr lang="en-US" sz="1300" u="none" strike="noStrike" cap="none" dirty="0">
                          <a:latin typeface="Consolas"/>
                          <a:ea typeface="Consolas"/>
                          <a:cs typeface="Consolas"/>
                          <a:sym typeface="Consolas"/>
                        </a:rPr>
                        <a:t>           {{1, 2, 3, 0, 0},</a:t>
                      </a:r>
                      <a:endParaRPr dirty="0"/>
                    </a:p>
                    <a:p>
                      <a:pPr marL="0" marR="0" lvl="0" indent="0" algn="l" rtl="0">
                        <a:lnSpc>
                          <a:spcPct val="100000"/>
                        </a:lnSpc>
                        <a:spcBef>
                          <a:spcPts val="0"/>
                        </a:spcBef>
                        <a:spcAft>
                          <a:spcPts val="0"/>
                        </a:spcAft>
                        <a:buNone/>
                      </a:pPr>
                      <a:r>
                        <a:rPr lang="en-US" sz="1300" u="none" strike="noStrike" cap="none" dirty="0">
                          <a:latin typeface="Consolas"/>
                          <a:ea typeface="Consolas"/>
                          <a:cs typeface="Consolas"/>
                          <a:sym typeface="Consolas"/>
                        </a:rPr>
                        <a:t>		</a:t>
                      </a:r>
                      <a:r>
                        <a:rPr lang="en-US" sz="1300" dirty="0">
                          <a:latin typeface="Consolas"/>
                          <a:ea typeface="Consolas"/>
                          <a:cs typeface="Consolas"/>
                          <a:sym typeface="Consolas"/>
                        </a:rPr>
                        <a:t>  </a:t>
                      </a:r>
                      <a:r>
                        <a:rPr lang="en-US" sz="1300" u="none" strike="noStrike" cap="none" dirty="0">
                          <a:latin typeface="Consolas"/>
                          <a:ea typeface="Consolas"/>
                          <a:cs typeface="Consolas"/>
                          <a:sym typeface="Consolas"/>
                        </a:rPr>
                        <a:t>{0, 0, 0, 0, 0},</a:t>
                      </a:r>
                      <a:endParaRPr dirty="0"/>
                    </a:p>
                    <a:p>
                      <a:pPr marL="0" marR="0" lvl="0" indent="0" algn="l" rtl="0">
                        <a:lnSpc>
                          <a:spcPct val="100000"/>
                        </a:lnSpc>
                        <a:spcBef>
                          <a:spcPts val="0"/>
                        </a:spcBef>
                        <a:spcAft>
                          <a:spcPts val="0"/>
                        </a:spcAft>
                        <a:buNone/>
                      </a:pPr>
                      <a:r>
                        <a:rPr lang="en-US" sz="1300" u="none" strike="noStrike" cap="none" dirty="0">
                          <a:latin typeface="Consolas"/>
                          <a:ea typeface="Consolas"/>
                          <a:cs typeface="Consolas"/>
                          <a:sym typeface="Consolas"/>
                        </a:rPr>
                        <a:t>		</a:t>
                      </a:r>
                      <a:r>
                        <a:rPr lang="en-US" sz="1300" dirty="0">
                          <a:latin typeface="Consolas"/>
                          <a:ea typeface="Consolas"/>
                          <a:cs typeface="Consolas"/>
                          <a:sym typeface="Consolas"/>
                        </a:rPr>
                        <a:t>  </a:t>
                      </a:r>
                      <a:r>
                        <a:rPr lang="en-US" sz="1300" u="none" strike="noStrike" cap="none" dirty="0">
                          <a:latin typeface="Consolas"/>
                          <a:ea typeface="Consolas"/>
                          <a:cs typeface="Consolas"/>
                          <a:sym typeface="Consolas"/>
                        </a:rPr>
                        <a:t>{2, 1, 4, 0, 0},</a:t>
                      </a:r>
                      <a:endParaRPr dirty="0"/>
                    </a:p>
                    <a:p>
                      <a:pPr marL="0" marR="0" lvl="0" indent="0" algn="l" rtl="0">
                        <a:lnSpc>
                          <a:spcPct val="100000"/>
                        </a:lnSpc>
                        <a:spcBef>
                          <a:spcPts val="0"/>
                        </a:spcBef>
                        <a:spcAft>
                          <a:spcPts val="0"/>
                        </a:spcAft>
                        <a:buNone/>
                      </a:pPr>
                      <a:r>
                        <a:rPr lang="en-US" sz="1300" u="none" strike="noStrike" cap="none" dirty="0">
                          <a:latin typeface="Consolas"/>
                          <a:ea typeface="Consolas"/>
                          <a:cs typeface="Consolas"/>
                          <a:sym typeface="Consolas"/>
                        </a:rPr>
                        <a:t>		</a:t>
                      </a:r>
                      <a:r>
                        <a:rPr lang="en-US" sz="1300" dirty="0">
                          <a:latin typeface="Consolas"/>
                          <a:ea typeface="Consolas"/>
                          <a:cs typeface="Consolas"/>
                          <a:sym typeface="Consolas"/>
                        </a:rPr>
                        <a:t>  </a:t>
                      </a:r>
                      <a:r>
                        <a:rPr lang="en-US" sz="1300" u="none" strike="noStrike" cap="none" dirty="0">
                          <a:latin typeface="Consolas"/>
                          <a:ea typeface="Consolas"/>
                          <a:cs typeface="Consolas"/>
                          <a:sym typeface="Consolas"/>
                        </a:rPr>
                        <a:t>{0, 0, 0, 0, 0},</a:t>
                      </a:r>
                      <a:endParaRPr dirty="0"/>
                    </a:p>
                    <a:p>
                      <a:pPr marL="0" marR="0" lvl="0" indent="0" algn="l" rtl="0">
                        <a:lnSpc>
                          <a:spcPct val="100000"/>
                        </a:lnSpc>
                        <a:spcBef>
                          <a:spcPts val="0"/>
                        </a:spcBef>
                        <a:spcAft>
                          <a:spcPts val="0"/>
                        </a:spcAft>
                        <a:buNone/>
                      </a:pPr>
                      <a:r>
                        <a:rPr lang="en-US" sz="1300" u="none" strike="noStrike" cap="none" dirty="0">
                          <a:latin typeface="Consolas"/>
                          <a:ea typeface="Consolas"/>
                          <a:cs typeface="Consolas"/>
                          <a:sym typeface="Consolas"/>
                        </a:rPr>
                        <a:t>		</a:t>
                      </a:r>
                      <a:r>
                        <a:rPr lang="en-US" sz="1300" dirty="0">
                          <a:latin typeface="Consolas"/>
                          <a:ea typeface="Consolas"/>
                          <a:cs typeface="Consolas"/>
                          <a:sym typeface="Consolas"/>
                        </a:rPr>
                        <a:t>  </a:t>
                      </a:r>
                      <a:r>
                        <a:rPr lang="en-US" sz="1300" u="none" strike="noStrike" cap="none" dirty="0">
                          <a:latin typeface="Consolas"/>
                          <a:ea typeface="Consolas"/>
                          <a:cs typeface="Consolas"/>
                          <a:sym typeface="Consolas"/>
                        </a:rPr>
                        <a:t>{1, 1, 0, 1, 0}};</a:t>
                      </a:r>
                      <a:endParaRPr dirty="0"/>
                    </a:p>
                    <a:p>
                      <a:pPr marL="0" marR="0" lvl="0" indent="0" algn="l" rtl="0">
                        <a:lnSpc>
                          <a:spcPct val="100000"/>
                        </a:lnSpc>
                        <a:spcBef>
                          <a:spcPts val="0"/>
                        </a:spcBef>
                        <a:spcAft>
                          <a:spcPts val="0"/>
                        </a:spcAft>
                        <a:buNone/>
                      </a:pPr>
                      <a:r>
                        <a:rPr lang="en-US" sz="1300" u="none" strike="noStrike" cap="none" dirty="0">
                          <a:latin typeface="Consolas"/>
                          <a:ea typeface="Consolas"/>
                          <a:cs typeface="Consolas"/>
                          <a:sym typeface="Consolas"/>
                        </a:rPr>
                        <a:t>	int res = </a:t>
                      </a:r>
                      <a:r>
                        <a:rPr lang="en-US" sz="1300" u="none" strike="noStrike" cap="none" dirty="0" err="1">
                          <a:latin typeface="Consolas"/>
                          <a:ea typeface="Consolas"/>
                          <a:cs typeface="Consolas"/>
                          <a:sym typeface="Consolas"/>
                        </a:rPr>
                        <a:t>findMaxSum</a:t>
                      </a:r>
                      <a:r>
                        <a:rPr lang="en-US" sz="1300" u="none" strike="noStrike" cap="none" dirty="0">
                          <a:latin typeface="Consolas"/>
                          <a:ea typeface="Consolas"/>
                          <a:cs typeface="Consolas"/>
                          <a:sym typeface="Consolas"/>
                        </a:rPr>
                        <a:t>(mat);</a:t>
                      </a:r>
                      <a:endParaRPr dirty="0"/>
                    </a:p>
                    <a:p>
                      <a:pPr marL="0" marR="0" lvl="0" indent="0" algn="l" rtl="0">
                        <a:lnSpc>
                          <a:spcPct val="100000"/>
                        </a:lnSpc>
                        <a:spcBef>
                          <a:spcPts val="0"/>
                        </a:spcBef>
                        <a:spcAft>
                          <a:spcPts val="0"/>
                        </a:spcAft>
                        <a:buNone/>
                      </a:pPr>
                      <a:r>
                        <a:rPr lang="en-US" sz="1300" u="none" strike="noStrike" cap="none" dirty="0">
                          <a:latin typeface="Consolas"/>
                          <a:ea typeface="Consolas"/>
                          <a:cs typeface="Consolas"/>
                          <a:sym typeface="Consolas"/>
                        </a:rPr>
                        <a:t>	</a:t>
                      </a:r>
                      <a:r>
                        <a:rPr lang="en-US" sz="1300" u="none" strike="noStrike" cap="none" dirty="0" err="1">
                          <a:latin typeface="Consolas"/>
                          <a:ea typeface="Consolas"/>
                          <a:cs typeface="Consolas"/>
                          <a:sym typeface="Consolas"/>
                        </a:rPr>
                        <a:t>System.out.println</a:t>
                      </a:r>
                      <a:r>
                        <a:rPr lang="en-US" sz="1300" u="none" strike="noStrike" cap="none" dirty="0">
                          <a:latin typeface="Consolas"/>
                          <a:ea typeface="Consolas"/>
                          <a:cs typeface="Consolas"/>
                          <a:sym typeface="Consolas"/>
                        </a:rPr>
                        <a:t>("Maximum sum of hour glass = "+ res);</a:t>
                      </a:r>
                      <a:endParaRPr dirty="0"/>
                    </a:p>
                    <a:p>
                      <a:pPr marL="0" marR="0" lvl="0" indent="0" algn="l" rtl="0">
                        <a:lnSpc>
                          <a:spcPct val="100000"/>
                        </a:lnSpc>
                        <a:spcBef>
                          <a:spcPts val="0"/>
                        </a:spcBef>
                        <a:spcAft>
                          <a:spcPts val="0"/>
                        </a:spcAft>
                        <a:buNone/>
                      </a:pPr>
                      <a:r>
                        <a:rPr lang="en-US" sz="1300" u="none" strike="noStrike" cap="none" dirty="0">
                          <a:latin typeface="Consolas"/>
                          <a:ea typeface="Consolas"/>
                          <a:cs typeface="Consolas"/>
                          <a:sym typeface="Consolas"/>
                        </a:rPr>
                        <a:t>	}</a:t>
                      </a:r>
                      <a:endParaRPr dirty="0"/>
                    </a:p>
                    <a:p>
                      <a:pPr marL="0" marR="0" lvl="0" indent="0" algn="l" rtl="0">
                        <a:lnSpc>
                          <a:spcPct val="100000"/>
                        </a:lnSpc>
                        <a:spcBef>
                          <a:spcPts val="0"/>
                        </a:spcBef>
                        <a:spcAft>
                          <a:spcPts val="0"/>
                        </a:spcAft>
                        <a:buNone/>
                      </a:pPr>
                      <a:r>
                        <a:rPr lang="en-US" sz="1300" u="none" strike="noStrike" cap="none" dirty="0">
                          <a:latin typeface="Consolas"/>
                          <a:ea typeface="Consolas"/>
                          <a:cs typeface="Consolas"/>
                          <a:sym typeface="Consolas"/>
                        </a:rPr>
                        <a:t>}</a:t>
                      </a:r>
                      <a:endParaRPr dirty="0"/>
                    </a:p>
                    <a:p>
                      <a:pPr marL="0" marR="0" lvl="0" indent="0" algn="l" rtl="0">
                        <a:lnSpc>
                          <a:spcPct val="100000"/>
                        </a:lnSpc>
                        <a:spcBef>
                          <a:spcPts val="0"/>
                        </a:spcBef>
                        <a:spcAft>
                          <a:spcPts val="0"/>
                        </a:spcAft>
                        <a:buNone/>
                      </a:pPr>
                      <a:endParaRPr sz="1200" u="none" strike="noStrike" cap="none" dirty="0">
                        <a:latin typeface="Consolas"/>
                        <a:ea typeface="Consolas"/>
                        <a:cs typeface="Consolas"/>
                        <a:sym typeface="Consolas"/>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35"/>
          <p:cNvSpPr/>
          <p:nvPr/>
        </p:nvSpPr>
        <p:spPr>
          <a:xfrm>
            <a:off x="555120" y="915840"/>
            <a:ext cx="7544880" cy="82994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160" name="Google Shape;160;p35"/>
          <p:cNvSpPr txBox="1"/>
          <p:nvPr/>
        </p:nvSpPr>
        <p:spPr>
          <a:xfrm>
            <a:off x="914400" y="1267930"/>
            <a:ext cx="7996442" cy="273042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Time and space complexity </a:t>
            </a:r>
            <a:endParaRPr sz="1600" b="0"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onsolas"/>
              <a:ea typeface="Consolas"/>
              <a:cs typeface="Consolas"/>
              <a:sym typeface="Consolas"/>
            </a:endParaRPr>
          </a:p>
          <a:p>
            <a:pPr marL="0" marR="0" lvl="0" indent="0" algn="l" rtl="0">
              <a:lnSpc>
                <a:spcPct val="2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Time complexity: O(R*C) </a:t>
            </a:r>
            <a:endParaRPr sz="1600" b="0" i="0" u="none" strike="noStrike" cap="none">
              <a:solidFill>
                <a:schemeClr val="dk1"/>
              </a:solidFill>
              <a:latin typeface="Consolas"/>
              <a:ea typeface="Consolas"/>
              <a:cs typeface="Consolas"/>
              <a:sym typeface="Consolas"/>
            </a:endParaRPr>
          </a:p>
          <a:p>
            <a:pPr marL="0" marR="0" lvl="0" indent="0" algn="l" rtl="0">
              <a:lnSpc>
                <a:spcPct val="2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         where R is the number of Rows,C is the number of columns</a:t>
            </a:r>
            <a:endParaRPr sz="1600" b="0" i="0" u="none" strike="noStrike" cap="none">
              <a:solidFill>
                <a:schemeClr val="dk1"/>
              </a:solidFill>
              <a:latin typeface="Consolas"/>
              <a:ea typeface="Consolas"/>
              <a:cs typeface="Consolas"/>
              <a:sym typeface="Consolas"/>
            </a:endParaRPr>
          </a:p>
          <a:p>
            <a:pPr marL="0" marR="0" lvl="0" indent="0" algn="l" rtl="0">
              <a:lnSpc>
                <a:spcPct val="2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space complexity:  O(1)</a:t>
            </a:r>
            <a:endParaRPr sz="1600" b="0" i="0" u="none" strike="noStrike" cap="none">
              <a:solidFill>
                <a:schemeClr val="dk1"/>
              </a:solidFill>
              <a:latin typeface="Consolas"/>
              <a:ea typeface="Consolas"/>
              <a:cs typeface="Consolas"/>
              <a:sym typeface="Consolas"/>
            </a:endParaRPr>
          </a:p>
          <a:p>
            <a:pPr marL="0" marR="0" lvl="0" indent="0" algn="l" rtl="0">
              <a:lnSpc>
                <a:spcPct val="200000"/>
              </a:lnSpc>
              <a:spcBef>
                <a:spcPts val="0"/>
              </a:spcBef>
              <a:spcAft>
                <a:spcPts val="0"/>
              </a:spcAft>
              <a:buClr>
                <a:srgbClr val="000000"/>
              </a:buClr>
              <a:buSzPts val="1600"/>
              <a:buFont typeface="Arial"/>
              <a:buNone/>
            </a:pPr>
            <a:r>
              <a:rPr lang="en-US" sz="1600" b="0" i="0" u="none" strike="noStrike" cap="none">
                <a:solidFill>
                  <a:srgbClr val="000000"/>
                </a:solidFill>
                <a:latin typeface="Consolas"/>
                <a:ea typeface="Consolas"/>
                <a:cs typeface="Consolas"/>
                <a:sym typeface="Consolas"/>
              </a:rPr>
              <a:t>         No extra data structure is used for computation</a:t>
            </a:r>
            <a:endParaRPr sz="1600" b="0" i="0" u="none" strike="noStrike" cap="none">
              <a:solidFill>
                <a:schemeClr val="dk1"/>
              </a:solidFill>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8" name="Google Shape;168;g23f307fc558_0_8"/>
          <p:cNvSpPr/>
          <p:nvPr/>
        </p:nvSpPr>
        <p:spPr>
          <a:xfrm>
            <a:off x="1007602" y="793695"/>
            <a:ext cx="6333300" cy="440100"/>
          </a:xfrm>
          <a:prstGeom prst="rect">
            <a:avLst/>
          </a:prstGeom>
          <a:solidFill>
            <a:srgbClr val="FFFFFF"/>
          </a:solidFill>
          <a:ln>
            <a:noFill/>
          </a:ln>
        </p:spPr>
        <p:txBody>
          <a:bodyPr spcFirstLastPara="1" wrap="square" lIns="68575" tIns="34275" rIns="68575" bIns="34275" anchor="ctr" anchorCtr="0">
            <a:noAutofit/>
          </a:bodyPr>
          <a:lstStyle/>
          <a:p>
            <a:pPr marL="0" marR="0" lvl="0" indent="0" algn="l" rtl="0">
              <a:lnSpc>
                <a:spcPct val="150000"/>
              </a:lnSpc>
              <a:spcBef>
                <a:spcPts val="0"/>
              </a:spcBef>
              <a:spcAft>
                <a:spcPts val="0"/>
              </a:spcAft>
              <a:buClr>
                <a:srgbClr val="000000"/>
              </a:buClr>
              <a:buSzPts val="1800"/>
              <a:buFont typeface="Arial"/>
              <a:buNone/>
            </a:pPr>
            <a:endParaRPr sz="1800" b="0" i="0" u="none" strike="noStrike" cap="none">
              <a:solidFill>
                <a:srgbClr val="0C0C0C"/>
              </a:solidFill>
              <a:latin typeface="Consolas"/>
              <a:ea typeface="Consolas"/>
              <a:cs typeface="Consolas"/>
              <a:sym typeface="Consolas"/>
            </a:endParaRPr>
          </a:p>
        </p:txBody>
      </p:sp>
      <p:sp>
        <p:nvSpPr>
          <p:cNvPr id="169" name="Google Shape;169;g23f307fc558_0_8"/>
          <p:cNvSpPr txBox="1"/>
          <p:nvPr/>
        </p:nvSpPr>
        <p:spPr>
          <a:xfrm>
            <a:off x="622564" y="757068"/>
            <a:ext cx="8117100" cy="892512"/>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1500"/>
              </a:spcBef>
              <a:spcAft>
                <a:spcPts val="1500"/>
              </a:spcAft>
              <a:buNone/>
            </a:pPr>
            <a:r>
              <a:rPr lang="en-US" sz="1800" b="0" i="0" u="none" strike="noStrike" cap="none">
                <a:solidFill>
                  <a:srgbClr val="000000"/>
                </a:solidFill>
                <a:latin typeface="Consolas"/>
                <a:ea typeface="Consolas"/>
                <a:cs typeface="Consolas"/>
                <a:sym typeface="Consolas"/>
              </a:rPr>
              <a:t>What is an hourglass pattern in a 2D array?</a:t>
            </a:r>
            <a:endParaRPr/>
          </a:p>
        </p:txBody>
      </p:sp>
      <p:sp>
        <p:nvSpPr>
          <p:cNvPr id="170" name="Google Shape;170;g23f307fc558_0_8"/>
          <p:cNvSpPr txBox="1"/>
          <p:nvPr/>
        </p:nvSpPr>
        <p:spPr>
          <a:xfrm>
            <a:off x="1007602" y="1934288"/>
            <a:ext cx="7200900" cy="2508349"/>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None/>
            </a:pPr>
            <a:r>
              <a:rPr lang="en-US" sz="1800" b="0" i="0" u="none" strike="noStrike" cap="none">
                <a:solidFill>
                  <a:srgbClr val="000000"/>
                </a:solidFill>
                <a:latin typeface="Consolas"/>
                <a:ea typeface="Consolas"/>
                <a:cs typeface="Consolas"/>
                <a:sym typeface="Consolas"/>
              </a:rPr>
              <a:t>An hourglass pattern in a 2D array is a subset of values that form the shape of an hourglass. It consists of seven elements arranged in the following pattern:</a:t>
            </a:r>
            <a:endParaRPr/>
          </a:p>
          <a:p>
            <a:pPr marL="0" marR="0" lvl="0" indent="0" algn="ctr" rtl="0">
              <a:lnSpc>
                <a:spcPct val="100000"/>
              </a:lnSpc>
              <a:spcBef>
                <a:spcPts val="0"/>
              </a:spcBef>
              <a:spcAft>
                <a:spcPts val="0"/>
              </a:spcAft>
              <a:buNone/>
            </a:pPr>
            <a:r>
              <a:rPr lang="en-US" sz="1800" b="0" i="0" u="none" strike="noStrike" cap="none">
                <a:solidFill>
                  <a:srgbClr val="000000"/>
                </a:solidFill>
                <a:latin typeface="Consolas"/>
                <a:ea typeface="Consolas"/>
                <a:cs typeface="Consolas"/>
                <a:sym typeface="Consolas"/>
              </a:rPr>
              <a:t>a b c</a:t>
            </a:r>
            <a:endParaRPr/>
          </a:p>
          <a:p>
            <a:pPr marL="0" marR="0" lvl="0" indent="0" algn="ctr" rtl="0">
              <a:lnSpc>
                <a:spcPct val="100000"/>
              </a:lnSpc>
              <a:spcBef>
                <a:spcPts val="0"/>
              </a:spcBef>
              <a:spcAft>
                <a:spcPts val="0"/>
              </a:spcAft>
              <a:buNone/>
            </a:pPr>
            <a:r>
              <a:rPr lang="en-US" sz="1800" b="0" i="0" u="none" strike="noStrike" cap="none">
                <a:solidFill>
                  <a:srgbClr val="000000"/>
                </a:solidFill>
                <a:latin typeface="Consolas"/>
                <a:ea typeface="Consolas"/>
                <a:cs typeface="Consolas"/>
                <a:sym typeface="Consolas"/>
              </a:rPr>
              <a:t>d</a:t>
            </a:r>
            <a:endParaRPr/>
          </a:p>
          <a:p>
            <a:pPr marL="0" marR="0" lvl="0" indent="0" algn="ctr" rtl="0">
              <a:lnSpc>
                <a:spcPct val="100000"/>
              </a:lnSpc>
              <a:spcBef>
                <a:spcPts val="0"/>
              </a:spcBef>
              <a:spcAft>
                <a:spcPts val="0"/>
              </a:spcAft>
              <a:buNone/>
            </a:pPr>
            <a:r>
              <a:rPr lang="en-US" sz="1800" b="0" i="0" u="none" strike="noStrike" cap="none">
                <a:solidFill>
                  <a:srgbClr val="000000"/>
                </a:solidFill>
                <a:latin typeface="Consolas"/>
                <a:ea typeface="Consolas"/>
                <a:cs typeface="Consolas"/>
                <a:sym typeface="Consolas"/>
              </a:rPr>
              <a:t>e f g</a:t>
            </a:r>
            <a:endParaRPr/>
          </a:p>
          <a:p>
            <a:pPr marL="0" marR="0" lvl="0" indent="0" algn="l" rtl="0">
              <a:lnSpc>
                <a:spcPct val="100000"/>
              </a:lnSpc>
              <a:spcBef>
                <a:spcPts val="0"/>
              </a:spcBef>
              <a:spcAft>
                <a:spcPts val="0"/>
              </a:spcAft>
              <a:buNone/>
            </a:pPr>
            <a:endParaRPr sz="1600" b="0" i="0" u="none" strike="noStrike" cap="none">
              <a:solidFill>
                <a:srgbClr val="000000"/>
              </a:solidFill>
              <a:latin typeface="Arial"/>
              <a:ea typeface="Arial"/>
              <a:cs typeface="Arial"/>
              <a:sym typeface="Arial"/>
            </a:endParaRPr>
          </a:p>
        </p:txBody>
      </p:sp>
      <p:sp>
        <p:nvSpPr>
          <p:cNvPr id="2" name="Google Shape;220;g25ff1c1f48c_0_10">
            <a:extLst>
              <a:ext uri="{FF2B5EF4-FFF2-40B4-BE49-F238E27FC236}">
                <a16:creationId xmlns:a16="http://schemas.microsoft.com/office/drawing/2014/main" id="{5E02DA15-35A6-6B69-616B-361A260FDCA8}"/>
              </a:ext>
            </a:extLst>
          </p:cNvPr>
          <p:cNvSpPr txBox="1"/>
          <p:nvPr/>
        </p:nvSpPr>
        <p:spPr>
          <a:xfrm>
            <a:off x="404336" y="499788"/>
            <a:ext cx="4572000" cy="587813"/>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800" b="0" i="0" u="none" strike="noStrike" cap="none" dirty="0">
                <a:solidFill>
                  <a:srgbClr val="00B0F0"/>
                </a:solidFill>
                <a:latin typeface="Roboto" panose="02000000000000000000" pitchFamily="2" charset="0"/>
                <a:ea typeface="Roboto" panose="02000000000000000000" pitchFamily="2" charset="0"/>
                <a:cs typeface="Roboto" panose="02000000000000000000" pitchFamily="2" charset="0"/>
                <a:sym typeface="Roboto Black"/>
              </a:rPr>
              <a:t>Interview questions</a:t>
            </a:r>
            <a:endParaRPr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8" name="Google Shape;178;g23f307fc558_0_18"/>
          <p:cNvSpPr/>
          <p:nvPr/>
        </p:nvSpPr>
        <p:spPr>
          <a:xfrm>
            <a:off x="1007602" y="995377"/>
            <a:ext cx="6333300" cy="440100"/>
          </a:xfrm>
          <a:prstGeom prst="rect">
            <a:avLst/>
          </a:prstGeom>
          <a:solidFill>
            <a:srgbClr val="FFFFFF"/>
          </a:solidFill>
          <a:ln>
            <a:noFill/>
          </a:ln>
        </p:spPr>
        <p:txBody>
          <a:bodyPr spcFirstLastPara="1" wrap="square" lIns="68575" tIns="34275" rIns="68575" bIns="34275" anchor="ctr" anchorCtr="0">
            <a:noAutofit/>
          </a:bodyPr>
          <a:lstStyle/>
          <a:p>
            <a:pPr marL="0" marR="0" lvl="0" indent="0" algn="l" rtl="0">
              <a:lnSpc>
                <a:spcPct val="150000"/>
              </a:lnSpc>
              <a:spcBef>
                <a:spcPts val="0"/>
              </a:spcBef>
              <a:spcAft>
                <a:spcPts val="0"/>
              </a:spcAft>
              <a:buClr>
                <a:srgbClr val="000000"/>
              </a:buClr>
              <a:buSzPts val="1800"/>
              <a:buFont typeface="Arial"/>
              <a:buNone/>
            </a:pPr>
            <a:endParaRPr sz="1800" b="0" i="0" u="none" strike="noStrike" cap="none">
              <a:solidFill>
                <a:srgbClr val="0C0C0C"/>
              </a:solidFill>
              <a:latin typeface="Consolas"/>
              <a:ea typeface="Consolas"/>
              <a:cs typeface="Consolas"/>
              <a:sym typeface="Consolas"/>
            </a:endParaRPr>
          </a:p>
        </p:txBody>
      </p:sp>
      <p:sp>
        <p:nvSpPr>
          <p:cNvPr id="179" name="Google Shape;179;g23f307fc558_0_18"/>
          <p:cNvSpPr txBox="1"/>
          <p:nvPr/>
        </p:nvSpPr>
        <p:spPr>
          <a:xfrm>
            <a:off x="565070" y="1278615"/>
            <a:ext cx="8117100" cy="6462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a:solidFill>
                  <a:srgbClr val="000000"/>
                </a:solidFill>
                <a:latin typeface="Consolas"/>
                <a:ea typeface="Consolas"/>
                <a:cs typeface="Consolas"/>
                <a:sym typeface="Consolas"/>
              </a:rPr>
              <a:t>How do you find the maximum sum of an hourglass pattern in a 2D array?</a:t>
            </a:r>
            <a:endParaRPr/>
          </a:p>
        </p:txBody>
      </p:sp>
      <p:sp>
        <p:nvSpPr>
          <p:cNvPr id="180" name="Google Shape;180;g23f307fc558_0_18"/>
          <p:cNvSpPr txBox="1"/>
          <p:nvPr/>
        </p:nvSpPr>
        <p:spPr>
          <a:xfrm>
            <a:off x="1023170" y="2074177"/>
            <a:ext cx="7200900" cy="2262127"/>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None/>
            </a:pPr>
            <a:r>
              <a:rPr lang="en-US" sz="1800" b="0" i="0" u="none" strike="noStrike" cap="none">
                <a:solidFill>
                  <a:srgbClr val="000000"/>
                </a:solidFill>
                <a:latin typeface="Consolas"/>
                <a:ea typeface="Consolas"/>
                <a:cs typeface="Consolas"/>
                <a:sym typeface="Consolas"/>
              </a:rPr>
              <a:t>To find the maximum sum of an hourglass pattern, we iterate over the 2D array, considering each possible hourglass pattern. We calculate the sum of the elements in each hourglass and keep track of the maximum sum encountered.</a:t>
            </a:r>
            <a:endParaRPr/>
          </a:p>
        </p:txBody>
      </p:sp>
      <p:sp>
        <p:nvSpPr>
          <p:cNvPr id="2" name="Google Shape;220;g25ff1c1f48c_0_10">
            <a:extLst>
              <a:ext uri="{FF2B5EF4-FFF2-40B4-BE49-F238E27FC236}">
                <a16:creationId xmlns:a16="http://schemas.microsoft.com/office/drawing/2014/main" id="{FA605288-AB0B-20F9-F6BF-B3D6CFE36B16}"/>
              </a:ext>
            </a:extLst>
          </p:cNvPr>
          <p:cNvSpPr txBox="1"/>
          <p:nvPr/>
        </p:nvSpPr>
        <p:spPr>
          <a:xfrm>
            <a:off x="374708" y="723145"/>
            <a:ext cx="4572000" cy="587813"/>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800" b="0" i="0" u="none" strike="noStrike" cap="none" dirty="0">
                <a:solidFill>
                  <a:srgbClr val="00B0F0"/>
                </a:solidFill>
                <a:latin typeface="Roboto" panose="02000000000000000000" pitchFamily="2" charset="0"/>
                <a:ea typeface="Roboto" panose="02000000000000000000" pitchFamily="2" charset="0"/>
                <a:cs typeface="Roboto" panose="02000000000000000000" pitchFamily="2" charset="0"/>
                <a:sym typeface="Roboto Black"/>
              </a:rPr>
              <a:t>Interview questions</a:t>
            </a:r>
            <a:endParaRPr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8" name="Google Shape;188;g23f307fc558_0_30"/>
          <p:cNvSpPr/>
          <p:nvPr/>
        </p:nvSpPr>
        <p:spPr>
          <a:xfrm>
            <a:off x="1007602" y="790605"/>
            <a:ext cx="6333300" cy="440100"/>
          </a:xfrm>
          <a:prstGeom prst="rect">
            <a:avLst/>
          </a:prstGeom>
          <a:solidFill>
            <a:srgbClr val="FFFFFF"/>
          </a:solidFill>
          <a:ln>
            <a:noFill/>
          </a:ln>
        </p:spPr>
        <p:txBody>
          <a:bodyPr spcFirstLastPara="1" wrap="square" lIns="68575" tIns="34275" rIns="68575" bIns="34275" anchor="ctr" anchorCtr="0">
            <a:noAutofit/>
          </a:bodyPr>
          <a:lstStyle/>
          <a:p>
            <a:pPr marL="0" marR="0" lvl="0" indent="0" algn="l" rtl="0">
              <a:lnSpc>
                <a:spcPct val="150000"/>
              </a:lnSpc>
              <a:spcBef>
                <a:spcPts val="0"/>
              </a:spcBef>
              <a:spcAft>
                <a:spcPts val="0"/>
              </a:spcAft>
              <a:buClr>
                <a:srgbClr val="000000"/>
              </a:buClr>
              <a:buSzPts val="1800"/>
              <a:buFont typeface="Arial"/>
              <a:buNone/>
            </a:pPr>
            <a:endParaRPr sz="1800" b="0" i="0" u="none" strike="noStrike" cap="none">
              <a:solidFill>
                <a:srgbClr val="0C0C0C"/>
              </a:solidFill>
              <a:latin typeface="Consolas"/>
              <a:ea typeface="Consolas"/>
              <a:cs typeface="Consolas"/>
              <a:sym typeface="Consolas"/>
            </a:endParaRPr>
          </a:p>
        </p:txBody>
      </p:sp>
      <p:sp>
        <p:nvSpPr>
          <p:cNvPr id="189" name="Google Shape;189;g23f307fc558_0_30"/>
          <p:cNvSpPr txBox="1"/>
          <p:nvPr/>
        </p:nvSpPr>
        <p:spPr>
          <a:xfrm>
            <a:off x="549502" y="1260839"/>
            <a:ext cx="8117100" cy="92328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800" b="0" i="0" u="none" strike="noStrike" cap="none">
                <a:solidFill>
                  <a:srgbClr val="000000"/>
                </a:solidFill>
                <a:latin typeface="Consolas"/>
                <a:ea typeface="Consolas"/>
                <a:cs typeface="Consolas"/>
                <a:sym typeface="Consolas"/>
              </a:rPr>
              <a:t>How do you handle cases where the maximum sum of the hourglass pattern is negative?</a:t>
            </a:r>
            <a:endParaRPr/>
          </a:p>
        </p:txBody>
      </p:sp>
      <p:sp>
        <p:nvSpPr>
          <p:cNvPr id="190" name="Google Shape;190;g23f307fc558_0_30"/>
          <p:cNvSpPr txBox="1"/>
          <p:nvPr/>
        </p:nvSpPr>
        <p:spPr>
          <a:xfrm>
            <a:off x="1007602" y="2214262"/>
            <a:ext cx="7200900" cy="2262127"/>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None/>
            </a:pPr>
            <a:r>
              <a:rPr lang="en-US" sz="1800" b="0" i="0" u="none" strike="noStrike" cap="none">
                <a:solidFill>
                  <a:srgbClr val="000000"/>
                </a:solidFill>
                <a:latin typeface="Consolas"/>
                <a:ea typeface="Consolas"/>
                <a:cs typeface="Consolas"/>
                <a:sym typeface="Consolas"/>
              </a:rPr>
              <a:t>If the maximum sum is negative, it means that all hourglass patterns in the array have negative sums. In this case, we can conclude that the maximum sum of any hourglass pattern is 0.</a:t>
            </a:r>
            <a:endParaRPr/>
          </a:p>
          <a:p>
            <a:pPr marL="0" marR="0" lvl="0" indent="0" algn="l" rtl="0">
              <a:lnSpc>
                <a:spcPct val="150000"/>
              </a:lnSpc>
              <a:spcBef>
                <a:spcPts val="0"/>
              </a:spcBef>
              <a:spcAft>
                <a:spcPts val="0"/>
              </a:spcAft>
              <a:buNone/>
            </a:pPr>
            <a:endParaRPr sz="1800" b="0" i="0" u="none" strike="noStrike" cap="none">
              <a:solidFill>
                <a:srgbClr val="000000"/>
              </a:solidFill>
              <a:latin typeface="Consolas"/>
              <a:ea typeface="Consolas"/>
              <a:cs typeface="Consolas"/>
              <a:sym typeface="Consolas"/>
            </a:endParaRPr>
          </a:p>
        </p:txBody>
      </p:sp>
      <p:sp>
        <p:nvSpPr>
          <p:cNvPr id="2" name="Google Shape;220;g25ff1c1f48c_0_10">
            <a:extLst>
              <a:ext uri="{FF2B5EF4-FFF2-40B4-BE49-F238E27FC236}">
                <a16:creationId xmlns:a16="http://schemas.microsoft.com/office/drawing/2014/main" id="{FF505488-C491-6F51-1348-283E0EE5ADC5}"/>
              </a:ext>
            </a:extLst>
          </p:cNvPr>
          <p:cNvSpPr txBox="1"/>
          <p:nvPr/>
        </p:nvSpPr>
        <p:spPr>
          <a:xfrm>
            <a:off x="374708" y="723145"/>
            <a:ext cx="4572000" cy="587813"/>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800" b="0" i="0" u="none" strike="noStrike" cap="none" dirty="0">
                <a:solidFill>
                  <a:srgbClr val="00B0F0"/>
                </a:solidFill>
                <a:latin typeface="Roboto" panose="02000000000000000000" pitchFamily="2" charset="0"/>
                <a:ea typeface="Roboto" panose="02000000000000000000" pitchFamily="2" charset="0"/>
                <a:cs typeface="Roboto" panose="02000000000000000000" pitchFamily="2" charset="0"/>
                <a:sym typeface="Roboto Black"/>
              </a:rPr>
              <a:t>Interview questions</a:t>
            </a:r>
            <a:endParaRPr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200"/>
        <p:cNvGrpSpPr/>
        <p:nvPr/>
      </p:nvGrpSpPr>
      <p:grpSpPr>
        <a:xfrm>
          <a:off x="0" y="0"/>
          <a:ext cx="0" cy="0"/>
          <a:chOff x="0" y="0"/>
          <a:chExt cx="0" cy="0"/>
        </a:xfrm>
      </p:grpSpPr>
      <p:sp>
        <p:nvSpPr>
          <p:cNvPr id="5201" name="Google Shape;5201;p561"/>
          <p:cNvSpPr/>
          <p:nvPr/>
        </p:nvSpPr>
        <p:spPr>
          <a:xfrm>
            <a:off x="555120" y="915840"/>
            <a:ext cx="7544880" cy="830956"/>
          </a:xfrm>
          <a:prstGeom prst="rect">
            <a:avLst/>
          </a:prstGeom>
          <a:noFill/>
          <a:ln>
            <a:noFill/>
          </a:ln>
        </p:spPr>
        <p:txBody>
          <a:bodyPr spcFirstLastPara="1" wrap="square" lIns="91425" tIns="45700" rIns="91425" bIns="45700" anchor="t" anchorCtr="0">
            <a:spAutoFit/>
          </a:bodyPr>
          <a:lstStyle/>
          <a:p>
            <a:pPr>
              <a:buClr>
                <a:srgbClr val="000000"/>
              </a:buClr>
              <a:buSzPts val="1200"/>
            </a:pPr>
            <a:endParaRPr sz="1200" dirty="0">
              <a:latin typeface="Roboto" panose="02000000000000000000" pitchFamily="2" charset="0"/>
              <a:ea typeface="Roboto" panose="02000000000000000000" pitchFamily="2" charset="0"/>
              <a:cs typeface="Roboto" panose="02000000000000000000" pitchFamily="2" charset="0"/>
            </a:endParaRPr>
          </a:p>
          <a:p>
            <a:pPr>
              <a:buClr>
                <a:srgbClr val="000000"/>
              </a:buClr>
              <a:buSzPts val="1200"/>
            </a:pPr>
            <a:endParaRPr sz="1200" dirty="0">
              <a:latin typeface="Roboto" panose="02000000000000000000" pitchFamily="2" charset="0"/>
              <a:ea typeface="Roboto" panose="02000000000000000000" pitchFamily="2" charset="0"/>
              <a:cs typeface="Roboto" panose="02000000000000000000" pitchFamily="2" charset="0"/>
            </a:endParaRPr>
          </a:p>
          <a:p>
            <a:pPr>
              <a:buClr>
                <a:srgbClr val="000000"/>
              </a:buClr>
              <a:buSzPts val="1200"/>
            </a:pPr>
            <a:endParaRPr sz="1200" dirty="0">
              <a:latin typeface="Roboto" panose="02000000000000000000" pitchFamily="2" charset="0"/>
              <a:ea typeface="Roboto" panose="02000000000000000000" pitchFamily="2" charset="0"/>
              <a:cs typeface="Roboto" panose="02000000000000000000" pitchFamily="2" charset="0"/>
            </a:endParaRPr>
          </a:p>
          <a:p>
            <a:pPr>
              <a:buClr>
                <a:srgbClr val="000000"/>
              </a:buClr>
              <a:buSzPts val="1200"/>
            </a:pPr>
            <a:endParaRPr sz="1200" dirty="0">
              <a:latin typeface="Roboto" panose="02000000000000000000" pitchFamily="2" charset="0"/>
              <a:ea typeface="Roboto" panose="02000000000000000000" pitchFamily="2" charset="0"/>
              <a:cs typeface="Roboto" panose="02000000000000000000" pitchFamily="2" charset="0"/>
            </a:endParaRPr>
          </a:p>
        </p:txBody>
      </p:sp>
      <p:pic>
        <p:nvPicPr>
          <p:cNvPr id="76805" name="Google Shape;1420;p18">
            <a:extLst>
              <a:ext uri="{FF2B5EF4-FFF2-40B4-BE49-F238E27FC236}">
                <a16:creationId xmlns:a16="http://schemas.microsoft.com/office/drawing/2014/main" id="{EF29B0C4-6766-C518-F208-025B01250D64}"/>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9160" y="913210"/>
            <a:ext cx="2855119" cy="2888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6" name="Google Shape;1421;p18">
            <a:extLst>
              <a:ext uri="{FF2B5EF4-FFF2-40B4-BE49-F238E27FC236}">
                <a16:creationId xmlns:a16="http://schemas.microsoft.com/office/drawing/2014/main" id="{04A2AACF-A287-93F4-A91D-C8DE8603E40D}"/>
              </a:ext>
            </a:extLst>
          </p:cNvPr>
          <p:cNvSpPr>
            <a:spLocks noChangeArrowheads="1"/>
          </p:cNvSpPr>
          <p:nvPr/>
        </p:nvSpPr>
        <p:spPr bwMode="auto">
          <a:xfrm>
            <a:off x="1634729" y="4055269"/>
            <a:ext cx="5183981" cy="284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1625" tIns="82925" rIns="81625" bIns="82925" anchor="ctr"/>
          <a:lstStyle>
            <a:lvl1pPr>
              <a:lnSpc>
                <a:spcPct val="90000"/>
              </a:lnSpc>
              <a:spcBef>
                <a:spcPts val="1000"/>
              </a:spcBef>
              <a:buFont typeface="Arial" panose="020B0604020202020204" pitchFamily="34" charset="0"/>
              <a:buChar char="•"/>
              <a:defRPr sz="2800">
                <a:solidFill>
                  <a:schemeClr val="tx1"/>
                </a:solidFill>
                <a:latin typeface="Roboto" panose="02000000000000000000" pitchFamily="2" charset="0"/>
              </a:defRPr>
            </a:lvl1pPr>
            <a:lvl2pPr marL="742950" indent="-285750">
              <a:lnSpc>
                <a:spcPct val="90000"/>
              </a:lnSpc>
              <a:spcBef>
                <a:spcPts val="500"/>
              </a:spcBef>
              <a:buFont typeface="Arial" panose="020B0604020202020204" pitchFamily="34" charset="0"/>
              <a:buChar char="•"/>
              <a:defRPr sz="2400">
                <a:solidFill>
                  <a:schemeClr val="tx1"/>
                </a:solidFill>
                <a:latin typeface="Roboto" panose="02000000000000000000" pitchFamily="2" charset="0"/>
              </a:defRPr>
            </a:lvl2pPr>
            <a:lvl3pPr marL="1143000" indent="-228600">
              <a:lnSpc>
                <a:spcPct val="90000"/>
              </a:lnSpc>
              <a:spcBef>
                <a:spcPts val="500"/>
              </a:spcBef>
              <a:buFont typeface="Arial" panose="020B0604020202020204" pitchFamily="34" charset="0"/>
              <a:buChar char="•"/>
              <a:defRPr sz="2000">
                <a:solidFill>
                  <a:schemeClr val="tx1"/>
                </a:solidFill>
                <a:latin typeface="Roboto" panose="02000000000000000000" pitchFamily="2" charset="0"/>
              </a:defRPr>
            </a:lvl3pPr>
            <a:lvl4pPr marL="1600200" indent="-228600">
              <a:lnSpc>
                <a:spcPct val="90000"/>
              </a:lnSpc>
              <a:spcBef>
                <a:spcPts val="500"/>
              </a:spcBef>
              <a:buFont typeface="Arial" panose="020B0604020202020204" pitchFamily="34" charset="0"/>
              <a:buChar char="•"/>
              <a:defRPr>
                <a:solidFill>
                  <a:schemeClr val="tx1"/>
                </a:solidFill>
                <a:latin typeface="Roboto" panose="02000000000000000000" pitchFamily="2" charset="0"/>
              </a:defRPr>
            </a:lvl4pPr>
            <a:lvl5pPr marL="2057400" indent="-228600">
              <a:lnSpc>
                <a:spcPct val="90000"/>
              </a:lnSpc>
              <a:spcBef>
                <a:spcPts val="500"/>
              </a:spcBef>
              <a:buFont typeface="Arial" panose="020B0604020202020204" pitchFamily="34" charset="0"/>
              <a:buChar char="•"/>
              <a:defRPr>
                <a:solidFill>
                  <a:schemeClr val="tx1"/>
                </a:solidFill>
                <a:latin typeface="Roboto" panose="02000000000000000000" pitchFamily="2"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Roboto" panose="02000000000000000000" pitchFamily="2"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Roboto" panose="02000000000000000000" pitchFamily="2"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Roboto" panose="02000000000000000000" pitchFamily="2"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Roboto" panose="02000000000000000000" pitchFamily="2" charset="0"/>
              </a:defRPr>
            </a:lvl9pPr>
          </a:lstStyle>
          <a:p>
            <a:pPr algn="ctr" eaLnBrk="1" hangingPunct="1">
              <a:lnSpc>
                <a:spcPct val="100000"/>
              </a:lnSpc>
              <a:spcBef>
                <a:spcPct val="0"/>
              </a:spcBef>
              <a:buClr>
                <a:srgbClr val="000000"/>
              </a:buClr>
              <a:buSzPts val="1200"/>
              <a:buFontTx/>
              <a:buNone/>
            </a:pPr>
            <a:r>
              <a:rPr lang="en-US" altLang="en-US" sz="1200" dirty="0">
                <a:solidFill>
                  <a:srgbClr val="666666"/>
                </a:solidFill>
                <a:ea typeface="Roboto" panose="02000000000000000000" pitchFamily="2" charset="0"/>
                <a:cs typeface="Roboto" panose="02000000000000000000" pitchFamily="2" charset="0"/>
                <a:sym typeface="Roboto" panose="02000000000000000000" pitchFamily="2" charset="0"/>
                <a:hlinkClick r:id="rId4"/>
              </a:rPr>
              <a:t>https://learn.codemithra.com</a:t>
            </a:r>
            <a:endParaRPr lang="en-US" altLang="en-US" sz="1200" dirty="0">
              <a:solidFill>
                <a:srgbClr val="666666"/>
              </a:solidFill>
              <a:ea typeface="Roboto" panose="02000000000000000000" pitchFamily="2" charset="0"/>
              <a:cs typeface="Roboto" panose="02000000000000000000" pitchFamily="2" charset="0"/>
              <a:sym typeface="Roboto" panose="02000000000000000000" pitchFamily="2" charset="0"/>
            </a:endParaRPr>
          </a:p>
          <a:p>
            <a:pPr algn="ctr" eaLnBrk="1" hangingPunct="1">
              <a:lnSpc>
                <a:spcPct val="100000"/>
              </a:lnSpc>
              <a:spcBef>
                <a:spcPct val="0"/>
              </a:spcBef>
              <a:buClr>
                <a:srgbClr val="000000"/>
              </a:buClr>
              <a:buSzPts val="1200"/>
              <a:buFontTx/>
              <a:buNone/>
            </a:pPr>
            <a:endParaRPr lang="en-US" altLang="en-US" sz="1200" dirty="0">
              <a:solidFill>
                <a:srgbClr val="000000"/>
              </a:solidFill>
              <a:ea typeface="Roboto" panose="02000000000000000000" pitchFamily="2" charset="0"/>
              <a:cs typeface="Roboto" panose="02000000000000000000" pitchFamily="2" charset="0"/>
              <a:sym typeface="Arial" panose="020B0604020202020204" pitchFamily="34" charset="0"/>
            </a:endParaRPr>
          </a:p>
        </p:txBody>
      </p:sp>
    </p:spTree>
    <p:extLst>
      <p:ext uri="{BB962C8B-B14F-4D97-AF65-F5344CB8AC3E}">
        <p14:creationId xmlns:p14="http://schemas.microsoft.com/office/powerpoint/2010/main" val="41211899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9"/>
          <p:cNvSpPr txBox="1">
            <a:spLocks noGrp="1"/>
          </p:cNvSpPr>
          <p:nvPr>
            <p:ph type="ctrTitle"/>
          </p:nvPr>
        </p:nvSpPr>
        <p:spPr>
          <a:xfrm>
            <a:off x="311708" y="744575"/>
            <a:ext cx="8520600" cy="2052600"/>
          </a:xfrm>
          <a:prstGeom prst="rect">
            <a:avLst/>
          </a:prstGeom>
          <a:noFill/>
          <a:ln>
            <a:noFill/>
          </a:ln>
        </p:spPr>
        <p:txBody>
          <a:bodyPr spcFirstLastPara="1" vert="horz" wrap="square" lIns="91425" tIns="91425" rIns="91425" bIns="91425" rtlCol="0" anchor="b" anchorCtr="0">
            <a:normAutofit/>
          </a:bodyPr>
          <a:lstStyle/>
          <a:p>
            <a:pPr>
              <a:lnSpc>
                <a:spcPct val="100000"/>
              </a:lnSpc>
              <a:buSzPts val="5200"/>
            </a:pPr>
            <a:endParaRPr/>
          </a:p>
        </p:txBody>
      </p:sp>
      <p:sp>
        <p:nvSpPr>
          <p:cNvPr id="128" name="Google Shape;128;p9"/>
          <p:cNvSpPr txBox="1">
            <a:spLocks noGrp="1"/>
          </p:cNvSpPr>
          <p:nvPr>
            <p:ph type="subTitle" idx="1"/>
          </p:nvPr>
        </p:nvSpPr>
        <p:spPr>
          <a:xfrm>
            <a:off x="311700" y="2834125"/>
            <a:ext cx="8520600" cy="792600"/>
          </a:xfrm>
          <a:prstGeom prst="rect">
            <a:avLst/>
          </a:prstGeom>
          <a:noFill/>
          <a:ln>
            <a:noFill/>
          </a:ln>
        </p:spPr>
        <p:txBody>
          <a:bodyPr spcFirstLastPara="1" vert="horz" wrap="square" lIns="91425" tIns="91425" rIns="91425" bIns="91425" rtlCol="0" anchor="t" anchorCtr="0">
            <a:normAutofit/>
          </a:bodyPr>
          <a:lstStyle/>
          <a:p>
            <a:pPr>
              <a:lnSpc>
                <a:spcPct val="100000"/>
              </a:lnSpc>
              <a:spcBef>
                <a:spcPts val="0"/>
              </a:spcBef>
              <a:buSzPts val="2800"/>
            </a:pPr>
            <a:endParaRPr/>
          </a:p>
        </p:txBody>
      </p:sp>
      <p:pic>
        <p:nvPicPr>
          <p:cNvPr id="129" name="Google Shape;129;p9"/>
          <p:cNvPicPr preferRelativeResize="0"/>
          <p:nvPr/>
        </p:nvPicPr>
        <p:blipFill rotWithShape="1">
          <a:blip r:embed="rId3">
            <a:alphaModFix/>
          </a:blip>
          <a:srcRect/>
          <a:stretch/>
        </p:blipFill>
        <p:spPr>
          <a:xfrm>
            <a:off x="1" y="1"/>
            <a:ext cx="9144003" cy="5143501"/>
          </a:xfrm>
          <a:prstGeom prst="rect">
            <a:avLst/>
          </a:prstGeom>
          <a:noFill/>
          <a:ln>
            <a:noFill/>
          </a:ln>
        </p:spPr>
      </p:pic>
      <p:sp>
        <p:nvSpPr>
          <p:cNvPr id="130" name="Google Shape;130;p9"/>
          <p:cNvSpPr txBox="1"/>
          <p:nvPr/>
        </p:nvSpPr>
        <p:spPr>
          <a:xfrm>
            <a:off x="3141000" y="2194650"/>
            <a:ext cx="2862000" cy="754022"/>
          </a:xfrm>
          <a:prstGeom prst="rect">
            <a:avLst/>
          </a:prstGeom>
          <a:noFill/>
          <a:ln>
            <a:noFill/>
          </a:ln>
        </p:spPr>
        <p:txBody>
          <a:bodyPr spcFirstLastPara="1" wrap="square" lIns="91425" tIns="91425" rIns="91425" bIns="91425" anchor="t" anchorCtr="0">
            <a:spAutoFit/>
          </a:bodyPr>
          <a:lstStyle/>
          <a:p>
            <a:pPr>
              <a:buClr>
                <a:srgbClr val="000000"/>
              </a:buClr>
              <a:buSzPts val="3700"/>
            </a:pPr>
            <a:r>
              <a:rPr lang="en-IN" sz="3700" dirty="0">
                <a:solidFill>
                  <a:schemeClr val="lt1"/>
                </a:solidFill>
                <a:latin typeface="Roboto" panose="02000000000000000000" pitchFamily="2" charset="0"/>
                <a:ea typeface="Roboto" panose="02000000000000000000" pitchFamily="2" charset="0"/>
                <a:cs typeface="Roboto" panose="02000000000000000000" pitchFamily="2" charset="0"/>
                <a:sym typeface="Roboto Medium"/>
              </a:rPr>
              <a:t>THANK YOU</a:t>
            </a:r>
            <a:endParaRPr sz="3700" dirty="0">
              <a:solidFill>
                <a:schemeClr val="lt1"/>
              </a:solidFill>
              <a:latin typeface="Roboto" panose="02000000000000000000" pitchFamily="2" charset="0"/>
              <a:ea typeface="Roboto" panose="02000000000000000000" pitchFamily="2" charset="0"/>
              <a:cs typeface="Roboto" panose="02000000000000000000" pitchFamily="2" charset="0"/>
              <a:sym typeface="Roboto Medium"/>
            </a:endParaRPr>
          </a:p>
        </p:txBody>
      </p:sp>
      <p:pic>
        <p:nvPicPr>
          <p:cNvPr id="131" name="Google Shape;131;p9"/>
          <p:cNvPicPr preferRelativeResize="0"/>
          <p:nvPr/>
        </p:nvPicPr>
        <p:blipFill rotWithShape="1">
          <a:blip r:embed="rId4">
            <a:alphaModFix/>
          </a:blip>
          <a:srcRect/>
          <a:stretch/>
        </p:blipFill>
        <p:spPr>
          <a:xfrm>
            <a:off x="1752016" y="4591075"/>
            <a:ext cx="338156" cy="338150"/>
          </a:xfrm>
          <a:prstGeom prst="rect">
            <a:avLst/>
          </a:prstGeom>
          <a:noFill/>
          <a:ln>
            <a:noFill/>
          </a:ln>
        </p:spPr>
      </p:pic>
      <p:pic>
        <p:nvPicPr>
          <p:cNvPr id="132" name="Google Shape;132;p9"/>
          <p:cNvPicPr preferRelativeResize="0"/>
          <p:nvPr/>
        </p:nvPicPr>
        <p:blipFill rotWithShape="1">
          <a:blip r:embed="rId5">
            <a:alphaModFix/>
          </a:blip>
          <a:srcRect/>
          <a:stretch/>
        </p:blipFill>
        <p:spPr>
          <a:xfrm>
            <a:off x="3272650" y="4591075"/>
            <a:ext cx="338156" cy="338150"/>
          </a:xfrm>
          <a:prstGeom prst="rect">
            <a:avLst/>
          </a:prstGeom>
          <a:noFill/>
          <a:ln>
            <a:noFill/>
          </a:ln>
        </p:spPr>
      </p:pic>
      <p:sp>
        <p:nvSpPr>
          <p:cNvPr id="133" name="Google Shape;133;p9"/>
          <p:cNvSpPr txBox="1"/>
          <p:nvPr/>
        </p:nvSpPr>
        <p:spPr>
          <a:xfrm>
            <a:off x="1980750" y="4590801"/>
            <a:ext cx="1187100" cy="338524"/>
          </a:xfrm>
          <a:prstGeom prst="rect">
            <a:avLst/>
          </a:prstGeom>
          <a:noFill/>
          <a:ln>
            <a:noFill/>
          </a:ln>
        </p:spPr>
        <p:txBody>
          <a:bodyPr spcFirstLastPara="1" wrap="square" lIns="91425" tIns="91425" rIns="91425" bIns="91425" anchor="t" anchorCtr="0">
            <a:spAutoFit/>
          </a:bodyPr>
          <a:lstStyle/>
          <a:p>
            <a:pPr>
              <a:buClr>
                <a:srgbClr val="000000"/>
              </a:buClr>
              <a:buSzPts val="1000"/>
            </a:pPr>
            <a:r>
              <a:rPr lang="en-IN" sz="1000" dirty="0">
                <a:solidFill>
                  <a:schemeClr val="lt1"/>
                </a:solidFill>
                <a:latin typeface="Roboto" panose="02000000000000000000" pitchFamily="2" charset="0"/>
                <a:ea typeface="Roboto" panose="02000000000000000000" pitchFamily="2" charset="0"/>
                <a:cs typeface="Roboto" panose="02000000000000000000" pitchFamily="2" charset="0"/>
                <a:sym typeface="Roboto Medium"/>
              </a:rPr>
              <a:t>+91 78150 95095</a:t>
            </a:r>
            <a:endParaRPr sz="1000" dirty="0">
              <a:solidFill>
                <a:schemeClr val="lt1"/>
              </a:solidFill>
              <a:latin typeface="Roboto" panose="02000000000000000000" pitchFamily="2" charset="0"/>
              <a:ea typeface="Roboto" panose="02000000000000000000" pitchFamily="2" charset="0"/>
              <a:cs typeface="Roboto" panose="02000000000000000000" pitchFamily="2" charset="0"/>
              <a:sym typeface="Roboto Medium"/>
            </a:endParaRPr>
          </a:p>
        </p:txBody>
      </p:sp>
      <p:cxnSp>
        <p:nvCxnSpPr>
          <p:cNvPr id="134" name="Google Shape;134;p9"/>
          <p:cNvCxnSpPr/>
          <p:nvPr/>
        </p:nvCxnSpPr>
        <p:spPr>
          <a:xfrm rot="10800000">
            <a:off x="3220250" y="4619675"/>
            <a:ext cx="0" cy="300000"/>
          </a:xfrm>
          <a:prstGeom prst="straightConnector1">
            <a:avLst/>
          </a:prstGeom>
          <a:noFill/>
          <a:ln w="9525" cap="flat" cmpd="sng">
            <a:solidFill>
              <a:schemeClr val="lt1"/>
            </a:solidFill>
            <a:prstDash val="solid"/>
            <a:round/>
            <a:headEnd type="none" w="sm" len="sm"/>
            <a:tailEnd type="none" w="sm" len="sm"/>
          </a:ln>
        </p:spPr>
      </p:cxnSp>
      <p:sp>
        <p:nvSpPr>
          <p:cNvPr id="135" name="Google Shape;135;p9"/>
          <p:cNvSpPr txBox="1"/>
          <p:nvPr/>
        </p:nvSpPr>
        <p:spPr>
          <a:xfrm>
            <a:off x="3519050" y="4590801"/>
            <a:ext cx="1934700" cy="338524"/>
          </a:xfrm>
          <a:prstGeom prst="rect">
            <a:avLst/>
          </a:prstGeom>
          <a:noFill/>
          <a:ln>
            <a:noFill/>
          </a:ln>
        </p:spPr>
        <p:txBody>
          <a:bodyPr spcFirstLastPara="1" wrap="square" lIns="91425" tIns="91425" rIns="91425" bIns="91425" anchor="t" anchorCtr="0">
            <a:spAutoFit/>
          </a:bodyPr>
          <a:lstStyle/>
          <a:p>
            <a:pPr>
              <a:buClr>
                <a:srgbClr val="000000"/>
              </a:buClr>
              <a:buSzPts val="1000"/>
            </a:pPr>
            <a:r>
              <a:rPr lang="en-IN" sz="1000" dirty="0">
                <a:solidFill>
                  <a:schemeClr val="lt1"/>
                </a:solidFill>
                <a:latin typeface="Roboto" panose="02000000000000000000" pitchFamily="2" charset="0"/>
                <a:ea typeface="Roboto" panose="02000000000000000000" pitchFamily="2" charset="0"/>
                <a:cs typeface="Roboto" panose="02000000000000000000" pitchFamily="2" charset="0"/>
                <a:sym typeface="Roboto Medium"/>
              </a:rPr>
              <a:t>codemithra@ethnus.com</a:t>
            </a:r>
            <a:endParaRPr sz="1000" dirty="0">
              <a:solidFill>
                <a:schemeClr val="lt1"/>
              </a:solidFill>
              <a:latin typeface="Roboto" panose="02000000000000000000" pitchFamily="2" charset="0"/>
              <a:ea typeface="Roboto" panose="02000000000000000000" pitchFamily="2" charset="0"/>
              <a:cs typeface="Roboto" panose="02000000000000000000" pitchFamily="2" charset="0"/>
              <a:sym typeface="Roboto Medium"/>
            </a:endParaRPr>
          </a:p>
        </p:txBody>
      </p:sp>
      <p:pic>
        <p:nvPicPr>
          <p:cNvPr id="136" name="Google Shape;136;p9"/>
          <p:cNvPicPr preferRelativeResize="0"/>
          <p:nvPr/>
        </p:nvPicPr>
        <p:blipFill rotWithShape="1">
          <a:blip r:embed="rId6">
            <a:alphaModFix/>
          </a:blip>
          <a:srcRect/>
          <a:stretch/>
        </p:blipFill>
        <p:spPr>
          <a:xfrm>
            <a:off x="5223771" y="4591063"/>
            <a:ext cx="338156" cy="338150"/>
          </a:xfrm>
          <a:prstGeom prst="rect">
            <a:avLst/>
          </a:prstGeom>
          <a:noFill/>
          <a:ln>
            <a:noFill/>
          </a:ln>
        </p:spPr>
      </p:pic>
      <p:sp>
        <p:nvSpPr>
          <p:cNvPr id="137" name="Google Shape;137;p9"/>
          <p:cNvSpPr txBox="1"/>
          <p:nvPr/>
        </p:nvSpPr>
        <p:spPr>
          <a:xfrm>
            <a:off x="5457275" y="4590801"/>
            <a:ext cx="1934700" cy="338524"/>
          </a:xfrm>
          <a:prstGeom prst="rect">
            <a:avLst/>
          </a:prstGeom>
          <a:noFill/>
          <a:ln>
            <a:noFill/>
          </a:ln>
        </p:spPr>
        <p:txBody>
          <a:bodyPr spcFirstLastPara="1" wrap="square" lIns="91425" tIns="91425" rIns="91425" bIns="91425" anchor="t" anchorCtr="0">
            <a:spAutoFit/>
          </a:bodyPr>
          <a:lstStyle/>
          <a:p>
            <a:pPr>
              <a:buClr>
                <a:srgbClr val="000000"/>
              </a:buClr>
              <a:buSzPts val="1000"/>
            </a:pPr>
            <a:r>
              <a:rPr lang="en-IN" sz="1000" dirty="0">
                <a:solidFill>
                  <a:schemeClr val="lt1"/>
                </a:solidFill>
                <a:latin typeface="Roboto" panose="02000000000000000000" pitchFamily="2" charset="0"/>
                <a:ea typeface="Roboto" panose="02000000000000000000" pitchFamily="2" charset="0"/>
                <a:cs typeface="Roboto" panose="02000000000000000000" pitchFamily="2" charset="0"/>
                <a:sym typeface="Roboto Medium"/>
              </a:rPr>
              <a:t>www.codemithra.com</a:t>
            </a:r>
            <a:endParaRPr sz="1000" dirty="0">
              <a:solidFill>
                <a:schemeClr val="lt1"/>
              </a:solidFill>
              <a:latin typeface="Roboto" panose="02000000000000000000" pitchFamily="2" charset="0"/>
              <a:ea typeface="Roboto" panose="02000000000000000000" pitchFamily="2" charset="0"/>
              <a:cs typeface="Roboto" panose="02000000000000000000" pitchFamily="2" charset="0"/>
              <a:sym typeface="Roboto Medium"/>
            </a:endParaRPr>
          </a:p>
        </p:txBody>
      </p:sp>
      <p:cxnSp>
        <p:nvCxnSpPr>
          <p:cNvPr id="138" name="Google Shape;138;p9"/>
          <p:cNvCxnSpPr/>
          <p:nvPr/>
        </p:nvCxnSpPr>
        <p:spPr>
          <a:xfrm rot="10800000">
            <a:off x="5166625" y="4610150"/>
            <a:ext cx="0" cy="300000"/>
          </a:xfrm>
          <a:prstGeom prst="straightConnector1">
            <a:avLst/>
          </a:prstGeom>
          <a:noFill/>
          <a:ln w="9525" cap="flat" cmpd="sng">
            <a:solidFill>
              <a:schemeClr val="lt1"/>
            </a:solidFill>
            <a:prstDash val="solid"/>
            <a:round/>
            <a:headEnd type="none" w="sm" len="sm"/>
            <a:tailEnd type="none" w="sm" len="sm"/>
          </a:ln>
        </p:spPr>
      </p:cxn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1076</Words>
  <Application>Microsoft Office PowerPoint</Application>
  <PresentationFormat>On-screen Show (16:9)</PresentationFormat>
  <Paragraphs>138</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Consolas</vt:lpstr>
      <vt:lpstr>Roboto</vt:lpstr>
      <vt:lpstr>Arial</vt:lpstr>
      <vt:lpstr>Calibri</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RAMASAMY</dc:creator>
  <cp:lastModifiedBy>poojaramaraj71@gmail.com</cp:lastModifiedBy>
  <cp:revision>3</cp:revision>
  <dcterms:modified xsi:type="dcterms:W3CDTF">2024-07-15T10:49:15Z</dcterms:modified>
</cp:coreProperties>
</file>