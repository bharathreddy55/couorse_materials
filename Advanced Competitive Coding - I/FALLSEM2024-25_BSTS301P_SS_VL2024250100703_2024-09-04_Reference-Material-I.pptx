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806" r:id="rId16"/>
    <p:sldId id="807" r:id="rId17"/>
  </p:sldIdLst>
  <p:sldSz cx="9144000" cy="5143500" type="screen16x9"/>
  <p:notesSz cx="6858000" cy="9144000"/>
  <p:embeddedFontLst>
    <p:embeddedFont>
      <p:font typeface="Roboto" panose="02000000000000000000" pitchFamily="2" charset="0"/>
      <p:regular r:id="rId19"/>
      <p:bold r:id="rId20"/>
      <p:italic r:id="rId21"/>
      <p:boldItalic r:id="rId22"/>
    </p:embeddedFont>
    <p:embeddedFont>
      <p:font typeface="Roboto Black" panose="02000000000000000000" pitchFamily="2" charset="0"/>
      <p:bold r:id="rId23"/>
      <p:boldItalic r:id="rId24"/>
    </p:embeddedFont>
    <p:embeddedFont>
      <p:font typeface="Roboto Medium" panose="02000000000000000000" pitchFamily="2"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eSZWV2JkliRrBZSx6J7c3NmUr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95CD8D-A73F-47AD-BD0D-1A491B01FCF0}">
  <a:tblStyle styleId="{E095CD8D-A73F-47AD-BD0D-1A491B01FCF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1E8"/>
          </a:solidFill>
        </a:fill>
      </a:tcStyle>
    </a:wholeTbl>
    <a:band1H>
      <a:tcTxStyle/>
      <a:tcStyle>
        <a:tcBdr/>
        <a:fill>
          <a:solidFill>
            <a:srgbClr val="FFE2CD"/>
          </a:solidFill>
        </a:fill>
      </a:tcStyle>
    </a:band1H>
    <a:band2H>
      <a:tcTxStyle/>
      <a:tcStyle>
        <a:tcBdr/>
      </a:tcStyle>
    </a:band2H>
    <a:band1V>
      <a:tcTxStyle/>
      <a:tcStyle>
        <a:tcBdr/>
        <a:fill>
          <a:solidFill>
            <a:srgbClr val="FFE2CD"/>
          </a:solidFill>
        </a:fill>
      </a:tcStyle>
    </a:band1V>
    <a:band2V>
      <a:tcTxStyle/>
      <a:tcStyle>
        <a:tcBdr/>
      </a:tcStyle>
    </a:band2V>
    <a:lastCol>
      <a:tcTxStyle b="on" i="off">
        <a:font>
          <a:latin typeface="Arial"/>
          <a:ea typeface="Arial"/>
          <a:cs typeface="Arial"/>
        </a:font>
        <a:schemeClr val="lt1"/>
      </a:tcTxStyle>
      <a:tcStyle>
        <a:tcBdr/>
        <a:fill>
          <a:solidFill>
            <a:schemeClr val="accent4"/>
          </a:solidFill>
        </a:fill>
      </a:tcStyle>
    </a:lastCol>
    <a:firstCol>
      <a:tcTxStyle b="on" i="off">
        <a:font>
          <a:latin typeface="Arial"/>
          <a:ea typeface="Arial"/>
          <a:cs typeface="Arial"/>
        </a:font>
        <a:schemeClr val="lt1"/>
      </a:tcTxStyle>
      <a:tcStyle>
        <a:tcBdr/>
        <a:fill>
          <a:solidFill>
            <a:schemeClr val="accent4"/>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 styleId="{71CFB524-8FE8-463A-BDA7-2FDC9FC85DBE}"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a:tcStyle>
        <a:tcBdr/>
        <a:fill>
          <a:solidFill>
            <a:srgbClr val="CDD8FB"/>
          </a:solidFill>
        </a:fill>
      </a:tcStyle>
    </a:band1H>
    <a:band2H>
      <a:tcTxStyle/>
      <a:tcStyle>
        <a:tcBdr/>
      </a:tcStyle>
    </a:band2H>
    <a:band1V>
      <a:tcTxStyle/>
      <a:tcStyle>
        <a:tcBdr/>
        <a:fill>
          <a:solidFill>
            <a:srgbClr val="CDD8F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9D38B0A-6653-4311-879C-FC5364B394B5}" styleName="Table_2">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 styleId="{C34BCF58-39A6-48E1-92B2-C73DC8293186}" styleName="Table_3">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4d34c88dcc_2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58" name="Google Shape;58;g24d34c88dcc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3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Enter a number: 100</a:t>
            </a:r>
            <a:endParaRPr dirty="0">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Before swapping the nibble: 100</a:t>
            </a:r>
            <a:endParaRPr dirty="0">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After swapping the nibble: 70</a:t>
            </a: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3f307fc558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23f307fc558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dirty="0"/>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Roboto" panose="02000000000000000000" pitchFamily="2" charset="0"/>
                <a:ea typeface="Roboto" panose="02000000000000000000" pitchFamily="2" charset="0"/>
                <a:cs typeface="Roboto" panose="02000000000000000000" pitchFamily="2" charset="0"/>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2" name="Google Shape;15;p82">
            <a:extLst>
              <a:ext uri="{FF2B5EF4-FFF2-40B4-BE49-F238E27FC236}">
                <a16:creationId xmlns:a16="http://schemas.microsoft.com/office/drawing/2014/main" id="{6B48855F-924D-3E6E-2377-F598FD52A0D1}"/>
              </a:ext>
            </a:extLst>
          </p:cNvPr>
          <p:cNvPicPr preferRelativeResize="0"/>
          <p:nvPr userDrawn="1"/>
        </p:nvPicPr>
        <p:blipFill rotWithShape="1">
          <a:blip r:embed="rId13">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forms.gle/6Lbibw3beTrJCA8z6"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hyperlink" Target="https://learn.codemithra.c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54" name="Google Shape;54;p3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55" name="Google Shape;55;p33"/>
          <p:cNvPicPr preferRelativeResize="0"/>
          <p:nvPr/>
        </p:nvPicPr>
        <p:blipFill rotWithShape="1">
          <a:blip r:embed="rId3">
            <a:alphaModFix/>
          </a:blip>
          <a:srcRect/>
          <a:stretch/>
        </p:blipFill>
        <p:spPr>
          <a:xfrm>
            <a:off x="1" y="3"/>
            <a:ext cx="9144003" cy="5143501"/>
          </a:xfrm>
          <a:prstGeom prst="rect">
            <a:avLst/>
          </a:prstGeom>
          <a:noFill/>
          <a:ln>
            <a:noFill/>
          </a:ln>
        </p:spPr>
      </p:pic>
      <p:pic>
        <p:nvPicPr>
          <p:cNvPr id="56" name="Google Shape;56;p33"/>
          <p:cNvPicPr preferRelativeResize="0"/>
          <p:nvPr/>
        </p:nvPicPr>
        <p:blipFill rotWithShape="1">
          <a:blip r:embed="rId4">
            <a:alphaModFix/>
          </a:blip>
          <a:srcRect/>
          <a:stretch/>
        </p:blipFill>
        <p:spPr>
          <a:xfrm>
            <a:off x="2504603" y="600290"/>
            <a:ext cx="4134799" cy="2923400"/>
          </a:xfrm>
          <a:prstGeom prst="rect">
            <a:avLst/>
          </a:prstGeom>
          <a:noFill/>
          <a:ln>
            <a:noFill/>
          </a:ln>
        </p:spPr>
      </p:pic>
      <p:pic>
        <p:nvPicPr>
          <p:cNvPr id="57" name="Google Shape;57;p33"/>
          <p:cNvPicPr preferRelativeResize="0"/>
          <p:nvPr/>
        </p:nvPicPr>
        <p:blipFill rotWithShape="1">
          <a:blip r:embed="rId5">
            <a:alphaModFix/>
          </a:blip>
          <a:srcRect/>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3" name="Google Shape;63;g24d34c88dcc_2_3"/>
          <p:cNvSpPr txBox="1">
            <a:spLocks noGrp="1"/>
          </p:cNvSpPr>
          <p:nvPr>
            <p:ph type="body" idx="1"/>
          </p:nvPr>
        </p:nvSpPr>
        <p:spPr>
          <a:xfrm>
            <a:off x="729200" y="12319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b="1" dirty="0">
                <a:solidFill>
                  <a:schemeClr val="dk1"/>
                </a:solidFill>
                <a:highlight>
                  <a:srgbClr val="FFFFFF"/>
                </a:highlight>
              </a:rPr>
              <a:t>URL</a:t>
            </a:r>
            <a:r>
              <a:rPr lang="en-US" b="1" dirty="0">
                <a:solidFill>
                  <a:srgbClr val="373737"/>
                </a:solidFill>
                <a:highlight>
                  <a:srgbClr val="FFFFFF"/>
                </a:highlight>
              </a:rPr>
              <a:t>:</a:t>
            </a:r>
            <a:r>
              <a:rPr lang="en-US" b="1" u="sng" dirty="0">
                <a:solidFill>
                  <a:schemeClr val="hlink"/>
                </a:solidFill>
                <a:highlight>
                  <a:srgbClr val="FFFFFF"/>
                </a:highlight>
                <a:hlinkClick r:id="rId3"/>
              </a:rPr>
              <a:t>https://forms.gle/6Lbibw3beTrJCA8z6</a:t>
            </a:r>
            <a:endParaRPr b="1" dirty="0">
              <a:solidFill>
                <a:srgbClr val="373737"/>
              </a:solidFill>
              <a:highlight>
                <a:srgbClr val="FFFFFF"/>
              </a:highlight>
            </a:endParaRPr>
          </a:p>
          <a:p>
            <a:pPr marL="0" lvl="0" indent="0" algn="l" rtl="0">
              <a:lnSpc>
                <a:spcPct val="115000"/>
              </a:lnSpc>
              <a:spcBef>
                <a:spcPts val="0"/>
              </a:spcBef>
              <a:spcAft>
                <a:spcPts val="0"/>
              </a:spcAft>
              <a:buSzPts val="1800"/>
              <a:buNone/>
            </a:pPr>
            <a:r>
              <a:rPr lang="en-US" b="1" dirty="0">
                <a:solidFill>
                  <a:schemeClr val="dk1"/>
                </a:solidFill>
                <a:highlight>
                  <a:srgbClr val="FFFFFF"/>
                </a:highlight>
              </a:rPr>
              <a:t>QR CODE</a:t>
            </a:r>
            <a:r>
              <a:rPr lang="en-US" b="1" dirty="0">
                <a:solidFill>
                  <a:srgbClr val="373737"/>
                </a:solidFill>
                <a:highlight>
                  <a:srgbClr val="FFFFFF"/>
                </a:highlight>
              </a:rPr>
              <a:t>:</a:t>
            </a:r>
            <a:endParaRPr b="1" dirty="0">
              <a:solidFill>
                <a:srgbClr val="373737"/>
              </a:solidFill>
              <a:highlight>
                <a:srgbClr val="FFFFFF"/>
              </a:highlight>
            </a:endParaRPr>
          </a:p>
        </p:txBody>
      </p:sp>
      <p:pic>
        <p:nvPicPr>
          <p:cNvPr id="64" name="Google Shape;64;g24d34c88dcc_2_3"/>
          <p:cNvPicPr preferRelativeResize="0"/>
          <p:nvPr/>
        </p:nvPicPr>
        <p:blipFill>
          <a:blip r:embed="rId4">
            <a:alphaModFix/>
          </a:blip>
          <a:stretch>
            <a:fillRect/>
          </a:stretch>
        </p:blipFill>
        <p:spPr>
          <a:xfrm>
            <a:off x="2922650" y="2110550"/>
            <a:ext cx="2925775" cy="2787125"/>
          </a:xfrm>
          <a:prstGeom prst="rect">
            <a:avLst/>
          </a:prstGeom>
          <a:noFill/>
          <a:ln>
            <a:noFill/>
          </a:ln>
        </p:spPr>
      </p:pic>
      <p:sp>
        <p:nvSpPr>
          <p:cNvPr id="3" name="TextBox 2">
            <a:extLst>
              <a:ext uri="{FF2B5EF4-FFF2-40B4-BE49-F238E27FC236}">
                <a16:creationId xmlns:a16="http://schemas.microsoft.com/office/drawing/2014/main" id="{A56F3FA7-54D3-7E10-3998-805EF40F76BD}"/>
              </a:ext>
            </a:extLst>
          </p:cNvPr>
          <p:cNvSpPr txBox="1"/>
          <p:nvPr/>
        </p:nvSpPr>
        <p:spPr>
          <a:xfrm>
            <a:off x="2657707" y="459305"/>
            <a:ext cx="4572000" cy="523220"/>
          </a:xfrm>
          <a:prstGeom prst="rect">
            <a:avLst/>
          </a:prstGeom>
          <a:noFill/>
        </p:spPr>
        <p:txBody>
          <a:bodyPr wrap="square">
            <a:spAutoFit/>
          </a:bodyPr>
          <a:lstStyle/>
          <a:p>
            <a:pPr marL="0" marR="0" lvl="0" indent="0" algn="ctr" rtl="0">
              <a:lnSpc>
                <a:spcPct val="100000"/>
              </a:lnSpc>
              <a:spcBef>
                <a:spcPts val="0"/>
              </a:spcBef>
              <a:spcAft>
                <a:spcPts val="0"/>
              </a:spcAft>
              <a:buClr>
                <a:schemeClr val="dk1"/>
              </a:buClr>
              <a:buSzPts val="1700"/>
              <a:buFont typeface="Arial"/>
              <a:buNone/>
            </a:pPr>
            <a:r>
              <a:rPr lang="en-US" sz="14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Arial"/>
              </a:rPr>
              <a:t>TEST TIME ON LONGEST SEQUENCE OF 1</a:t>
            </a:r>
            <a:r>
              <a:rPr lang="en-US" sz="1400" b="1" dirty="0">
                <a:solidFill>
                  <a:schemeClr val="accent1"/>
                </a:solidFill>
                <a:latin typeface="Roboto" panose="02000000000000000000" pitchFamily="2" charset="0"/>
                <a:ea typeface="Roboto" panose="02000000000000000000" pitchFamily="2" charset="0"/>
                <a:cs typeface="Roboto" panose="02000000000000000000" pitchFamily="2" charset="0"/>
              </a:rPr>
              <a:t>’ AFTER FLIPPING A BIT</a:t>
            </a:r>
            <a:endParaRPr lang="en-US" sz="16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70" name="Google Shape;70;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71" name="Google Shape;71;p35"/>
          <p:cNvPicPr preferRelativeResize="0"/>
          <p:nvPr/>
        </p:nvPicPr>
        <p:blipFill rotWithShape="1">
          <a:blip r:embed="rId3">
            <a:alphaModFix/>
          </a:blip>
          <a:srcRect/>
          <a:stretch/>
        </p:blipFill>
        <p:spPr>
          <a:xfrm>
            <a:off x="1" y="3"/>
            <a:ext cx="9144003" cy="5143501"/>
          </a:xfrm>
          <a:prstGeom prst="rect">
            <a:avLst/>
          </a:prstGeom>
          <a:noFill/>
          <a:ln>
            <a:noFill/>
          </a:ln>
        </p:spPr>
      </p:pic>
      <p:sp>
        <p:nvSpPr>
          <p:cNvPr id="72" name="Google Shape;72;p35"/>
          <p:cNvSpPr txBox="1"/>
          <p:nvPr/>
        </p:nvSpPr>
        <p:spPr>
          <a:xfrm>
            <a:off x="89210" y="1855119"/>
            <a:ext cx="4690948" cy="1846629"/>
          </a:xfrm>
          <a:prstGeom prst="rect">
            <a:avLst/>
          </a:prstGeom>
          <a:noFill/>
          <a:ln>
            <a:noFill/>
          </a:ln>
        </p:spPr>
        <p:txBody>
          <a:bodyPr spcFirstLastPara="1" wrap="square" lIns="91425" tIns="91425" rIns="91425" bIns="91425" anchor="t" anchorCtr="0">
            <a:spAutoFit/>
          </a:bodyPr>
          <a:lstStyle/>
          <a:p>
            <a:pPr algn="ctr"/>
            <a:r>
              <a:rPr lang="en-US" sz="3600" b="1" i="0" u="none" strike="noStrike" cap="none" dirty="0">
                <a:solidFill>
                  <a:schemeClr val="bg1"/>
                </a:solidFill>
                <a:latin typeface="Roboto" panose="02000000000000000000" pitchFamily="2" charset="0"/>
                <a:ea typeface="Roboto" panose="02000000000000000000" pitchFamily="2" charset="0"/>
                <a:cs typeface="Roboto" panose="02000000000000000000" pitchFamily="2" charset="0"/>
                <a:sym typeface="Arial Black"/>
              </a:rPr>
              <a:t>SWAP TWO NIBBLES IN A BYTE </a:t>
            </a:r>
          </a:p>
          <a:p>
            <a:pPr algn="ctr" rtl="0">
              <a:spcBef>
                <a:spcPts val="0"/>
              </a:spcBef>
              <a:spcAft>
                <a:spcPts val="0"/>
              </a:spcAft>
            </a:pPr>
            <a:endParaRPr lang="en-US" sz="36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8" name="Google Shape;78;p13"/>
          <p:cNvSpPr/>
          <p:nvPr/>
        </p:nvSpPr>
        <p:spPr>
          <a:xfrm>
            <a:off x="555120" y="915840"/>
            <a:ext cx="7544880" cy="35393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a:t>
            </a:r>
            <a:endParaRPr lang="en-US"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concept of swapping two nibbles in a byte refers to interchanging the values of the four least significant bits (the lower nibble) with the four most significant bits (the upper nibble) within a byte.</a:t>
            </a:r>
            <a:endParaRPr lang="en-US"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 a binary representation of a byte, the nibbles are represented by the four bits on the left (the upper nibble) and the four bits on the right (the lower nibble). </a:t>
            </a:r>
            <a:endParaRPr lang="en-US"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Swapping the nibbles means exchanging the values of the upper and lower nibbles while keeping the rest of the bits unchanged.</a:t>
            </a:r>
            <a:endParaRPr lang="en-US"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6" name="Google Shape;86;p15"/>
          <p:cNvSpPr/>
          <p:nvPr/>
        </p:nvSpPr>
        <p:spPr>
          <a:xfrm>
            <a:off x="644330" y="863610"/>
            <a:ext cx="7544880"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Example:N</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=100</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88" name="Google Shape;88;p15"/>
          <p:cNvSpPr/>
          <p:nvPr/>
        </p:nvSpPr>
        <p:spPr>
          <a:xfrm>
            <a:off x="730045" y="1259450"/>
            <a:ext cx="7858835"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N=100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100 in binary</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89" name="Google Shape;89;p15"/>
          <p:cNvSpPr txBox="1"/>
          <p:nvPr/>
        </p:nvSpPr>
        <p:spPr>
          <a:xfrm>
            <a:off x="3757320" y="2178469"/>
            <a:ext cx="457937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90" name="Google Shape;90;p15"/>
          <p:cNvGraphicFramePr/>
          <p:nvPr/>
        </p:nvGraphicFramePr>
        <p:xfrm>
          <a:off x="3082412" y="1684848"/>
          <a:ext cx="3613000" cy="370850"/>
        </p:xfrm>
        <a:graphic>
          <a:graphicData uri="http://schemas.openxmlformats.org/drawingml/2006/table">
            <a:tbl>
              <a:tblPr firstRow="1" bandRow="1">
                <a:noFill/>
                <a:tableStyleId>{E095CD8D-A73F-47AD-BD0D-1A491B01FCF0}</a:tableStyleId>
              </a:tblPr>
              <a:tblGrid>
                <a:gridCol w="451625">
                  <a:extLst>
                    <a:ext uri="{9D8B030D-6E8A-4147-A177-3AD203B41FA5}">
                      <a16:colId xmlns:a16="http://schemas.microsoft.com/office/drawing/2014/main" val="20000"/>
                    </a:ext>
                  </a:extLst>
                </a:gridCol>
                <a:gridCol w="451625">
                  <a:extLst>
                    <a:ext uri="{9D8B030D-6E8A-4147-A177-3AD203B41FA5}">
                      <a16:colId xmlns:a16="http://schemas.microsoft.com/office/drawing/2014/main" val="20001"/>
                    </a:ext>
                  </a:extLst>
                </a:gridCol>
                <a:gridCol w="451625">
                  <a:extLst>
                    <a:ext uri="{9D8B030D-6E8A-4147-A177-3AD203B41FA5}">
                      <a16:colId xmlns:a16="http://schemas.microsoft.com/office/drawing/2014/main" val="20002"/>
                    </a:ext>
                  </a:extLst>
                </a:gridCol>
                <a:gridCol w="451625">
                  <a:extLst>
                    <a:ext uri="{9D8B030D-6E8A-4147-A177-3AD203B41FA5}">
                      <a16:colId xmlns:a16="http://schemas.microsoft.com/office/drawing/2014/main" val="20003"/>
                    </a:ext>
                  </a:extLst>
                </a:gridCol>
                <a:gridCol w="451625">
                  <a:extLst>
                    <a:ext uri="{9D8B030D-6E8A-4147-A177-3AD203B41FA5}">
                      <a16:colId xmlns:a16="http://schemas.microsoft.com/office/drawing/2014/main" val="20004"/>
                    </a:ext>
                  </a:extLst>
                </a:gridCol>
                <a:gridCol w="451625">
                  <a:extLst>
                    <a:ext uri="{9D8B030D-6E8A-4147-A177-3AD203B41FA5}">
                      <a16:colId xmlns:a16="http://schemas.microsoft.com/office/drawing/2014/main" val="20005"/>
                    </a:ext>
                  </a:extLst>
                </a:gridCol>
                <a:gridCol w="451625">
                  <a:extLst>
                    <a:ext uri="{9D8B030D-6E8A-4147-A177-3AD203B41FA5}">
                      <a16:colId xmlns:a16="http://schemas.microsoft.com/office/drawing/2014/main" val="20006"/>
                    </a:ext>
                  </a:extLst>
                </a:gridCol>
                <a:gridCol w="451625">
                  <a:extLst>
                    <a:ext uri="{9D8B030D-6E8A-4147-A177-3AD203B41FA5}">
                      <a16:colId xmlns:a16="http://schemas.microsoft.com/office/drawing/2014/main" val="20007"/>
                    </a:ext>
                  </a:extLst>
                </a:gridCol>
              </a:tblGrid>
              <a:tr h="370850">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91" name="Google Shape;91;p15"/>
          <p:cNvSpPr txBox="1"/>
          <p:nvPr/>
        </p:nvSpPr>
        <p:spPr>
          <a:xfrm>
            <a:off x="3295167" y="2102072"/>
            <a:ext cx="155595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left (the upper nibble)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cxnSp>
        <p:nvCxnSpPr>
          <p:cNvPr id="92" name="Google Shape;92;p15"/>
          <p:cNvCxnSpPr/>
          <p:nvPr/>
        </p:nvCxnSpPr>
        <p:spPr>
          <a:xfrm>
            <a:off x="4874341" y="1247784"/>
            <a:ext cx="0" cy="1218641"/>
          </a:xfrm>
          <a:prstGeom prst="straightConnector1">
            <a:avLst/>
          </a:prstGeom>
          <a:no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cxnSp>
      <p:sp>
        <p:nvSpPr>
          <p:cNvPr id="93" name="Google Shape;93;p15"/>
          <p:cNvSpPr txBox="1"/>
          <p:nvPr/>
        </p:nvSpPr>
        <p:spPr>
          <a:xfrm>
            <a:off x="5139530" y="2064584"/>
            <a:ext cx="159207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right (the lower nibble)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4" name="Google Shape;94;p15"/>
          <p:cNvSpPr txBox="1"/>
          <p:nvPr/>
        </p:nvSpPr>
        <p:spPr>
          <a:xfrm>
            <a:off x="644330" y="2625292"/>
            <a:ext cx="231666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Swap left and right</a:t>
            </a:r>
            <a:endParaRPr dirty="0">
              <a:latin typeface="Roboto" panose="02000000000000000000" pitchFamily="2" charset="0"/>
              <a:ea typeface="Roboto" panose="02000000000000000000" pitchFamily="2" charset="0"/>
              <a:cs typeface="Roboto" panose="02000000000000000000" pitchFamily="2" charset="0"/>
            </a:endParaRPr>
          </a:p>
        </p:txBody>
      </p:sp>
      <p:graphicFrame>
        <p:nvGraphicFramePr>
          <p:cNvPr id="95" name="Google Shape;95;p15"/>
          <p:cNvGraphicFramePr/>
          <p:nvPr/>
        </p:nvGraphicFramePr>
        <p:xfrm>
          <a:off x="3073200" y="3046118"/>
          <a:ext cx="1498800" cy="370850"/>
        </p:xfrm>
        <a:graphic>
          <a:graphicData uri="http://schemas.openxmlformats.org/drawingml/2006/table">
            <a:tbl>
              <a:tblPr firstRow="1" bandRow="1">
                <a:noFill/>
                <a:tableStyleId>{71CFB524-8FE8-463A-BDA7-2FDC9FC85DBE}</a:tableStyleId>
              </a:tblPr>
              <a:tblGrid>
                <a:gridCol w="374700">
                  <a:extLst>
                    <a:ext uri="{9D8B030D-6E8A-4147-A177-3AD203B41FA5}">
                      <a16:colId xmlns:a16="http://schemas.microsoft.com/office/drawing/2014/main" val="20000"/>
                    </a:ext>
                  </a:extLst>
                </a:gridCol>
                <a:gridCol w="374700">
                  <a:extLst>
                    <a:ext uri="{9D8B030D-6E8A-4147-A177-3AD203B41FA5}">
                      <a16:colId xmlns:a16="http://schemas.microsoft.com/office/drawing/2014/main" val="20001"/>
                    </a:ext>
                  </a:extLst>
                </a:gridCol>
                <a:gridCol w="374700">
                  <a:extLst>
                    <a:ext uri="{9D8B030D-6E8A-4147-A177-3AD203B41FA5}">
                      <a16:colId xmlns:a16="http://schemas.microsoft.com/office/drawing/2014/main" val="20002"/>
                    </a:ext>
                  </a:extLst>
                </a:gridCol>
                <a:gridCol w="3747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6" name="Google Shape;96;p15"/>
          <p:cNvGraphicFramePr/>
          <p:nvPr/>
        </p:nvGraphicFramePr>
        <p:xfrm>
          <a:off x="5265174" y="3042078"/>
          <a:ext cx="1430300" cy="370850"/>
        </p:xfrm>
        <a:graphic>
          <a:graphicData uri="http://schemas.openxmlformats.org/drawingml/2006/table">
            <a:tbl>
              <a:tblPr firstRow="1" bandRow="1">
                <a:noFill/>
                <a:tableStyleId>{71CFB524-8FE8-463A-BDA7-2FDC9FC85DBE}</a:tableStyleId>
              </a:tblPr>
              <a:tblGrid>
                <a:gridCol w="357575">
                  <a:extLst>
                    <a:ext uri="{9D8B030D-6E8A-4147-A177-3AD203B41FA5}">
                      <a16:colId xmlns:a16="http://schemas.microsoft.com/office/drawing/2014/main" val="20000"/>
                    </a:ext>
                  </a:extLst>
                </a:gridCol>
                <a:gridCol w="357575">
                  <a:extLst>
                    <a:ext uri="{9D8B030D-6E8A-4147-A177-3AD203B41FA5}">
                      <a16:colId xmlns:a16="http://schemas.microsoft.com/office/drawing/2014/main" val="20001"/>
                    </a:ext>
                  </a:extLst>
                </a:gridCol>
                <a:gridCol w="357575">
                  <a:extLst>
                    <a:ext uri="{9D8B030D-6E8A-4147-A177-3AD203B41FA5}">
                      <a16:colId xmlns:a16="http://schemas.microsoft.com/office/drawing/2014/main" val="20002"/>
                    </a:ext>
                  </a:extLst>
                </a:gridCol>
                <a:gridCol w="357575">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97" name="Google Shape;97;p15"/>
          <p:cNvCxnSpPr/>
          <p:nvPr/>
        </p:nvCxnSpPr>
        <p:spPr>
          <a:xfrm flipH="1">
            <a:off x="4210665" y="2048236"/>
            <a:ext cx="1742966" cy="966031"/>
          </a:xfrm>
          <a:prstGeom prst="straightConnector1">
            <a:avLst/>
          </a:prstGeom>
          <a:noFill/>
          <a:ln w="9525" cap="flat" cmpd="sng">
            <a:solidFill>
              <a:srgbClr val="3B7FF2"/>
            </a:solidFill>
            <a:prstDash val="solid"/>
            <a:round/>
            <a:headEnd type="none" w="sm" len="sm"/>
            <a:tailEnd type="triangle" w="med" len="med"/>
          </a:ln>
        </p:spPr>
      </p:cxnSp>
      <p:cxnSp>
        <p:nvCxnSpPr>
          <p:cNvPr id="98" name="Google Shape;98;p15"/>
          <p:cNvCxnSpPr/>
          <p:nvPr/>
        </p:nvCxnSpPr>
        <p:spPr>
          <a:xfrm>
            <a:off x="4098684" y="2092262"/>
            <a:ext cx="1555060" cy="930901"/>
          </a:xfrm>
          <a:prstGeom prst="straightConnector1">
            <a:avLst/>
          </a:prstGeom>
          <a:noFill/>
          <a:ln w="9525" cap="flat" cmpd="sng">
            <a:solidFill>
              <a:srgbClr val="3B7FF2"/>
            </a:solidFill>
            <a:prstDash val="solid"/>
            <a:round/>
            <a:headEnd type="none" w="sm" len="sm"/>
            <a:tailEnd type="triangle" w="med" len="med"/>
          </a:ln>
        </p:spPr>
      </p:cxnSp>
      <p:graphicFrame>
        <p:nvGraphicFramePr>
          <p:cNvPr id="99" name="Google Shape;99;p15"/>
          <p:cNvGraphicFramePr/>
          <p:nvPr/>
        </p:nvGraphicFramePr>
        <p:xfrm>
          <a:off x="3082412" y="4182694"/>
          <a:ext cx="3613000" cy="304810"/>
        </p:xfrm>
        <a:graphic>
          <a:graphicData uri="http://schemas.openxmlformats.org/drawingml/2006/table">
            <a:tbl>
              <a:tblPr firstRow="1" bandRow="1">
                <a:gradFill>
                  <a:gsLst>
                    <a:gs pos="0">
                      <a:srgbClr val="BDD5E1"/>
                    </a:gs>
                    <a:gs pos="35000">
                      <a:srgbClr val="D2E1E7"/>
                    </a:gs>
                    <a:gs pos="100000">
                      <a:srgbClr val="ECF3F6"/>
                    </a:gs>
                  </a:gsLst>
                  <a:lin ang="16200000" scaled="0"/>
                </a:gradFill>
                <a:tableStyleId>{19D38B0A-6653-4311-879C-FC5364B394B5}</a:tableStyleId>
              </a:tblPr>
              <a:tblGrid>
                <a:gridCol w="451625">
                  <a:extLst>
                    <a:ext uri="{9D8B030D-6E8A-4147-A177-3AD203B41FA5}">
                      <a16:colId xmlns:a16="http://schemas.microsoft.com/office/drawing/2014/main" val="20000"/>
                    </a:ext>
                  </a:extLst>
                </a:gridCol>
                <a:gridCol w="451625">
                  <a:extLst>
                    <a:ext uri="{9D8B030D-6E8A-4147-A177-3AD203B41FA5}">
                      <a16:colId xmlns:a16="http://schemas.microsoft.com/office/drawing/2014/main" val="20001"/>
                    </a:ext>
                  </a:extLst>
                </a:gridCol>
                <a:gridCol w="451625">
                  <a:extLst>
                    <a:ext uri="{9D8B030D-6E8A-4147-A177-3AD203B41FA5}">
                      <a16:colId xmlns:a16="http://schemas.microsoft.com/office/drawing/2014/main" val="20002"/>
                    </a:ext>
                  </a:extLst>
                </a:gridCol>
                <a:gridCol w="451625">
                  <a:extLst>
                    <a:ext uri="{9D8B030D-6E8A-4147-A177-3AD203B41FA5}">
                      <a16:colId xmlns:a16="http://schemas.microsoft.com/office/drawing/2014/main" val="20003"/>
                    </a:ext>
                  </a:extLst>
                </a:gridCol>
                <a:gridCol w="451625">
                  <a:extLst>
                    <a:ext uri="{9D8B030D-6E8A-4147-A177-3AD203B41FA5}">
                      <a16:colId xmlns:a16="http://schemas.microsoft.com/office/drawing/2014/main" val="20004"/>
                    </a:ext>
                  </a:extLst>
                </a:gridCol>
                <a:gridCol w="451625">
                  <a:extLst>
                    <a:ext uri="{9D8B030D-6E8A-4147-A177-3AD203B41FA5}">
                      <a16:colId xmlns:a16="http://schemas.microsoft.com/office/drawing/2014/main" val="20005"/>
                    </a:ext>
                  </a:extLst>
                </a:gridCol>
                <a:gridCol w="451625">
                  <a:extLst>
                    <a:ext uri="{9D8B030D-6E8A-4147-A177-3AD203B41FA5}">
                      <a16:colId xmlns:a16="http://schemas.microsoft.com/office/drawing/2014/main" val="20006"/>
                    </a:ext>
                  </a:extLst>
                </a:gridCol>
                <a:gridCol w="451625">
                  <a:extLst>
                    <a:ext uri="{9D8B030D-6E8A-4147-A177-3AD203B41FA5}">
                      <a16:colId xmlns:a16="http://schemas.microsoft.com/office/drawing/2014/main" val="20007"/>
                    </a:ext>
                  </a:extLst>
                </a:gridCol>
              </a:tblGrid>
              <a:tr h="177800">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0</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dashDot"/>
                      <a:round/>
                      <a:headEnd type="none" w="sm" len="sm"/>
                      <a:tailEnd type="none" w="sm" len="sm"/>
                    </a:lnL>
                    <a:lnR w="12700" cap="flat" cmpd="sng">
                      <a:solidFill>
                        <a:schemeClr val="dk1"/>
                      </a:solidFill>
                      <a:prstDash val="dashDot"/>
                      <a:round/>
                      <a:headEnd type="none" w="sm" len="sm"/>
                      <a:tailEnd type="none" w="sm" len="sm"/>
                    </a:lnR>
                    <a:lnT w="12700" cap="flat" cmpd="sng">
                      <a:solidFill>
                        <a:schemeClr val="dk1"/>
                      </a:solidFill>
                      <a:prstDash val="dashDot"/>
                      <a:round/>
                      <a:headEnd type="none" w="sm" len="sm"/>
                      <a:tailEnd type="none" w="sm" len="sm"/>
                    </a:lnT>
                    <a:lnB w="12700" cap="flat" cmpd="sng">
                      <a:solidFill>
                        <a:schemeClr val="dk1"/>
                      </a:solidFill>
                      <a:prstDash val="dashDot"/>
                      <a:round/>
                      <a:headEnd type="none" w="sm" len="sm"/>
                      <a:tailEnd type="none" w="sm" len="sm"/>
                    </a:lnB>
                  </a:tcPr>
                </a:tc>
                <a:extLst>
                  <a:ext uri="{0D108BD9-81ED-4DB2-BD59-A6C34878D82A}">
                    <a16:rowId xmlns:a16="http://schemas.microsoft.com/office/drawing/2014/main" val="10000"/>
                  </a:ext>
                </a:extLst>
              </a:tr>
            </a:tbl>
          </a:graphicData>
        </a:graphic>
      </p:graphicFrame>
      <p:sp>
        <p:nvSpPr>
          <p:cNvPr id="100" name="Google Shape;100;p15"/>
          <p:cNvSpPr txBox="1"/>
          <p:nvPr/>
        </p:nvSpPr>
        <p:spPr>
          <a:xfrm>
            <a:off x="730045" y="3753683"/>
            <a:ext cx="196153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After swapping the nibbles</a:t>
            </a:r>
            <a:endParaRPr dirty="0">
              <a:latin typeface="Roboto" panose="02000000000000000000" pitchFamily="2" charset="0"/>
              <a:ea typeface="Roboto" panose="02000000000000000000" pitchFamily="2" charset="0"/>
              <a:cs typeface="Roboto" panose="02000000000000000000" pitchFamily="2" charset="0"/>
            </a:endParaRPr>
          </a:p>
        </p:txBody>
      </p:sp>
      <p:cxnSp>
        <p:nvCxnSpPr>
          <p:cNvPr id="101" name="Google Shape;101;p15"/>
          <p:cNvCxnSpPr/>
          <p:nvPr/>
        </p:nvCxnSpPr>
        <p:spPr>
          <a:xfrm>
            <a:off x="4851122" y="3412918"/>
            <a:ext cx="0" cy="633152"/>
          </a:xfrm>
          <a:prstGeom prst="straightConnector1">
            <a:avLst/>
          </a:prstGeom>
          <a:noFill/>
          <a:ln w="25400" cap="flat" cmpd="sng">
            <a:solidFill>
              <a:schemeClr val="accent2"/>
            </a:solidFill>
            <a:prstDash val="solid"/>
            <a:round/>
            <a:headEnd type="none" w="sm" len="sm"/>
            <a:tailEnd type="triangle" w="med" len="med"/>
          </a:ln>
          <a:effectLst>
            <a:outerShdw blurRad="40000" dist="20000" dir="5400000" rotWithShape="0">
              <a:srgbClr val="000000">
                <a:alpha val="37647"/>
              </a:srgbClr>
            </a:outerShdw>
          </a:effec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9" name="Google Shape;109;p16"/>
          <p:cNvSpPr txBox="1"/>
          <p:nvPr/>
        </p:nvSpPr>
        <p:spPr>
          <a:xfrm>
            <a:off x="672079" y="840099"/>
            <a:ext cx="7799841" cy="3252132"/>
          </a:xfrm>
          <a:prstGeom prst="rect">
            <a:avLst/>
          </a:prstGeom>
          <a:noFill/>
          <a:ln>
            <a:noFill/>
          </a:ln>
        </p:spPr>
        <p:txBody>
          <a:bodyPr spcFirstLastPara="1" wrap="square" lIns="91425" tIns="45700" rIns="91425" bIns="45700" anchor="t" anchorCtr="0">
            <a:spAutoFit/>
          </a:bodyPr>
          <a:lstStyle/>
          <a:p>
            <a:pPr marL="285750" marR="0" lvl="2"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purpose of swapping nibbles in a byte can vary depending on the context. It can be a data transformation technique used in certain algorithms or programming tasks. </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285750" marR="0" lvl="0" indent="-285750" algn="l" rtl="0">
              <a:lnSpc>
                <a:spcPct val="150000"/>
              </a:lnSpc>
              <a:spcBef>
                <a:spcPts val="800"/>
              </a:spcBef>
              <a:spcAft>
                <a:spcPts val="0"/>
              </a:spcAft>
              <a:buClr>
                <a:srgbClr val="000000"/>
              </a:buClr>
              <a:buSzPts val="1600"/>
              <a:buFont typeface="Arial"/>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Swapping nibbles can facilitate certain operations on the data stored within a byte or enable efficient storage or transmission of specific information. </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285750" marR="0" lvl="0" indent="-285750" algn="l" rtl="0">
              <a:lnSpc>
                <a:spcPct val="150000"/>
              </a:lnSpc>
              <a:spcBef>
                <a:spcPts val="800"/>
              </a:spcBef>
              <a:spcAft>
                <a:spcPts val="0"/>
              </a:spcAft>
              <a:buClr>
                <a:srgbClr val="000000"/>
              </a:buClr>
              <a:buSzPts val="1600"/>
              <a:buFont typeface="Arial"/>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Overall, swapping two nibbles in a byte is a simple bitwise operation that involves extracting the values of the nibbles, storing them temporarily, and then recombining them in the opposite order to create the swapped byte.</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7" name="Google Shape;117;p17"/>
          <p:cNvSpPr txBox="1"/>
          <p:nvPr/>
        </p:nvSpPr>
        <p:spPr>
          <a:xfrm>
            <a:off x="672079" y="520643"/>
            <a:ext cx="8125334" cy="415494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Procedure</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snippet of code for nibble swap is as follows: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(x &amp; 0x0F) &lt;&lt; 4 | (x &amp; 0xF0) &gt;&gt; 4</a:t>
            </a:r>
            <a:b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Explanation</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As we know binary of 100 is 01100100. To swap the nibble we split the operation into two parts, in the first part we get the last 4 bits and in the second part, we get the first 4 bits of a byte.</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First operation:</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The expression “data &amp; 0x0F” gives us the last 4 bits of data and the result would be 00000100.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Using the bitwise left shift operator ‘&lt;&lt;‘, we shift the last four bits to the left 4 times and make the new last four bits as 0. The result after the shift is 01000000.</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5" name="Google Shape;125;p21"/>
          <p:cNvSpPr txBox="1"/>
          <p:nvPr/>
        </p:nvSpPr>
        <p:spPr>
          <a:xfrm>
            <a:off x="672079" y="520643"/>
            <a:ext cx="7799841" cy="366250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Procedure</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Second operation:</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The expression “data &amp; 0xF0” gives us first four bits of data and result would be 01100000.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Using the bitwise right shift operator ‘&gt;&gt;’ , we shift the digit to the right 4 times and make the first four bits 0. The result after the shift is 00000110.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After completing the two operations we use the bitwise OR ‘|’ operation on them. After OR operation you will find that first nibble in the place of the last nibble and the last nibble to the place of first nibble</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3" name="Google Shape;133;p25"/>
          <p:cNvSpPr txBox="1"/>
          <p:nvPr/>
        </p:nvSpPr>
        <p:spPr>
          <a:xfrm>
            <a:off x="967047" y="720060"/>
            <a:ext cx="7799841" cy="38472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Program</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b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Sample IO</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Input: 100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Output: 70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Input: 200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Output: 140</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Input: 67</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Output: 52</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42" name="Google Shape;142;p35"/>
          <p:cNvGraphicFramePr/>
          <p:nvPr/>
        </p:nvGraphicFramePr>
        <p:xfrm>
          <a:off x="1142730" y="1206873"/>
          <a:ext cx="7706025" cy="3505210"/>
        </p:xfrm>
        <a:graphic>
          <a:graphicData uri="http://schemas.openxmlformats.org/drawingml/2006/table">
            <a:tbl>
              <a:tblPr firstRow="1" bandRow="1">
                <a:noFill/>
                <a:tableStyleId>{C34BCF58-39A6-48E1-92B2-C73DC8293186}</a:tableStyleId>
              </a:tblPr>
              <a:tblGrid>
                <a:gridCol w="77060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import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java.util.Scanner</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public class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SwapNibble</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public static void main(String[]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args</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Scanner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scanner</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 new Scanner(System.in);</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System.out.print</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("Enter a number: ");</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int num =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scanner.nextInt</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int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swapnum</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swapnum</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 ((num &amp; 0x0F) &lt;&lt; 4 | (num &amp; 0xF0) &gt;&gt; 4);</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("Before swapping the nibble: " + num);</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("\n After swapping the nibble: " +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swapnum</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 Close the scanner</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6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scanner.close</a:t>
                      </a: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p>
                    <a:p>
                      <a:pPr marL="0" marR="0" lvl="0" indent="0" algn="l" rtl="0">
                        <a:lnSpc>
                          <a:spcPct val="100000"/>
                        </a:lnSpc>
                        <a:spcBef>
                          <a:spcPts val="0"/>
                        </a:spcBef>
                        <a:spcAft>
                          <a:spcPts val="0"/>
                        </a:spcAft>
                        <a:buNone/>
                      </a:pPr>
                      <a:r>
                        <a:rPr lang="en-US" sz="16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p>
                  </a:txBody>
                  <a:tcPr marL="91450" marR="91450" marT="45725" marB="45725"/>
                </a:tc>
                <a:extLst>
                  <a:ext uri="{0D108BD9-81ED-4DB2-BD59-A6C34878D82A}">
                    <a16:rowId xmlns:a16="http://schemas.microsoft.com/office/drawing/2014/main" val="10000"/>
                  </a:ext>
                </a:extLst>
              </a:tr>
            </a:tbl>
          </a:graphicData>
        </a:graphic>
      </p:graphicFrame>
      <p:sp>
        <p:nvSpPr>
          <p:cNvPr id="143" name="Google Shape;143;p35"/>
          <p:cNvSpPr txBox="1"/>
          <p:nvPr/>
        </p:nvSpPr>
        <p:spPr>
          <a:xfrm>
            <a:off x="73863" y="997714"/>
            <a:ext cx="97013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Program</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51" name="Google Shape;151;g23f307fc558_0_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52" name="Google Shape;152;g23f307fc558_0_8"/>
          <p:cNvSpPr txBox="1"/>
          <p:nvPr/>
        </p:nvSpPr>
        <p:spPr>
          <a:xfrm>
            <a:off x="653561" y="1426517"/>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a nibble? </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53" name="Google Shape;153;g23f307fc558_0_8"/>
          <p:cNvSpPr txBox="1"/>
          <p:nvPr/>
        </p:nvSpPr>
        <p:spPr>
          <a:xfrm>
            <a:off x="1007602" y="2242353"/>
            <a:ext cx="720090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 nibble is a four-bit aggregation, also known as a half-byte. It represents a single hexadecimal digit.</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228;g25ff1c1f48c_0_20">
            <a:extLst>
              <a:ext uri="{FF2B5EF4-FFF2-40B4-BE49-F238E27FC236}">
                <a16:creationId xmlns:a16="http://schemas.microsoft.com/office/drawing/2014/main" id="{6E12F6A2-4EE2-8CA1-31E4-04D782356822}"/>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1" name="Google Shape;161;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62" name="Google Shape;162;g23f307fc558_0_18"/>
          <p:cNvSpPr txBox="1"/>
          <p:nvPr/>
        </p:nvSpPr>
        <p:spPr>
          <a:xfrm>
            <a:off x="565070" y="1278615"/>
            <a:ext cx="8117100" cy="79556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Explain the concept of swapping two nibbles in a byte. </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63" name="Google Shape;163;g23f307fc558_0_18"/>
          <p:cNvSpPr txBox="1"/>
          <p:nvPr/>
        </p:nvSpPr>
        <p:spPr>
          <a:xfrm>
            <a:off x="1136812" y="2109571"/>
            <a:ext cx="7200900"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Swapping two nibbles in a byte means interchanging the positions of the first four bits (the first nibble) with the last four bits (the second nibble) in a byte.</a:t>
            </a:r>
            <a:endParaRPr sz="2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8;g25ff1c1f48c_0_20">
            <a:extLst>
              <a:ext uri="{FF2B5EF4-FFF2-40B4-BE49-F238E27FC236}">
                <a16:creationId xmlns:a16="http://schemas.microsoft.com/office/drawing/2014/main" id="{43A5843D-6A24-FA31-6EDB-173D8559CCCD}"/>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72" name="Google Shape;172;g23f307fc558_0_30"/>
          <p:cNvSpPr txBox="1"/>
          <p:nvPr/>
        </p:nvSpPr>
        <p:spPr>
          <a:xfrm>
            <a:off x="549502" y="1260839"/>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significance of swapping two nibbles in a byte?</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73" name="Google Shape;173;g23f307fc558_0_30"/>
          <p:cNvSpPr txBox="1"/>
          <p:nvPr/>
        </p:nvSpPr>
        <p:spPr>
          <a:xfrm>
            <a:off x="1007602" y="2090768"/>
            <a:ext cx="7200900" cy="184662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Swapping two nibbles in a byte can be useful in certain applications, such as data encryption or data compression algorithms. It allows for reordering or rearranging the bits within a byte, which can impact the representation or interpretation of data.</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228;g25ff1c1f48c_0_20">
            <a:extLst>
              <a:ext uri="{FF2B5EF4-FFF2-40B4-BE49-F238E27FC236}">
                <a16:creationId xmlns:a16="http://schemas.microsoft.com/office/drawing/2014/main" id="{89263CC4-C418-41A4-E4C9-0820BE329DC0}"/>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g23f307fc558_0_79"/>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2" name="Google Shape;182;g23f307fc558_0_79"/>
          <p:cNvSpPr txBox="1"/>
          <p:nvPr/>
        </p:nvSpPr>
        <p:spPr>
          <a:xfrm>
            <a:off x="513450" y="1110847"/>
            <a:ext cx="8117100"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Is there any difference between swapping two nibbles in a byte and swapping the bytes themselves?</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83" name="Google Shape;183;g23f307fc558_0_79"/>
          <p:cNvSpPr txBox="1"/>
          <p:nvPr/>
        </p:nvSpPr>
        <p:spPr>
          <a:xfrm>
            <a:off x="1136452" y="1862993"/>
            <a:ext cx="7200900" cy="203129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Yes, there is a difference. Swapping two nibbles in a byte involves interchanging the positions of the first four bits with the last four bits within the same byte. On the other hand, swapping the bytes themselves refers to interchanging the positions of two entire bytes within a larger data structure, such as a word or a memory block.</a:t>
            </a:r>
            <a:endParaRPr sz="20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8;g25ff1c1f48c_0_20">
            <a:extLst>
              <a:ext uri="{FF2B5EF4-FFF2-40B4-BE49-F238E27FC236}">
                <a16:creationId xmlns:a16="http://schemas.microsoft.com/office/drawing/2014/main" id="{50A6AB72-844F-8A1D-ADF8-34023E7C3286}"/>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algn="ctr" eaLnBrk="1" hangingPunct="1">
              <a:lnSpc>
                <a:spcPct val="100000"/>
              </a:lnSpc>
              <a:spcBef>
                <a:spcPct val="0"/>
              </a:spcBef>
              <a:buClr>
                <a:srgbClr val="000000"/>
              </a:buClr>
              <a:buSzPts val="1200"/>
              <a:buFontTx/>
              <a:buNone/>
            </a:pPr>
            <a:r>
              <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hlinkClick r:id="rId4"/>
              </a:rPr>
              <a:t>https://learn.codemithra.com</a:t>
            </a:r>
            <a:endPar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endParaRPr>
          </a:p>
          <a:p>
            <a:pPr algn="ctr" eaLnBrk="1" hangingPunct="1">
              <a:lnSpc>
                <a:spcPct val="100000"/>
              </a:lnSpc>
              <a:spcBef>
                <a:spcPct val="0"/>
              </a:spcBef>
              <a:buClr>
                <a:srgbClr val="000000"/>
              </a:buClr>
              <a:buSzPts val="1200"/>
              <a:buFontTx/>
              <a:buNone/>
            </a:pPr>
            <a:endParaRPr lang="en-US" altLang="en-US" sz="1200" dirty="0">
              <a:solidFill>
                <a:srgbClr val="000000"/>
              </a:solidFill>
              <a:ea typeface="Roboto" panose="02000000000000000000" pitchFamily="2" charset="0"/>
              <a:cs typeface="Roboto" panose="02000000000000000000" pitchFamily="2"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pPr>
              <a:lnSpc>
                <a:spcPct val="100000"/>
              </a:lnSpc>
              <a:buSzPts val="5200"/>
            </a:pPr>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pPr>
              <a:lnSpc>
                <a:spcPct val="100000"/>
              </a:lnSpc>
              <a:spcBef>
                <a:spcPts val="0"/>
              </a:spcBef>
              <a:buSzPts val="2800"/>
            </a:pPr>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a:buClr>
                <a:srgbClr val="000000"/>
              </a:buClr>
              <a:buSzPts val="3700"/>
            </a:pPr>
            <a:r>
              <a:rPr lang="en-IN" sz="3700" dirty="0">
                <a:solidFill>
                  <a:schemeClr val="lt1"/>
                </a:solidFill>
                <a:latin typeface="Roboto Medium"/>
                <a:ea typeface="Roboto Medium"/>
                <a:cs typeface="Roboto Medium"/>
                <a:sym typeface="Roboto Medium"/>
              </a:rPr>
              <a:t>THANK YOU</a:t>
            </a:r>
            <a:endParaRPr sz="3700" dirty="0">
              <a:solidFill>
                <a:schemeClr val="lt1"/>
              </a:solidFill>
              <a:latin typeface="Roboto Medium"/>
              <a:ea typeface="Roboto Medium"/>
              <a:cs typeface="Roboto Medium"/>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+91 78150 95095</a:t>
            </a:r>
            <a:endParaRPr sz="1000">
              <a:solidFill>
                <a:schemeClr val="lt1"/>
              </a:solidFill>
              <a:latin typeface="Roboto Medium"/>
              <a:ea typeface="Roboto Medium"/>
              <a:cs typeface="Roboto Medium"/>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codemithra@ethnus.com</a:t>
            </a:r>
            <a:endParaRPr sz="1000">
              <a:solidFill>
                <a:schemeClr val="lt1"/>
              </a:solidFill>
              <a:latin typeface="Roboto Medium"/>
              <a:ea typeface="Roboto Medium"/>
              <a:cs typeface="Roboto Medium"/>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www.codemithra.com</a:t>
            </a:r>
            <a:endParaRPr sz="1000">
              <a:solidFill>
                <a:schemeClr val="lt1"/>
              </a:solidFill>
              <a:latin typeface="Roboto Medium"/>
              <a:ea typeface="Roboto Medium"/>
              <a:cs typeface="Roboto Medium"/>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919</Words>
  <Application>Microsoft Office PowerPoint</Application>
  <PresentationFormat>On-screen Show (16:9)</PresentationFormat>
  <Paragraphs>120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Roboto</vt:lpstr>
      <vt:lpstr>Roboto Medium</vt:lpstr>
      <vt:lpstr>Arial</vt:lpstr>
      <vt:lpstr>Calibri</vt:lpstr>
      <vt:lpstr>Roboto Black</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1</cp:revision>
  <dcterms:modified xsi:type="dcterms:W3CDTF">2024-07-15T05:21:03Z</dcterms:modified>
</cp:coreProperties>
</file>