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  <p:sldMasterId id="214748367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roxima Nova"/>
      <p:regular r:id="rId23"/>
      <p:bold r:id="rId24"/>
      <p:italic r:id="rId25"/>
      <p:boldItalic r:id="rId26"/>
    </p:embeddedFont>
    <p:embeddedFont>
      <p:font typeface="Aclonica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2BWNT1TGf188DRzh/XbuiAuf/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613961-14E4-42E5-B3B4-BE06F0477841}">
  <a:tblStyle styleId="{A7613961-14E4-42E5-B3B4-BE06F047784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fill>
          <a:solidFill>
            <a:srgbClr val="FFE2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E2C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86D01A-01DC-4E8A-B079-FF1883EC30B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customschemas.google.com/relationships/presentationmetadata" Target="metadata"/><Relationship Id="rId27" Type="http://schemas.openxmlformats.org/officeDocument/2006/relationships/font" Target="fonts/Aclonica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Roboto-regular.fntdata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4e391f73e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64e391f73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4e391f73e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264e391f73e_0_5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4e391f73e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264e391f73e_0_5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e391f73e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264e391f73e_0_5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4e391f73e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264e391f73e_0_4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4e391f73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264e391f73e_0_3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4e391f73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264e391f73e_0_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64e391f73e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264e391f73e_0_3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4e391f73e_0_250:notes"/>
          <p:cNvSpPr/>
          <p:nvPr>
            <p:ph idx="2" type="sldImg"/>
          </p:nvPr>
        </p:nvSpPr>
        <p:spPr>
          <a:xfrm>
            <a:off x="380259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264e391f73e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623888" y="1282225"/>
            <a:ext cx="7886700" cy="21394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623888" y="3441884"/>
            <a:ext cx="7886700" cy="11250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4766969"/>
            <a:ext cx="2057400" cy="27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4766969"/>
            <a:ext cx="3086100" cy="27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4766969"/>
            <a:ext cx="2057400" cy="273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9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20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30" name="Google Shape;3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0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1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38" name="Google Shape;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2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45" name="Google Shape;4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2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3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55" name="Google Shape;5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3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24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62" name="Google Shape;6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4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5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70" name="Google Shape;7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5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6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76" name="Google Shape;7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6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4e391f73e_0_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g264e391f73e_0_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g264e391f73e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4e391f73e_0_10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g264e391f73e_0_10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g264e391f73e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4e391f73e_0_10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g264e391f73e_0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264e391f73e_0_104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96" name="Google Shape;96;g264e391f73e_0_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64e391f73e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64e391f73e_0_104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4e391f73e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g264e391f73e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g264e391f73e_0_111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03" name="Google Shape;103;g264e391f73e_0_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64e391f73e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64e391f73e_0_111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4e391f73e_0_1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" name="Google Shape;108;g264e391f73e_0_1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g264e391f73e_0_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g264e391f73e_0_118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11" name="Google Shape;111;g264e391f73e_0_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64e391f73e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64e391f73e_0_118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4e391f73e_0_1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g264e391f73e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g264e391f73e_0_126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18" name="Google Shape;118;g264e391f73e_0_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64e391f73e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64e391f73e_0_126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4e391f73e_0_1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64e391f73e_0_1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4" name="Google Shape;124;g264e391f73e_0_1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g264e391f73e_0_1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g264e391f73e_0_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g264e391f73e_0_133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28" name="Google Shape;128;g264e391f73e_0_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64e391f73e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64e391f73e_0_133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4e391f73e_0_1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g264e391f73e_0_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g264e391f73e_0_143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35" name="Google Shape;135;g264e391f73e_0_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64e391f73e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64e391f73e_0_143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4e391f73e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g264e391f73e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g264e391f73e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g264e391f73e_0_150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43" name="Google Shape;143;g264e391f73e_0_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64e391f73e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64e391f73e_0_150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4e391f73e_0_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264e391f73e_0_158"/>
          <p:cNvSpPr/>
          <p:nvPr/>
        </p:nvSpPr>
        <p:spPr>
          <a:xfrm>
            <a:off x="0" y="-13024"/>
            <a:ext cx="9144000" cy="61560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  <p:pic>
        <p:nvPicPr>
          <p:cNvPr id="149" name="Google Shape;149;g264e391f73e_0_1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43" y="128286"/>
            <a:ext cx="274320" cy="30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264e391f73e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4315" y="21341"/>
            <a:ext cx="548700" cy="56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64e391f73e_0_158"/>
          <p:cNvSpPr txBox="1"/>
          <p:nvPr/>
        </p:nvSpPr>
        <p:spPr>
          <a:xfrm>
            <a:off x="584225" y="57289"/>
            <a:ext cx="6472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4e391f73e_0_4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g264e391f73e_0_4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g264e391f73e_0_4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4e391f73e_0_4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g264e391f73e_0_4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4e391f73e_0_4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5" name="Google Shape;165;g264e391f73e_0_4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4e391f73e_0_4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64e391f73e_0_4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9" name="Google Shape;169;g264e391f73e_0_4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g264e391f73e_0_4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" name="Google Shape;171;g264e391f73e_0_4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4e391f73e_0_48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74" name="Google Shape;174;g264e391f73e_0_4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e391f73e_0_4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" name="Google Shape;177;g264e391f73e_0_49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g264e391f73e_0_4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180" name="Google Shape;180;g264e391f73e_0_4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7668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181" name="Google Shape;181;g264e391f73e_0_494"/>
          <p:cNvPicPr preferRelativeResize="0"/>
          <p:nvPr/>
        </p:nvPicPr>
        <p:blipFill rotWithShape="1">
          <a:blip r:embed="rId3">
            <a:alphaModFix/>
          </a:blip>
          <a:srcRect b="37530" l="0" r="0" t="55602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64e391f73e_0_49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264e391f73e_0_49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64e391f73e_0_49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264e391f73e_0_49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e391f73e_0_7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8" name="Google Shape;188;g264e391f73e_0_7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9" name="Google Shape;189;g264e391f73e_0_7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64e391f73e_0_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264e391f73e_0_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264e391f73e_0_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4e391f73e_0_4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g264e391f73e_0_4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264e391f73e_0_4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hyperlink" Target="https://codemithra.com/vit-helpdesk/" TargetMode="External"/><Relationship Id="rId7" Type="http://schemas.openxmlformats.org/officeDocument/2006/relationships/hyperlink" Target="https://learn.codemithra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11" Type="http://schemas.openxmlformats.org/officeDocument/2006/relationships/image" Target="../media/image14.png"/><Relationship Id="rId10" Type="http://schemas.openxmlformats.org/officeDocument/2006/relationships/image" Target="../media/image15.png"/><Relationship Id="rId12" Type="http://schemas.openxmlformats.org/officeDocument/2006/relationships/image" Target="../media/image10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hyperlink" Target="https://learn.codemithra.com/" TargetMode="External"/><Relationship Id="rId8" Type="http://schemas.openxmlformats.org/officeDocument/2006/relationships/hyperlink" Target="https://learn.codemithr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1" y="431429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e391f73e_0_84"/>
          <p:cNvSpPr txBox="1"/>
          <p:nvPr>
            <p:ph idx="1" type="body"/>
          </p:nvPr>
        </p:nvSpPr>
        <p:spPr>
          <a:xfrm>
            <a:off x="1328100" y="2311313"/>
            <a:ext cx="6487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Orientation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200" name="Google Shape;200;g264e391f73e_0_84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64e391f73e_0_84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264e391f73e_0_84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264e391f73e_0_510"/>
          <p:cNvPicPr preferRelativeResize="0"/>
          <p:nvPr/>
        </p:nvPicPr>
        <p:blipFill rotWithShape="1">
          <a:blip r:embed="rId3">
            <a:alphaModFix/>
          </a:blip>
          <a:srcRect b="51127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64e391f73e_0_510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64e391f73e_0_51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64e391f73e_0_510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Instructions</a:t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264e391f73e_0_510"/>
          <p:cNvSpPr txBox="1"/>
          <p:nvPr>
            <p:ph idx="1" type="body"/>
          </p:nvPr>
        </p:nvSpPr>
        <p:spPr>
          <a:xfrm>
            <a:off x="333625" y="1226900"/>
            <a:ext cx="8544600" cy="3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Session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will not be given if you come after 5 minutes.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session quiz will be conducted in the first 5 minutes based on the portions covered in the previous class.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gadgets inside the classroom is not encouraged.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69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264e391f73e_0_552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264e391f73e_0_552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264e391f73e_0_552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64e391f73e_0_552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Attendance Policy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264e391f73e_0_552"/>
          <p:cNvSpPr txBox="1"/>
          <p:nvPr>
            <p:ph idx="1" type="body"/>
          </p:nvPr>
        </p:nvSpPr>
        <p:spPr>
          <a:xfrm>
            <a:off x="304800" y="1253000"/>
            <a:ext cx="73854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Maintain 75 percentage of attendance.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Attendance will be projected with absentees list. Do pay attention, no modifications will be encouraged.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In case of any issues with respect to attendance reach the faculty attendance will be modified only if your faculty acknowledges the same.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264e391f73e_0_596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264e391f73e_0_596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64e391f73e_0_596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64e391f73e_0_596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Attendance Policy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264e391f73e_0_596"/>
          <p:cNvSpPr txBox="1"/>
          <p:nvPr>
            <p:ph idx="1" type="body"/>
          </p:nvPr>
        </p:nvSpPr>
        <p:spPr>
          <a:xfrm>
            <a:off x="304800" y="1253000"/>
            <a:ext cx="73854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Attendance gets blocked on every Monday. No changes will be made after that even for the valid reason.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During exams, attendance will be get blocked on last working day.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264e391f73e_0_458"/>
          <p:cNvPicPr preferRelativeResize="0"/>
          <p:nvPr/>
        </p:nvPicPr>
        <p:blipFill rotWithShape="1">
          <a:blip r:embed="rId3">
            <a:alphaModFix/>
          </a:blip>
          <a:srcRect b="51127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264e391f73e_0_458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264e391f73e_0_458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64e391f73e_0_458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Assessments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g264e391f73e_0_458"/>
          <p:cNvSpPr txBox="1"/>
          <p:nvPr>
            <p:ph idx="1" type="body"/>
          </p:nvPr>
        </p:nvSpPr>
        <p:spPr>
          <a:xfrm>
            <a:off x="293200" y="1253000"/>
            <a:ext cx="7902000" cy="2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Assessments will be conducted offline in respective class rooms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CAT and FAT exams will be conducted in Labs.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ssessment based on Information from the Investigation Wing of Income Tax  is Valid: ITAT [Read Order]" id="239" name="Google Shape;239;g264e391f73e_0_4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9475" y="2511350"/>
            <a:ext cx="2432524" cy="13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264e391f73e_0_372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264e391f73e_0_372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264e391f73e_0_372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64e391f73e_0_372"/>
          <p:cNvSpPr/>
          <p:nvPr/>
        </p:nvSpPr>
        <p:spPr>
          <a:xfrm>
            <a:off x="2059033" y="250428"/>
            <a:ext cx="5570400" cy="414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8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Tentative Evaluation Policy and Grading Criteria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8" name="Google Shape;248;g264e391f73e_0_372"/>
          <p:cNvGraphicFramePr/>
          <p:nvPr/>
        </p:nvGraphicFramePr>
        <p:xfrm>
          <a:off x="803863" y="1108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{A7613961-14E4-42E5-B3B4-BE06F0477841}</a:tableStyleId>
              </a:tblPr>
              <a:tblGrid>
                <a:gridCol w="1277350"/>
                <a:gridCol w="876850"/>
                <a:gridCol w="840225"/>
                <a:gridCol w="1999725"/>
                <a:gridCol w="2313525"/>
              </a:tblGrid>
              <a:tr h="2506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Assessment Tests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Weightage(70%)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Exam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Marks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Weightage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Question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 1 / CAT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 mins for Aptitude courses and 75 mins for Technical courses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MCQs- Aptitude</a:t>
                      </a:r>
                      <a:endParaRPr sz="12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MCQs &amp; 2 Coding - Technical</a:t>
                      </a:r>
                      <a:endParaRPr sz="12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 mins for Aptitude courses and 90 mins for Technical courses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 MCQs- Aptitude</a:t>
                      </a:r>
                      <a:endParaRPr sz="12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MCQs &amp; 2 Coding - Technical</a:t>
                      </a:r>
                      <a:endParaRPr sz="12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g264e391f73e_0_372"/>
          <p:cNvGraphicFramePr/>
          <p:nvPr/>
        </p:nvGraphicFramePr>
        <p:xfrm>
          <a:off x="1560753" y="3228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{9F86D01A-01DC-4E8A-B079-FF1883EC30BC}</a:tableStyleId>
              </a:tblPr>
              <a:tblGrid>
                <a:gridCol w="1517175"/>
                <a:gridCol w="1517175"/>
                <a:gridCol w="1040075"/>
                <a:gridCol w="1994250"/>
              </a:tblGrid>
              <a:tr h="3048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Internal assessment 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Weightage(30%)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6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Type of Assessment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Total Marks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Weightage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Remarks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Assessment 1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15%</a:t>
                      </a:r>
                      <a:endParaRPr sz="11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2</a:t>
                      </a: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nd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 &amp; </a:t>
                      </a: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3rd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September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 2024(As per your slot)</a:t>
                      </a:r>
                      <a:endParaRPr sz="11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Assessment 2</a:t>
                      </a:r>
                      <a:endParaRPr sz="1100" u="none" cap="none" strike="noStrike">
                        <a:solidFill>
                          <a:srgbClr val="0C0C0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C0C0C"/>
                          </a:solidFill>
                          <a:highlight>
                            <a:srgbClr val="00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15%</a:t>
                      </a:r>
                      <a:endParaRPr sz="11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9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th &amp; </a:t>
                      </a: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10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th </a:t>
                      </a: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October</a:t>
                      </a:r>
                      <a:r>
                        <a:rPr lang="en-US" sz="1100" u="none" cap="none" strike="noStrike">
                          <a:highlight>
                            <a:srgbClr val="00FFFF"/>
                          </a:highlight>
                        </a:rPr>
                        <a:t> 2024(As per your slot)</a:t>
                      </a:r>
                      <a:endParaRPr sz="1100" u="none" cap="none" strike="noStrike">
                        <a:solidFill>
                          <a:srgbClr val="0C0C0C"/>
                        </a:solidFill>
                        <a:highlight>
                          <a:srgbClr val="00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264e391f73e_0_207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264e391f73e_0_207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64e391f73e_0_207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264e391f73e_0_207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Reference Materials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264e391f73e_0_207"/>
          <p:cNvSpPr txBox="1"/>
          <p:nvPr>
            <p:ph idx="1" type="body"/>
          </p:nvPr>
        </p:nvSpPr>
        <p:spPr>
          <a:xfrm>
            <a:off x="293200" y="1253000"/>
            <a:ext cx="71139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▪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will be provided on course page(VTOP Portal)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▪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topic will be provided with quiz link and practice questions.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di-Tag Divider Sticky Notes 60 Ruled Notes, 4 x 6 inches, Assorted Neon  Colors (29500): Amazon.in: Office Products" id="259" name="Google Shape;259;g264e391f73e_0_2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9699" y="2571750"/>
            <a:ext cx="1941101" cy="194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264e391f73e_0_316"/>
          <p:cNvPicPr preferRelativeResize="0"/>
          <p:nvPr/>
        </p:nvPicPr>
        <p:blipFill rotWithShape="1">
          <a:blip r:embed="rId3">
            <a:alphaModFix/>
          </a:blip>
          <a:srcRect b="51125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64e391f73e_0_316"/>
          <p:cNvPicPr preferRelativeResize="0"/>
          <p:nvPr/>
        </p:nvPicPr>
        <p:blipFill rotWithShape="1">
          <a:blip r:embed="rId4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64e391f73e_0_316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64e391f73e_0_316"/>
          <p:cNvSpPr/>
          <p:nvPr/>
        </p:nvSpPr>
        <p:spPr>
          <a:xfrm>
            <a:off x="2147550" y="514550"/>
            <a:ext cx="4848900" cy="41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Help Desk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64e391f73e_0_316"/>
          <p:cNvSpPr txBox="1"/>
          <p:nvPr>
            <p:ph idx="1" type="body"/>
          </p:nvPr>
        </p:nvSpPr>
        <p:spPr>
          <a:xfrm>
            <a:off x="293200" y="1253000"/>
            <a:ext cx="71139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concerns related to attendance/marks/faculty, you can reach out to ETHNUS helpdesk through the displayed QR 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264e391f73e_0_3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8950" y="2571739"/>
            <a:ext cx="2331749" cy="207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64e391f73e_0_316"/>
          <p:cNvSpPr txBox="1"/>
          <p:nvPr/>
        </p:nvSpPr>
        <p:spPr>
          <a:xfrm>
            <a:off x="869950" y="2675050"/>
            <a:ext cx="545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b="0" i="0" sz="2400" u="sng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4e391f73e_0_250"/>
          <p:cNvSpPr/>
          <p:nvPr/>
        </p:nvSpPr>
        <p:spPr>
          <a:xfrm>
            <a:off x="-25350" y="-7313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264e391f73e_0_250"/>
          <p:cNvSpPr txBox="1"/>
          <p:nvPr/>
        </p:nvSpPr>
        <p:spPr>
          <a:xfrm>
            <a:off x="477963" y="1908645"/>
            <a:ext cx="4593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g264e391f73e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801" y="1416475"/>
            <a:ext cx="1709330" cy="207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64e391f73e_0_250"/>
          <p:cNvSpPr txBox="1"/>
          <p:nvPr/>
        </p:nvSpPr>
        <p:spPr>
          <a:xfrm>
            <a:off x="1022925" y="363447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/ethnuscodemithra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264e391f73e_0_2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225" y="213608"/>
            <a:ext cx="713224" cy="64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264e391f73e_0_2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8850" y="226355"/>
            <a:ext cx="644913" cy="64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64e391f73e_0_250"/>
          <p:cNvSpPr txBox="1"/>
          <p:nvPr/>
        </p:nvSpPr>
        <p:spPr>
          <a:xfrm>
            <a:off x="6025875" y="363447"/>
            <a:ext cx="898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/ethnus</a:t>
            </a:r>
            <a:endParaRPr b="1" i="0" sz="1200" u="none" cap="none" strike="noStrike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2" name="Google Shape;282;g264e391f73e_0_250"/>
          <p:cNvSpPr txBox="1"/>
          <p:nvPr/>
        </p:nvSpPr>
        <p:spPr>
          <a:xfrm>
            <a:off x="3575139" y="374446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Ethnus Codemithra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264e391f73e_0_250"/>
          <p:cNvPicPr preferRelativeResize="0"/>
          <p:nvPr/>
        </p:nvPicPr>
        <p:blipFill rotWithShape="1">
          <a:blip r:embed="rId6">
            <a:alphaModFix/>
          </a:blip>
          <a:srcRect b="0" l="2901" r="2900" t="0"/>
          <a:stretch/>
        </p:blipFill>
        <p:spPr>
          <a:xfrm>
            <a:off x="7065600" y="215383"/>
            <a:ext cx="608215" cy="64491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264e391f73e_0_250"/>
          <p:cNvSpPr txBox="1"/>
          <p:nvPr/>
        </p:nvSpPr>
        <p:spPr>
          <a:xfrm>
            <a:off x="7689950" y="374444"/>
            <a:ext cx="1320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/code_mithra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64e391f73e_0_250"/>
          <p:cNvSpPr txBox="1"/>
          <p:nvPr/>
        </p:nvSpPr>
        <p:spPr>
          <a:xfrm>
            <a:off x="2479175" y="3607238"/>
            <a:ext cx="3957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Calibri"/>
              <a:buNone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https://learn.codemithra.com/</a:t>
            </a:r>
            <a:endParaRPr b="0" i="0" sz="2400" u="sng" cap="none" strike="noStrike">
              <a:solidFill>
                <a:schemeClr val="hlink"/>
              </a:solidFill>
              <a:latin typeface="Proxima Nova"/>
              <a:ea typeface="Proxima Nova"/>
              <a:cs typeface="Proxima Nova"/>
              <a:sym typeface="Proxima Nova"/>
              <a:hlinkClick r:id="rId8"/>
            </a:endParaRPr>
          </a:p>
        </p:txBody>
      </p:sp>
      <p:sp>
        <p:nvSpPr>
          <p:cNvPr id="286" name="Google Shape;286;g264e391f73e_0_250"/>
          <p:cNvSpPr/>
          <p:nvPr/>
        </p:nvSpPr>
        <p:spPr>
          <a:xfrm>
            <a:off x="-25350" y="4051180"/>
            <a:ext cx="9169200" cy="108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264e391f73e_0_250"/>
          <p:cNvSpPr txBox="1"/>
          <p:nvPr/>
        </p:nvSpPr>
        <p:spPr>
          <a:xfrm>
            <a:off x="1563475" y="4421940"/>
            <a:ext cx="2184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codemithra@ethnus.com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8" name="Google Shape;288;g264e391f73e_0_2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98788" y="4273864"/>
            <a:ext cx="713058" cy="71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264e391f73e_0_25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9825" y="4272109"/>
            <a:ext cx="716576" cy="71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64e391f73e_0_25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12438" y="4284861"/>
            <a:ext cx="713058" cy="71305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64e391f73e_0_250"/>
          <p:cNvSpPr txBox="1"/>
          <p:nvPr/>
        </p:nvSpPr>
        <p:spPr>
          <a:xfrm>
            <a:off x="4425675" y="442194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+91 7815 095 095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g264e391f73e_0_250"/>
          <p:cNvSpPr txBox="1"/>
          <p:nvPr/>
        </p:nvSpPr>
        <p:spPr>
          <a:xfrm>
            <a:off x="6660975" y="4432938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+91 9019 921 340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3" name="Google Shape;293;g264e391f73e_0_25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23886" y="269196"/>
            <a:ext cx="788272" cy="554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</cp:coreProperties>
</file>