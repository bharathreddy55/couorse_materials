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Black"/>
      <p:bold r:id="rId24"/>
      <p:boldItalic r:id="rId25"/>
    </p:embeddedFont>
    <p:embeddedFont>
      <p:font typeface="Roboto"/>
      <p:regular r:id="rId26"/>
      <p:bold r:id="rId27"/>
      <p:italic r:id="rId28"/>
      <p:boldItalic r:id="rId29"/>
    </p:embeddedFont>
    <p:embeddedFont>
      <p:font typeface="Roboto Medium"/>
      <p:regular r:id="rId30"/>
      <p:bold r:id="rId31"/>
      <p:italic r:id="rId32"/>
      <p:boldItalic r:id="rId33"/>
    </p:embeddedFont>
    <p:embeddedFont>
      <p:font typeface="Nuni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8" roundtripDataSignature="AMtx7mhbwM8lfaGOm0IciqSM4+IJWBxT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lack-bold.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font" Target="fonts/RobotoBlack-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edium-bold.fntdata"/><Relationship Id="rId30" Type="http://schemas.openxmlformats.org/officeDocument/2006/relationships/font" Target="fonts/RobotoMedium-regular.fntdata"/><Relationship Id="rId11" Type="http://schemas.openxmlformats.org/officeDocument/2006/relationships/slide" Target="slides/slide6.xml"/><Relationship Id="rId33" Type="http://schemas.openxmlformats.org/officeDocument/2006/relationships/font" Target="fonts/RobotoMedium-boldItalic.fntdata"/><Relationship Id="rId10" Type="http://schemas.openxmlformats.org/officeDocument/2006/relationships/slide" Target="slides/slide5.xml"/><Relationship Id="rId32" Type="http://schemas.openxmlformats.org/officeDocument/2006/relationships/font" Target="fonts/RobotoMedium-italic.fntdata"/><Relationship Id="rId13" Type="http://schemas.openxmlformats.org/officeDocument/2006/relationships/slide" Target="slides/slide8.xml"/><Relationship Id="rId35" Type="http://schemas.openxmlformats.org/officeDocument/2006/relationships/font" Target="fonts/Nunito-bold.fntdata"/><Relationship Id="rId12" Type="http://schemas.openxmlformats.org/officeDocument/2006/relationships/slide" Target="slides/slide7.xml"/><Relationship Id="rId34" Type="http://schemas.openxmlformats.org/officeDocument/2006/relationships/font" Target="fonts/Nunito-regular.fntdata"/><Relationship Id="rId15" Type="http://schemas.openxmlformats.org/officeDocument/2006/relationships/slide" Target="slides/slide10.xml"/><Relationship Id="rId37" Type="http://schemas.openxmlformats.org/officeDocument/2006/relationships/font" Target="fonts/Nunito-boldItalic.fntdata"/><Relationship Id="rId14" Type="http://schemas.openxmlformats.org/officeDocument/2006/relationships/slide" Target="slides/slide9.xml"/><Relationship Id="rId36" Type="http://schemas.openxmlformats.org/officeDocument/2006/relationships/font" Target="fonts/Nunito-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2537c15bbb_0_0: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g22537c15bbb_0_0: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2537c15bbb_0_9: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g22537c15bbb_0_9: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2537c15cb7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22537c15cb7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rgbClr val="273239"/>
              </a:solidFill>
              <a:highlight>
                <a:srgbClr val="FFFFFF"/>
              </a:highlight>
              <a:latin typeface="Nunito"/>
              <a:ea typeface="Nunito"/>
              <a:cs typeface="Nunito"/>
              <a:sym typeface="Nuni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2537c15bbb_0_17: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g22537c15bbb_0_17: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2537c15bbb_0_25: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g22537c15bbb_0_25: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2537c15bbb_0_33: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g22537c15bbb_0_33: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2537c15cb7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22537c15cb7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rgbClr val="273239"/>
              </a:solidFill>
              <a:highlight>
                <a:srgbClr val="FFFFFF"/>
              </a:highlight>
              <a:latin typeface="Nunito"/>
              <a:ea typeface="Nunito"/>
              <a:cs typeface="Nunito"/>
              <a:sym typeface="Nuni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72ce93db3f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272ce93db3f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72ce93db3f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272ce93db3f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 name="Google Shape;17;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 name="Google Shape;1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22" name="Google Shape;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0" name="Google Shape;40;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6" name="Google Shape;4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YN25taXYNX5aC5NKA" TargetMode="Externa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6" name="Google Shape;56;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57" name="Google Shape;57;p2"/>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58" name="Google Shape;58;p2"/>
          <p:cNvPicPr preferRelativeResize="0"/>
          <p:nvPr/>
        </p:nvPicPr>
        <p:blipFill rotWithShape="1">
          <a:blip r:embed="rId4">
            <a:alphaModFix/>
          </a:blip>
          <a:srcRect b="0" l="0" r="0" t="0"/>
          <a:stretch/>
        </p:blipFill>
        <p:spPr>
          <a:xfrm>
            <a:off x="2504600" y="600288"/>
            <a:ext cx="4134799" cy="2923400"/>
          </a:xfrm>
          <a:prstGeom prst="rect">
            <a:avLst/>
          </a:prstGeom>
          <a:noFill/>
          <a:ln>
            <a:noFill/>
          </a:ln>
        </p:spPr>
      </p:pic>
      <p:pic>
        <p:nvPicPr>
          <p:cNvPr id="59" name="Google Shape;59;p2"/>
          <p:cNvPicPr preferRelativeResize="0"/>
          <p:nvPr/>
        </p:nvPicPr>
        <p:blipFill rotWithShape="1">
          <a:blip r:embed="rId5">
            <a:alphaModFix/>
          </a:blip>
          <a:srcRect b="0" l="0" r="0" t="0"/>
          <a:stretch/>
        </p:blipFill>
        <p:spPr>
          <a:xfrm>
            <a:off x="2200050" y="3386138"/>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txBox="1"/>
          <p:nvPr/>
        </p:nvSpPr>
        <p:spPr>
          <a:xfrm>
            <a:off x="870155" y="1149784"/>
            <a:ext cx="7993626" cy="1344599"/>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1800" u="none" cap="none" strike="noStrike">
                <a:solidFill>
                  <a:schemeClr val="dk1"/>
                </a:solidFill>
                <a:highlight>
                  <a:srgbClr val="FFFFFF"/>
                </a:highlight>
                <a:latin typeface="Roboto"/>
                <a:ea typeface="Roboto"/>
                <a:cs typeface="Roboto"/>
                <a:sym typeface="Roboto"/>
              </a:rPr>
              <a:t>URL:</a:t>
            </a:r>
            <a:endParaRPr b="1" i="0" sz="1800" u="none" cap="none" strike="noStrike">
              <a:solidFill>
                <a:srgbClr val="373737"/>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None/>
            </a:pPr>
            <a:r>
              <a:t/>
            </a:r>
            <a:endParaRPr b="1" i="0" sz="1800" u="none" cap="none" strike="noStrike">
              <a:solidFill>
                <a:srgbClr val="373737"/>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None/>
            </a:pPr>
            <a:r>
              <a:rPr b="1" i="0" lang="en-US" sz="1800" u="none" cap="none" strike="noStrike">
                <a:solidFill>
                  <a:schemeClr val="dk1"/>
                </a:solidFill>
                <a:highlight>
                  <a:srgbClr val="FFFFFF"/>
                </a:highlight>
                <a:latin typeface="Roboto"/>
                <a:ea typeface="Roboto"/>
                <a:cs typeface="Roboto"/>
                <a:sym typeface="Roboto"/>
              </a:rPr>
              <a:t>QR CODE</a:t>
            </a:r>
            <a:r>
              <a:rPr b="1" i="0" lang="en-US" sz="1800" u="none" cap="none" strike="noStrike">
                <a:solidFill>
                  <a:srgbClr val="373737"/>
                </a:solidFill>
                <a:highlight>
                  <a:srgbClr val="FFFFFF"/>
                </a:highlight>
                <a:latin typeface="Roboto"/>
                <a:ea typeface="Roboto"/>
                <a:cs typeface="Roboto"/>
                <a:sym typeface="Roboto"/>
              </a:rPr>
              <a:t>:</a:t>
            </a:r>
            <a:endParaRPr/>
          </a:p>
          <a:p>
            <a:pPr indent="0" lvl="0" marL="0" marR="0" rtl="0" algn="l">
              <a:lnSpc>
                <a:spcPct val="115000"/>
              </a:lnSpc>
              <a:spcBef>
                <a:spcPts val="0"/>
              </a:spcBef>
              <a:spcAft>
                <a:spcPts val="0"/>
              </a:spcAft>
              <a:buNone/>
            </a:pPr>
            <a:r>
              <a:t/>
            </a:r>
            <a:endParaRPr b="0" i="0" sz="1800" u="none" cap="none" strike="noStrike">
              <a:solidFill>
                <a:srgbClr val="00B0F0"/>
              </a:solidFill>
              <a:latin typeface="Roboto"/>
              <a:ea typeface="Roboto"/>
              <a:cs typeface="Roboto"/>
              <a:sym typeface="Roboto"/>
            </a:endParaRPr>
          </a:p>
        </p:txBody>
      </p:sp>
      <p:sp>
        <p:nvSpPr>
          <p:cNvPr id="65" name="Google Shape;65;p3"/>
          <p:cNvSpPr txBox="1"/>
          <p:nvPr/>
        </p:nvSpPr>
        <p:spPr>
          <a:xfrm>
            <a:off x="1708486" y="575461"/>
            <a:ext cx="652525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chemeClr val="dk1"/>
                </a:solidFill>
                <a:latin typeface="Roboto"/>
                <a:ea typeface="Roboto"/>
                <a:cs typeface="Roboto"/>
                <a:sym typeface="Roboto"/>
              </a:rPr>
              <a:t>TEST TIME ON BINARY PALINDROME</a:t>
            </a:r>
            <a:endParaRPr/>
          </a:p>
        </p:txBody>
      </p:sp>
      <p:sp>
        <p:nvSpPr>
          <p:cNvPr id="66" name="Google Shape;66;p3"/>
          <p:cNvSpPr txBox="1"/>
          <p:nvPr/>
        </p:nvSpPr>
        <p:spPr>
          <a:xfrm>
            <a:off x="1393903" y="1199988"/>
            <a:ext cx="45720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sng" cap="none" strike="noStrike">
                <a:solidFill>
                  <a:srgbClr val="373737"/>
                </a:solidFill>
                <a:highlight>
                  <a:srgbClr val="FFFFFF"/>
                </a:highlight>
                <a:latin typeface="Roboto"/>
                <a:ea typeface="Roboto"/>
                <a:cs typeface="Roboto"/>
                <a:sym typeface="Roboto"/>
                <a:hlinkClick r:id="rId3">
                  <a:extLst>
                    <a:ext uri="{A12FA001-AC4F-418D-AE19-62706E023703}">
                      <ahyp:hlinkClr val="tx"/>
                    </a:ext>
                  </a:extLst>
                </a:hlinkClick>
              </a:rPr>
              <a:t>https://forms.gle/YN25taXYNX5aC5NKA</a:t>
            </a:r>
            <a:endParaRPr b="1" i="0" sz="1600" u="none" cap="none" strike="noStrike">
              <a:solidFill>
                <a:srgbClr val="373737"/>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pic>
        <p:nvPicPr>
          <p:cNvPr id="67" name="Google Shape;67;p3"/>
          <p:cNvPicPr preferRelativeResize="0"/>
          <p:nvPr/>
        </p:nvPicPr>
        <p:blipFill rotWithShape="1">
          <a:blip r:embed="rId4">
            <a:alphaModFix/>
          </a:blip>
          <a:srcRect b="0" l="0" r="0" t="0"/>
          <a:stretch/>
        </p:blipFill>
        <p:spPr>
          <a:xfrm>
            <a:off x="3248722" y="1929312"/>
            <a:ext cx="3025698" cy="263872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3" name="Google Shape;73;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4" name="Google Shape;74;p4"/>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75" name="Google Shape;75;p4"/>
          <p:cNvSpPr txBox="1"/>
          <p:nvPr/>
        </p:nvSpPr>
        <p:spPr>
          <a:xfrm>
            <a:off x="-3" y="2115312"/>
            <a:ext cx="4690948" cy="1317253"/>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i="0" lang="en-US" sz="3200" u="none" cap="none" strike="noStrike">
                <a:solidFill>
                  <a:schemeClr val="lt1"/>
                </a:solidFill>
                <a:latin typeface="Roboto"/>
                <a:ea typeface="Roboto"/>
                <a:cs typeface="Roboto"/>
                <a:sym typeface="Roboto"/>
              </a:rPr>
              <a:t>EUCLID’S ALGORITHM</a:t>
            </a:r>
            <a:endParaRPr/>
          </a:p>
          <a:p>
            <a:pPr indent="0" lvl="0" marL="0" marR="0" rtl="0" algn="ctr">
              <a:lnSpc>
                <a:spcPct val="115000"/>
              </a:lnSpc>
              <a:spcBef>
                <a:spcPts val="0"/>
              </a:spcBef>
              <a:spcAft>
                <a:spcPts val="0"/>
              </a:spcAft>
              <a:buNone/>
            </a:pPr>
            <a:r>
              <a:t/>
            </a:r>
            <a:endParaRPr b="1" i="0" sz="3200" u="none" cap="none" strike="noStrike">
              <a:solidFill>
                <a:schemeClr val="lt1"/>
              </a:solidFill>
              <a:latin typeface="Roboto Black"/>
              <a:ea typeface="Roboto Black"/>
              <a:cs typeface="Roboto Black"/>
              <a:sym typeface="Roboto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81" name="Google Shape;81;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82" name="Google Shape;82;p5"/>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83" name="Google Shape;83;p5"/>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84" name="Google Shape;84;p5"/>
          <p:cNvSpPr txBox="1"/>
          <p:nvPr/>
        </p:nvSpPr>
        <p:spPr>
          <a:xfrm>
            <a:off x="311700" y="778809"/>
            <a:ext cx="309312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chemeClr val="accent1"/>
                </a:solidFill>
                <a:latin typeface="Roboto Black"/>
                <a:ea typeface="Roboto Black"/>
                <a:cs typeface="Roboto Black"/>
                <a:sym typeface="Roboto Black"/>
              </a:rPr>
              <a:t>TOPICS</a:t>
            </a:r>
            <a:endParaRPr b="0" i="0" sz="1400" u="none" cap="none" strike="noStrike">
              <a:solidFill>
                <a:srgbClr val="000000"/>
              </a:solidFill>
              <a:latin typeface="Roboto Black"/>
              <a:ea typeface="Roboto Black"/>
              <a:cs typeface="Roboto Black"/>
              <a:sym typeface="Roboto Black"/>
            </a:endParaRPr>
          </a:p>
        </p:txBody>
      </p:sp>
      <p:sp>
        <p:nvSpPr>
          <p:cNvPr id="85" name="Google Shape;85;p5"/>
          <p:cNvSpPr txBox="1"/>
          <p:nvPr/>
        </p:nvSpPr>
        <p:spPr>
          <a:xfrm>
            <a:off x="1040780" y="1358649"/>
            <a:ext cx="3204117" cy="231858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Introduction</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Idea</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Explanation</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Approach</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Coding</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Roboto"/>
                <a:ea typeface="Roboto"/>
                <a:cs typeface="Roboto"/>
                <a:sym typeface="Roboto"/>
              </a:rPr>
              <a:t>Interview preparation</a:t>
            </a:r>
            <a:endParaRPr/>
          </a:p>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22537c15bbb_0_0"/>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91" name="Google Shape;91;g22537c15bbb_0_0"/>
          <p:cNvSpPr/>
          <p:nvPr/>
        </p:nvSpPr>
        <p:spPr>
          <a:xfrm>
            <a:off x="488214" y="853861"/>
            <a:ext cx="7545000" cy="289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600" u="none" cap="none" strike="noStrike">
                <a:solidFill>
                  <a:srgbClr val="000000"/>
                </a:solidFill>
                <a:latin typeface="Roboto"/>
                <a:ea typeface="Roboto"/>
                <a:cs typeface="Roboto"/>
                <a:sym typeface="Roboto"/>
              </a:rPr>
              <a:t>Introduction</a:t>
            </a:r>
            <a:endParaRPr b="1"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Roboto"/>
                <a:ea typeface="Roboto"/>
                <a:cs typeface="Roboto"/>
                <a:sym typeface="Roboto"/>
              </a:rPr>
              <a:t>Euclidean algorithm or Euclid's algorithm, is an efficient method for computing the greatest common divisor (GCD) of two integers (numbers), the largest number that divides them both without a remainder.</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Roboto"/>
                <a:ea typeface="Roboto"/>
                <a:cs typeface="Roboto"/>
                <a:sym typeface="Roboto"/>
              </a:rPr>
              <a:t>First the two numbers are subjected to prime factorizations, and the common factors of the two prime factorizations are multiplied to get the GCD</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t/>
            </a:r>
            <a:endParaRPr b="0" i="0" sz="1600" u="none" cap="none" strike="noStrike">
              <a:solidFill>
                <a:srgbClr val="000000"/>
              </a:solidFill>
              <a:latin typeface="Roboto"/>
              <a:ea typeface="Roboto"/>
              <a:cs typeface="Roboto"/>
              <a:sym typeface="Roboto"/>
            </a:endParaRPr>
          </a:p>
        </p:txBody>
      </p:sp>
      <p:pic>
        <p:nvPicPr>
          <p:cNvPr id="92" name="Google Shape;92;g22537c15bbb_0_0"/>
          <p:cNvPicPr preferRelativeResize="0"/>
          <p:nvPr/>
        </p:nvPicPr>
        <p:blipFill rotWithShape="1">
          <a:blip r:embed="rId3">
            <a:alphaModFix/>
          </a:blip>
          <a:srcRect b="0" l="0" r="0" t="0"/>
          <a:stretch/>
        </p:blipFill>
        <p:spPr>
          <a:xfrm>
            <a:off x="2807637" y="3049257"/>
            <a:ext cx="4943475" cy="15165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22537c15bbb_0_9"/>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98" name="Google Shape;98;g22537c15bbb_0_9"/>
          <p:cNvSpPr/>
          <p:nvPr/>
        </p:nvSpPr>
        <p:spPr>
          <a:xfrm>
            <a:off x="555120" y="915840"/>
            <a:ext cx="7545000" cy="35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1600" u="none" cap="none" strike="noStrike">
                <a:solidFill>
                  <a:srgbClr val="000000"/>
                </a:solidFill>
                <a:latin typeface="Roboto"/>
                <a:ea typeface="Roboto"/>
                <a:cs typeface="Roboto"/>
                <a:sym typeface="Roboto"/>
              </a:rPr>
              <a:t>Idea</a:t>
            </a:r>
            <a:endParaRPr b="1"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1" i="0" lang="en-US" sz="1600" u="sng" cap="none" strike="noStrike">
                <a:solidFill>
                  <a:srgbClr val="000000"/>
                </a:solidFill>
                <a:latin typeface="Roboto"/>
                <a:ea typeface="Roboto"/>
                <a:cs typeface="Roboto"/>
                <a:sym typeface="Roboto"/>
              </a:rPr>
              <a:t>The algorithm is based on the below facts. </a:t>
            </a:r>
            <a:endParaRPr b="1" i="0" sz="16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If we subtract a smaller number from a larger (we reduce a larger number), GCD doesn’t change. So if we keep subtracting repeatedly the larger of two, we end up with GCD.</a:t>
            </a:r>
            <a:endParaRPr b="0" i="0" sz="16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Now instead of subtraction, if we divide the smaller number, the algorithm stops when we find remainder 0.</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22537c15cb7_0_1"/>
          <p:cNvSpPr txBox="1"/>
          <p:nvPr/>
        </p:nvSpPr>
        <p:spPr>
          <a:xfrm>
            <a:off x="1672683" y="880923"/>
            <a:ext cx="6170342"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import java.util.*;</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class Main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public static int gcd(int a, int b)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if (a == 0)</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return b;</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return gcd(b % a, a);</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public static void main(String[] args)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Scanner scan = new Scanner(System.in);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System.out.println("Enter two integers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int n1 = scan.nextInt();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int n2 = scan.nextInt();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int g = gcd(n1, n2); // Corrected variable name to 'g'</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System.out.println("GCD is " + g); // Added missing semicolon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22537c15bbb_0_17"/>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09" name="Google Shape;109;g22537c15bbb_0_17"/>
          <p:cNvSpPr/>
          <p:nvPr/>
        </p:nvSpPr>
        <p:spPr>
          <a:xfrm>
            <a:off x="622027" y="1302443"/>
            <a:ext cx="7545000" cy="286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1600" u="none" cap="none" strike="noStrike">
                <a:solidFill>
                  <a:srgbClr val="000000"/>
                </a:solidFill>
                <a:latin typeface="Roboto"/>
                <a:ea typeface="Roboto"/>
                <a:cs typeface="Roboto"/>
                <a:sym typeface="Roboto"/>
              </a:rPr>
              <a:t>Program</a:t>
            </a:r>
            <a:endParaRPr b="1"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600" u="sng" cap="none" strike="noStrike">
                <a:solidFill>
                  <a:srgbClr val="000000"/>
                </a:solidFill>
                <a:latin typeface="Roboto"/>
                <a:ea typeface="Roboto"/>
                <a:cs typeface="Roboto"/>
                <a:sym typeface="Roboto"/>
              </a:rPr>
              <a:t>Sample IO</a:t>
            </a:r>
            <a:endParaRPr b="0" i="0" sz="160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Roboto"/>
                <a:ea typeface="Roboto"/>
                <a:cs typeface="Roboto"/>
                <a:sym typeface="Roboto"/>
              </a:rPr>
              <a:t>Input : 10 15</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Roboto"/>
                <a:ea typeface="Roboto"/>
                <a:cs typeface="Roboto"/>
                <a:sym typeface="Roboto"/>
              </a:rPr>
              <a:t>Output : 5</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Roboto"/>
                <a:ea typeface="Roboto"/>
                <a:cs typeface="Roboto"/>
                <a:sym typeface="Roboto"/>
              </a:rPr>
              <a:t>Input : 35 10</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Roboto"/>
                <a:ea typeface="Roboto"/>
                <a:cs typeface="Roboto"/>
                <a:sym typeface="Roboto"/>
              </a:rPr>
              <a:t>Output : 5</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Roboto"/>
                <a:ea typeface="Roboto"/>
                <a:cs typeface="Roboto"/>
                <a:sym typeface="Roboto"/>
              </a:rPr>
              <a:t>Input : 31 2</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Roboto"/>
                <a:ea typeface="Roboto"/>
                <a:cs typeface="Roboto"/>
                <a:sym typeface="Roboto"/>
              </a:rPr>
              <a:t>Output : 1</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rgbClr val="00000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22537c15bbb_0_25"/>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15" name="Google Shape;115;g22537c15bbb_0_25"/>
          <p:cNvSpPr/>
          <p:nvPr/>
        </p:nvSpPr>
        <p:spPr>
          <a:xfrm>
            <a:off x="555120" y="698208"/>
            <a:ext cx="7545000" cy="4044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1600" u="none" cap="none" strike="noStrike">
                <a:solidFill>
                  <a:srgbClr val="000000"/>
                </a:solidFill>
                <a:latin typeface="Roboto"/>
                <a:ea typeface="Roboto"/>
                <a:cs typeface="Roboto"/>
                <a:sym typeface="Roboto"/>
              </a:rPr>
              <a:t>Idea</a:t>
            </a:r>
            <a:endParaRPr b="1"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Extended Euclidean algorithm also finds integer coefficients x and y such that:</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 </a:t>
            </a:r>
            <a:endParaRPr b="0" i="0" sz="16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  ax + by = gcd(a, b) </a:t>
            </a:r>
            <a:endParaRPr b="0" i="0" sz="16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 extended Euclidean algorithm updates gcd(a, b) results using the results calculated by recursive call gcd(b%a, a).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Let values of x and y calculated by the recursive call be x1 and y1.</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x and y are updated using the below expressions.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x = y1 - ⌊b/a⌋ * x1</a:t>
            </a:r>
            <a:endParaRPr b="0" i="0" sz="16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y = x1</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22537c15bbb_0_33"/>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21" name="Google Shape;121;g22537c15bbb_0_33"/>
          <p:cNvSpPr/>
          <p:nvPr/>
        </p:nvSpPr>
        <p:spPr>
          <a:xfrm>
            <a:off x="555120" y="728349"/>
            <a:ext cx="8298948" cy="39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600" u="none" cap="none" strike="noStrike">
                <a:solidFill>
                  <a:srgbClr val="000000"/>
                </a:solidFill>
                <a:latin typeface="Roboto"/>
                <a:ea typeface="Roboto"/>
                <a:cs typeface="Roboto"/>
                <a:sym typeface="Roboto"/>
              </a:rPr>
              <a:t>Program</a:t>
            </a:r>
            <a:endParaRPr b="1"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600" u="sng" cap="none" strike="noStrike">
                <a:solidFill>
                  <a:srgbClr val="000000"/>
                </a:solidFill>
                <a:latin typeface="Roboto"/>
                <a:ea typeface="Roboto"/>
                <a:cs typeface="Roboto"/>
                <a:sym typeface="Roboto"/>
              </a:rPr>
              <a:t>Sample IO</a:t>
            </a:r>
            <a:endParaRPr b="0" i="0" sz="160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Same as above, but you can also print the integer coefficients</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The extended Euclidean algorithm is particularly useful when a and b are coprime.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With that provision, x is the modular multiplicative inverse of a modulo b, and y is the modular multiplicative inverse of b modulo a.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Similarly, the polynomial extended Euclidean algorithm allows one to compute the multiplicative inverse in algebraic field extensions and, in particular in finite fields of non prime order.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It follows that both extended Euclidean algorithms are widely used in cryptography.</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In particular, the computation of the modular multiplicative inverse is an essential step in the derivation of key-pairs in the RSA public-key encryption method.</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22537c15cb7_0_8"/>
          <p:cNvSpPr txBox="1"/>
          <p:nvPr/>
        </p:nvSpPr>
        <p:spPr>
          <a:xfrm>
            <a:off x="540329" y="784938"/>
            <a:ext cx="3890422"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import java.util.*;</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class Main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static class Result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int x, y;</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Result(int x, int y)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this.x = x;</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this.y = y;</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public static int gcdExtended(int a, int b, Result result)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if (a == 0)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result.x = 0;</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result.y = 1;</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return b;</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a:t>
            </a:r>
            <a:endParaRPr/>
          </a:p>
        </p:txBody>
      </p:sp>
      <p:sp>
        <p:nvSpPr>
          <p:cNvPr id="127" name="Google Shape;127;g22537c15cb7_0_8"/>
          <p:cNvSpPr txBox="1"/>
          <p:nvPr/>
        </p:nvSpPr>
        <p:spPr>
          <a:xfrm>
            <a:off x="4713251" y="784938"/>
            <a:ext cx="4348976"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Result tempResult = new Result(1, 1);</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int gcd = gcdExtended(b % a, a, tempResult);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result.x = tempResult.y - (b / a) * tempResult.x;</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result.y = tempResult.x;</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return gcd;</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public static void main(String[] args)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int a = 35, b = 15;</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Result result = new Result(1, 1);</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int g = gcdExtended(a, b, result);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System.out.println("GCD is " + g);</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System.out.println("x is " + result.x + ", y is " + result.y);</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Arial"/>
              <a:ea typeface="Arial"/>
              <a:cs typeface="Arial"/>
              <a:sym typeface="Arial"/>
            </a:endParaRPr>
          </a:p>
        </p:txBody>
      </p:sp>
      <p:cxnSp>
        <p:nvCxnSpPr>
          <p:cNvPr id="128" name="Google Shape;128;g22537c15cb7_0_8"/>
          <p:cNvCxnSpPr/>
          <p:nvPr/>
        </p:nvCxnSpPr>
        <p:spPr>
          <a:xfrm>
            <a:off x="4356412" y="859279"/>
            <a:ext cx="0" cy="3735023"/>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272ce93db3f_0_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4" name="Google Shape;134;g272ce93db3f_0_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5" name="Google Shape;135;g272ce93db3f_0_68"/>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136" name="Google Shape;136;g272ce93db3f_0_68"/>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137" name="Google Shape;137;g272ce93db3f_0_68"/>
          <p:cNvSpPr txBox="1"/>
          <p:nvPr/>
        </p:nvSpPr>
        <p:spPr>
          <a:xfrm>
            <a:off x="126112" y="2109730"/>
            <a:ext cx="50334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0B0F0"/>
                </a:solidFill>
                <a:latin typeface="Roboto Black"/>
                <a:ea typeface="Roboto Black"/>
                <a:cs typeface="Roboto Black"/>
                <a:sym typeface="Roboto Black"/>
              </a:rPr>
              <a:t>INTERVIEW QUESTIONS</a:t>
            </a:r>
            <a:endParaRPr/>
          </a:p>
        </p:txBody>
      </p:sp>
      <p:sp>
        <p:nvSpPr>
          <p:cNvPr id="138" name="Google Shape;138;g272ce93db3f_0_68"/>
          <p:cNvSpPr txBox="1"/>
          <p:nvPr/>
        </p:nvSpPr>
        <p:spPr>
          <a:xfrm>
            <a:off x="1040780" y="1358649"/>
            <a:ext cx="3204000" cy="307800"/>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44" name="Google Shape;144;p6"/>
          <p:cNvSpPr txBox="1"/>
          <p:nvPr>
            <p:ph idx="1" type="body"/>
          </p:nvPr>
        </p:nvSpPr>
        <p:spPr>
          <a:xfrm>
            <a:off x="818135" y="2325725"/>
            <a:ext cx="7679473" cy="1642319"/>
          </a:xfrm>
          <a:prstGeom prst="rect">
            <a:avLst/>
          </a:prstGeom>
          <a:noFill/>
          <a:ln>
            <a:noFill/>
          </a:ln>
        </p:spPr>
        <p:txBody>
          <a:bodyPr anchorCtr="0" anchor="t" bIns="91425" lIns="91425" spcFirstLastPara="1" rIns="91425" wrap="square" tIns="91425">
            <a:noAutofit/>
          </a:bodyPr>
          <a:lstStyle/>
          <a:p>
            <a:pPr indent="0" lvl="0" marL="139700" rtl="0" algn="l">
              <a:lnSpc>
                <a:spcPct val="200000"/>
              </a:lnSpc>
              <a:spcBef>
                <a:spcPts val="0"/>
              </a:spcBef>
              <a:spcAft>
                <a:spcPts val="0"/>
              </a:spcAft>
              <a:buSzPts val="1400"/>
              <a:buNone/>
            </a:pPr>
            <a:r>
              <a:rPr lang="en-US" sz="1600">
                <a:solidFill>
                  <a:schemeClr val="dk1"/>
                </a:solidFill>
              </a:rPr>
              <a:t>Euclid's algorithm is a method for finding the greatest common divisor (GCD) of two integers.</a:t>
            </a:r>
            <a:endParaRPr/>
          </a:p>
        </p:txBody>
      </p:sp>
      <p:sp>
        <p:nvSpPr>
          <p:cNvPr id="145" name="Google Shape;145;p6"/>
          <p:cNvSpPr txBox="1"/>
          <p:nvPr/>
        </p:nvSpPr>
        <p:spPr>
          <a:xfrm>
            <a:off x="117253" y="1568354"/>
            <a:ext cx="8684775" cy="338554"/>
          </a:xfrm>
          <a:prstGeom prst="rect">
            <a:avLst/>
          </a:prstGeom>
          <a:noFill/>
          <a:ln>
            <a:noFill/>
          </a:ln>
        </p:spPr>
        <p:txBody>
          <a:bodyPr anchorCtr="0" anchor="t" bIns="45700" lIns="91425" spcFirstLastPara="1" rIns="91425" wrap="square" tIns="45700">
            <a:spAutoFit/>
          </a:bodyPr>
          <a:lstStyle/>
          <a:p>
            <a:pPr indent="0" lvl="0" marL="139700" marR="0" rtl="0" algn="l">
              <a:lnSpc>
                <a:spcPct val="100000"/>
              </a:lnSpc>
              <a:spcBef>
                <a:spcPts val="0"/>
              </a:spcBef>
              <a:spcAft>
                <a:spcPts val="0"/>
              </a:spcAft>
              <a:buNone/>
            </a:pPr>
            <a:r>
              <a:rPr b="0" i="0" lang="en-US" sz="1600" u="none" cap="none" strike="noStrike">
                <a:solidFill>
                  <a:schemeClr val="dk1"/>
                </a:solidFill>
                <a:latin typeface="Roboto"/>
                <a:ea typeface="Roboto"/>
                <a:cs typeface="Roboto"/>
                <a:sym typeface="Roboto"/>
              </a:rPr>
              <a:t>1. What is Euclid's algorithm?</a:t>
            </a:r>
            <a:endParaRPr/>
          </a:p>
        </p:txBody>
      </p:sp>
      <p:sp>
        <p:nvSpPr>
          <p:cNvPr id="146" name="Google Shape;146;p6"/>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animEffect filter="fade" transition="in">
                                      <p:cBhvr>
                                        <p:cTn dur="500"/>
                                        <p:tgtEl>
                                          <p:spTgt spid="14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52" name="Google Shape;152;p7"/>
          <p:cNvSpPr txBox="1"/>
          <p:nvPr>
            <p:ph idx="1" type="body"/>
          </p:nvPr>
        </p:nvSpPr>
        <p:spPr>
          <a:xfrm>
            <a:off x="833003" y="2138387"/>
            <a:ext cx="7679473" cy="1642319"/>
          </a:xfrm>
          <a:prstGeom prst="rect">
            <a:avLst/>
          </a:prstGeom>
          <a:noFill/>
          <a:ln>
            <a:noFill/>
          </a:ln>
        </p:spPr>
        <p:txBody>
          <a:bodyPr anchorCtr="0" anchor="t" bIns="91425" lIns="91425" spcFirstLastPara="1" rIns="91425" wrap="square" tIns="91425">
            <a:noAutofit/>
          </a:bodyPr>
          <a:lstStyle/>
          <a:p>
            <a:pPr indent="0" lvl="0" marL="139700" rtl="0" algn="l">
              <a:lnSpc>
                <a:spcPct val="200000"/>
              </a:lnSpc>
              <a:spcBef>
                <a:spcPts val="0"/>
              </a:spcBef>
              <a:spcAft>
                <a:spcPts val="0"/>
              </a:spcAft>
              <a:buSzPts val="1400"/>
              <a:buNone/>
            </a:pPr>
            <a:r>
              <a:rPr lang="en-US" sz="1600">
                <a:solidFill>
                  <a:schemeClr val="dk1"/>
                </a:solidFill>
              </a:rPr>
              <a:t>Euclid's algorithm works by repeatedly taking the remainder of the division of the larger number by the smaller number and replacing the larger number with the smaller number until the remainder becomes zero. The last non-zero remainder is the GCD.</a:t>
            </a:r>
            <a:endParaRPr/>
          </a:p>
          <a:p>
            <a:pPr indent="0" lvl="0" marL="139700" rtl="0" algn="l">
              <a:lnSpc>
                <a:spcPct val="200000"/>
              </a:lnSpc>
              <a:spcBef>
                <a:spcPts val="0"/>
              </a:spcBef>
              <a:spcAft>
                <a:spcPts val="0"/>
              </a:spcAft>
              <a:buSzPts val="1400"/>
              <a:buNone/>
            </a:pPr>
            <a:r>
              <a:t/>
            </a:r>
            <a:endParaRPr sz="1600">
              <a:solidFill>
                <a:schemeClr val="dk1"/>
              </a:solidFill>
            </a:endParaRPr>
          </a:p>
        </p:txBody>
      </p:sp>
      <p:sp>
        <p:nvSpPr>
          <p:cNvPr id="153" name="Google Shape;153;p7"/>
          <p:cNvSpPr txBox="1"/>
          <p:nvPr/>
        </p:nvSpPr>
        <p:spPr>
          <a:xfrm>
            <a:off x="117253" y="1568354"/>
            <a:ext cx="8684775" cy="338554"/>
          </a:xfrm>
          <a:prstGeom prst="rect">
            <a:avLst/>
          </a:prstGeom>
          <a:noFill/>
          <a:ln>
            <a:noFill/>
          </a:ln>
        </p:spPr>
        <p:txBody>
          <a:bodyPr anchorCtr="0" anchor="t" bIns="45700" lIns="91425" spcFirstLastPara="1" rIns="91425" wrap="square" tIns="45700">
            <a:spAutoFit/>
          </a:bodyPr>
          <a:lstStyle/>
          <a:p>
            <a:pPr indent="0" lvl="0" marL="139700" marR="0" rtl="0" algn="l">
              <a:lnSpc>
                <a:spcPct val="100000"/>
              </a:lnSpc>
              <a:spcBef>
                <a:spcPts val="0"/>
              </a:spcBef>
              <a:spcAft>
                <a:spcPts val="0"/>
              </a:spcAft>
              <a:buNone/>
            </a:pPr>
            <a:r>
              <a:rPr b="0" i="0" lang="en-US" sz="1600" u="none" cap="none" strike="noStrike">
                <a:solidFill>
                  <a:schemeClr val="dk1"/>
                </a:solidFill>
                <a:latin typeface="Roboto"/>
                <a:ea typeface="Roboto"/>
                <a:cs typeface="Roboto"/>
                <a:sym typeface="Roboto"/>
              </a:rPr>
              <a:t>2. How does Euclid's algorithm work?</a:t>
            </a:r>
            <a:endParaRPr/>
          </a:p>
        </p:txBody>
      </p:sp>
      <p:sp>
        <p:nvSpPr>
          <p:cNvPr id="154" name="Google Shape;154;p7"/>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500"/>
                                        <p:tgtEl>
                                          <p:spTgt spid="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Effect filter="fade" transition="in">
                                      <p:cBhvr>
                                        <p:cTn dur="500"/>
                                        <p:tgtEl>
                                          <p:spTgt spid="152">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0" name="Google Shape;160;p8"/>
          <p:cNvSpPr txBox="1"/>
          <p:nvPr>
            <p:ph idx="1" type="body"/>
          </p:nvPr>
        </p:nvSpPr>
        <p:spPr>
          <a:xfrm>
            <a:off x="833003" y="2138387"/>
            <a:ext cx="7679473" cy="1642319"/>
          </a:xfrm>
          <a:prstGeom prst="rect">
            <a:avLst/>
          </a:prstGeom>
          <a:noFill/>
          <a:ln>
            <a:noFill/>
          </a:ln>
        </p:spPr>
        <p:txBody>
          <a:bodyPr anchorCtr="0" anchor="t" bIns="91425" lIns="91425" spcFirstLastPara="1" rIns="91425" wrap="square" tIns="91425">
            <a:noAutofit/>
          </a:bodyPr>
          <a:lstStyle/>
          <a:p>
            <a:pPr indent="0" lvl="0" marL="139700" rtl="0" algn="l">
              <a:lnSpc>
                <a:spcPct val="200000"/>
              </a:lnSpc>
              <a:spcBef>
                <a:spcPts val="0"/>
              </a:spcBef>
              <a:spcAft>
                <a:spcPts val="0"/>
              </a:spcAft>
              <a:buSzPts val="1400"/>
              <a:buNone/>
            </a:pPr>
            <a:r>
              <a:rPr lang="en-US" sz="1600">
                <a:solidFill>
                  <a:schemeClr val="dk1"/>
                </a:solidFill>
              </a:rPr>
              <a:t>The time complexity of Euclid's algorithm is O(log(min(a, b))).</a:t>
            </a:r>
            <a:endParaRPr/>
          </a:p>
        </p:txBody>
      </p:sp>
      <p:sp>
        <p:nvSpPr>
          <p:cNvPr id="161" name="Google Shape;161;p8"/>
          <p:cNvSpPr txBox="1"/>
          <p:nvPr/>
        </p:nvSpPr>
        <p:spPr>
          <a:xfrm>
            <a:off x="117253" y="1568354"/>
            <a:ext cx="8684775" cy="338554"/>
          </a:xfrm>
          <a:prstGeom prst="rect">
            <a:avLst/>
          </a:prstGeom>
          <a:noFill/>
          <a:ln>
            <a:noFill/>
          </a:ln>
        </p:spPr>
        <p:txBody>
          <a:bodyPr anchorCtr="0" anchor="t" bIns="45700" lIns="91425" spcFirstLastPara="1" rIns="91425" wrap="square" tIns="45700">
            <a:spAutoFit/>
          </a:bodyPr>
          <a:lstStyle/>
          <a:p>
            <a:pPr indent="0" lvl="0" marL="139700" marR="0" rtl="0" algn="l">
              <a:lnSpc>
                <a:spcPct val="100000"/>
              </a:lnSpc>
              <a:spcBef>
                <a:spcPts val="0"/>
              </a:spcBef>
              <a:spcAft>
                <a:spcPts val="0"/>
              </a:spcAft>
              <a:buNone/>
            </a:pPr>
            <a:r>
              <a:rPr b="0" i="0" lang="en-US" sz="1600" u="none" cap="none" strike="noStrike">
                <a:solidFill>
                  <a:schemeClr val="dk1"/>
                </a:solidFill>
                <a:latin typeface="Roboto"/>
                <a:ea typeface="Roboto"/>
                <a:cs typeface="Roboto"/>
                <a:sym typeface="Roboto"/>
              </a:rPr>
              <a:t>3. What is the time complexity of Euclid's algorithm?</a:t>
            </a:r>
            <a:endParaRPr/>
          </a:p>
        </p:txBody>
      </p:sp>
      <p:sp>
        <p:nvSpPr>
          <p:cNvPr id="162" name="Google Shape;162;p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animEffect filter="fade" transition="in">
                                      <p:cBhvr>
                                        <p:cTn dur="500"/>
                                        <p:tgtEl>
                                          <p:spTgt spid="16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8" name="Google Shape;168;p9"/>
          <p:cNvSpPr txBox="1"/>
          <p:nvPr>
            <p:ph idx="1" type="body"/>
          </p:nvPr>
        </p:nvSpPr>
        <p:spPr>
          <a:xfrm>
            <a:off x="833003" y="2138387"/>
            <a:ext cx="7679473" cy="1642319"/>
          </a:xfrm>
          <a:prstGeom prst="rect">
            <a:avLst/>
          </a:prstGeom>
          <a:noFill/>
          <a:ln>
            <a:noFill/>
          </a:ln>
        </p:spPr>
        <p:txBody>
          <a:bodyPr anchorCtr="0" anchor="t" bIns="91425" lIns="91425" spcFirstLastPara="1" rIns="91425" wrap="square" tIns="91425">
            <a:noAutofit/>
          </a:bodyPr>
          <a:lstStyle/>
          <a:p>
            <a:pPr indent="0" lvl="0" marL="139700" rtl="0" algn="l">
              <a:lnSpc>
                <a:spcPct val="200000"/>
              </a:lnSpc>
              <a:spcBef>
                <a:spcPts val="0"/>
              </a:spcBef>
              <a:spcAft>
                <a:spcPts val="0"/>
              </a:spcAft>
              <a:buSzPts val="1400"/>
              <a:buNone/>
            </a:pPr>
            <a:r>
              <a:rPr lang="en-US" sz="1600">
                <a:solidFill>
                  <a:schemeClr val="dk1"/>
                </a:solidFill>
              </a:rPr>
              <a:t>You can use Euclid's algorithm to find the GCD of more than two numbers by applying the algorithm iteratively, finding the GCD of pairs of numbers until you've processed all the numbers.</a:t>
            </a:r>
            <a:endParaRPr/>
          </a:p>
          <a:p>
            <a:pPr indent="0" lvl="0" marL="139700" rtl="0" algn="l">
              <a:lnSpc>
                <a:spcPct val="200000"/>
              </a:lnSpc>
              <a:spcBef>
                <a:spcPts val="0"/>
              </a:spcBef>
              <a:spcAft>
                <a:spcPts val="0"/>
              </a:spcAft>
              <a:buSzPts val="1400"/>
              <a:buNone/>
            </a:pPr>
            <a:r>
              <a:t/>
            </a:r>
            <a:endParaRPr sz="1600">
              <a:solidFill>
                <a:schemeClr val="dk1"/>
              </a:solidFill>
            </a:endParaRPr>
          </a:p>
        </p:txBody>
      </p:sp>
      <p:sp>
        <p:nvSpPr>
          <p:cNvPr id="169" name="Google Shape;169;p9"/>
          <p:cNvSpPr txBox="1"/>
          <p:nvPr/>
        </p:nvSpPr>
        <p:spPr>
          <a:xfrm>
            <a:off x="117253" y="1568354"/>
            <a:ext cx="8684775" cy="584775"/>
          </a:xfrm>
          <a:prstGeom prst="rect">
            <a:avLst/>
          </a:prstGeom>
          <a:noFill/>
          <a:ln>
            <a:noFill/>
          </a:ln>
        </p:spPr>
        <p:txBody>
          <a:bodyPr anchorCtr="0" anchor="t" bIns="45700" lIns="91425" spcFirstLastPara="1" rIns="91425" wrap="square" tIns="45700">
            <a:spAutoFit/>
          </a:bodyPr>
          <a:lstStyle/>
          <a:p>
            <a:pPr indent="0" lvl="0" marL="139700" marR="0" rtl="0" algn="l">
              <a:lnSpc>
                <a:spcPct val="100000"/>
              </a:lnSpc>
              <a:spcBef>
                <a:spcPts val="0"/>
              </a:spcBef>
              <a:spcAft>
                <a:spcPts val="0"/>
              </a:spcAft>
              <a:buNone/>
            </a:pPr>
            <a:r>
              <a:rPr b="0" i="0" lang="en-US" sz="1600" u="none" cap="none" strike="noStrike">
                <a:solidFill>
                  <a:schemeClr val="dk1"/>
                </a:solidFill>
                <a:latin typeface="Roboto"/>
                <a:ea typeface="Roboto"/>
                <a:cs typeface="Roboto"/>
                <a:sym typeface="Roboto"/>
              </a:rPr>
              <a:t>4. How do you use Euclid's algorithm to find the GCD of more than two numbers?</a:t>
            </a:r>
            <a:endParaRPr/>
          </a:p>
          <a:p>
            <a:pPr indent="0" lvl="0" marL="139700" marR="0" rtl="0" algn="l">
              <a:lnSpc>
                <a:spcPct val="1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170" name="Google Shape;170;p9"/>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animEffect filter="fade" transition="in">
                                      <p:cBhvr>
                                        <p:cTn dur="500"/>
                                        <p:tgtEl>
                                          <p:spTgt spid="1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animEffect filter="fade" transition="in">
                                      <p:cBhvr>
                                        <p:cTn dur="500"/>
                                        <p:tgtEl>
                                          <p:spTgt spid="16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76" name="Google Shape;176;p10"/>
          <p:cNvSpPr txBox="1"/>
          <p:nvPr>
            <p:ph idx="1" type="body"/>
          </p:nvPr>
        </p:nvSpPr>
        <p:spPr>
          <a:xfrm>
            <a:off x="833003" y="2138387"/>
            <a:ext cx="7679473" cy="1642319"/>
          </a:xfrm>
          <a:prstGeom prst="rect">
            <a:avLst/>
          </a:prstGeom>
          <a:noFill/>
          <a:ln>
            <a:noFill/>
          </a:ln>
        </p:spPr>
        <p:txBody>
          <a:bodyPr anchorCtr="0" anchor="t" bIns="91425" lIns="91425" spcFirstLastPara="1" rIns="91425" wrap="square" tIns="91425">
            <a:noAutofit/>
          </a:bodyPr>
          <a:lstStyle/>
          <a:p>
            <a:pPr indent="0" lvl="0" marL="139700" rtl="0" algn="l">
              <a:lnSpc>
                <a:spcPct val="200000"/>
              </a:lnSpc>
              <a:spcBef>
                <a:spcPts val="0"/>
              </a:spcBef>
              <a:spcAft>
                <a:spcPts val="0"/>
              </a:spcAft>
              <a:buSzPts val="1400"/>
              <a:buNone/>
            </a:pPr>
            <a:r>
              <a:rPr lang="en-US" sz="1600">
                <a:solidFill>
                  <a:schemeClr val="dk1"/>
                </a:solidFill>
              </a:rPr>
              <a:t>No, Euclid's algorithm is typically used for finding the GCD of integers. It doesn't work with non-integer values.</a:t>
            </a:r>
            <a:endParaRPr/>
          </a:p>
        </p:txBody>
      </p:sp>
      <p:sp>
        <p:nvSpPr>
          <p:cNvPr id="177" name="Google Shape;177;p10"/>
          <p:cNvSpPr txBox="1"/>
          <p:nvPr/>
        </p:nvSpPr>
        <p:spPr>
          <a:xfrm>
            <a:off x="117253" y="1568354"/>
            <a:ext cx="8684775" cy="584775"/>
          </a:xfrm>
          <a:prstGeom prst="rect">
            <a:avLst/>
          </a:prstGeom>
          <a:noFill/>
          <a:ln>
            <a:noFill/>
          </a:ln>
        </p:spPr>
        <p:txBody>
          <a:bodyPr anchorCtr="0" anchor="t" bIns="45700" lIns="91425" spcFirstLastPara="1" rIns="91425" wrap="square" tIns="45700">
            <a:spAutoFit/>
          </a:bodyPr>
          <a:lstStyle/>
          <a:p>
            <a:pPr indent="0" lvl="0" marL="139700" marR="0" rtl="0" algn="l">
              <a:lnSpc>
                <a:spcPct val="100000"/>
              </a:lnSpc>
              <a:spcBef>
                <a:spcPts val="0"/>
              </a:spcBef>
              <a:spcAft>
                <a:spcPts val="0"/>
              </a:spcAft>
              <a:buNone/>
            </a:pPr>
            <a:r>
              <a:rPr b="0" i="0" lang="en-US" sz="1600" u="none" cap="none" strike="noStrike">
                <a:solidFill>
                  <a:schemeClr val="dk1"/>
                </a:solidFill>
                <a:latin typeface="Roboto"/>
                <a:ea typeface="Roboto"/>
                <a:cs typeface="Roboto"/>
                <a:sym typeface="Roboto"/>
              </a:rPr>
              <a:t>5. Can Euclid's algorithm be used to find the GCD of non-integer values?</a:t>
            </a:r>
            <a:endParaRPr/>
          </a:p>
          <a:p>
            <a:pPr indent="0" lvl="0" marL="139700" marR="0" rtl="0" algn="l">
              <a:lnSpc>
                <a:spcPct val="1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178" name="Google Shape;178;p10"/>
          <p:cNvSpPr txBox="1"/>
          <p:nvPr/>
        </p:nvSpPr>
        <p:spPr>
          <a:xfrm>
            <a:off x="122130" y="681982"/>
            <a:ext cx="56244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Effect filter="fade" transition="in">
                                      <p:cBhvr>
                                        <p:cTn dur="500"/>
                                        <p:tgtEl>
                                          <p:spTgt spid="17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72ce93db3f_0_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84" name="Google Shape;184;g272ce93db3f_0_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85" name="Google Shape;185;g272ce93db3f_0_3"/>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86" name="Google Shape;186;g272ce93db3f_0_3"/>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187" name="Google Shape;187;g272ce93db3f_0_3"/>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188" name="Google Shape;188;g272ce93db3f_0_3"/>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189" name="Google Shape;189;g272ce93db3f_0_3"/>
          <p:cNvSpPr txBox="1"/>
          <p:nvPr/>
        </p:nvSpPr>
        <p:spPr>
          <a:xfrm>
            <a:off x="1980750" y="4590800"/>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190" name="Google Shape;190;g272ce93db3f_0_3"/>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191" name="Google Shape;191;g272ce93db3f_0_3"/>
          <p:cNvSpPr txBox="1"/>
          <p:nvPr/>
        </p:nvSpPr>
        <p:spPr>
          <a:xfrm>
            <a:off x="3519050"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192" name="Google Shape;192;g272ce93db3f_0_3"/>
          <p:cNvPicPr preferRelativeResize="0"/>
          <p:nvPr/>
        </p:nvPicPr>
        <p:blipFill rotWithShape="1">
          <a:blip r:embed="rId6">
            <a:alphaModFix/>
          </a:blip>
          <a:srcRect b="0" l="0" r="0" t="0"/>
          <a:stretch/>
        </p:blipFill>
        <p:spPr>
          <a:xfrm>
            <a:off x="5223770" y="4591063"/>
            <a:ext cx="338156" cy="338150"/>
          </a:xfrm>
          <a:prstGeom prst="rect">
            <a:avLst/>
          </a:prstGeom>
          <a:noFill/>
          <a:ln>
            <a:noFill/>
          </a:ln>
        </p:spPr>
      </p:pic>
      <p:sp>
        <p:nvSpPr>
          <p:cNvPr id="193" name="Google Shape;193;g272ce93db3f_0_3"/>
          <p:cNvSpPr txBox="1"/>
          <p:nvPr/>
        </p:nvSpPr>
        <p:spPr>
          <a:xfrm>
            <a:off x="5457275"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194" name="Google Shape;194;g272ce93db3f_0_3"/>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