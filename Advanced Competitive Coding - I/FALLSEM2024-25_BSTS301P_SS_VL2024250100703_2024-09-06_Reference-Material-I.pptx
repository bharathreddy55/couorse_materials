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73" r:id="rId2"/>
    <p:sldId id="274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806" r:id="rId19"/>
    <p:sldId id="807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e5SXUmLCfJFlSZsYsdbG5QxpD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090C94-7633-407C-BBD8-113668089B56}">
  <a:tblStyle styleId="{A7090C94-7633-407C-BBD8-113668089B5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2AACB9-94D2-4D88-B79E-280E7B4A1EF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3261528-EBDA-429A-B846-21BB263EC3D8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98199B-044F-415E-8765-BCA4B90D766D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ED310EF-02AD-4D01-95B9-96EDD4CB22DB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FF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FF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A50C4E-2ED4-45D7-81B7-8DB0AD88C3E3}" styleName="Table_5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BA10C45-5969-4CCE-85BD-E8A3CB9A4BE7}" styleName="Table_6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Roboto" panose="02000000000000000000" pitchFamily="2" charset="0"/>
        <a:ea typeface="Roboto" panose="02000000000000000000" pitchFamily="2" charset="0"/>
        <a:cs typeface="Roboto" panose="02000000000000000000" pitchFamily="2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6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1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2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2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2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3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024f648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25024f648a6_0_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strike="no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Rotated array: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strike="no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3 4 5 1 2 </a:t>
            </a: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36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strike="no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Rotated array: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strike="noStrike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3 4 5 1 2 </a:t>
            </a: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3f307fc55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3f307fc55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f307fc55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3f307fc55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3f307fc55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3f307fc55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8" name="Google Shape;5198;p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9" name="Google Shape;5199;p56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52926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7" name="Google Shape;1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8" name="Google Shape;1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21" name="Google Shape;2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5" name="Google Shape;25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2" name="Google Shape;32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3" name="Google Shape;3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40" name="Google Shape;40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2" name="Google Shape;4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45" name="Google Shape;4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8" name="Google Shape;48;p3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oogle Shape;9;p21">
            <a:extLst>
              <a:ext uri="{FF2B5EF4-FFF2-40B4-BE49-F238E27FC236}">
                <a16:creationId xmlns:a16="http://schemas.microsoft.com/office/drawing/2014/main" id="{79E65885-7FFA-C057-72A0-409CF24899DF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learn.codemithra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55" name="Google Shape;5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3" y="600290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/>
        </p:nvSpPr>
        <p:spPr>
          <a:xfrm>
            <a:off x="780945" y="1140630"/>
            <a:ext cx="7993626" cy="97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URL</a:t>
            </a:r>
            <a:r>
              <a:rPr lang="en-US" sz="1600" b="1" i="0" u="none" strike="noStrike" cap="none" dirty="0">
                <a:solidFill>
                  <a:srgbClr val="373737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: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https://forms.gle/4tAwWTB5Mzk4ryx77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QR CODE</a:t>
            </a:r>
            <a:r>
              <a:rPr lang="en-US" sz="1600" b="1" i="0" u="none" strike="noStrike" cap="none" dirty="0">
                <a:solidFill>
                  <a:srgbClr val="373737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:</a:t>
            </a:r>
            <a:endParaRPr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34"/>
          <p:cNvSpPr txBox="1"/>
          <p:nvPr/>
        </p:nvSpPr>
        <p:spPr>
          <a:xfrm>
            <a:off x="1494264" y="540486"/>
            <a:ext cx="58283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chemeClr val="accent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TIME ON SWAP TWO NIBBLES IN A BYTE</a:t>
            </a:r>
            <a:endParaRPr lang="en-US" sz="3200" b="1" dirty="0">
              <a:solidFill>
                <a:schemeClr val="accent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F93EAB6-AB75-25A8-6284-E9F5EC98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659" y="1918010"/>
            <a:ext cx="3040565" cy="268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71" name="Google Shape;7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5"/>
          <p:cNvSpPr txBox="1"/>
          <p:nvPr/>
        </p:nvSpPr>
        <p:spPr>
          <a:xfrm>
            <a:off x="96644" y="1925434"/>
            <a:ext cx="4690948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SWAP ALGORITHM</a:t>
            </a:r>
            <a:endParaRPr lang="en-US" sz="3600" b="1" i="0" u="none" strike="noStrike" cap="none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555120" y="663079"/>
            <a:ext cx="754488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Introduction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The Block Swap algorithm, also known as the Array Rotation algorithm, is a technique used to rotate the elements of an array by a given number of positions.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The algorithm operates by dividing the array into two blocks and then swapping the elements between these blocks in a specific manner.</a:t>
            </a:r>
            <a:endParaRPr sz="14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55120" y="593893"/>
            <a:ext cx="7544880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Swap algorithm: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Input: The algorithm takes as input an array of elements and the number of positions by which the array needs to be rotated.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3C9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Divide the array into two blocks: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1: This block consists of the first "d" elements of the array, where "d" is the number of positions to rotate.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2: This block contains the remaining elements of the array.</a:t>
            </a:r>
            <a:endParaRPr sz="18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55120" y="898693"/>
            <a:ext cx="8306382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Swap the elements between Block 1 and Block 2: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The algorithm performs a simple swap operation, where it exchanges the elements at corresponding positions in Block 1 and Block 2.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After the swap, you will have two separate blocks: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1: This block now consists of the elements that were originally in Block 2.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2: This block now contains the elements that were originally in Block 1.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578367" y="1327665"/>
            <a:ext cx="75448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     By repeating these steps, the algorithm gradually rotates the array by the specified number of positions.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     It continues dividing the array into two blocks and swapping their elements until the entire array has been rotated.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555120" y="898693"/>
            <a:ext cx="754488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Example:array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[1, 2, 3, 4, 5] and we want to rotate it by 2 positions.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1106129" y="2032288"/>
            <a:ext cx="6518787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Initial array: [1, 2, 3, 4, 5]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2.Divide the array into two blocks: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1: [1, 2] (first 2 elements)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2: [3, 4, 5] (remaining elements)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3086100" y="2534631"/>
          <a:ext cx="2971750" cy="37085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9CE7F5"/>
                    </a:gs>
                    <a:gs pos="35000">
                      <a:srgbClr val="BBEAF6"/>
                    </a:gs>
                    <a:gs pos="100000">
                      <a:srgbClr val="E4F9FC"/>
                    </a:gs>
                  </a:gsLst>
                  <a:lin ang="16200000" scaled="0"/>
                </a:gradFill>
                <a:tableStyleId>{A7090C94-7633-407C-BBD8-113668089B56}</a:tableStyleId>
              </a:tblPr>
              <a:tblGrid>
                <a:gridCol w="5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B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Google Shape;115;p21"/>
          <p:cNvGraphicFramePr/>
          <p:nvPr/>
        </p:nvGraphicFramePr>
        <p:xfrm>
          <a:off x="3086100" y="3557860"/>
          <a:ext cx="1188700" cy="370850"/>
        </p:xfrm>
        <a:graphic>
          <a:graphicData uri="http://schemas.openxmlformats.org/drawingml/2006/table">
            <a:tbl>
              <a:tblPr firstRow="1" bandRow="1">
                <a:noFill/>
                <a:tableStyleId>{A7090C94-7633-407C-BBD8-113668089B56}</a:tableStyleId>
              </a:tblPr>
              <a:tblGrid>
                <a:gridCol w="5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5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" name="Google Shape;116;p21"/>
          <p:cNvGraphicFramePr/>
          <p:nvPr/>
        </p:nvGraphicFramePr>
        <p:xfrm>
          <a:off x="4844844" y="3564463"/>
          <a:ext cx="1821450" cy="370850"/>
        </p:xfrm>
        <a:graphic>
          <a:graphicData uri="http://schemas.openxmlformats.org/drawingml/2006/table">
            <a:tbl>
              <a:tblPr firstRow="1" bandRow="1">
                <a:noFill/>
                <a:tableStyleId>{A32AACB9-94D2-4D88-B79E-280E7B4A1EF5}</a:tableStyleId>
              </a:tblPr>
              <a:tblGrid>
                <a:gridCol w="60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101213" y="883297"/>
            <a:ext cx="6518787" cy="3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Swap the elements between Block 1 and Block 2:</a:t>
            </a: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3.After Swapped array: [3, 4, 5, 1, 2]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1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4.Separate the swapped array into two blocks: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1: [3, 4, 5] (original Block 2)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2: [1, 2] (original Block 1)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2825276" y="1745785"/>
          <a:ext cx="2170500" cy="37085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FD17D"/>
                    </a:gs>
                    <a:gs pos="35000">
                      <a:srgbClr val="FFDCA3"/>
                    </a:gs>
                    <a:gs pos="100000">
                      <a:srgbClr val="FFF1D8"/>
                    </a:gs>
                  </a:gsLst>
                  <a:lin ang="16200000" scaled="0"/>
                </a:gradFill>
                <a:tableStyleId>{93261528-EBDA-429A-B846-21BB263EC3D8}</a:tableStyleId>
              </a:tblPr>
              <a:tblGrid>
                <a:gridCol w="72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" name="Google Shape;126;p22"/>
          <p:cNvGraphicFramePr/>
          <p:nvPr/>
        </p:nvGraphicFramePr>
        <p:xfrm>
          <a:off x="4995746" y="1745785"/>
          <a:ext cx="1724050" cy="370850"/>
        </p:xfrm>
        <a:graphic>
          <a:graphicData uri="http://schemas.openxmlformats.org/drawingml/2006/table">
            <a:tbl>
              <a:tblPr firstRow="1" bandRow="1">
                <a:noFill/>
                <a:tableStyleId>{93261528-EBDA-429A-B846-21BB263EC3D8}</a:tableStyleId>
              </a:tblPr>
              <a:tblGrid>
                <a:gridCol w="8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5276" y="2824928"/>
            <a:ext cx="2286198" cy="40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0555" y="2779555"/>
            <a:ext cx="1798476" cy="41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683618" y="1016923"/>
            <a:ext cx="7971502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5. Repeat steps 2-4 once more: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3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1: [3, 4] (first 2 elements from Block 1)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3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Block 2: [5, 1, 2] (remaining elements from Block 1)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marR="0" lvl="3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Swapped array: [5, 1, 2, 3, 4]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6.The final array after rotating by 2 positions is [5, 1, 2, 3, 4].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137" name="Google Shape;137;p24"/>
          <p:cNvGraphicFramePr/>
          <p:nvPr/>
        </p:nvGraphicFramePr>
        <p:xfrm>
          <a:off x="4669922" y="1485671"/>
          <a:ext cx="2487525" cy="37085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FFF7D"/>
                    </a:gs>
                    <a:gs pos="35000">
                      <a:srgbClr val="FFFFA3"/>
                    </a:gs>
                    <a:gs pos="100000">
                      <a:srgbClr val="FFFFD8"/>
                    </a:gs>
                  </a:gsLst>
                  <a:lin ang="16200000" scaled="0"/>
                </a:gradFill>
                <a:tableStyleId>{8E98199B-044F-415E-8765-BCA4B90D766D}</a:tableStyleId>
              </a:tblPr>
              <a:tblGrid>
                <a:gridCol w="82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" name="Google Shape;138;p24"/>
          <p:cNvGraphicFramePr/>
          <p:nvPr/>
        </p:nvGraphicFramePr>
        <p:xfrm>
          <a:off x="3052806" y="1493044"/>
          <a:ext cx="1023200" cy="370850"/>
        </p:xfrm>
        <a:graphic>
          <a:graphicData uri="http://schemas.openxmlformats.org/drawingml/2006/table">
            <a:tbl>
              <a:tblPr firstRow="1" bandRow="1">
                <a:noFill/>
                <a:tableStyleId>{8E98199B-044F-415E-8765-BCA4B90D766D}</a:tableStyleId>
              </a:tblPr>
              <a:tblGrid>
                <a:gridCol w="51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3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4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" name="Google Shape;139;p24"/>
          <p:cNvGraphicFramePr/>
          <p:nvPr/>
        </p:nvGraphicFramePr>
        <p:xfrm>
          <a:off x="1947746" y="429415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  <a:tableStyleId>{CED310EF-02AD-4D01-95B9-96EDD4CB22DB}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" name="Google Shape;140;p24"/>
          <p:cNvGraphicFramePr/>
          <p:nvPr/>
        </p:nvGraphicFramePr>
        <p:xfrm>
          <a:off x="2632186" y="3397373"/>
          <a:ext cx="2487525" cy="370850"/>
        </p:xfrm>
        <a:graphic>
          <a:graphicData uri="http://schemas.openxmlformats.org/drawingml/2006/table">
            <a:tbl>
              <a:tblPr firstRow="1" bandRow="1">
                <a:noFill/>
                <a:tableStyleId>{8E98199B-044F-415E-8765-BCA4B90D766D}</a:tableStyleId>
              </a:tblPr>
              <a:tblGrid>
                <a:gridCol w="82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3273" y="3355260"/>
            <a:ext cx="1219306" cy="43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1076633" y="2002827"/>
            <a:ext cx="794938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time complexity of O(n)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 where n is the number of elements in the array.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space complexity  O(1)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 since it performs the rotation in place without using additional data structures.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1076633" y="126754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Time and space complexity </a:t>
            </a:r>
            <a:endParaRPr sz="18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58" name="Google Shape;158;p35"/>
          <p:cNvSpPr txBox="1"/>
          <p:nvPr/>
        </p:nvSpPr>
        <p:spPr>
          <a:xfrm>
            <a:off x="1138626" y="1510613"/>
            <a:ext cx="794938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Sample input 1: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10, 20, 30, 40, 50 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rotations = 3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Rotated array: 40 50 10 20 30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Sample input 2: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7, 8, 9, 10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rotations = 5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Rotated array: 8 9 10 7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9" name="Google Shape;159;p35"/>
          <p:cNvSpPr txBox="1"/>
          <p:nvPr/>
        </p:nvSpPr>
        <p:spPr>
          <a:xfrm>
            <a:off x="1044000" y="935879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Program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024f648a6_0_0"/>
          <p:cNvSpPr/>
          <p:nvPr/>
        </p:nvSpPr>
        <p:spPr>
          <a:xfrm>
            <a:off x="555120" y="915840"/>
            <a:ext cx="7545000" cy="8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graphicFrame>
        <p:nvGraphicFramePr>
          <p:cNvPr id="167" name="Google Shape;167;g25024f648a6_0_0"/>
          <p:cNvGraphicFramePr/>
          <p:nvPr>
            <p:extLst>
              <p:ext uri="{D42A27DB-BD31-4B8C-83A1-F6EECF244321}">
                <p14:modId xmlns:p14="http://schemas.microsoft.com/office/powerpoint/2010/main" val="2778464895"/>
              </p:ext>
            </p:extLst>
          </p:nvPr>
        </p:nvGraphicFramePr>
        <p:xfrm>
          <a:off x="494982" y="1022923"/>
          <a:ext cx="8093898" cy="3606181"/>
        </p:xfrm>
        <a:graphic>
          <a:graphicData uri="http://schemas.openxmlformats.org/drawingml/2006/table">
            <a:tbl>
              <a:tblPr firstRow="1" bandRow="1">
                <a:noFill/>
                <a:tableStyleId>{ACA50C4E-2ED4-45D7-81B7-8DB0AD88C3E3}</a:tableStyleId>
              </a:tblPr>
              <a:tblGrid>
                <a:gridCol w="418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18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import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java.util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.*;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public class Main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public static void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Rotatetoleft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(int[]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int n, int k)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if (n == 0)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return;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k = k % n;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if (k &gt; n)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return;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int[] temp = new int[k];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for (int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0;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&lt; k;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++)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temp[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] =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];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}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for (int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0;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&lt; n - k;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++)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] =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+ k];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}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for (int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n - k;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&lt; n;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++)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] = temp[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- n + k];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public static void main(String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args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[])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int n = 7;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int[]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{1,2,3,4,5,6,7};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int k = 2;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Rotatetoleft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n, k);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System.out.println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("After Rotating the elements to left ");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for (int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0;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&lt; n;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++)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System.out.print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] + " ");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}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}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}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graphicFrame>
        <p:nvGraphicFramePr>
          <p:cNvPr id="175" name="Google Shape;175;p36"/>
          <p:cNvGraphicFramePr/>
          <p:nvPr>
            <p:extLst>
              <p:ext uri="{D42A27DB-BD31-4B8C-83A1-F6EECF244321}">
                <p14:modId xmlns:p14="http://schemas.microsoft.com/office/powerpoint/2010/main" val="3845280779"/>
              </p:ext>
            </p:extLst>
          </p:nvPr>
        </p:nvGraphicFramePr>
        <p:xfrm>
          <a:off x="176981" y="688387"/>
          <a:ext cx="8694175" cy="3623418"/>
        </p:xfrm>
        <a:graphic>
          <a:graphicData uri="http://schemas.openxmlformats.org/drawingml/2006/table">
            <a:tbl>
              <a:tblPr firstRow="1" bandRow="1">
                <a:noFill/>
                <a:tableStyleId>{BBA10C45-5969-4CCE-85BD-E8A3CB9A4BE7}</a:tableStyleId>
              </a:tblPr>
              <a:tblGrid>
                <a:gridCol w="477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public class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BlockSwapAlgorithm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public static void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rotateArray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(int[]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int d)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int n =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arr.length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d = d % n;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if (d == 0)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return;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swap(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0, d - 1);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swap(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d, n - 1);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swap(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0, n - 1);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public static void swap(int[]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int start, int end)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while (start &lt; end)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int temp =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[start];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[start] =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[end];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[end] = temp;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start++;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end--;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}}          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public static void main(String[]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args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) {</a:t>
                      </a:r>
                      <a:endParaRPr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int[]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= {1, 2, 3, 4, 5};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int rotations = 2;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rotateArray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, rotations);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System.out.println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("Rotated array:");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for (int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: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arr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   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System.out.print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i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+ " 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Consolas"/>
                        </a:rPr>
                        <a:t>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3f307fc558_0_8"/>
          <p:cNvSpPr/>
          <p:nvPr/>
        </p:nvSpPr>
        <p:spPr>
          <a:xfrm>
            <a:off x="1007602" y="793695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C0C0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184" name="Google Shape;184;g23f307fc558_0_8"/>
          <p:cNvSpPr txBox="1"/>
          <p:nvPr/>
        </p:nvSpPr>
        <p:spPr>
          <a:xfrm>
            <a:off x="622564" y="757068"/>
            <a:ext cx="81171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Describe the Block Swap algorithm and how it works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5" name="Google Shape;185;g23f307fc558_0_8"/>
          <p:cNvSpPr txBox="1"/>
          <p:nvPr/>
        </p:nvSpPr>
        <p:spPr>
          <a:xfrm>
            <a:off x="947579" y="1410395"/>
            <a:ext cx="7200900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         The Block Swap algorithm is used to rotate an array by a given number of positions. It involves swapping blocks of elements within the array to achieve rotation. The algorithm divides the array into two blocks, A and B, where A has the first d elements and B has the remaining elements. It then performs a series of swaps to move the elements from A to B and vice versa, until the desired rotation is achieved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Google Shape;220;g25ff1c1f48c_0_10">
            <a:extLst>
              <a:ext uri="{FF2B5EF4-FFF2-40B4-BE49-F238E27FC236}">
                <a16:creationId xmlns:a16="http://schemas.microsoft.com/office/drawing/2014/main" id="{62ABCAEB-B2C0-730D-EB5E-0CE1775BA3F8}"/>
              </a:ext>
            </a:extLst>
          </p:cNvPr>
          <p:cNvSpPr txBox="1"/>
          <p:nvPr/>
        </p:nvSpPr>
        <p:spPr>
          <a:xfrm>
            <a:off x="404336" y="549335"/>
            <a:ext cx="4572000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lack"/>
              </a:rPr>
              <a:t>Interview questions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3f307fc558_0_18"/>
          <p:cNvSpPr/>
          <p:nvPr/>
        </p:nvSpPr>
        <p:spPr>
          <a:xfrm>
            <a:off x="1007602" y="995377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C0C0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194" name="Google Shape;194;g23f307fc558_0_18"/>
          <p:cNvSpPr txBox="1"/>
          <p:nvPr/>
        </p:nvSpPr>
        <p:spPr>
          <a:xfrm>
            <a:off x="565070" y="1278615"/>
            <a:ext cx="8117100" cy="79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What is the time complexity of the Block Swap algorithm?</a:t>
            </a:r>
            <a:endParaRPr sz="18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195" name="Google Shape;195;g23f307fc558_0_18"/>
          <p:cNvSpPr txBox="1"/>
          <p:nvPr/>
        </p:nvSpPr>
        <p:spPr>
          <a:xfrm>
            <a:off x="1129063" y="2063832"/>
            <a:ext cx="7200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The time complexity of the Block Swap algorithm is O(n), where n is the number of elements in the array.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2" name="Google Shape;220;g25ff1c1f48c_0_10">
            <a:extLst>
              <a:ext uri="{FF2B5EF4-FFF2-40B4-BE49-F238E27FC236}">
                <a16:creationId xmlns:a16="http://schemas.microsoft.com/office/drawing/2014/main" id="{44436E27-FAF5-72FE-2621-FFE3B7C3CA67}"/>
              </a:ext>
            </a:extLst>
          </p:cNvPr>
          <p:cNvSpPr txBox="1"/>
          <p:nvPr/>
        </p:nvSpPr>
        <p:spPr>
          <a:xfrm>
            <a:off x="374708" y="723145"/>
            <a:ext cx="4572000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lack"/>
              </a:rPr>
              <a:t>Interview questions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3f307fc558_0_30"/>
          <p:cNvSpPr/>
          <p:nvPr/>
        </p:nvSpPr>
        <p:spPr>
          <a:xfrm>
            <a:off x="1007602" y="790605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C0C0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204" name="Google Shape;204;g23f307fc558_0_30"/>
          <p:cNvSpPr txBox="1"/>
          <p:nvPr/>
        </p:nvSpPr>
        <p:spPr>
          <a:xfrm>
            <a:off x="549502" y="1260839"/>
            <a:ext cx="81171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What are the applications of the Block Swap algorithm?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5" name="Google Shape;205;g23f307fc558_0_30"/>
          <p:cNvSpPr txBox="1"/>
          <p:nvPr/>
        </p:nvSpPr>
        <p:spPr>
          <a:xfrm>
            <a:off x="1007602" y="2090768"/>
            <a:ext cx="72009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Rotating elements in an array or a string.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Implementing circular queues or buffers.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Performing cyclic shifts in cryptographic algorithms.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Reordering elements in certain data structures or algorithms.</a:t>
            </a:r>
            <a:endParaRPr sz="18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onsolas"/>
            </a:endParaRPr>
          </a:p>
        </p:txBody>
      </p:sp>
      <p:sp>
        <p:nvSpPr>
          <p:cNvPr id="2" name="Google Shape;220;g25ff1c1f48c_0_10">
            <a:extLst>
              <a:ext uri="{FF2B5EF4-FFF2-40B4-BE49-F238E27FC236}">
                <a16:creationId xmlns:a16="http://schemas.microsoft.com/office/drawing/2014/main" id="{A3609A27-D6C1-76D6-BF89-9D39E91B2EE2}"/>
              </a:ext>
            </a:extLst>
          </p:cNvPr>
          <p:cNvSpPr txBox="1"/>
          <p:nvPr/>
        </p:nvSpPr>
        <p:spPr>
          <a:xfrm>
            <a:off x="374708" y="723145"/>
            <a:ext cx="4572000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lack"/>
              </a:rPr>
              <a:t>Interview questions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p561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200"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rgbClr val="000000"/>
              </a:buClr>
              <a:buSzPts val="1200"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rgbClr val="000000"/>
              </a:buClr>
              <a:buSzPts val="1200"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rgbClr val="000000"/>
              </a:buClr>
              <a:buSzPts val="1200"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6805" name="Google Shape;1420;p18">
            <a:extLst>
              <a:ext uri="{FF2B5EF4-FFF2-40B4-BE49-F238E27FC236}">
                <a16:creationId xmlns:a16="http://schemas.microsoft.com/office/drawing/2014/main" id="{EF29B0C4-6766-C518-F208-025B01250D6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Google Shape;1421;p18">
            <a:extLst>
              <a:ext uri="{FF2B5EF4-FFF2-40B4-BE49-F238E27FC236}">
                <a16:creationId xmlns:a16="http://schemas.microsoft.com/office/drawing/2014/main" id="{04A2AACF-A287-93F4-A91D-C8DE8603E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25" tIns="82925" rIns="81625" bIns="82925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ts val="1200"/>
              <a:buFontTx/>
              <a:buNone/>
            </a:pPr>
            <a:r>
              <a:rPr lang="en-US" altLang="en-US" sz="1200" dirty="0">
                <a:solidFill>
                  <a:srgbClr val="666666"/>
                </a:solidFill>
                <a:ea typeface="Roboto" panose="02000000000000000000" pitchFamily="2" charset="0"/>
                <a:cs typeface="Roboto" panose="02000000000000000000" pitchFamily="2" charset="0"/>
                <a:sym typeface="Roboto" panose="02000000000000000000" pitchFamily="2" charset="0"/>
                <a:hlinkClick r:id="rId4"/>
              </a:rPr>
              <a:t>https://learn.codemithra.com</a:t>
            </a:r>
            <a:endParaRPr lang="en-US" altLang="en-US" sz="1200" dirty="0">
              <a:solidFill>
                <a:srgbClr val="666666"/>
              </a:solidFill>
              <a:ea typeface="Roboto" panose="02000000000000000000" pitchFamily="2" charset="0"/>
              <a:cs typeface="Roboto" panose="02000000000000000000" pitchFamily="2" charset="0"/>
              <a:sym typeface="Roboto" panose="02000000000000000000" pitchFamily="2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ts val="1200"/>
              <a:buFontTx/>
              <a:buNone/>
            </a:pPr>
            <a:endParaRPr lang="en-US" altLang="en-US" sz="1200" dirty="0">
              <a:solidFill>
                <a:srgbClr val="000000"/>
              </a:solidFill>
              <a:ea typeface="Roboto" panose="02000000000000000000" pitchFamily="2" charset="0"/>
              <a:cs typeface="Roboto" panose="02000000000000000000" pitchFamily="2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189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b" anchorCtr="0">
            <a:normAutofit/>
          </a:bodyPr>
          <a:lstStyle/>
          <a:p>
            <a:pPr>
              <a:lnSpc>
                <a:spcPct val="100000"/>
              </a:lnSpc>
              <a:buSzPts val="5200"/>
            </a:pPr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endParaRPr/>
          </a:p>
        </p:txBody>
      </p:sp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SzPts val="3700"/>
            </a:pPr>
            <a:r>
              <a:rPr lang="en-IN" sz="3700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sz="3700"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1" name="Google Shape;13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I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9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I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I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38" name="Google Shape;138;p9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1276</Words>
  <Application>Microsoft Office PowerPoint</Application>
  <PresentationFormat>On-screen Show (16:9)</PresentationFormat>
  <Paragraphs>203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Noto Sans Symbols</vt:lpstr>
      <vt:lpstr>Roboto</vt:lpstr>
      <vt:lpstr>Roboto Medium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RAMASAMY</dc:creator>
  <cp:lastModifiedBy>poojaramaraj71@gmail.com</cp:lastModifiedBy>
  <cp:revision>2</cp:revision>
  <dcterms:modified xsi:type="dcterms:W3CDTF">2024-07-15T08:45:23Z</dcterms:modified>
</cp:coreProperties>
</file>