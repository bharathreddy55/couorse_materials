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82" r:id="rId3"/>
    <p:sldId id="283" r:id="rId4"/>
    <p:sldId id="258" r:id="rId5"/>
    <p:sldId id="259" r:id="rId6"/>
    <p:sldId id="260" r:id="rId7"/>
    <p:sldId id="261" r:id="rId8"/>
    <p:sldId id="262" r:id="rId9"/>
    <p:sldId id="263" r:id="rId10"/>
    <p:sldId id="264" r:id="rId11"/>
    <p:sldId id="265" r:id="rId12"/>
    <p:sldId id="266" r:id="rId13"/>
    <p:sldId id="267" r:id="rId14"/>
    <p:sldId id="281"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9" r:id="rId28"/>
    <p:sldId id="290" r:id="rId29"/>
  </p:sldIdLst>
  <p:sldSz cx="9144000" cy="5143500" type="screen16x9"/>
  <p:notesSz cx="6858000" cy="9144000"/>
  <p:embeddedFontLst>
    <p:embeddedFont>
      <p:font typeface="Consolas" panose="020B0609020204030204" pitchFamily="49"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Roboto Black" panose="02000000000000000000" pitchFamily="2" charset="0"/>
      <p:bold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hmBllPEP4CWmQVVPYR2mkoxAUQ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0A13CB-694B-4DB4-893A-0AF11BF5B380}">
  <a:tblStyle styleId="{C50A13CB-694B-4DB4-893A-0AF11BF5B38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Cover Slide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p3: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4: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5: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6: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7: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8: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NOTE: YOU CAN SKIP THIS IF YOU HAVE TIME CONSTRAINTS</a:t>
            </a:r>
            <a:endParaRPr sz="1200" b="0"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p9: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NOTE: YOU CAN SKIP THIS IF YOU HAVE TIME CONSTRAINTS</a:t>
            </a:r>
            <a:endParaRPr sz="1200" b="0" strike="noStrike">
              <a:latin typeface="Arial"/>
              <a:ea typeface="Arial"/>
              <a:cs typeface="Arial"/>
              <a:sym typeface="Arial"/>
            </a:endParaRPr>
          </a:p>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10: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p11: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2: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2: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2: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2: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extLst>
      <p:ext uri="{BB962C8B-B14F-4D97-AF65-F5344CB8AC3E}">
        <p14:creationId xmlns:p14="http://schemas.microsoft.com/office/powerpoint/2010/main" val="142842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4: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14: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42: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 name="Google Shape;208;p42: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43: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7" name="Google Shape;217;p43: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4: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44: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45: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0" name="Google Shape;240;p45: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46: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46: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47: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p47: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8: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48:notes"/>
          <p:cNvSpPr txBox="1">
            <a:spLocks noGrp="1"/>
          </p:cNvSpPr>
          <p:nvPr>
            <p:ph type="body" idx="1"/>
          </p:nvPr>
        </p:nvSpPr>
        <p:spPr>
          <a:xfrm>
            <a:off x="514350" y="7823360"/>
            <a:ext cx="4114530" cy="6400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7543104cdf_2_0: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g27543104cdf_2_0:notes"/>
          <p:cNvSpPr txBox="1">
            <a:spLocks noGrp="1"/>
          </p:cNvSpPr>
          <p:nvPr>
            <p:ph type="body" idx="1"/>
          </p:nvPr>
        </p:nvSpPr>
        <p:spPr>
          <a:xfrm>
            <a:off x="514350" y="7823360"/>
            <a:ext cx="4114500" cy="6400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7543104cdf_2_14: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1" name="Google Shape;301;g27543104cdf_2_14:notes"/>
          <p:cNvSpPr txBox="1">
            <a:spLocks noGrp="1"/>
          </p:cNvSpPr>
          <p:nvPr>
            <p:ph type="body" idx="1"/>
          </p:nvPr>
        </p:nvSpPr>
        <p:spPr>
          <a:xfrm>
            <a:off x="514350" y="7823360"/>
            <a:ext cx="4114500" cy="6400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a:latin typeface="Arial"/>
                <a:ea typeface="Arial"/>
                <a:cs typeface="Arial"/>
                <a:sym typeface="Arial"/>
              </a:rPr>
              <a:t>// a sentinel value: https://stackoverflow.com/questions/21666508/can-someone-explain-to-me-what-a-sentinel-does-in-java-or-how-it-works</a:t>
            </a:r>
            <a:endParaRPr sz="1200" b="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7543104cdf_2_24: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1" name="Google Shape;311;g27543104cdf_2_24:notes"/>
          <p:cNvSpPr txBox="1">
            <a:spLocks noGrp="1"/>
          </p:cNvSpPr>
          <p:nvPr>
            <p:ph type="body" idx="1"/>
          </p:nvPr>
        </p:nvSpPr>
        <p:spPr>
          <a:xfrm>
            <a:off x="514350" y="7823360"/>
            <a:ext cx="4114500" cy="6400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7543104cdf_2_34:notes"/>
          <p:cNvSpPr>
            <a:spLocks noGrp="1" noRot="1" noChangeAspect="1"/>
          </p:cNvSpPr>
          <p:nvPr>
            <p:ph type="sldImg" idx="2"/>
          </p:nvPr>
        </p:nvSpPr>
        <p:spPr>
          <a:xfrm>
            <a:off x="-2305050" y="2032000"/>
            <a:ext cx="9752013" cy="548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1" name="Google Shape;321;g27543104cdf_2_34:notes"/>
          <p:cNvSpPr txBox="1">
            <a:spLocks noGrp="1"/>
          </p:cNvSpPr>
          <p:nvPr>
            <p:ph type="body" idx="1"/>
          </p:nvPr>
        </p:nvSpPr>
        <p:spPr>
          <a:xfrm>
            <a:off x="514350" y="7823360"/>
            <a:ext cx="4114500" cy="6400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7" name="Google Shape;277;p3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151059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8" name="Google Shape;18;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425987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 name="Google Shape;9;p36">
            <a:extLst>
              <a:ext uri="{FF2B5EF4-FFF2-40B4-BE49-F238E27FC236}">
                <a16:creationId xmlns:a16="http://schemas.microsoft.com/office/drawing/2014/main" id="{0EA1D01A-9205-DE0C-2FF3-9C8ABE6E0A47}"/>
              </a:ext>
            </a:extLst>
          </p:cNvPr>
          <p:cNvPicPr preferRelativeResize="0"/>
          <p:nvPr userDrawn="1"/>
        </p:nvPicPr>
        <p:blipFill rotWithShape="1">
          <a:blip r:embed="rId14">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hyperlink" Target="https://learn.codemithra.com/"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
          <p:cNvPicPr preferRelativeResize="0"/>
          <p:nvPr/>
        </p:nvPicPr>
        <p:blipFill rotWithShape="1">
          <a:blip r:embed="rId3">
            <a:alphaModFix/>
          </a:blip>
          <a:srcRect/>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62" name="Google Shape;62;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63" name="Google Shape;63;p2"/>
          <p:cNvPicPr preferRelativeResize="0"/>
          <p:nvPr/>
        </p:nvPicPr>
        <p:blipFill rotWithShape="1">
          <a:blip r:embed="rId3">
            <a:alphaModFix/>
          </a:blip>
          <a:srcRect/>
          <a:stretch/>
        </p:blipFill>
        <p:spPr>
          <a:xfrm>
            <a:off x="2" y="4"/>
            <a:ext cx="9144003" cy="5143501"/>
          </a:xfrm>
          <a:prstGeom prst="rect">
            <a:avLst/>
          </a:prstGeom>
          <a:noFill/>
          <a:ln>
            <a:noFill/>
          </a:ln>
        </p:spPr>
      </p:pic>
      <p:pic>
        <p:nvPicPr>
          <p:cNvPr id="64" name="Google Shape;64;p2"/>
          <p:cNvPicPr preferRelativeResize="0"/>
          <p:nvPr/>
        </p:nvPicPr>
        <p:blipFill rotWithShape="1">
          <a:blip r:embed="rId4">
            <a:alphaModFix/>
          </a:blip>
          <a:srcRect/>
          <a:stretch/>
        </p:blipFill>
        <p:spPr>
          <a:xfrm>
            <a:off x="2504604" y="600291"/>
            <a:ext cx="4134799" cy="2923400"/>
          </a:xfrm>
          <a:prstGeom prst="rect">
            <a:avLst/>
          </a:prstGeom>
          <a:noFill/>
          <a:ln>
            <a:noFill/>
          </a:ln>
        </p:spPr>
      </p:pic>
      <p:pic>
        <p:nvPicPr>
          <p:cNvPr id="65" name="Google Shape;65;p2"/>
          <p:cNvPicPr preferRelativeResize="0"/>
          <p:nvPr/>
        </p:nvPicPr>
        <p:blipFill rotWithShape="1">
          <a:blip r:embed="rId5">
            <a:alphaModFix/>
          </a:blip>
          <a:srcRect/>
          <a:stretch/>
        </p:blipFill>
        <p:spPr>
          <a:xfrm>
            <a:off x="2200054" y="3386141"/>
            <a:ext cx="4743901" cy="1157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71" name="Google Shape;7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72" name="Google Shape;72;p3"/>
          <p:cNvPicPr preferRelativeResize="0"/>
          <p:nvPr/>
        </p:nvPicPr>
        <p:blipFill rotWithShape="1">
          <a:blip r:embed="rId3">
            <a:alphaModFix/>
          </a:blip>
          <a:srcRect/>
          <a:stretch/>
        </p:blipFill>
        <p:spPr>
          <a:xfrm>
            <a:off x="2" y="4"/>
            <a:ext cx="9144003" cy="5143501"/>
          </a:xfrm>
          <a:prstGeom prst="rect">
            <a:avLst/>
          </a:prstGeom>
          <a:noFill/>
          <a:ln>
            <a:noFill/>
          </a:ln>
        </p:spPr>
      </p:pic>
      <p:sp>
        <p:nvSpPr>
          <p:cNvPr id="73" name="Google Shape;73;p3"/>
          <p:cNvSpPr txBox="1"/>
          <p:nvPr/>
        </p:nvSpPr>
        <p:spPr>
          <a:xfrm>
            <a:off x="178001" y="2109682"/>
            <a:ext cx="4690948" cy="1317253"/>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n-US" sz="3200" b="1" i="0" u="none" strike="noStrike" cap="none" dirty="0">
                <a:solidFill>
                  <a:schemeClr val="lt1"/>
                </a:solidFill>
                <a:latin typeface="Roboto"/>
                <a:ea typeface="Roboto"/>
                <a:cs typeface="Roboto"/>
                <a:sym typeface="Roboto"/>
              </a:rPr>
              <a:t>MAJORITY ELEMENT ALGORITHM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3"/>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71" name="Google Shape;71;p3"/>
          <p:cNvSpPr/>
          <p:nvPr/>
        </p:nvSpPr>
        <p:spPr>
          <a:xfrm>
            <a:off x="555119" y="655582"/>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600" b="1" i="0" u="none" strike="noStrike" cap="none">
                <a:solidFill>
                  <a:srgbClr val="000000"/>
                </a:solidFill>
                <a:latin typeface="Consolas"/>
                <a:ea typeface="Consolas"/>
                <a:cs typeface="Consolas"/>
                <a:sym typeface="Consolas"/>
              </a:rPr>
              <a:t>Introduction</a:t>
            </a:r>
            <a:endParaRPr sz="1600" b="1" i="0" u="none" strike="noStrike" cap="none">
              <a:solidFill>
                <a:srgbClr val="000000"/>
              </a:solidFill>
              <a:latin typeface="Consolas"/>
              <a:ea typeface="Consolas"/>
              <a:cs typeface="Consolas"/>
              <a:sym typeface="Consolas"/>
            </a:endParaRPr>
          </a:p>
        </p:txBody>
      </p:sp>
      <p:sp>
        <p:nvSpPr>
          <p:cNvPr id="72" name="Google Shape;72;p3"/>
          <p:cNvSpPr/>
          <p:nvPr/>
        </p:nvSpPr>
        <p:spPr>
          <a:xfrm>
            <a:off x="552771" y="1075274"/>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You are given an array of integers.</a:t>
            </a:r>
            <a:endParaRPr sz="1600" b="0" i="0" u="none" strike="noStrike" cap="none">
              <a:solidFill>
                <a:srgbClr val="000000"/>
              </a:solidFill>
              <a:latin typeface="Consolas"/>
              <a:ea typeface="Consolas"/>
              <a:cs typeface="Consolas"/>
              <a:sym typeface="Consolas"/>
            </a:endParaRPr>
          </a:p>
        </p:txBody>
      </p:sp>
      <p:sp>
        <p:nvSpPr>
          <p:cNvPr id="73" name="Google Shape;73;p3"/>
          <p:cNvSpPr/>
          <p:nvPr/>
        </p:nvSpPr>
        <p:spPr>
          <a:xfrm>
            <a:off x="557457" y="1452762"/>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The task is to print the majority element.</a:t>
            </a:r>
            <a:endParaRPr sz="1600" b="0" i="0" u="none" strike="noStrike" cap="none">
              <a:solidFill>
                <a:srgbClr val="000000"/>
              </a:solidFill>
              <a:latin typeface="Consolas"/>
              <a:ea typeface="Consolas"/>
              <a:cs typeface="Consolas"/>
              <a:sym typeface="Consolas"/>
            </a:endParaRPr>
          </a:p>
        </p:txBody>
      </p:sp>
      <p:sp>
        <p:nvSpPr>
          <p:cNvPr id="74" name="Google Shape;74;p3"/>
          <p:cNvSpPr/>
          <p:nvPr/>
        </p:nvSpPr>
        <p:spPr>
          <a:xfrm>
            <a:off x="555109" y="1949828"/>
            <a:ext cx="803320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A majority element in an array of size n is an element that appears more than n/2 times.</a:t>
            </a:r>
            <a:endParaRPr sz="1600" b="0" i="0" u="none" strike="noStrike" cap="none">
              <a:solidFill>
                <a:srgbClr val="000000"/>
              </a:solidFill>
              <a:latin typeface="Consolas"/>
              <a:ea typeface="Consolas"/>
              <a:cs typeface="Consolas"/>
              <a:sym typeface="Consolas"/>
            </a:endParaRPr>
          </a:p>
        </p:txBody>
      </p:sp>
      <p:sp>
        <p:nvSpPr>
          <p:cNvPr id="75" name="Google Shape;75;p3"/>
          <p:cNvSpPr/>
          <p:nvPr/>
        </p:nvSpPr>
        <p:spPr>
          <a:xfrm>
            <a:off x="555109" y="2596956"/>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Thus there can be utmost only one majority element.</a:t>
            </a:r>
            <a:endParaRPr sz="1600" b="0" i="0" u="none" strike="noStrike" cap="none">
              <a:solidFill>
                <a:srgbClr val="000000"/>
              </a:solidFill>
              <a:latin typeface="Consolas"/>
              <a:ea typeface="Consolas"/>
              <a:cs typeface="Consolas"/>
              <a:sym typeface="Consolas"/>
            </a:endParaRPr>
          </a:p>
        </p:txBody>
      </p:sp>
      <p:sp>
        <p:nvSpPr>
          <p:cNvPr id="76" name="Google Shape;76;p3"/>
          <p:cNvSpPr/>
          <p:nvPr/>
        </p:nvSpPr>
        <p:spPr>
          <a:xfrm>
            <a:off x="552761" y="3171396"/>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0000"/>
                </a:solidFill>
                <a:latin typeface="Consolas"/>
                <a:ea typeface="Consolas"/>
                <a:cs typeface="Consolas"/>
                <a:sym typeface="Consolas"/>
              </a:rPr>
              <a:t>Examples :</a:t>
            </a:r>
            <a:endParaRPr sz="1600" b="0" i="0" u="none" strike="noStrike" cap="none">
              <a:solidFill>
                <a:srgbClr val="FF0000"/>
              </a:solidFill>
              <a:latin typeface="Consolas"/>
              <a:ea typeface="Consolas"/>
              <a:cs typeface="Consolas"/>
              <a:sym typeface="Consolas"/>
            </a:endParaRPr>
          </a:p>
        </p:txBody>
      </p:sp>
      <p:sp>
        <p:nvSpPr>
          <p:cNvPr id="77" name="Google Shape;77;p3"/>
          <p:cNvSpPr/>
          <p:nvPr/>
        </p:nvSpPr>
        <p:spPr>
          <a:xfrm>
            <a:off x="552761" y="3607504"/>
            <a:ext cx="42865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arr[] =  {3, 3, 4, 2, 4, 4, 2, 4, 4}</a:t>
            </a:r>
            <a:endParaRPr sz="1600" b="0" i="0" u="none" strike="noStrike" cap="none">
              <a:solidFill>
                <a:srgbClr val="000000"/>
              </a:solidFill>
              <a:latin typeface="Consolas"/>
              <a:ea typeface="Consolas"/>
              <a:cs typeface="Consolas"/>
              <a:sym typeface="Consolas"/>
            </a:endParaRPr>
          </a:p>
        </p:txBody>
      </p:sp>
      <p:sp>
        <p:nvSpPr>
          <p:cNvPr id="78" name="Google Shape;78;p3"/>
          <p:cNvSpPr/>
          <p:nvPr/>
        </p:nvSpPr>
        <p:spPr>
          <a:xfrm>
            <a:off x="4756660" y="3605169"/>
            <a:ext cx="3226756"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 Majority Element: 4</a:t>
            </a:r>
            <a:endParaRPr sz="1600" b="0" i="0" u="none" strike="noStrike" cap="none">
              <a:solidFill>
                <a:srgbClr val="000000"/>
              </a:solidFill>
              <a:latin typeface="Consolas"/>
              <a:ea typeface="Consolas"/>
              <a:cs typeface="Consolas"/>
              <a:sym typeface="Consolas"/>
            </a:endParaRPr>
          </a:p>
        </p:txBody>
      </p:sp>
      <p:sp>
        <p:nvSpPr>
          <p:cNvPr id="79" name="Google Shape;79;p3"/>
          <p:cNvSpPr/>
          <p:nvPr/>
        </p:nvSpPr>
        <p:spPr>
          <a:xfrm>
            <a:off x="557447" y="4090502"/>
            <a:ext cx="428652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arr[] = {3, 3, 4, 2, 4, 4, 2, 4}</a:t>
            </a:r>
            <a:endParaRPr sz="1600" b="0" i="0" u="none" strike="noStrike" cap="none">
              <a:solidFill>
                <a:srgbClr val="000000"/>
              </a:solidFill>
              <a:latin typeface="Consolas"/>
              <a:ea typeface="Consolas"/>
              <a:cs typeface="Consolas"/>
              <a:sym typeface="Consolas"/>
            </a:endParaRPr>
          </a:p>
        </p:txBody>
      </p:sp>
      <p:sp>
        <p:nvSpPr>
          <p:cNvPr id="80" name="Google Shape;80;p3"/>
          <p:cNvSpPr/>
          <p:nvPr/>
        </p:nvSpPr>
        <p:spPr>
          <a:xfrm>
            <a:off x="4761346" y="4088167"/>
            <a:ext cx="3226756"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 Majority Element: null</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10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fade">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1000"/>
                                        <p:tgtEl>
                                          <p:spTgt spid="7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5"/>
                                        </p:tgtEl>
                                        <p:attrNameLst>
                                          <p:attrName>style.visibility</p:attrName>
                                        </p:attrNameLst>
                                      </p:cBhvr>
                                      <p:to>
                                        <p:strVal val="visible"/>
                                      </p:to>
                                    </p:set>
                                    <p:animEffect transition="in" filter="fade">
                                      <p:cBhvr>
                                        <p:cTn id="27" dur="500"/>
                                        <p:tgtEl>
                                          <p:spTgt spid="7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fade">
                                      <p:cBhvr>
                                        <p:cTn id="32" dur="500"/>
                                        <p:tgtEl>
                                          <p:spTgt spid="7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7"/>
                                        </p:tgtEl>
                                        <p:attrNameLst>
                                          <p:attrName>style.visibility</p:attrName>
                                        </p:attrNameLst>
                                      </p:cBhvr>
                                      <p:to>
                                        <p:strVal val="visible"/>
                                      </p:to>
                                    </p:set>
                                    <p:animEffect transition="in" filter="fade">
                                      <p:cBhvr>
                                        <p:cTn id="37" dur="500"/>
                                        <p:tgtEl>
                                          <p:spTgt spid="7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fade">
                                      <p:cBhvr>
                                        <p:cTn id="42" dur="500"/>
                                        <p:tgtEl>
                                          <p:spTgt spid="7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fade">
                                      <p:cBhvr>
                                        <p:cTn id="47" dur="5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0"/>
                                        </p:tgtEl>
                                        <p:attrNameLst>
                                          <p:attrName>style.visibility</p:attrName>
                                        </p:attrNameLst>
                                      </p:cBhvr>
                                      <p:to>
                                        <p:strVal val="visible"/>
                                      </p:to>
                                    </p:set>
                                    <p:animEffect transition="in" filter="fade">
                                      <p:cBhvr>
                                        <p:cTn id="5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4"/>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89" name="Google Shape;89;p4"/>
          <p:cNvSpPr/>
          <p:nvPr/>
        </p:nvSpPr>
        <p:spPr>
          <a:xfrm>
            <a:off x="555119" y="655582"/>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Trivial Solution</a:t>
            </a:r>
            <a:endParaRPr sz="1600" b="1" i="0" u="none" strike="noStrike" cap="none">
              <a:solidFill>
                <a:srgbClr val="000000"/>
              </a:solidFill>
              <a:latin typeface="Consolas"/>
              <a:ea typeface="Consolas"/>
              <a:cs typeface="Consolas"/>
              <a:sym typeface="Consolas"/>
            </a:endParaRPr>
          </a:p>
        </p:txBody>
      </p:sp>
      <p:sp>
        <p:nvSpPr>
          <p:cNvPr id="90" name="Google Shape;90;p4"/>
          <p:cNvSpPr/>
          <p:nvPr/>
        </p:nvSpPr>
        <p:spPr>
          <a:xfrm>
            <a:off x="552771" y="1455110"/>
            <a:ext cx="803320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The basic solution is to have two loops and keep track of the maximum count for all different elements.</a:t>
            </a:r>
            <a:endParaRPr sz="1600" b="0" i="0" u="none" strike="noStrike" cap="none">
              <a:solidFill>
                <a:srgbClr val="000000"/>
              </a:solidFill>
              <a:latin typeface="Consolas"/>
              <a:ea typeface="Consolas"/>
              <a:cs typeface="Consolas"/>
              <a:sym typeface="Consolas"/>
            </a:endParaRPr>
          </a:p>
        </p:txBody>
      </p:sp>
      <p:sp>
        <p:nvSpPr>
          <p:cNvPr id="91" name="Google Shape;91;p4"/>
          <p:cNvSpPr/>
          <p:nvPr/>
        </p:nvSpPr>
        <p:spPr>
          <a:xfrm>
            <a:off x="557457" y="2360148"/>
            <a:ext cx="803320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If maximum count becomes greater than n/2, then break the loops and return the element having maximum count.</a:t>
            </a:r>
            <a:endParaRPr sz="1600" b="0" i="0" u="none" strike="noStrike" cap="none">
              <a:solidFill>
                <a:srgbClr val="000000"/>
              </a:solidFill>
              <a:latin typeface="Consolas"/>
              <a:ea typeface="Consolas"/>
              <a:cs typeface="Consolas"/>
              <a:sym typeface="Consolas"/>
            </a:endParaRPr>
          </a:p>
        </p:txBody>
      </p:sp>
      <p:sp>
        <p:nvSpPr>
          <p:cNvPr id="92" name="Google Shape;92;p4"/>
          <p:cNvSpPr/>
          <p:nvPr/>
        </p:nvSpPr>
        <p:spPr>
          <a:xfrm>
            <a:off x="555109" y="3300356"/>
            <a:ext cx="803320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If the maximum count doesn’t become more than n/2 then the majority element doesn’t exist.</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10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fade">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9" name="Google Shape;99;p5"/>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01" name="Google Shape;101;p5"/>
          <p:cNvSpPr/>
          <p:nvPr/>
        </p:nvSpPr>
        <p:spPr>
          <a:xfrm>
            <a:off x="555119" y="655582"/>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Trivial Solution - Algorithm</a:t>
            </a:r>
            <a:endParaRPr sz="1600" b="1" i="0" u="none" strike="noStrike" cap="none">
              <a:solidFill>
                <a:srgbClr val="000000"/>
              </a:solidFill>
              <a:latin typeface="Consolas"/>
              <a:ea typeface="Consolas"/>
              <a:cs typeface="Consolas"/>
              <a:sym typeface="Consolas"/>
            </a:endParaRPr>
          </a:p>
        </p:txBody>
      </p:sp>
      <p:sp>
        <p:nvSpPr>
          <p:cNvPr id="102" name="Google Shape;102;p5"/>
          <p:cNvSpPr/>
          <p:nvPr/>
        </p:nvSpPr>
        <p:spPr>
          <a:xfrm>
            <a:off x="552771" y="1342566"/>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Create a variable to store the max count, count = 0</a:t>
            </a:r>
            <a:endParaRPr sz="1600" b="0" i="0" u="none" strike="noStrike" cap="none">
              <a:solidFill>
                <a:srgbClr val="000000"/>
              </a:solidFill>
              <a:latin typeface="Consolas"/>
              <a:ea typeface="Consolas"/>
              <a:cs typeface="Consolas"/>
              <a:sym typeface="Consolas"/>
            </a:endParaRPr>
          </a:p>
        </p:txBody>
      </p:sp>
      <p:sp>
        <p:nvSpPr>
          <p:cNvPr id="103" name="Google Shape;103;p5"/>
          <p:cNvSpPr/>
          <p:nvPr/>
        </p:nvSpPr>
        <p:spPr>
          <a:xfrm>
            <a:off x="571525" y="1874802"/>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Traverse through the array from start to end.</a:t>
            </a:r>
            <a:endParaRPr sz="1600" b="0" i="0" u="none" strike="noStrike" cap="none">
              <a:solidFill>
                <a:srgbClr val="000000"/>
              </a:solidFill>
              <a:latin typeface="Consolas"/>
              <a:ea typeface="Consolas"/>
              <a:cs typeface="Consolas"/>
              <a:sym typeface="Consolas"/>
            </a:endParaRPr>
          </a:p>
        </p:txBody>
      </p:sp>
      <p:sp>
        <p:nvSpPr>
          <p:cNvPr id="104" name="Google Shape;104;p5"/>
          <p:cNvSpPr/>
          <p:nvPr/>
        </p:nvSpPr>
        <p:spPr>
          <a:xfrm>
            <a:off x="569177" y="2456276"/>
            <a:ext cx="8033207" cy="584735"/>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For every element in the array run another loop to find the count of similar elements in the given array.</a:t>
            </a:r>
            <a:endParaRPr sz="1600" b="0" i="0" u="none" strike="noStrike" cap="none">
              <a:solidFill>
                <a:srgbClr val="000000"/>
              </a:solidFill>
              <a:latin typeface="Consolas"/>
              <a:ea typeface="Consolas"/>
              <a:cs typeface="Consolas"/>
              <a:sym typeface="Consolas"/>
            </a:endParaRPr>
          </a:p>
        </p:txBody>
      </p:sp>
      <p:sp>
        <p:nvSpPr>
          <p:cNvPr id="105" name="Google Shape;105;p5"/>
          <p:cNvSpPr/>
          <p:nvPr/>
        </p:nvSpPr>
        <p:spPr>
          <a:xfrm>
            <a:off x="566829" y="3248770"/>
            <a:ext cx="8033207" cy="584735"/>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If the count is greater than the max count update the max count and store the index in another variable.</a:t>
            </a:r>
            <a:endParaRPr sz="1600" b="0" i="0" u="none" strike="noStrike" cap="none">
              <a:solidFill>
                <a:srgbClr val="000000"/>
              </a:solidFill>
              <a:latin typeface="Consolas"/>
              <a:ea typeface="Consolas"/>
              <a:cs typeface="Consolas"/>
              <a:sym typeface="Consolas"/>
            </a:endParaRPr>
          </a:p>
        </p:txBody>
      </p:sp>
      <p:sp>
        <p:nvSpPr>
          <p:cNvPr id="106" name="Google Shape;106;p5"/>
          <p:cNvSpPr/>
          <p:nvPr/>
        </p:nvSpPr>
        <p:spPr>
          <a:xfrm>
            <a:off x="564481" y="4041264"/>
            <a:ext cx="8033207" cy="584735"/>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If the maximum count is greater than the half the size of the array, print the element. Else print there is no majority element.</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5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5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500"/>
                                        <p:tgtEl>
                                          <p:spTgt spid="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500"/>
                                        <p:tgtEl>
                                          <p:spTgt spid="1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fade">
                                      <p:cBhvr>
                                        <p:cTn id="32"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3" name="Google Shape;113;p6"/>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15" name="Google Shape;115;p6"/>
          <p:cNvSpPr/>
          <p:nvPr/>
        </p:nvSpPr>
        <p:spPr>
          <a:xfrm>
            <a:off x="555119" y="739990"/>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Trivial Solution - Algorithm</a:t>
            </a:r>
            <a:endParaRPr sz="1600" b="1" i="0" u="none" strike="noStrike" cap="none">
              <a:solidFill>
                <a:srgbClr val="000000"/>
              </a:solidFill>
              <a:latin typeface="Consolas"/>
              <a:ea typeface="Consolas"/>
              <a:cs typeface="Consolas"/>
              <a:sym typeface="Consolas"/>
            </a:endParaRPr>
          </a:p>
        </p:txBody>
      </p:sp>
      <p:sp>
        <p:nvSpPr>
          <p:cNvPr id="116" name="Google Shape;116;p6"/>
          <p:cNvSpPr/>
          <p:nvPr/>
        </p:nvSpPr>
        <p:spPr>
          <a:xfrm>
            <a:off x="2944270" y="1567643"/>
            <a:ext cx="210603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Time Complexity :</a:t>
            </a:r>
            <a:endParaRPr sz="1600" b="0" i="0" u="none" strike="noStrike" cap="none">
              <a:solidFill>
                <a:srgbClr val="000000"/>
              </a:solidFill>
              <a:latin typeface="Consolas"/>
              <a:ea typeface="Consolas"/>
              <a:cs typeface="Consolas"/>
              <a:sym typeface="Consolas"/>
            </a:endParaRPr>
          </a:p>
        </p:txBody>
      </p:sp>
      <p:sp>
        <p:nvSpPr>
          <p:cNvPr id="117" name="Google Shape;117;p6"/>
          <p:cNvSpPr/>
          <p:nvPr/>
        </p:nvSpPr>
        <p:spPr>
          <a:xfrm>
            <a:off x="5052037" y="1565308"/>
            <a:ext cx="89151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O(n*n)</a:t>
            </a:r>
            <a:endParaRPr sz="1600" b="0" i="0" u="none" strike="noStrike" cap="none">
              <a:solidFill>
                <a:srgbClr val="000000"/>
              </a:solidFill>
              <a:latin typeface="Consolas"/>
              <a:ea typeface="Consolas"/>
              <a:cs typeface="Consolas"/>
              <a:sym typeface="Consolas"/>
            </a:endParaRPr>
          </a:p>
        </p:txBody>
      </p:sp>
      <p:sp>
        <p:nvSpPr>
          <p:cNvPr id="118" name="Google Shape;118;p6"/>
          <p:cNvSpPr/>
          <p:nvPr/>
        </p:nvSpPr>
        <p:spPr>
          <a:xfrm>
            <a:off x="2948949" y="2120975"/>
            <a:ext cx="2375100" cy="338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Space Complexity :</a:t>
            </a:r>
            <a:endParaRPr sz="1600" b="0" i="0" u="none" strike="noStrike" cap="none">
              <a:solidFill>
                <a:srgbClr val="000000"/>
              </a:solidFill>
              <a:latin typeface="Consolas"/>
              <a:ea typeface="Consolas"/>
              <a:cs typeface="Consolas"/>
              <a:sym typeface="Consolas"/>
            </a:endParaRPr>
          </a:p>
        </p:txBody>
      </p:sp>
      <p:sp>
        <p:nvSpPr>
          <p:cNvPr id="119" name="Google Shape;119;p6"/>
          <p:cNvSpPr/>
          <p:nvPr/>
        </p:nvSpPr>
        <p:spPr>
          <a:xfrm>
            <a:off x="5056723" y="2118646"/>
            <a:ext cx="89151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O(1)</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6"/>
                                        </p:tgtEl>
                                        <p:attrNameLst>
                                          <p:attrName>style.visibility</p:attrName>
                                        </p:attrNameLst>
                                      </p:cBhvr>
                                      <p:to>
                                        <p:strVal val="visible"/>
                                      </p:to>
                                    </p:set>
                                    <p:animEffect transition="in" filter="fade">
                                      <p:cBhvr>
                                        <p:cTn id="12" dur="500"/>
                                        <p:tgtEl>
                                          <p:spTgt spid="1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
                                        </p:tgtEl>
                                        <p:attrNameLst>
                                          <p:attrName>style.visibility</p:attrName>
                                        </p:attrNameLst>
                                      </p:cBhvr>
                                      <p:to>
                                        <p:strVal val="visible"/>
                                      </p:to>
                                    </p:set>
                                    <p:animEffect transition="in" filter="fade">
                                      <p:cBhvr>
                                        <p:cTn id="17" dur="500"/>
                                        <p:tgtEl>
                                          <p:spTgt spid="1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8"/>
                                        </p:tgtEl>
                                        <p:attrNameLst>
                                          <p:attrName>style.visibility</p:attrName>
                                        </p:attrNameLst>
                                      </p:cBhvr>
                                      <p:to>
                                        <p:strVal val="visible"/>
                                      </p:to>
                                    </p:set>
                                    <p:animEffect transition="in" filter="fade">
                                      <p:cBhvr>
                                        <p:cTn id="22" dur="500"/>
                                        <p:tgtEl>
                                          <p:spTgt spid="1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9"/>
                                        </p:tgtEl>
                                        <p:attrNameLst>
                                          <p:attrName>style.visibility</p:attrName>
                                        </p:attrNameLst>
                                      </p:cBhvr>
                                      <p:to>
                                        <p:strVal val="visible"/>
                                      </p:to>
                                    </p:set>
                                    <p:animEffect transition="in" filter="fade">
                                      <p:cBhvr>
                                        <p:cTn id="2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7"/>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128" name="Google Shape;128;p7"/>
          <p:cNvGraphicFramePr/>
          <p:nvPr>
            <p:extLst>
              <p:ext uri="{D42A27DB-BD31-4B8C-83A1-F6EECF244321}">
                <p14:modId xmlns:p14="http://schemas.microsoft.com/office/powerpoint/2010/main" val="4130414383"/>
              </p:ext>
            </p:extLst>
          </p:nvPr>
        </p:nvGraphicFramePr>
        <p:xfrm>
          <a:off x="168279" y="740297"/>
          <a:ext cx="8593800" cy="4162000"/>
        </p:xfrm>
        <a:graphic>
          <a:graphicData uri="http://schemas.openxmlformats.org/drawingml/2006/table">
            <a:tbl>
              <a:tblPr firstRow="1" bandRow="1">
                <a:noFill/>
                <a:tableStyleId>{C50A13CB-694B-4DB4-893A-0AF11BF5B380}</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4162000">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import java.io.*;</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class EthCode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static void findMajority(int arr[], int n)</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int maxCount = 0;</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int index = -1; // sentinels</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for (int i = 0; i &lt; n; i++)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int count = 0;</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for (int j = 0; j &lt; n; j++)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if (arr[i] == arr[j])</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count++;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update maxCount if count of current element is greater</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if (count &gt; maxCount)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maxCount = count;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index = i;</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b="0" u="none" strike="noStrike" cap="none">
                        <a:solidFill>
                          <a:schemeClr val="dk1"/>
                        </a:solidFill>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 if </a:t>
                      </a:r>
                      <a:r>
                        <a:rPr lang="en-US" sz="1400" b="0" u="none" strike="noStrike" cap="none" dirty="0" err="1">
                          <a:solidFill>
                            <a:schemeClr val="dk1"/>
                          </a:solidFill>
                          <a:highlight>
                            <a:schemeClr val="lt1"/>
                          </a:highlight>
                          <a:latin typeface="Consolas"/>
                          <a:ea typeface="Consolas"/>
                          <a:cs typeface="Consolas"/>
                          <a:sym typeface="Consolas"/>
                        </a:rPr>
                        <a:t>maxCount</a:t>
                      </a:r>
                      <a:r>
                        <a:rPr lang="en-US" sz="1400" b="0" u="none" strike="noStrike" cap="none" dirty="0">
                          <a:solidFill>
                            <a:schemeClr val="dk1"/>
                          </a:solidFill>
                          <a:highlight>
                            <a:schemeClr val="lt1"/>
                          </a:highlight>
                          <a:latin typeface="Consolas"/>
                          <a:ea typeface="Consolas"/>
                          <a:cs typeface="Consolas"/>
                          <a:sym typeface="Consolas"/>
                        </a:rPr>
                        <a:t> is greater than n/2, return the corresponding element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if (</a:t>
                      </a:r>
                      <a:r>
                        <a:rPr lang="en-US" sz="1400" b="0" u="none" strike="noStrike" cap="none" dirty="0" err="1">
                          <a:solidFill>
                            <a:schemeClr val="dk1"/>
                          </a:solidFill>
                          <a:highlight>
                            <a:schemeClr val="lt1"/>
                          </a:highlight>
                          <a:latin typeface="Consolas"/>
                          <a:ea typeface="Consolas"/>
                          <a:cs typeface="Consolas"/>
                          <a:sym typeface="Consolas"/>
                        </a:rPr>
                        <a:t>maxCount</a:t>
                      </a:r>
                      <a:r>
                        <a:rPr lang="en-US" sz="1400" b="0" u="none" strike="noStrike" cap="none" dirty="0">
                          <a:solidFill>
                            <a:schemeClr val="dk1"/>
                          </a:solidFill>
                          <a:highlight>
                            <a:schemeClr val="lt1"/>
                          </a:highlight>
                          <a:latin typeface="Consolas"/>
                          <a:ea typeface="Consolas"/>
                          <a:cs typeface="Consolas"/>
                          <a:sym typeface="Consolas"/>
                        </a:rPr>
                        <a:t> &gt; n / 2)</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System.out.println</a:t>
                      </a:r>
                      <a:r>
                        <a:rPr lang="en-US" sz="1400" b="0" u="none" strike="noStrike" cap="none" dirty="0">
                          <a:solidFill>
                            <a:schemeClr val="dk1"/>
                          </a:solidFill>
                          <a:highlight>
                            <a:schemeClr val="lt1"/>
                          </a:highlight>
                          <a:latin typeface="Consolas"/>
                          <a:ea typeface="Consolas"/>
                          <a:cs typeface="Consolas"/>
                          <a:sym typeface="Consolas"/>
                        </a:rPr>
                        <a:t>(</a:t>
                      </a:r>
                      <a:r>
                        <a:rPr lang="en-US" sz="1400" b="0" u="none" strike="noStrike" cap="none" dirty="0" err="1">
                          <a:solidFill>
                            <a:schemeClr val="dk1"/>
                          </a:solidFill>
                          <a:highlight>
                            <a:schemeClr val="lt1"/>
                          </a:highlight>
                          <a:latin typeface="Consolas"/>
                          <a:ea typeface="Consolas"/>
                          <a:cs typeface="Consolas"/>
                          <a:sym typeface="Consolas"/>
                        </a:rPr>
                        <a:t>arr</a:t>
                      </a:r>
                      <a:r>
                        <a:rPr lang="en-US" sz="1400" b="0" u="none" strike="noStrike" cap="none" dirty="0">
                          <a:solidFill>
                            <a:schemeClr val="dk1"/>
                          </a:solidFill>
                          <a:highlight>
                            <a:schemeClr val="lt1"/>
                          </a:highlight>
                          <a:latin typeface="Consolas"/>
                          <a:ea typeface="Consolas"/>
                          <a:cs typeface="Consolas"/>
                          <a:sym typeface="Consolas"/>
                        </a:rPr>
                        <a:t>[index]);</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else</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System.out.println</a:t>
                      </a:r>
                      <a:r>
                        <a:rPr lang="en-US" sz="1400" b="0" u="none" strike="noStrike" cap="none" dirty="0">
                          <a:solidFill>
                            <a:schemeClr val="dk1"/>
                          </a:solidFill>
                          <a:highlight>
                            <a:schemeClr val="lt1"/>
                          </a:highlight>
                          <a:latin typeface="Consolas"/>
                          <a:ea typeface="Consolas"/>
                          <a:cs typeface="Consolas"/>
                          <a:sym typeface="Consolas"/>
                        </a:rPr>
                        <a:t>(null);</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public static void main(String[] </a:t>
                      </a:r>
                      <a:r>
                        <a:rPr lang="en-US" sz="1400" b="0" u="none" strike="noStrike" cap="none" dirty="0" err="1">
                          <a:solidFill>
                            <a:schemeClr val="dk1"/>
                          </a:solidFill>
                          <a:highlight>
                            <a:schemeClr val="lt1"/>
                          </a:highlight>
                          <a:latin typeface="Consolas"/>
                          <a:ea typeface="Consolas"/>
                          <a:cs typeface="Consolas"/>
                          <a:sym typeface="Consolas"/>
                        </a:rPr>
                        <a:t>args</a:t>
                      </a:r>
                      <a:r>
                        <a:rPr lang="en-US" sz="1400" b="0" u="none" strike="noStrike" cap="none" dirty="0">
                          <a:solidFill>
                            <a:schemeClr val="dk1"/>
                          </a:solidFill>
                          <a:highlight>
                            <a:schemeClr val="lt1"/>
                          </a:highlight>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int </a:t>
                      </a:r>
                      <a:r>
                        <a:rPr lang="en-US" sz="1400" b="0" u="none" strike="noStrike" cap="none" dirty="0" err="1">
                          <a:solidFill>
                            <a:schemeClr val="dk1"/>
                          </a:solidFill>
                          <a:highlight>
                            <a:schemeClr val="lt1"/>
                          </a:highlight>
                          <a:latin typeface="Consolas"/>
                          <a:ea typeface="Consolas"/>
                          <a:cs typeface="Consolas"/>
                          <a:sym typeface="Consolas"/>
                        </a:rPr>
                        <a:t>arr</a:t>
                      </a:r>
                      <a:r>
                        <a:rPr lang="en-US" sz="1400" b="0" u="none" strike="noStrike" cap="none" dirty="0">
                          <a:solidFill>
                            <a:schemeClr val="dk1"/>
                          </a:solidFill>
                          <a:highlight>
                            <a:schemeClr val="lt1"/>
                          </a:highlight>
                          <a:latin typeface="Consolas"/>
                          <a:ea typeface="Consolas"/>
                          <a:cs typeface="Consolas"/>
                          <a:sym typeface="Consolas"/>
                        </a:rPr>
                        <a:t>[] = { 1, 1, 2, 1, 3, 5, 1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findMajority</a:t>
                      </a:r>
                      <a:r>
                        <a:rPr lang="en-US" sz="1400" b="0" u="none" strike="noStrike" cap="none" dirty="0">
                          <a:solidFill>
                            <a:schemeClr val="dk1"/>
                          </a:solidFill>
                          <a:highlight>
                            <a:schemeClr val="lt1"/>
                          </a:highlight>
                          <a:latin typeface="Consolas"/>
                          <a:ea typeface="Consolas"/>
                          <a:cs typeface="Consolas"/>
                          <a:sym typeface="Consolas"/>
                        </a:rPr>
                        <a:t>(</a:t>
                      </a:r>
                      <a:r>
                        <a:rPr lang="en-US" sz="1400" b="0" u="none" strike="noStrike" cap="none" dirty="0" err="1">
                          <a:solidFill>
                            <a:schemeClr val="dk1"/>
                          </a:solidFill>
                          <a:highlight>
                            <a:schemeClr val="lt1"/>
                          </a:highlight>
                          <a:latin typeface="Consolas"/>
                          <a:ea typeface="Consolas"/>
                          <a:cs typeface="Consolas"/>
                          <a:sym typeface="Consolas"/>
                        </a:rPr>
                        <a:t>arr</a:t>
                      </a: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arr.length</a:t>
                      </a:r>
                      <a:r>
                        <a:rPr lang="en-US" sz="1400" b="0" u="none" strike="noStrike" cap="none" dirty="0">
                          <a:solidFill>
                            <a:schemeClr val="dk1"/>
                          </a:solidFill>
                          <a:highlight>
                            <a:schemeClr val="lt1"/>
                          </a:highlight>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a:t>
                      </a:r>
                      <a:endParaRPr sz="1400" b="0" u="none" strike="noStrike" cap="none" dirty="0">
                        <a:solidFill>
                          <a:schemeClr val="dk1"/>
                        </a:solidFill>
                        <a:highlight>
                          <a:schemeClr val="lt1"/>
                        </a:highlight>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CECC6FAE-0632-585D-ADDB-1039307A83EF}"/>
              </a:ext>
            </a:extLst>
          </p:cNvPr>
          <p:cNvSpPr txBox="1"/>
          <p:nvPr/>
        </p:nvSpPr>
        <p:spPr>
          <a:xfrm>
            <a:off x="2375210" y="241203"/>
            <a:ext cx="4572000"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Trivial Solution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8"/>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8"/>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37" name="Google Shape;137;p8"/>
          <p:cNvSpPr/>
          <p:nvPr/>
        </p:nvSpPr>
        <p:spPr>
          <a:xfrm>
            <a:off x="555119" y="655582"/>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Binary Search Tree (BST) Solution</a:t>
            </a:r>
            <a:endParaRPr sz="1600" b="1" i="0" u="none" strike="noStrike" cap="none">
              <a:solidFill>
                <a:srgbClr val="000000"/>
              </a:solidFill>
              <a:latin typeface="Consolas"/>
              <a:ea typeface="Consolas"/>
              <a:cs typeface="Consolas"/>
              <a:sym typeface="Consolas"/>
            </a:endParaRPr>
          </a:p>
        </p:txBody>
      </p:sp>
      <p:sp>
        <p:nvSpPr>
          <p:cNvPr id="138" name="Google Shape;138;p8"/>
          <p:cNvSpPr/>
          <p:nvPr/>
        </p:nvSpPr>
        <p:spPr>
          <a:xfrm>
            <a:off x="552771" y="1110444"/>
            <a:ext cx="8033207"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Insert elements in Binary Search Tree (BST) one by one and if an element is already present then increment the count of the node. At any stage, if the count of a node becomes more than n/2 then return.</a:t>
            </a:r>
            <a:endParaRPr sz="1600" b="0" i="0" u="none" strike="noStrike" cap="none">
              <a:solidFill>
                <a:srgbClr val="000000"/>
              </a:solidFill>
              <a:latin typeface="Consolas"/>
              <a:ea typeface="Consolas"/>
              <a:cs typeface="Consolas"/>
              <a:sym typeface="Consolas"/>
            </a:endParaRPr>
          </a:p>
        </p:txBody>
      </p:sp>
      <p:sp>
        <p:nvSpPr>
          <p:cNvPr id="139" name="Google Shape;139;p8"/>
          <p:cNvSpPr/>
          <p:nvPr/>
        </p:nvSpPr>
        <p:spPr>
          <a:xfrm>
            <a:off x="564491" y="1959210"/>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Algorithm</a:t>
            </a:r>
            <a:endParaRPr sz="1600" b="1" i="0" u="none" strike="noStrike" cap="none">
              <a:solidFill>
                <a:srgbClr val="000000"/>
              </a:solidFill>
              <a:latin typeface="Consolas"/>
              <a:ea typeface="Consolas"/>
              <a:cs typeface="Consolas"/>
              <a:sym typeface="Consolas"/>
            </a:endParaRPr>
          </a:p>
        </p:txBody>
      </p:sp>
      <p:sp>
        <p:nvSpPr>
          <p:cNvPr id="140" name="Google Shape;140;p8"/>
          <p:cNvSpPr/>
          <p:nvPr/>
        </p:nvSpPr>
        <p:spPr>
          <a:xfrm>
            <a:off x="562143" y="2378902"/>
            <a:ext cx="8033207" cy="584735"/>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Create a binary search tree, if same element is entered in the binary search tree the frequency of the node is increased.</a:t>
            </a:r>
            <a:endParaRPr sz="1600" b="0" i="0" u="none" strike="noStrike" cap="none">
              <a:solidFill>
                <a:srgbClr val="000000"/>
              </a:solidFill>
              <a:latin typeface="Consolas"/>
              <a:ea typeface="Consolas"/>
              <a:cs typeface="Consolas"/>
              <a:sym typeface="Consolas"/>
            </a:endParaRPr>
          </a:p>
        </p:txBody>
      </p:sp>
      <p:sp>
        <p:nvSpPr>
          <p:cNvPr id="141" name="Google Shape;141;p8"/>
          <p:cNvSpPr/>
          <p:nvPr/>
        </p:nvSpPr>
        <p:spPr>
          <a:xfrm>
            <a:off x="566829" y="3023682"/>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Traverse the array and insert the element in the binary search tree.</a:t>
            </a:r>
            <a:endParaRPr sz="1600" b="0" i="0" u="none" strike="noStrike" cap="none">
              <a:solidFill>
                <a:srgbClr val="000000"/>
              </a:solidFill>
              <a:latin typeface="Consolas"/>
              <a:ea typeface="Consolas"/>
              <a:cs typeface="Consolas"/>
              <a:sym typeface="Consolas"/>
            </a:endParaRPr>
          </a:p>
        </p:txBody>
      </p:sp>
      <p:sp>
        <p:nvSpPr>
          <p:cNvPr id="142" name="Google Shape;142;p8"/>
          <p:cNvSpPr/>
          <p:nvPr/>
        </p:nvSpPr>
        <p:spPr>
          <a:xfrm>
            <a:off x="571515" y="3408204"/>
            <a:ext cx="8033207" cy="830956"/>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If the maximum frequency of any node is greater than the half the size of the array, then perform a inorder traversal and find the node with frequency greater than half.</a:t>
            </a:r>
            <a:endParaRPr sz="1600" b="0" i="0" u="none" strike="noStrike" cap="none">
              <a:solidFill>
                <a:srgbClr val="000000"/>
              </a:solidFill>
              <a:latin typeface="Consolas"/>
              <a:ea typeface="Consolas"/>
              <a:cs typeface="Consolas"/>
              <a:sym typeface="Consolas"/>
            </a:endParaRPr>
          </a:p>
        </p:txBody>
      </p:sp>
      <p:sp>
        <p:nvSpPr>
          <p:cNvPr id="143" name="Google Shape;143;p8"/>
          <p:cNvSpPr/>
          <p:nvPr/>
        </p:nvSpPr>
        <p:spPr>
          <a:xfrm>
            <a:off x="569167" y="4313242"/>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Else print No majority Element.</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10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500"/>
                                        <p:tgtEl>
                                          <p:spTgt spid="1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9"/>
                                        </p:tgtEl>
                                        <p:attrNameLst>
                                          <p:attrName>style.visibility</p:attrName>
                                        </p:attrNameLst>
                                      </p:cBhvr>
                                      <p:to>
                                        <p:strVal val="visible"/>
                                      </p:to>
                                    </p:set>
                                    <p:animEffect transition="in" filter="fade">
                                      <p:cBhvr>
                                        <p:cTn id="17" dur="1000"/>
                                        <p:tgtEl>
                                          <p:spTgt spid="1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fade">
                                      <p:cBhvr>
                                        <p:cTn id="22" dur="500"/>
                                        <p:tgtEl>
                                          <p:spTgt spid="1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fade">
                                      <p:cBhvr>
                                        <p:cTn id="27" dur="500"/>
                                        <p:tgtEl>
                                          <p:spTgt spid="1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2"/>
                                        </p:tgtEl>
                                        <p:attrNameLst>
                                          <p:attrName>style.visibility</p:attrName>
                                        </p:attrNameLst>
                                      </p:cBhvr>
                                      <p:to>
                                        <p:strVal val="visible"/>
                                      </p:to>
                                    </p:set>
                                    <p:animEffect transition="in" filter="fade">
                                      <p:cBhvr>
                                        <p:cTn id="32" dur="500"/>
                                        <p:tgtEl>
                                          <p:spTgt spid="1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3"/>
                                        </p:tgtEl>
                                        <p:attrNameLst>
                                          <p:attrName>style.visibility</p:attrName>
                                        </p:attrNameLst>
                                      </p:cBhvr>
                                      <p:to>
                                        <p:strVal val="visible"/>
                                      </p:to>
                                    </p:set>
                                    <p:animEffect transition="in" filter="fade">
                                      <p:cBhvr>
                                        <p:cTn id="37"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50" name="Google Shape;150;p9"/>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9"/>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52" name="Google Shape;152;p9"/>
          <p:cNvSpPr/>
          <p:nvPr/>
        </p:nvSpPr>
        <p:spPr>
          <a:xfrm>
            <a:off x="555119" y="655582"/>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Binary Search Tree (BST) Solution</a:t>
            </a:r>
            <a:endParaRPr sz="1600" b="1" i="0" u="none" strike="noStrike" cap="none">
              <a:solidFill>
                <a:srgbClr val="000000"/>
              </a:solidFill>
              <a:latin typeface="Consolas"/>
              <a:ea typeface="Consolas"/>
              <a:cs typeface="Consolas"/>
              <a:sym typeface="Consolas"/>
            </a:endParaRPr>
          </a:p>
        </p:txBody>
      </p:sp>
      <p:sp>
        <p:nvSpPr>
          <p:cNvPr id="153" name="Google Shape;153;p9"/>
          <p:cNvSpPr/>
          <p:nvPr/>
        </p:nvSpPr>
        <p:spPr>
          <a:xfrm>
            <a:off x="2043918" y="1567643"/>
            <a:ext cx="210603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Time Complexity :</a:t>
            </a:r>
            <a:endParaRPr sz="1600" b="0" i="0" u="none" strike="noStrike" cap="none">
              <a:solidFill>
                <a:srgbClr val="000000"/>
              </a:solidFill>
              <a:latin typeface="Consolas"/>
              <a:ea typeface="Consolas"/>
              <a:cs typeface="Consolas"/>
              <a:sym typeface="Consolas"/>
            </a:endParaRPr>
          </a:p>
        </p:txBody>
      </p:sp>
      <p:sp>
        <p:nvSpPr>
          <p:cNvPr id="154" name="Google Shape;154;p9"/>
          <p:cNvSpPr/>
          <p:nvPr/>
        </p:nvSpPr>
        <p:spPr>
          <a:xfrm>
            <a:off x="4151685" y="1565308"/>
            <a:ext cx="257265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O(n^n) in case of BST</a:t>
            </a:r>
            <a:endParaRPr sz="1600" b="0" i="0" u="none" strike="noStrike" cap="none">
              <a:solidFill>
                <a:srgbClr val="000000"/>
              </a:solidFill>
              <a:latin typeface="Consolas"/>
              <a:ea typeface="Consolas"/>
              <a:cs typeface="Consolas"/>
              <a:sym typeface="Consolas"/>
            </a:endParaRPr>
          </a:p>
        </p:txBody>
      </p:sp>
      <p:sp>
        <p:nvSpPr>
          <p:cNvPr id="155" name="Google Shape;155;p9"/>
          <p:cNvSpPr/>
          <p:nvPr/>
        </p:nvSpPr>
        <p:spPr>
          <a:xfrm>
            <a:off x="2048600" y="2571150"/>
            <a:ext cx="2438700" cy="338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Space Complexity :</a:t>
            </a:r>
            <a:endParaRPr sz="1600" b="0" i="0" u="none" strike="noStrike" cap="none">
              <a:solidFill>
                <a:srgbClr val="000000"/>
              </a:solidFill>
              <a:latin typeface="Consolas"/>
              <a:ea typeface="Consolas"/>
              <a:cs typeface="Consolas"/>
              <a:sym typeface="Consolas"/>
            </a:endParaRPr>
          </a:p>
        </p:txBody>
      </p:sp>
      <p:sp>
        <p:nvSpPr>
          <p:cNvPr id="156" name="Google Shape;156;p9"/>
          <p:cNvSpPr/>
          <p:nvPr/>
        </p:nvSpPr>
        <p:spPr>
          <a:xfrm>
            <a:off x="4156371" y="2568822"/>
            <a:ext cx="89151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O(1)</a:t>
            </a:r>
            <a:endParaRPr sz="1600" b="0" i="0" u="none" strike="noStrike" cap="none">
              <a:solidFill>
                <a:srgbClr val="000000"/>
              </a:solidFill>
              <a:latin typeface="Consolas"/>
              <a:ea typeface="Consolas"/>
              <a:cs typeface="Consolas"/>
              <a:sym typeface="Consolas"/>
            </a:endParaRPr>
          </a:p>
        </p:txBody>
      </p:sp>
      <p:sp>
        <p:nvSpPr>
          <p:cNvPr id="157" name="Google Shape;157;p9"/>
          <p:cNvSpPr/>
          <p:nvPr/>
        </p:nvSpPr>
        <p:spPr>
          <a:xfrm>
            <a:off x="4149336" y="1928728"/>
            <a:ext cx="3749654"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O(nlogn) in case of balanced BT</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10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
                                        </p:tgtEl>
                                        <p:attrNameLst>
                                          <p:attrName>style.visibility</p:attrName>
                                        </p:attrNameLst>
                                      </p:cBhvr>
                                      <p:to>
                                        <p:strVal val="visible"/>
                                      </p:to>
                                    </p:set>
                                    <p:animEffect transition="in" filter="fade">
                                      <p:cBhvr>
                                        <p:cTn id="12" dur="500"/>
                                        <p:tgtEl>
                                          <p:spTgt spid="1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4"/>
                                        </p:tgtEl>
                                        <p:attrNameLst>
                                          <p:attrName>style.visibility</p:attrName>
                                        </p:attrNameLst>
                                      </p:cBhvr>
                                      <p:to>
                                        <p:strVal val="visible"/>
                                      </p:to>
                                    </p:set>
                                    <p:animEffect transition="in" filter="fade">
                                      <p:cBhvr>
                                        <p:cTn id="17" dur="500"/>
                                        <p:tgtEl>
                                          <p:spTgt spid="15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7"/>
                                        </p:tgtEl>
                                        <p:attrNameLst>
                                          <p:attrName>style.visibility</p:attrName>
                                        </p:attrNameLst>
                                      </p:cBhvr>
                                      <p:to>
                                        <p:strVal val="visible"/>
                                      </p:to>
                                    </p:set>
                                    <p:animEffect transition="in" filter="fade">
                                      <p:cBhvr>
                                        <p:cTn id="22" dur="500"/>
                                        <p:tgtEl>
                                          <p:spTgt spid="15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5"/>
                                        </p:tgtEl>
                                        <p:attrNameLst>
                                          <p:attrName>style.visibility</p:attrName>
                                        </p:attrNameLst>
                                      </p:cBhvr>
                                      <p:to>
                                        <p:strVal val="visible"/>
                                      </p:to>
                                    </p:set>
                                    <p:animEffect transition="in" filter="fade">
                                      <p:cBhvr>
                                        <p:cTn id="27" dur="500"/>
                                        <p:tgtEl>
                                          <p:spTgt spid="1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6"/>
                                        </p:tgtEl>
                                        <p:attrNameLst>
                                          <p:attrName>style.visibility</p:attrName>
                                        </p:attrNameLst>
                                      </p:cBhvr>
                                      <p:to>
                                        <p:strVal val="visible"/>
                                      </p:to>
                                    </p:set>
                                    <p:animEffect transition="in" filter="fade">
                                      <p:cBhvr>
                                        <p:cTn id="32"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10"/>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10"/>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166" name="Google Shape;166;p10"/>
          <p:cNvGraphicFramePr/>
          <p:nvPr/>
        </p:nvGraphicFramePr>
        <p:xfrm>
          <a:off x="275100" y="915840"/>
          <a:ext cx="8593800" cy="3931930"/>
        </p:xfrm>
        <a:graphic>
          <a:graphicData uri="http://schemas.openxmlformats.org/drawingml/2006/table">
            <a:tbl>
              <a:tblPr firstRow="1" bandRow="1">
                <a:noFill/>
                <a:tableStyleId>{C50A13CB-694B-4DB4-893A-0AF11BF5B380}</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726725">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import java.io.*;</a:t>
                      </a:r>
                      <a:endParaRPr sz="1400" b="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class Node</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int key;</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int c = 0;</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Node left,right;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class EthCode{</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static int ma = 0;</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create a new BST node</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static Node newNode(int item)</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Node temp = new Node();</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temp.key = item;</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temp.c = 1;</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temp.left = temp.right = null;</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return temp;</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insert a new node with given key in BST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static Node insert(Node node, int 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//if tree empty, return a new node</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if (node == null)</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if (ma == 0)</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ma = 1;</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return newNode(key);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 Otherwise, recur down the tree</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if (key &lt; node.key)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node.left = insert(node.left, 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else if (key &gt; node.key)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node.right = insert(node.right, 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else</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node.c++;</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B17D791D-767E-A426-D745-B2FE60A59253}"/>
              </a:ext>
            </a:extLst>
          </p:cNvPr>
          <p:cNvSpPr txBox="1"/>
          <p:nvPr/>
        </p:nvSpPr>
        <p:spPr>
          <a:xfrm>
            <a:off x="2375210" y="366502"/>
            <a:ext cx="4572000"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a:t>
            </a:r>
            <a:r>
              <a:rPr lang="en-US" sz="1400" b="1" i="0" u="none" strike="noStrike" cap="none" dirty="0">
                <a:solidFill>
                  <a:srgbClr val="000000"/>
                </a:solidFill>
                <a:latin typeface="Consolas"/>
                <a:ea typeface="Consolas"/>
                <a:cs typeface="Consolas"/>
                <a:sym typeface="Consolas"/>
              </a:rPr>
              <a:t>BST Solution</a:t>
            </a:r>
            <a:endParaRPr lang="en-US"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3" name="Google Shape;173;p11"/>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1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175" name="Google Shape;175;p11"/>
          <p:cNvGraphicFramePr/>
          <p:nvPr/>
        </p:nvGraphicFramePr>
        <p:xfrm>
          <a:off x="168279" y="1088931"/>
          <a:ext cx="8593800" cy="3718570"/>
        </p:xfrm>
        <a:graphic>
          <a:graphicData uri="http://schemas.openxmlformats.org/drawingml/2006/table">
            <a:tbl>
              <a:tblPr firstRow="1" bandRow="1">
                <a:noFill/>
                <a:tableStyleId>{C50A13CB-694B-4DB4-893A-0AF11BF5B380}</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664300">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Find the max count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ma = Math.max(ma, node.c);</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Return the (unchanged) node pointer</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return node;</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inorder traversal of BST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static void inorder(Node root, int s)</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if (root != null)</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inorder(root.left, s);</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if (root.c &gt; (s / 2))</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System.out.println(root.key + "\n");</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inorder(root.right, s);</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endParaRPr sz="1400" b="0" u="none" strike="noStrike" cap="none">
                        <a:solidFill>
                          <a:schemeClr val="dk1"/>
                        </a:solidFill>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public static void main(String[] args)</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int a[] = { 1, 3, 3, 3, 2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Node root = null;</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for(int i = 0; i &lt; size; i++)</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root = insert(root, a[i]);</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if (ma &gt; (size / 2))</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inorder(root, a.length);</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else</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System.out.println(null);</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400"/>
                        <a:buFont typeface="Arial"/>
                        <a:buNone/>
                      </a:pPr>
                      <a:endParaRPr sz="1400" b="0" u="none" strike="noStrike" cap="none">
                        <a:solidFill>
                          <a:schemeClr val="dk1"/>
                        </a:solidFill>
                        <a:highlight>
                          <a:schemeClr val="lt1"/>
                        </a:highlight>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BB45760D-575E-0579-C8DC-A9492B16C819}"/>
              </a:ext>
            </a:extLst>
          </p:cNvPr>
          <p:cNvSpPr txBox="1"/>
          <p:nvPr/>
        </p:nvSpPr>
        <p:spPr>
          <a:xfrm>
            <a:off x="2434683" y="521517"/>
            <a:ext cx="4572000"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a:t>
            </a:r>
            <a:r>
              <a:rPr lang="en-US" sz="1400" b="1" i="0" u="none" strike="noStrike" cap="none" dirty="0">
                <a:solidFill>
                  <a:srgbClr val="000000"/>
                </a:solidFill>
                <a:latin typeface="Consolas"/>
                <a:ea typeface="Consolas"/>
                <a:cs typeface="Consolas"/>
                <a:sym typeface="Consolas"/>
              </a:rPr>
              <a:t>BST Solution</a:t>
            </a:r>
            <a:endParaRPr lang="en-US"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2"/>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4" name="Google Shape;184;p12"/>
          <p:cNvSpPr/>
          <p:nvPr/>
        </p:nvSpPr>
        <p:spPr>
          <a:xfrm>
            <a:off x="310956" y="1386829"/>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Consolas"/>
                <a:ea typeface="Consolas"/>
                <a:cs typeface="Consolas"/>
                <a:sym typeface="Consolas"/>
              </a:rPr>
              <a:t>Linear Solution</a:t>
            </a:r>
            <a:endParaRPr sz="1600" b="1" i="0" u="none" strike="noStrike" cap="none" dirty="0">
              <a:solidFill>
                <a:srgbClr val="000000"/>
              </a:solidFill>
              <a:latin typeface="Consolas"/>
              <a:ea typeface="Consolas"/>
              <a:cs typeface="Consolas"/>
              <a:sym typeface="Consolas"/>
            </a:endParaRPr>
          </a:p>
        </p:txBody>
      </p:sp>
      <p:sp>
        <p:nvSpPr>
          <p:cNvPr id="185" name="Google Shape;185;p12"/>
          <p:cNvSpPr/>
          <p:nvPr/>
        </p:nvSpPr>
        <p:spPr>
          <a:xfrm>
            <a:off x="631993" y="2166030"/>
            <a:ext cx="8033207"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onsolas"/>
                <a:ea typeface="Consolas"/>
                <a:cs typeface="Consolas"/>
                <a:sym typeface="Consolas"/>
              </a:rPr>
              <a:t>In </a:t>
            </a:r>
            <a:r>
              <a:rPr lang="en-US" sz="1600" b="0" i="0" u="none" strike="noStrike" cap="none" dirty="0" err="1">
                <a:solidFill>
                  <a:srgbClr val="000000"/>
                </a:solidFill>
                <a:latin typeface="Consolas"/>
                <a:ea typeface="Consolas"/>
                <a:cs typeface="Consolas"/>
                <a:sym typeface="Consolas"/>
              </a:rPr>
              <a:t>Hashmap</a:t>
            </a:r>
            <a:r>
              <a:rPr lang="en-US" sz="1600" b="0" i="0" u="none" strike="noStrike" cap="none" dirty="0">
                <a:solidFill>
                  <a:srgbClr val="000000"/>
                </a:solidFill>
                <a:latin typeface="Consolas"/>
                <a:ea typeface="Consolas"/>
                <a:cs typeface="Consolas"/>
                <a:sym typeface="Consolas"/>
              </a:rPr>
              <a:t>(key-value pair), at value, maintain a count for each element(key) and whenever the count is greater than half of the array length, return that key(majority element).</a:t>
            </a:r>
            <a:endParaRPr sz="1600" b="0" i="0" u="none" strike="noStrike" cap="none" dirty="0">
              <a:solidFill>
                <a:srgbClr val="000000"/>
              </a:solidFill>
              <a:latin typeface="Consolas"/>
              <a:ea typeface="Consolas"/>
              <a:cs typeface="Consolas"/>
              <a:sym typeface="Consolas"/>
            </a:endParaRPr>
          </a:p>
        </p:txBody>
      </p:sp>
      <p:sp>
        <p:nvSpPr>
          <p:cNvPr id="3" name="TextBox 2">
            <a:extLst>
              <a:ext uri="{FF2B5EF4-FFF2-40B4-BE49-F238E27FC236}">
                <a16:creationId xmlns:a16="http://schemas.microsoft.com/office/drawing/2014/main" id="{9B085ABF-67D6-27FA-7FD2-34F10FA31D50}"/>
              </a:ext>
            </a:extLst>
          </p:cNvPr>
          <p:cNvSpPr txBox="1"/>
          <p:nvPr/>
        </p:nvSpPr>
        <p:spPr>
          <a:xfrm>
            <a:off x="2100146" y="608063"/>
            <a:ext cx="4572000"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Linear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animEffect transition="in" filter="fade">
                                      <p:cBhvr>
                                        <p:cTn id="7" dur="1000"/>
                                        <p:tgtEl>
                                          <p:spTgt spid="1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5"/>
                                        </p:tgtEl>
                                        <p:attrNameLst>
                                          <p:attrName>style.visibility</p:attrName>
                                        </p:attrNameLst>
                                      </p:cBhvr>
                                      <p:to>
                                        <p:strVal val="visible"/>
                                      </p:to>
                                    </p:set>
                                    <p:animEffect transition="in" filter="fade">
                                      <p:cBhvr>
                                        <p:cTn id="12"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2"/>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4" name="Google Shape;184;p12"/>
          <p:cNvSpPr/>
          <p:nvPr/>
        </p:nvSpPr>
        <p:spPr>
          <a:xfrm>
            <a:off x="326710" y="1100660"/>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Consolas"/>
                <a:ea typeface="Consolas"/>
                <a:cs typeface="Consolas"/>
                <a:sym typeface="Consolas"/>
              </a:rPr>
              <a:t>Linear Solution</a:t>
            </a:r>
            <a:endParaRPr sz="1600" b="1" i="0" u="none" strike="noStrike" cap="none" dirty="0">
              <a:solidFill>
                <a:srgbClr val="000000"/>
              </a:solidFill>
              <a:latin typeface="Consolas"/>
              <a:ea typeface="Consolas"/>
              <a:cs typeface="Consolas"/>
              <a:sym typeface="Consolas"/>
            </a:endParaRPr>
          </a:p>
        </p:txBody>
      </p:sp>
      <p:sp>
        <p:nvSpPr>
          <p:cNvPr id="3" name="TextBox 2">
            <a:extLst>
              <a:ext uri="{FF2B5EF4-FFF2-40B4-BE49-F238E27FC236}">
                <a16:creationId xmlns:a16="http://schemas.microsoft.com/office/drawing/2014/main" id="{9B085ABF-67D6-27FA-7FD2-34F10FA31D50}"/>
              </a:ext>
            </a:extLst>
          </p:cNvPr>
          <p:cNvSpPr txBox="1"/>
          <p:nvPr/>
        </p:nvSpPr>
        <p:spPr>
          <a:xfrm>
            <a:off x="2041560" y="377584"/>
            <a:ext cx="4572000" cy="1414232"/>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Linear Solution</a:t>
            </a:r>
          </a:p>
        </p:txBody>
      </p:sp>
      <p:sp>
        <p:nvSpPr>
          <p:cNvPr id="186" name="Google Shape;186;p12"/>
          <p:cNvSpPr/>
          <p:nvPr/>
        </p:nvSpPr>
        <p:spPr>
          <a:xfrm>
            <a:off x="310956" y="733612"/>
            <a:ext cx="8033207" cy="12855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Consolas"/>
                <a:ea typeface="Consolas"/>
                <a:cs typeface="Consolas"/>
                <a:sym typeface="Consolas"/>
              </a:rPr>
              <a:t>Algorithm</a:t>
            </a:r>
            <a:endParaRPr sz="1600" b="1" i="0" u="none" strike="noStrike" cap="none" dirty="0">
              <a:solidFill>
                <a:srgbClr val="000000"/>
              </a:solidFill>
              <a:latin typeface="Consolas"/>
              <a:ea typeface="Consolas"/>
              <a:cs typeface="Consolas"/>
              <a:sym typeface="Consolas"/>
            </a:endParaRPr>
          </a:p>
        </p:txBody>
      </p:sp>
      <p:sp>
        <p:nvSpPr>
          <p:cNvPr id="187" name="Google Shape;187;p12"/>
          <p:cNvSpPr/>
          <p:nvPr/>
        </p:nvSpPr>
        <p:spPr>
          <a:xfrm>
            <a:off x="566819" y="1663842"/>
            <a:ext cx="8033207" cy="483252"/>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Create a </a:t>
            </a:r>
            <a:r>
              <a:rPr lang="en-US" sz="1600" b="0" i="0" u="none" strike="noStrike" cap="none" dirty="0" err="1">
                <a:solidFill>
                  <a:srgbClr val="000000"/>
                </a:solidFill>
                <a:latin typeface="Consolas"/>
                <a:ea typeface="Consolas"/>
                <a:cs typeface="Consolas"/>
                <a:sym typeface="Consolas"/>
              </a:rPr>
              <a:t>hashmap</a:t>
            </a:r>
            <a:r>
              <a:rPr lang="en-US" sz="1600" b="0" i="0" u="none" strike="noStrike" cap="none" dirty="0">
                <a:solidFill>
                  <a:srgbClr val="000000"/>
                </a:solidFill>
                <a:latin typeface="Consolas"/>
                <a:ea typeface="Consolas"/>
                <a:cs typeface="Consolas"/>
                <a:sym typeface="Consolas"/>
              </a:rPr>
              <a:t> to store a key-value pair, i.e. element-frequency pair.</a:t>
            </a:r>
            <a:endParaRPr sz="1600" b="0" i="0" u="none" strike="noStrike" cap="none" dirty="0">
              <a:solidFill>
                <a:srgbClr val="000000"/>
              </a:solidFill>
              <a:latin typeface="Consolas"/>
              <a:ea typeface="Consolas"/>
              <a:cs typeface="Consolas"/>
              <a:sym typeface="Consolas"/>
            </a:endParaRPr>
          </a:p>
        </p:txBody>
      </p:sp>
      <p:sp>
        <p:nvSpPr>
          <p:cNvPr id="188" name="Google Shape;188;p12"/>
          <p:cNvSpPr/>
          <p:nvPr/>
        </p:nvSpPr>
        <p:spPr>
          <a:xfrm>
            <a:off x="555396" y="2317846"/>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Traverse the array from start to end.</a:t>
            </a:r>
            <a:endParaRPr sz="1600" b="0" i="0" u="none" strike="noStrike" cap="none">
              <a:solidFill>
                <a:srgbClr val="000000"/>
              </a:solidFill>
              <a:latin typeface="Consolas"/>
              <a:ea typeface="Consolas"/>
              <a:cs typeface="Consolas"/>
              <a:sym typeface="Consolas"/>
            </a:endParaRPr>
          </a:p>
        </p:txBody>
      </p:sp>
      <p:sp>
        <p:nvSpPr>
          <p:cNvPr id="189" name="Google Shape;189;p12"/>
          <p:cNvSpPr/>
          <p:nvPr/>
        </p:nvSpPr>
        <p:spPr>
          <a:xfrm>
            <a:off x="566819" y="2743345"/>
            <a:ext cx="8033207" cy="830956"/>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For every element in the array, insert the element in the </a:t>
            </a:r>
            <a:r>
              <a:rPr lang="en-US" sz="1600" b="0" i="0" u="none" strike="noStrike" cap="none" dirty="0" err="1">
                <a:solidFill>
                  <a:srgbClr val="000000"/>
                </a:solidFill>
                <a:latin typeface="Consolas"/>
                <a:ea typeface="Consolas"/>
                <a:cs typeface="Consolas"/>
                <a:sym typeface="Consolas"/>
              </a:rPr>
              <a:t>hashmap</a:t>
            </a:r>
            <a:r>
              <a:rPr lang="en-US" sz="1600" b="0" i="0" u="none" strike="noStrike" cap="none" dirty="0">
                <a:solidFill>
                  <a:srgbClr val="000000"/>
                </a:solidFill>
                <a:latin typeface="Consolas"/>
                <a:ea typeface="Consolas"/>
                <a:cs typeface="Consolas"/>
                <a:sym typeface="Consolas"/>
              </a:rPr>
              <a:t> if the element does not exist as key, else fetch the value of the key ( array[</a:t>
            </a:r>
            <a:r>
              <a:rPr lang="en-US" sz="1600" b="0" i="0" u="none" strike="noStrike" cap="none" dirty="0" err="1">
                <a:solidFill>
                  <a:srgbClr val="000000"/>
                </a:solidFill>
                <a:latin typeface="Consolas"/>
                <a:ea typeface="Consolas"/>
                <a:cs typeface="Consolas"/>
                <a:sym typeface="Consolas"/>
              </a:rPr>
              <a:t>i</a:t>
            </a:r>
            <a:r>
              <a:rPr lang="en-US" sz="1600" b="0" i="0" u="none" strike="noStrike" cap="none" dirty="0">
                <a:solidFill>
                  <a:srgbClr val="000000"/>
                </a:solidFill>
                <a:latin typeface="Consolas"/>
                <a:ea typeface="Consolas"/>
                <a:cs typeface="Consolas"/>
                <a:sym typeface="Consolas"/>
              </a:rPr>
              <a:t>] ), and increase the value by 1.</a:t>
            </a:r>
            <a:endParaRPr sz="1600" b="0" i="0" u="none" strike="noStrike" cap="none" dirty="0">
              <a:solidFill>
                <a:srgbClr val="000000"/>
              </a:solidFill>
              <a:latin typeface="Consolas"/>
              <a:ea typeface="Consolas"/>
              <a:cs typeface="Consolas"/>
              <a:sym typeface="Consolas"/>
            </a:endParaRPr>
          </a:p>
        </p:txBody>
      </p:sp>
      <p:sp>
        <p:nvSpPr>
          <p:cNvPr id="190" name="Google Shape;190;p12"/>
          <p:cNvSpPr/>
          <p:nvPr/>
        </p:nvSpPr>
        <p:spPr>
          <a:xfrm>
            <a:off x="566819" y="3661286"/>
            <a:ext cx="8033207" cy="584735"/>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If the count is greater than half then print the majority element and break.</a:t>
            </a:r>
            <a:endParaRPr sz="1600" b="0" i="0" u="none" strike="noStrike" cap="none">
              <a:solidFill>
                <a:srgbClr val="000000"/>
              </a:solidFill>
              <a:latin typeface="Consolas"/>
              <a:ea typeface="Consolas"/>
              <a:cs typeface="Consolas"/>
              <a:sym typeface="Consolas"/>
            </a:endParaRPr>
          </a:p>
        </p:txBody>
      </p:sp>
      <p:sp>
        <p:nvSpPr>
          <p:cNvPr id="191" name="Google Shape;191;p12"/>
          <p:cNvSpPr/>
          <p:nvPr/>
        </p:nvSpPr>
        <p:spPr>
          <a:xfrm>
            <a:off x="566819" y="4246021"/>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If no majority element is found print “No Majority element”</a:t>
            </a:r>
            <a:endParaRPr sz="1600" b="0" i="0" u="none" strike="noStrike" cap="none">
              <a:solidFill>
                <a:srgbClr val="000000"/>
              </a:solidFill>
              <a:latin typeface="Consolas"/>
              <a:ea typeface="Consolas"/>
              <a:cs typeface="Consolas"/>
              <a:sym typeface="Consolas"/>
            </a:endParaRPr>
          </a:p>
        </p:txBody>
      </p:sp>
    </p:spTree>
    <p:extLst>
      <p:ext uri="{BB962C8B-B14F-4D97-AF65-F5344CB8AC3E}">
        <p14:creationId xmlns:p14="http://schemas.microsoft.com/office/powerpoint/2010/main" val="2367425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animEffect transition="in" filter="fade">
                                      <p:cBhvr>
                                        <p:cTn id="7" dur="1000"/>
                                        <p:tgtEl>
                                          <p:spTgt spid="1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gtEl>
                                        <p:attrNameLst>
                                          <p:attrName>style.visibility</p:attrName>
                                        </p:attrNameLst>
                                      </p:cBhvr>
                                      <p:to>
                                        <p:strVal val="visible"/>
                                      </p:to>
                                    </p:set>
                                    <p:animEffect transition="in" filter="fade">
                                      <p:cBhvr>
                                        <p:cTn id="12" dur="1000"/>
                                        <p:tgtEl>
                                          <p:spTgt spid="1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7"/>
                                        </p:tgtEl>
                                        <p:attrNameLst>
                                          <p:attrName>style.visibility</p:attrName>
                                        </p:attrNameLst>
                                      </p:cBhvr>
                                      <p:to>
                                        <p:strVal val="visible"/>
                                      </p:to>
                                    </p:set>
                                    <p:animEffect transition="in" filter="fade">
                                      <p:cBhvr>
                                        <p:cTn id="17" dur="500"/>
                                        <p:tgtEl>
                                          <p:spTgt spid="18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8"/>
                                        </p:tgtEl>
                                        <p:attrNameLst>
                                          <p:attrName>style.visibility</p:attrName>
                                        </p:attrNameLst>
                                      </p:cBhvr>
                                      <p:to>
                                        <p:strVal val="visible"/>
                                      </p:to>
                                    </p:set>
                                    <p:animEffect transition="in" filter="fade">
                                      <p:cBhvr>
                                        <p:cTn id="22" dur="500"/>
                                        <p:tgtEl>
                                          <p:spTgt spid="18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9"/>
                                        </p:tgtEl>
                                        <p:attrNameLst>
                                          <p:attrName>style.visibility</p:attrName>
                                        </p:attrNameLst>
                                      </p:cBhvr>
                                      <p:to>
                                        <p:strVal val="visible"/>
                                      </p:to>
                                    </p:set>
                                    <p:animEffect transition="in" filter="fade">
                                      <p:cBhvr>
                                        <p:cTn id="27" dur="500"/>
                                        <p:tgtEl>
                                          <p:spTgt spid="18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0"/>
                                        </p:tgtEl>
                                        <p:attrNameLst>
                                          <p:attrName>style.visibility</p:attrName>
                                        </p:attrNameLst>
                                      </p:cBhvr>
                                      <p:to>
                                        <p:strVal val="visible"/>
                                      </p:to>
                                    </p:set>
                                    <p:animEffect transition="in" filter="fade">
                                      <p:cBhvr>
                                        <p:cTn id="32" dur="500"/>
                                        <p:tgtEl>
                                          <p:spTgt spid="19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1"/>
                                        </p:tgtEl>
                                        <p:attrNameLst>
                                          <p:attrName>style.visibility</p:attrName>
                                        </p:attrNameLst>
                                      </p:cBhvr>
                                      <p:to>
                                        <p:strVal val="visible"/>
                                      </p:to>
                                    </p:set>
                                    <p:animEffect transition="in" filter="fade">
                                      <p:cBhvr>
                                        <p:cTn id="3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8" name="Google Shape;198;p14"/>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1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200" name="Google Shape;200;p14"/>
          <p:cNvSpPr/>
          <p:nvPr/>
        </p:nvSpPr>
        <p:spPr>
          <a:xfrm>
            <a:off x="2045652" y="1576528"/>
            <a:ext cx="210603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Time Complexity :</a:t>
            </a:r>
            <a:endParaRPr sz="1600" b="0" i="0" u="none" strike="noStrike" cap="none">
              <a:solidFill>
                <a:srgbClr val="000000"/>
              </a:solidFill>
              <a:latin typeface="Consolas"/>
              <a:ea typeface="Consolas"/>
              <a:cs typeface="Consolas"/>
              <a:sym typeface="Consolas"/>
            </a:endParaRPr>
          </a:p>
        </p:txBody>
      </p:sp>
      <p:sp>
        <p:nvSpPr>
          <p:cNvPr id="201" name="Google Shape;201;p14"/>
          <p:cNvSpPr/>
          <p:nvPr/>
        </p:nvSpPr>
        <p:spPr>
          <a:xfrm>
            <a:off x="4151685" y="1565308"/>
            <a:ext cx="257265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O(n)</a:t>
            </a:r>
            <a:endParaRPr sz="1600" b="0" i="0" u="none" strike="noStrike" cap="none">
              <a:solidFill>
                <a:srgbClr val="000000"/>
              </a:solidFill>
              <a:latin typeface="Consolas"/>
              <a:ea typeface="Consolas"/>
              <a:cs typeface="Consolas"/>
              <a:sym typeface="Consolas"/>
            </a:endParaRPr>
          </a:p>
        </p:txBody>
      </p:sp>
      <p:sp>
        <p:nvSpPr>
          <p:cNvPr id="202" name="Google Shape;202;p14"/>
          <p:cNvSpPr/>
          <p:nvPr/>
        </p:nvSpPr>
        <p:spPr>
          <a:xfrm>
            <a:off x="2048604" y="2571157"/>
            <a:ext cx="218575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Space Complexity :</a:t>
            </a:r>
            <a:endParaRPr sz="1600" b="0" i="0" u="none" strike="noStrike" cap="none">
              <a:solidFill>
                <a:srgbClr val="000000"/>
              </a:solidFill>
              <a:latin typeface="Consolas"/>
              <a:ea typeface="Consolas"/>
              <a:cs typeface="Consolas"/>
              <a:sym typeface="Consolas"/>
            </a:endParaRPr>
          </a:p>
        </p:txBody>
      </p:sp>
      <p:sp>
        <p:nvSpPr>
          <p:cNvPr id="203" name="Google Shape;203;p14"/>
          <p:cNvSpPr/>
          <p:nvPr/>
        </p:nvSpPr>
        <p:spPr>
          <a:xfrm>
            <a:off x="4156371" y="2568822"/>
            <a:ext cx="89151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O(1)</a:t>
            </a:r>
            <a:endParaRPr sz="1600" b="0" i="0" u="none" strike="noStrike" cap="none">
              <a:solidFill>
                <a:srgbClr val="000000"/>
              </a:solidFill>
              <a:latin typeface="Consolas"/>
              <a:ea typeface="Consolas"/>
              <a:cs typeface="Consolas"/>
              <a:sym typeface="Consolas"/>
            </a:endParaRPr>
          </a:p>
        </p:txBody>
      </p:sp>
      <p:sp>
        <p:nvSpPr>
          <p:cNvPr id="205" name="Google Shape;205;p14"/>
          <p:cNvSpPr txBox="1"/>
          <p:nvPr/>
        </p:nvSpPr>
        <p:spPr>
          <a:xfrm>
            <a:off x="2824976" y="915840"/>
            <a:ext cx="449250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Time and space complexity</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
                                        </p:tgtEl>
                                        <p:attrNameLst>
                                          <p:attrName>style.visibility</p:attrName>
                                        </p:attrNameLst>
                                      </p:cBhvr>
                                      <p:to>
                                        <p:strVal val="visible"/>
                                      </p:to>
                                    </p:set>
                                    <p:animEffect transition="in" filter="fade">
                                      <p:cBhvr>
                                        <p:cTn id="12" dur="500"/>
                                        <p:tgtEl>
                                          <p:spTgt spid="2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2"/>
                                        </p:tgtEl>
                                        <p:attrNameLst>
                                          <p:attrName>style.visibility</p:attrName>
                                        </p:attrNameLst>
                                      </p:cBhvr>
                                      <p:to>
                                        <p:strVal val="visible"/>
                                      </p:to>
                                    </p:set>
                                    <p:animEffect transition="in" filter="fade">
                                      <p:cBhvr>
                                        <p:cTn id="17" dur="500"/>
                                        <p:tgtEl>
                                          <p:spTgt spid="2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3"/>
                                        </p:tgtEl>
                                        <p:attrNameLst>
                                          <p:attrName>style.visibility</p:attrName>
                                        </p:attrNameLst>
                                      </p:cBhvr>
                                      <p:to>
                                        <p:strVal val="visible"/>
                                      </p:to>
                                    </p:set>
                                    <p:animEffect transition="in" filter="fade">
                                      <p:cBhvr>
                                        <p:cTn id="22"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2"/>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4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213" name="Google Shape;213;p42"/>
          <p:cNvGraphicFramePr/>
          <p:nvPr/>
        </p:nvGraphicFramePr>
        <p:xfrm>
          <a:off x="275100" y="780508"/>
          <a:ext cx="8593800" cy="3605075"/>
        </p:xfrm>
        <a:graphic>
          <a:graphicData uri="http://schemas.openxmlformats.org/drawingml/2006/table">
            <a:tbl>
              <a:tblPr firstRow="1" bandRow="1">
                <a:noFill/>
                <a:tableStyleId>{C50A13CB-694B-4DB4-893A-0AF11BF5B380}</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605075">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import java.util.HashMap;</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import java.util.Map;</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class EthCode</a:t>
                      </a:r>
                      <a:endParaRPr sz="1400" b="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Function to find the majority element present in a given array</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public static int findMajorityElement(int[] A)</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create an empty `HashMap`</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Map&lt;Integer, Integer&gt; map = new HashMap&lt;&gt;();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store each element's frequency in a map</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for (int i: A)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map.put(i, map.getOrDefault(i, 0) + 1);</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 return the element if its count is more than `n/2`</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for (Map.Entry&lt;Integer, Integer&gt; entry: map.entrySet())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if (entry.getValue() &gt; A.length/2)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return entry.getKey();</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 no majority element is present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return -1;</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US" sz="1400" b="0" u="none" strike="noStrike" cap="none">
                          <a:solidFill>
                            <a:schemeClr val="dk1"/>
                          </a:solidFill>
                          <a:highlight>
                            <a:schemeClr val="lt1"/>
                          </a:highlight>
                          <a:latin typeface="Consolas"/>
                          <a:ea typeface="Consolas"/>
                          <a:cs typeface="Consolas"/>
                          <a:sym typeface="Consolas"/>
                        </a:rPr>
                        <a:t> }</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862BB336-5081-910C-626D-EBBC4F65CB95}"/>
              </a:ext>
            </a:extLst>
          </p:cNvPr>
          <p:cNvSpPr txBox="1"/>
          <p:nvPr/>
        </p:nvSpPr>
        <p:spPr>
          <a:xfrm>
            <a:off x="2523893" y="251177"/>
            <a:ext cx="4572000"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Linear Solution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20" name="Google Shape;220;p43"/>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4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222" name="Google Shape;222;p43"/>
          <p:cNvGraphicFramePr/>
          <p:nvPr>
            <p:extLst>
              <p:ext uri="{D42A27DB-BD31-4B8C-83A1-F6EECF244321}">
                <p14:modId xmlns:p14="http://schemas.microsoft.com/office/powerpoint/2010/main" val="2668259912"/>
              </p:ext>
            </p:extLst>
          </p:nvPr>
        </p:nvGraphicFramePr>
        <p:xfrm>
          <a:off x="2562074" y="697252"/>
          <a:ext cx="4517750" cy="3505210"/>
        </p:xfrm>
        <a:graphic>
          <a:graphicData uri="http://schemas.openxmlformats.org/drawingml/2006/table">
            <a:tbl>
              <a:tblPr firstRow="1" bandRow="1">
                <a:noFill/>
                <a:tableStyleId>{C50A13CB-694B-4DB4-893A-0AF11BF5B380}</a:tableStyleId>
              </a:tblPr>
              <a:tblGrid>
                <a:gridCol w="4517750">
                  <a:extLst>
                    <a:ext uri="{9D8B030D-6E8A-4147-A177-3AD203B41FA5}">
                      <a16:colId xmlns:a16="http://schemas.microsoft.com/office/drawing/2014/main" val="20000"/>
                    </a:ext>
                  </a:extLst>
                </a:gridCol>
              </a:tblGrid>
              <a:tr h="3453682">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public static void main (String[] </a:t>
                      </a:r>
                      <a:r>
                        <a:rPr lang="en-US" sz="1400" b="0" u="none" strike="noStrike" cap="none" dirty="0" err="1">
                          <a:solidFill>
                            <a:schemeClr val="dk1"/>
                          </a:solidFill>
                          <a:latin typeface="Consolas"/>
                          <a:ea typeface="Consolas"/>
                          <a:cs typeface="Consolas"/>
                          <a:sym typeface="Consolas"/>
                        </a:rPr>
                        <a:t>args</a:t>
                      </a:r>
                      <a:r>
                        <a:rPr lang="en-US" sz="1400" b="0" u="none" strike="noStrike" cap="none" dirty="0">
                          <a:solidFill>
                            <a:schemeClr val="dk1"/>
                          </a:solidFill>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 assumption: valid input (majority element is present)</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int[] </a:t>
                      </a:r>
                      <a:r>
                        <a:rPr lang="en-US" sz="1400" b="0" u="none" strike="noStrike" cap="none" dirty="0" err="1">
                          <a:solidFill>
                            <a:schemeClr val="dk1"/>
                          </a:solidFill>
                          <a:latin typeface="Consolas"/>
                          <a:ea typeface="Consolas"/>
                          <a:cs typeface="Consolas"/>
                          <a:sym typeface="Consolas"/>
                        </a:rPr>
                        <a:t>arr</a:t>
                      </a:r>
                      <a:r>
                        <a:rPr lang="en-US" sz="1400" b="0" u="none" strike="noStrike" cap="none" dirty="0">
                          <a:solidFill>
                            <a:schemeClr val="dk1"/>
                          </a:solidFill>
                          <a:latin typeface="Consolas"/>
                          <a:ea typeface="Consolas"/>
                          <a:cs typeface="Consolas"/>
                          <a:sym typeface="Consolas"/>
                        </a:rPr>
                        <a:t> = { 1, 8, 7, 4, 1, 2, 2, 2, 2, 2, 2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int result = </a:t>
                      </a:r>
                      <a:r>
                        <a:rPr lang="en-US" sz="1400" b="0" u="none" strike="noStrike" cap="none" dirty="0" err="1">
                          <a:solidFill>
                            <a:schemeClr val="dk1"/>
                          </a:solidFill>
                          <a:latin typeface="Consolas"/>
                          <a:ea typeface="Consolas"/>
                          <a:cs typeface="Consolas"/>
                          <a:sym typeface="Consolas"/>
                        </a:rPr>
                        <a:t>findMajorityElement</a:t>
                      </a:r>
                      <a:r>
                        <a:rPr lang="en-US" sz="1400" b="0" u="none" strike="noStrike" cap="none" dirty="0">
                          <a:solidFill>
                            <a:schemeClr val="dk1"/>
                          </a:solidFill>
                          <a:latin typeface="Consolas"/>
                          <a:ea typeface="Consolas"/>
                          <a:cs typeface="Consolas"/>
                          <a:sym typeface="Consolas"/>
                        </a:rPr>
                        <a:t>(</a:t>
                      </a:r>
                      <a:r>
                        <a:rPr lang="en-US" sz="1400" b="0" u="none" strike="noStrike" cap="none" dirty="0" err="1">
                          <a:solidFill>
                            <a:schemeClr val="dk1"/>
                          </a:solidFill>
                          <a:latin typeface="Consolas"/>
                          <a:ea typeface="Consolas"/>
                          <a:cs typeface="Consolas"/>
                          <a:sym typeface="Consolas"/>
                        </a:rPr>
                        <a:t>arr</a:t>
                      </a:r>
                      <a:r>
                        <a:rPr lang="en-US" sz="1400" b="0" u="none" strike="noStrike" cap="none" dirty="0">
                          <a:solidFill>
                            <a:schemeClr val="dk1"/>
                          </a:solidFill>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if (result != -1)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r>
                        <a:rPr lang="en-US" sz="1400" b="0" u="none" strike="noStrike" cap="none" dirty="0" err="1">
                          <a:solidFill>
                            <a:schemeClr val="dk1"/>
                          </a:solidFill>
                          <a:latin typeface="Consolas"/>
                          <a:ea typeface="Consolas"/>
                          <a:cs typeface="Consolas"/>
                          <a:sym typeface="Consolas"/>
                        </a:rPr>
                        <a:t>System.out.println</a:t>
                      </a:r>
                      <a:r>
                        <a:rPr lang="en-US" sz="1400" b="0" u="none" strike="noStrike" cap="none" dirty="0">
                          <a:solidFill>
                            <a:schemeClr val="dk1"/>
                          </a:solidFill>
                          <a:latin typeface="Consolas"/>
                          <a:ea typeface="Consolas"/>
                          <a:cs typeface="Consolas"/>
                          <a:sym typeface="Consolas"/>
                        </a:rPr>
                        <a:t>(result);</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else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r>
                        <a:rPr lang="en-US" sz="1400" b="0" u="none" strike="noStrike" cap="none" dirty="0" err="1">
                          <a:solidFill>
                            <a:schemeClr val="dk1"/>
                          </a:solidFill>
                          <a:latin typeface="Consolas"/>
                          <a:ea typeface="Consolas"/>
                          <a:cs typeface="Consolas"/>
                          <a:sym typeface="Consolas"/>
                        </a:rPr>
                        <a:t>System.out.println</a:t>
                      </a:r>
                      <a:r>
                        <a:rPr lang="en-US" sz="1400" b="0" u="none" strike="noStrike" cap="none" dirty="0">
                          <a:solidFill>
                            <a:schemeClr val="dk1"/>
                          </a:solidFill>
                          <a:latin typeface="Consolas"/>
                          <a:ea typeface="Consolas"/>
                          <a:cs typeface="Consolas"/>
                          <a:sym typeface="Consolas"/>
                        </a:rPr>
                        <a:t>(null);</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a:t>
                      </a:r>
                      <a:endParaRPr sz="14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9" name="Google Shape;229;p44"/>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4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231" name="Google Shape;231;p44"/>
          <p:cNvSpPr/>
          <p:nvPr/>
        </p:nvSpPr>
        <p:spPr>
          <a:xfrm>
            <a:off x="555119" y="711854"/>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Boyre-Moore Solution: Two step process</a:t>
            </a:r>
            <a:endParaRPr sz="1600" b="1" i="0" u="none" strike="noStrike" cap="none">
              <a:solidFill>
                <a:srgbClr val="000000"/>
              </a:solidFill>
              <a:latin typeface="Consolas"/>
              <a:ea typeface="Consolas"/>
              <a:cs typeface="Consolas"/>
              <a:sym typeface="Consolas"/>
            </a:endParaRPr>
          </a:p>
        </p:txBody>
      </p:sp>
      <p:sp>
        <p:nvSpPr>
          <p:cNvPr id="232" name="Google Shape;232;p44"/>
          <p:cNvSpPr/>
          <p:nvPr/>
        </p:nvSpPr>
        <p:spPr>
          <a:xfrm>
            <a:off x="552771" y="1321464"/>
            <a:ext cx="803320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The first step gives the element that maybe the majority element in the array.</a:t>
            </a:r>
            <a:endParaRPr sz="1600" b="0" i="0" u="none" strike="noStrike" cap="none">
              <a:solidFill>
                <a:srgbClr val="000000"/>
              </a:solidFill>
              <a:latin typeface="Consolas"/>
              <a:ea typeface="Consolas"/>
              <a:cs typeface="Consolas"/>
              <a:sym typeface="Consolas"/>
            </a:endParaRPr>
          </a:p>
        </p:txBody>
      </p:sp>
      <p:sp>
        <p:nvSpPr>
          <p:cNvPr id="233" name="Google Shape;233;p44"/>
          <p:cNvSpPr/>
          <p:nvPr/>
        </p:nvSpPr>
        <p:spPr>
          <a:xfrm>
            <a:off x="557457" y="2085822"/>
            <a:ext cx="803320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If there is a majority element in an array, then this step will definitely return majority element.</a:t>
            </a:r>
            <a:endParaRPr sz="1600" b="0" i="0" u="none" strike="noStrike" cap="none">
              <a:solidFill>
                <a:srgbClr val="000000"/>
              </a:solidFill>
              <a:latin typeface="Consolas"/>
              <a:ea typeface="Consolas"/>
              <a:cs typeface="Consolas"/>
              <a:sym typeface="Consolas"/>
            </a:endParaRPr>
          </a:p>
        </p:txBody>
      </p:sp>
      <p:sp>
        <p:nvSpPr>
          <p:cNvPr id="234" name="Google Shape;234;p44"/>
          <p:cNvSpPr/>
          <p:nvPr/>
        </p:nvSpPr>
        <p:spPr>
          <a:xfrm>
            <a:off x="562143" y="2871282"/>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Otherwise, it will return candidate for majority element.</a:t>
            </a:r>
            <a:endParaRPr sz="1600" b="0" i="0" u="none" strike="noStrike" cap="none">
              <a:solidFill>
                <a:srgbClr val="000000"/>
              </a:solidFill>
              <a:latin typeface="Consolas"/>
              <a:ea typeface="Consolas"/>
              <a:cs typeface="Consolas"/>
              <a:sym typeface="Consolas"/>
            </a:endParaRPr>
          </a:p>
        </p:txBody>
      </p:sp>
      <p:sp>
        <p:nvSpPr>
          <p:cNvPr id="235" name="Google Shape;235;p44"/>
          <p:cNvSpPr/>
          <p:nvPr/>
        </p:nvSpPr>
        <p:spPr>
          <a:xfrm>
            <a:off x="566829" y="3487926"/>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Check if the element obtained from the above step is majority element.</a:t>
            </a:r>
            <a:endParaRPr sz="1600" b="0" i="0" u="none" strike="noStrike" cap="none">
              <a:solidFill>
                <a:srgbClr val="000000"/>
              </a:solidFill>
              <a:latin typeface="Consolas"/>
              <a:ea typeface="Consolas"/>
              <a:cs typeface="Consolas"/>
              <a:sym typeface="Consolas"/>
            </a:endParaRPr>
          </a:p>
        </p:txBody>
      </p:sp>
      <p:sp>
        <p:nvSpPr>
          <p:cNvPr id="236" name="Google Shape;236;p44"/>
          <p:cNvSpPr/>
          <p:nvPr/>
        </p:nvSpPr>
        <p:spPr>
          <a:xfrm>
            <a:off x="571515" y="4041264"/>
            <a:ext cx="803320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This step is necessary as there might be no majority element.</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1000"/>
                                        <p:tgtEl>
                                          <p:spTgt spid="2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2"/>
                                        </p:tgtEl>
                                        <p:attrNameLst>
                                          <p:attrName>style.visibility</p:attrName>
                                        </p:attrNameLst>
                                      </p:cBhvr>
                                      <p:to>
                                        <p:strVal val="visible"/>
                                      </p:to>
                                    </p:set>
                                    <p:animEffect transition="in" filter="fade">
                                      <p:cBhvr>
                                        <p:cTn id="12" dur="500"/>
                                        <p:tgtEl>
                                          <p:spTgt spid="2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3"/>
                                        </p:tgtEl>
                                        <p:attrNameLst>
                                          <p:attrName>style.visibility</p:attrName>
                                        </p:attrNameLst>
                                      </p:cBhvr>
                                      <p:to>
                                        <p:strVal val="visible"/>
                                      </p:to>
                                    </p:set>
                                    <p:animEffect transition="in" filter="fade">
                                      <p:cBhvr>
                                        <p:cTn id="17" dur="500"/>
                                        <p:tgtEl>
                                          <p:spTgt spid="2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4"/>
                                        </p:tgtEl>
                                        <p:attrNameLst>
                                          <p:attrName>style.visibility</p:attrName>
                                        </p:attrNameLst>
                                      </p:cBhvr>
                                      <p:to>
                                        <p:strVal val="visible"/>
                                      </p:to>
                                    </p:set>
                                    <p:animEffect transition="in" filter="fade">
                                      <p:cBhvr>
                                        <p:cTn id="22" dur="500"/>
                                        <p:tgtEl>
                                          <p:spTgt spid="2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5"/>
                                        </p:tgtEl>
                                        <p:attrNameLst>
                                          <p:attrName>style.visibility</p:attrName>
                                        </p:attrNameLst>
                                      </p:cBhvr>
                                      <p:to>
                                        <p:strVal val="visible"/>
                                      </p:to>
                                    </p:set>
                                    <p:animEffect transition="in" filter="fade">
                                      <p:cBhvr>
                                        <p:cTn id="27" dur="500"/>
                                        <p:tgtEl>
                                          <p:spTgt spid="2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6"/>
                                        </p:tgtEl>
                                        <p:attrNameLst>
                                          <p:attrName>style.visibility</p:attrName>
                                        </p:attrNameLst>
                                      </p:cBhvr>
                                      <p:to>
                                        <p:strVal val="visible"/>
                                      </p:to>
                                    </p:set>
                                    <p:animEffect transition="in" filter="fade">
                                      <p:cBhvr>
                                        <p:cTn id="32" dur="5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3" name="Google Shape;243;p45"/>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4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245" name="Google Shape;245;p45"/>
          <p:cNvSpPr/>
          <p:nvPr/>
        </p:nvSpPr>
        <p:spPr>
          <a:xfrm>
            <a:off x="310956" y="440490"/>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Boyre-Moore Solution: Two step process</a:t>
            </a:r>
            <a:endParaRPr sz="1600" b="1" i="0" u="none" strike="noStrike" cap="none">
              <a:solidFill>
                <a:srgbClr val="000000"/>
              </a:solidFill>
              <a:latin typeface="Consolas"/>
              <a:ea typeface="Consolas"/>
              <a:cs typeface="Consolas"/>
              <a:sym typeface="Consolas"/>
            </a:endParaRPr>
          </a:p>
        </p:txBody>
      </p:sp>
      <p:sp>
        <p:nvSpPr>
          <p:cNvPr id="246" name="Google Shape;246;p45"/>
          <p:cNvSpPr/>
          <p:nvPr/>
        </p:nvSpPr>
        <p:spPr>
          <a:xfrm>
            <a:off x="555673" y="775774"/>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Algorithm</a:t>
            </a:r>
            <a:endParaRPr sz="1600" b="1" i="0" u="none" strike="noStrike" cap="none">
              <a:solidFill>
                <a:srgbClr val="000000"/>
              </a:solidFill>
              <a:latin typeface="Consolas"/>
              <a:ea typeface="Consolas"/>
              <a:cs typeface="Consolas"/>
              <a:sym typeface="Consolas"/>
            </a:endParaRPr>
          </a:p>
        </p:txBody>
      </p:sp>
      <p:sp>
        <p:nvSpPr>
          <p:cNvPr id="247" name="Google Shape;247;p45"/>
          <p:cNvSpPr/>
          <p:nvPr/>
        </p:nvSpPr>
        <p:spPr>
          <a:xfrm>
            <a:off x="668223" y="1228701"/>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Initialize an element m and a counter i = 0</a:t>
            </a:r>
            <a:endParaRPr sz="1600" b="0" i="0" u="none" strike="noStrike" cap="none">
              <a:solidFill>
                <a:srgbClr val="000000"/>
              </a:solidFill>
              <a:latin typeface="Consolas"/>
              <a:ea typeface="Consolas"/>
              <a:cs typeface="Consolas"/>
              <a:sym typeface="Consolas"/>
            </a:endParaRPr>
          </a:p>
        </p:txBody>
      </p:sp>
      <p:sp>
        <p:nvSpPr>
          <p:cNvPr id="248" name="Google Shape;248;p45"/>
          <p:cNvSpPr/>
          <p:nvPr/>
        </p:nvSpPr>
        <p:spPr>
          <a:xfrm>
            <a:off x="668223" y="1645344"/>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for each element x of the input sequence:</a:t>
            </a:r>
            <a:endParaRPr sz="1600" b="0" i="0" u="none" strike="noStrike" cap="none" dirty="0">
              <a:solidFill>
                <a:srgbClr val="000000"/>
              </a:solidFill>
              <a:latin typeface="Consolas"/>
              <a:ea typeface="Consolas"/>
              <a:cs typeface="Consolas"/>
              <a:sym typeface="Consolas"/>
            </a:endParaRPr>
          </a:p>
        </p:txBody>
      </p:sp>
      <p:sp>
        <p:nvSpPr>
          <p:cNvPr id="249" name="Google Shape;249;p45"/>
          <p:cNvSpPr/>
          <p:nvPr/>
        </p:nvSpPr>
        <p:spPr>
          <a:xfrm>
            <a:off x="668222" y="2002149"/>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if i = 0, then</a:t>
            </a:r>
            <a:endParaRPr sz="1600" b="0" i="0" u="none" strike="noStrike" cap="none">
              <a:solidFill>
                <a:srgbClr val="000000"/>
              </a:solidFill>
              <a:latin typeface="Consolas"/>
              <a:ea typeface="Consolas"/>
              <a:cs typeface="Consolas"/>
              <a:sym typeface="Consolas"/>
            </a:endParaRPr>
          </a:p>
        </p:txBody>
      </p:sp>
      <p:sp>
        <p:nvSpPr>
          <p:cNvPr id="250" name="Google Shape;250;p45"/>
          <p:cNvSpPr/>
          <p:nvPr/>
        </p:nvSpPr>
        <p:spPr>
          <a:xfrm>
            <a:off x="668222" y="2413123"/>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assign m = x and i = 1</a:t>
            </a:r>
            <a:endParaRPr sz="1600" b="0" i="0" u="none" strike="noStrike" cap="none">
              <a:solidFill>
                <a:srgbClr val="000000"/>
              </a:solidFill>
              <a:latin typeface="Consolas"/>
              <a:ea typeface="Consolas"/>
              <a:cs typeface="Consolas"/>
              <a:sym typeface="Consolas"/>
            </a:endParaRPr>
          </a:p>
        </p:txBody>
      </p:sp>
      <p:sp>
        <p:nvSpPr>
          <p:cNvPr id="251" name="Google Shape;251;p45"/>
          <p:cNvSpPr/>
          <p:nvPr/>
        </p:nvSpPr>
        <p:spPr>
          <a:xfrm>
            <a:off x="668222" y="2823362"/>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else</a:t>
            </a:r>
            <a:endParaRPr sz="1600" b="0" i="0" u="none" strike="noStrike" cap="none" dirty="0">
              <a:solidFill>
                <a:srgbClr val="000000"/>
              </a:solidFill>
              <a:latin typeface="Consolas"/>
              <a:ea typeface="Consolas"/>
              <a:cs typeface="Consolas"/>
              <a:sym typeface="Consolas"/>
            </a:endParaRPr>
          </a:p>
        </p:txBody>
      </p:sp>
      <p:sp>
        <p:nvSpPr>
          <p:cNvPr id="252" name="Google Shape;252;p45"/>
          <p:cNvSpPr/>
          <p:nvPr/>
        </p:nvSpPr>
        <p:spPr>
          <a:xfrm>
            <a:off x="668222" y="3186174"/>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if m = x, then assign </a:t>
            </a:r>
            <a:r>
              <a:rPr lang="en-US" sz="1600" b="0" i="0" u="none" strike="noStrike" cap="none" dirty="0" err="1">
                <a:solidFill>
                  <a:srgbClr val="000000"/>
                </a:solidFill>
                <a:latin typeface="Consolas"/>
                <a:ea typeface="Consolas"/>
                <a:cs typeface="Consolas"/>
                <a:sym typeface="Consolas"/>
              </a:rPr>
              <a:t>i</a:t>
            </a:r>
            <a:r>
              <a:rPr lang="en-US" sz="1600" b="0" i="0" u="none" strike="noStrike" cap="none" dirty="0">
                <a:solidFill>
                  <a:srgbClr val="000000"/>
                </a:solidFill>
                <a:latin typeface="Consolas"/>
                <a:ea typeface="Consolas"/>
                <a:cs typeface="Consolas"/>
                <a:sym typeface="Consolas"/>
              </a:rPr>
              <a:t> = </a:t>
            </a:r>
            <a:r>
              <a:rPr lang="en-US" sz="1600" b="0" i="0" u="none" strike="noStrike" cap="none" dirty="0" err="1">
                <a:solidFill>
                  <a:srgbClr val="000000"/>
                </a:solidFill>
                <a:latin typeface="Consolas"/>
                <a:ea typeface="Consolas"/>
                <a:cs typeface="Consolas"/>
                <a:sym typeface="Consolas"/>
              </a:rPr>
              <a:t>i</a:t>
            </a:r>
            <a:r>
              <a:rPr lang="en-US" sz="1600" b="0" i="0" u="none" strike="noStrike" cap="none" dirty="0">
                <a:solidFill>
                  <a:srgbClr val="000000"/>
                </a:solidFill>
                <a:latin typeface="Consolas"/>
                <a:ea typeface="Consolas"/>
                <a:cs typeface="Consolas"/>
                <a:sym typeface="Consolas"/>
              </a:rPr>
              <a:t> + 1</a:t>
            </a:r>
            <a:endParaRPr sz="1600" b="0" i="0" u="none" strike="noStrike" cap="none" dirty="0">
              <a:solidFill>
                <a:srgbClr val="000000"/>
              </a:solidFill>
              <a:latin typeface="Consolas"/>
              <a:ea typeface="Consolas"/>
              <a:cs typeface="Consolas"/>
              <a:sym typeface="Consolas"/>
            </a:endParaRPr>
          </a:p>
        </p:txBody>
      </p:sp>
      <p:sp>
        <p:nvSpPr>
          <p:cNvPr id="253" name="Google Shape;253;p45"/>
          <p:cNvSpPr/>
          <p:nvPr/>
        </p:nvSpPr>
        <p:spPr>
          <a:xfrm>
            <a:off x="668222" y="3548986"/>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else</a:t>
            </a:r>
            <a:endParaRPr sz="1600" b="0" i="0" u="none" strike="noStrike" cap="none" dirty="0">
              <a:solidFill>
                <a:srgbClr val="000000"/>
              </a:solidFill>
              <a:latin typeface="Consolas"/>
              <a:ea typeface="Consolas"/>
              <a:cs typeface="Consolas"/>
              <a:sym typeface="Consolas"/>
            </a:endParaRPr>
          </a:p>
        </p:txBody>
      </p:sp>
      <p:sp>
        <p:nvSpPr>
          <p:cNvPr id="254" name="Google Shape;254;p45"/>
          <p:cNvSpPr/>
          <p:nvPr/>
        </p:nvSpPr>
        <p:spPr>
          <a:xfrm>
            <a:off x="668221" y="3923195"/>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a:solidFill>
                  <a:srgbClr val="000000"/>
                </a:solidFill>
                <a:latin typeface="Consolas"/>
                <a:ea typeface="Consolas"/>
                <a:cs typeface="Consolas"/>
                <a:sym typeface="Consolas"/>
              </a:rPr>
              <a:t> assign i = i – 1</a:t>
            </a:r>
            <a:endParaRPr sz="1600" b="0" i="0" u="none" strike="noStrike" cap="none">
              <a:solidFill>
                <a:srgbClr val="000000"/>
              </a:solidFill>
              <a:latin typeface="Consolas"/>
              <a:ea typeface="Consolas"/>
              <a:cs typeface="Consolas"/>
              <a:sym typeface="Consolas"/>
            </a:endParaRPr>
          </a:p>
        </p:txBody>
      </p:sp>
      <p:sp>
        <p:nvSpPr>
          <p:cNvPr id="255" name="Google Shape;255;p45"/>
          <p:cNvSpPr/>
          <p:nvPr/>
        </p:nvSpPr>
        <p:spPr>
          <a:xfrm>
            <a:off x="668221" y="4310664"/>
            <a:ext cx="8033207" cy="338514"/>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00"/>
              </a:buClr>
              <a:buSzPts val="1800"/>
              <a:buFont typeface="Noto Sans Symbols"/>
              <a:buChar char="⮚"/>
            </a:pPr>
            <a:r>
              <a:rPr lang="en-US" sz="1600" b="0" i="0" u="none" strike="noStrike" cap="none" dirty="0">
                <a:solidFill>
                  <a:srgbClr val="000000"/>
                </a:solidFill>
                <a:latin typeface="Consolas"/>
                <a:ea typeface="Consolas"/>
                <a:cs typeface="Consolas"/>
                <a:sym typeface="Consolas"/>
              </a:rPr>
              <a:t> return m</a:t>
            </a:r>
            <a:endParaRPr sz="1600" b="0" i="0" u="none" strike="noStrike" cap="none" dirty="0">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1000"/>
                                        <p:tgtEl>
                                          <p:spTgt spid="2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6"/>
                                        </p:tgtEl>
                                        <p:attrNameLst>
                                          <p:attrName>style.visibility</p:attrName>
                                        </p:attrNameLst>
                                      </p:cBhvr>
                                      <p:to>
                                        <p:strVal val="visible"/>
                                      </p:to>
                                    </p:set>
                                    <p:animEffect transition="in" filter="fade">
                                      <p:cBhvr>
                                        <p:cTn id="12" dur="1000"/>
                                        <p:tgtEl>
                                          <p:spTgt spid="2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7"/>
                                        </p:tgtEl>
                                        <p:attrNameLst>
                                          <p:attrName>style.visibility</p:attrName>
                                        </p:attrNameLst>
                                      </p:cBhvr>
                                      <p:to>
                                        <p:strVal val="visible"/>
                                      </p:to>
                                    </p:set>
                                    <p:animEffect transition="in" filter="fade">
                                      <p:cBhvr>
                                        <p:cTn id="17" dur="500"/>
                                        <p:tgtEl>
                                          <p:spTgt spid="2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8"/>
                                        </p:tgtEl>
                                        <p:attrNameLst>
                                          <p:attrName>style.visibility</p:attrName>
                                        </p:attrNameLst>
                                      </p:cBhvr>
                                      <p:to>
                                        <p:strVal val="visible"/>
                                      </p:to>
                                    </p:set>
                                    <p:animEffect transition="in" filter="fade">
                                      <p:cBhvr>
                                        <p:cTn id="22" dur="500"/>
                                        <p:tgtEl>
                                          <p:spTgt spid="2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9"/>
                                        </p:tgtEl>
                                        <p:attrNameLst>
                                          <p:attrName>style.visibility</p:attrName>
                                        </p:attrNameLst>
                                      </p:cBhvr>
                                      <p:to>
                                        <p:strVal val="visible"/>
                                      </p:to>
                                    </p:set>
                                    <p:animEffect transition="in" filter="fade">
                                      <p:cBhvr>
                                        <p:cTn id="27" dur="500"/>
                                        <p:tgtEl>
                                          <p:spTgt spid="24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0"/>
                                        </p:tgtEl>
                                        <p:attrNameLst>
                                          <p:attrName>style.visibility</p:attrName>
                                        </p:attrNameLst>
                                      </p:cBhvr>
                                      <p:to>
                                        <p:strVal val="visible"/>
                                      </p:to>
                                    </p:set>
                                    <p:animEffect transition="in" filter="fade">
                                      <p:cBhvr>
                                        <p:cTn id="32" dur="500"/>
                                        <p:tgtEl>
                                          <p:spTgt spid="25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1"/>
                                        </p:tgtEl>
                                        <p:attrNameLst>
                                          <p:attrName>style.visibility</p:attrName>
                                        </p:attrNameLst>
                                      </p:cBhvr>
                                      <p:to>
                                        <p:strVal val="visible"/>
                                      </p:to>
                                    </p:set>
                                    <p:animEffect transition="in" filter="fade">
                                      <p:cBhvr>
                                        <p:cTn id="37" dur="500"/>
                                        <p:tgtEl>
                                          <p:spTgt spid="25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2"/>
                                        </p:tgtEl>
                                        <p:attrNameLst>
                                          <p:attrName>style.visibility</p:attrName>
                                        </p:attrNameLst>
                                      </p:cBhvr>
                                      <p:to>
                                        <p:strVal val="visible"/>
                                      </p:to>
                                    </p:set>
                                    <p:animEffect transition="in" filter="fade">
                                      <p:cBhvr>
                                        <p:cTn id="42" dur="500"/>
                                        <p:tgtEl>
                                          <p:spTgt spid="25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3"/>
                                        </p:tgtEl>
                                        <p:attrNameLst>
                                          <p:attrName>style.visibility</p:attrName>
                                        </p:attrNameLst>
                                      </p:cBhvr>
                                      <p:to>
                                        <p:strVal val="visible"/>
                                      </p:to>
                                    </p:set>
                                    <p:animEffect transition="in" filter="fade">
                                      <p:cBhvr>
                                        <p:cTn id="47" dur="500"/>
                                        <p:tgtEl>
                                          <p:spTgt spid="25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4"/>
                                        </p:tgtEl>
                                        <p:attrNameLst>
                                          <p:attrName>style.visibility</p:attrName>
                                        </p:attrNameLst>
                                      </p:cBhvr>
                                      <p:to>
                                        <p:strVal val="visible"/>
                                      </p:to>
                                    </p:set>
                                    <p:animEffect transition="in" filter="fade">
                                      <p:cBhvr>
                                        <p:cTn id="52" dur="500"/>
                                        <p:tgtEl>
                                          <p:spTgt spid="25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55"/>
                                        </p:tgtEl>
                                        <p:attrNameLst>
                                          <p:attrName>style.visibility</p:attrName>
                                        </p:attrNameLst>
                                      </p:cBhvr>
                                      <p:to>
                                        <p:strVal val="visible"/>
                                      </p:to>
                                    </p:set>
                                    <p:animEffect transition="in" filter="fade">
                                      <p:cBhvr>
                                        <p:cTn id="57" dur="5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2" name="Google Shape;262;p46"/>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4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264" name="Google Shape;264;p46"/>
          <p:cNvSpPr/>
          <p:nvPr/>
        </p:nvSpPr>
        <p:spPr>
          <a:xfrm>
            <a:off x="555119" y="711854"/>
            <a:ext cx="8033207"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Boyre-Moore Solution: Two step process</a:t>
            </a:r>
            <a:endParaRPr sz="1600" b="1" i="0" u="none" strike="noStrike" cap="none">
              <a:solidFill>
                <a:srgbClr val="000000"/>
              </a:solidFill>
              <a:latin typeface="Consolas"/>
              <a:ea typeface="Consolas"/>
              <a:cs typeface="Consolas"/>
              <a:sym typeface="Consolas"/>
            </a:endParaRPr>
          </a:p>
        </p:txBody>
      </p:sp>
      <p:sp>
        <p:nvSpPr>
          <p:cNvPr id="265" name="Google Shape;265;p46"/>
          <p:cNvSpPr/>
          <p:nvPr/>
        </p:nvSpPr>
        <p:spPr>
          <a:xfrm>
            <a:off x="2043918" y="1567643"/>
            <a:ext cx="2106033"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Time Complexity :</a:t>
            </a:r>
            <a:endParaRPr sz="1600" b="0" i="0" u="none" strike="noStrike" cap="none">
              <a:solidFill>
                <a:srgbClr val="000000"/>
              </a:solidFill>
              <a:latin typeface="Consolas"/>
              <a:ea typeface="Consolas"/>
              <a:cs typeface="Consolas"/>
              <a:sym typeface="Consolas"/>
            </a:endParaRPr>
          </a:p>
        </p:txBody>
      </p:sp>
      <p:sp>
        <p:nvSpPr>
          <p:cNvPr id="266" name="Google Shape;266;p46"/>
          <p:cNvSpPr/>
          <p:nvPr/>
        </p:nvSpPr>
        <p:spPr>
          <a:xfrm>
            <a:off x="4151685" y="1565308"/>
            <a:ext cx="257265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O(n)</a:t>
            </a:r>
            <a:endParaRPr sz="1600" b="0" i="0" u="none" strike="noStrike" cap="none">
              <a:solidFill>
                <a:srgbClr val="000000"/>
              </a:solidFill>
              <a:latin typeface="Consolas"/>
              <a:ea typeface="Consolas"/>
              <a:cs typeface="Consolas"/>
              <a:sym typeface="Consolas"/>
            </a:endParaRPr>
          </a:p>
        </p:txBody>
      </p:sp>
      <p:sp>
        <p:nvSpPr>
          <p:cNvPr id="267" name="Google Shape;267;p46"/>
          <p:cNvSpPr/>
          <p:nvPr/>
        </p:nvSpPr>
        <p:spPr>
          <a:xfrm>
            <a:off x="2048600" y="2571150"/>
            <a:ext cx="2389500" cy="338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Space Complexity :</a:t>
            </a:r>
            <a:endParaRPr sz="1600" b="0" i="0" u="none" strike="noStrike" cap="none">
              <a:solidFill>
                <a:srgbClr val="000000"/>
              </a:solidFill>
              <a:latin typeface="Consolas"/>
              <a:ea typeface="Consolas"/>
              <a:cs typeface="Consolas"/>
              <a:sym typeface="Consolas"/>
            </a:endParaRPr>
          </a:p>
        </p:txBody>
      </p:sp>
      <p:sp>
        <p:nvSpPr>
          <p:cNvPr id="268" name="Google Shape;268;p46"/>
          <p:cNvSpPr/>
          <p:nvPr/>
        </p:nvSpPr>
        <p:spPr>
          <a:xfrm>
            <a:off x="4156371" y="2568822"/>
            <a:ext cx="89151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O(1)</a:t>
            </a:r>
            <a:endParaRPr sz="1600" b="0" i="0" u="none" strike="noStrike" cap="none">
              <a:solidFill>
                <a:srgbClr val="00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4"/>
                                        </p:tgtEl>
                                        <p:attrNameLst>
                                          <p:attrName>style.visibility</p:attrName>
                                        </p:attrNameLst>
                                      </p:cBhvr>
                                      <p:to>
                                        <p:strVal val="visible"/>
                                      </p:to>
                                    </p:set>
                                    <p:animEffect transition="in" filter="fade">
                                      <p:cBhvr>
                                        <p:cTn id="7" dur="1000"/>
                                        <p:tgtEl>
                                          <p:spTgt spid="2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gtEl>
                                        <p:attrNameLst>
                                          <p:attrName>style.visibility</p:attrName>
                                        </p:attrNameLst>
                                      </p:cBhvr>
                                      <p:to>
                                        <p:strVal val="visible"/>
                                      </p:to>
                                    </p:set>
                                    <p:animEffect transition="in" filter="fade">
                                      <p:cBhvr>
                                        <p:cTn id="12" dur="500"/>
                                        <p:tgtEl>
                                          <p:spTgt spid="26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6"/>
                                        </p:tgtEl>
                                        <p:attrNameLst>
                                          <p:attrName>style.visibility</p:attrName>
                                        </p:attrNameLst>
                                      </p:cBhvr>
                                      <p:to>
                                        <p:strVal val="visible"/>
                                      </p:to>
                                    </p:set>
                                    <p:animEffect transition="in" filter="fade">
                                      <p:cBhvr>
                                        <p:cTn id="17" dur="500"/>
                                        <p:tgtEl>
                                          <p:spTgt spid="2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animEffect transition="in" filter="fade">
                                      <p:cBhvr>
                                        <p:cTn id="22" dur="500"/>
                                        <p:tgtEl>
                                          <p:spTgt spid="26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8"/>
                                        </p:tgtEl>
                                        <p:attrNameLst>
                                          <p:attrName>style.visibility</p:attrName>
                                        </p:attrNameLst>
                                      </p:cBhvr>
                                      <p:to>
                                        <p:strVal val="visible"/>
                                      </p:to>
                                    </p:set>
                                    <p:animEffect transition="in" filter="fade">
                                      <p:cBhvr>
                                        <p:cTn id="27"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5" name="Google Shape;275;p47"/>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4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277" name="Google Shape;277;p47"/>
          <p:cNvGraphicFramePr/>
          <p:nvPr>
            <p:extLst>
              <p:ext uri="{D42A27DB-BD31-4B8C-83A1-F6EECF244321}">
                <p14:modId xmlns:p14="http://schemas.microsoft.com/office/powerpoint/2010/main" val="2073398072"/>
              </p:ext>
            </p:extLst>
          </p:nvPr>
        </p:nvGraphicFramePr>
        <p:xfrm>
          <a:off x="750849" y="1025035"/>
          <a:ext cx="7197231" cy="3718570"/>
        </p:xfrm>
        <a:graphic>
          <a:graphicData uri="http://schemas.openxmlformats.org/drawingml/2006/table">
            <a:tbl>
              <a:tblPr firstRow="1" bandRow="1">
                <a:noFill/>
                <a:tableStyleId>{C50A13CB-694B-4DB4-893A-0AF11BF5B380}</a:tableStyleId>
              </a:tblPr>
              <a:tblGrid>
                <a:gridCol w="3583258">
                  <a:extLst>
                    <a:ext uri="{9D8B030D-6E8A-4147-A177-3AD203B41FA5}">
                      <a16:colId xmlns:a16="http://schemas.microsoft.com/office/drawing/2014/main" val="20000"/>
                    </a:ext>
                  </a:extLst>
                </a:gridCol>
                <a:gridCol w="3613973">
                  <a:extLst>
                    <a:ext uri="{9D8B030D-6E8A-4147-A177-3AD203B41FA5}">
                      <a16:colId xmlns:a16="http://schemas.microsoft.com/office/drawing/2014/main" val="20001"/>
                    </a:ext>
                  </a:extLst>
                </a:gridCol>
              </a:tblGrid>
              <a:tr h="3465200">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class </a:t>
                      </a:r>
                      <a:r>
                        <a:rPr lang="en-US" sz="1400" b="0" u="none" strike="noStrike" cap="none" dirty="0" err="1">
                          <a:solidFill>
                            <a:schemeClr val="dk1"/>
                          </a:solidFill>
                          <a:latin typeface="Consolas"/>
                          <a:ea typeface="Consolas"/>
                          <a:cs typeface="Consolas"/>
                          <a:sym typeface="Consolas"/>
                        </a:rPr>
                        <a:t>EthCOde</a:t>
                      </a:r>
                      <a:endParaRPr sz="1400" b="0" u="none" strike="noStrike" cap="none" dirty="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public static int </a:t>
                      </a:r>
                      <a:r>
                        <a:rPr lang="en-US" sz="1400" b="0" u="none" strike="noStrike" cap="none" dirty="0" err="1">
                          <a:solidFill>
                            <a:schemeClr val="dk1"/>
                          </a:solidFill>
                          <a:latin typeface="Consolas"/>
                          <a:ea typeface="Consolas"/>
                          <a:cs typeface="Consolas"/>
                          <a:sym typeface="Consolas"/>
                        </a:rPr>
                        <a:t>findMajorityElement</a:t>
                      </a:r>
                      <a:r>
                        <a:rPr lang="en-US" sz="1400" b="0" u="none" strike="noStrike" cap="none" dirty="0">
                          <a:solidFill>
                            <a:schemeClr val="dk1"/>
                          </a:solidFill>
                          <a:latin typeface="Consolas"/>
                          <a:ea typeface="Consolas"/>
                          <a:cs typeface="Consolas"/>
                          <a:sym typeface="Consolas"/>
                        </a:rPr>
                        <a:t>(int[] A)</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int m = -1;</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int </a:t>
                      </a:r>
                      <a:r>
                        <a:rPr lang="en-US" sz="1400" b="0" u="none" strike="noStrike" cap="none" dirty="0" err="1">
                          <a:solidFill>
                            <a:schemeClr val="dk1"/>
                          </a:solidFill>
                          <a:latin typeface="Consolas"/>
                          <a:ea typeface="Consolas"/>
                          <a:cs typeface="Consolas"/>
                          <a:sym typeface="Consolas"/>
                        </a:rPr>
                        <a:t>i</a:t>
                      </a:r>
                      <a:r>
                        <a:rPr lang="en-US" sz="1400" b="0" u="none" strike="noStrike" cap="none" dirty="0">
                          <a:solidFill>
                            <a:schemeClr val="dk1"/>
                          </a:solidFill>
                          <a:latin typeface="Consolas"/>
                          <a:ea typeface="Consolas"/>
                          <a:cs typeface="Consolas"/>
                          <a:sym typeface="Consolas"/>
                        </a:rPr>
                        <a:t> = 0; </a:t>
                      </a:r>
                      <a:endParaRPr sz="1400" b="0" u="none" strike="noStrike" cap="none" dirty="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for (int j = 0; j &lt; </a:t>
                      </a:r>
                      <a:r>
                        <a:rPr lang="en-US" sz="1400" b="0" u="none" strike="noStrike" cap="none" dirty="0" err="1">
                          <a:solidFill>
                            <a:schemeClr val="dk1"/>
                          </a:solidFill>
                          <a:latin typeface="Consolas"/>
                          <a:ea typeface="Consolas"/>
                          <a:cs typeface="Consolas"/>
                          <a:sym typeface="Consolas"/>
                        </a:rPr>
                        <a:t>A.length</a:t>
                      </a:r>
                      <a:r>
                        <a:rPr lang="en-US" sz="1400" b="0" u="none" strike="noStrike" cap="none" dirty="0">
                          <a:solidFill>
                            <a:schemeClr val="dk1"/>
                          </a:solidFill>
                          <a:latin typeface="Consolas"/>
                          <a:ea typeface="Consolas"/>
                          <a:cs typeface="Consolas"/>
                          <a:sym typeface="Consolas"/>
                        </a:rPr>
                        <a:t>; </a:t>
                      </a:r>
                      <a:r>
                        <a:rPr lang="en-US" sz="1400" b="0" u="none" strike="noStrike" cap="none" dirty="0" err="1">
                          <a:solidFill>
                            <a:schemeClr val="dk1"/>
                          </a:solidFill>
                          <a:latin typeface="Consolas"/>
                          <a:ea typeface="Consolas"/>
                          <a:cs typeface="Consolas"/>
                          <a:sym typeface="Consolas"/>
                        </a:rPr>
                        <a:t>j++</a:t>
                      </a:r>
                      <a:r>
                        <a:rPr lang="en-US" sz="1400" b="0" u="none" strike="noStrike" cap="none" dirty="0">
                          <a:solidFill>
                            <a:schemeClr val="dk1"/>
                          </a:solidFill>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if (</a:t>
                      </a:r>
                      <a:r>
                        <a:rPr lang="en-US" sz="1400" b="0" u="none" strike="noStrike" cap="none" dirty="0" err="1">
                          <a:solidFill>
                            <a:schemeClr val="dk1"/>
                          </a:solidFill>
                          <a:latin typeface="Consolas"/>
                          <a:ea typeface="Consolas"/>
                          <a:cs typeface="Consolas"/>
                          <a:sym typeface="Consolas"/>
                        </a:rPr>
                        <a:t>i</a:t>
                      </a:r>
                      <a:r>
                        <a:rPr lang="en-US" sz="1400" b="0" u="none" strike="noStrike" cap="none" dirty="0">
                          <a:solidFill>
                            <a:schemeClr val="dk1"/>
                          </a:solidFill>
                          <a:latin typeface="Consolas"/>
                          <a:ea typeface="Consolas"/>
                          <a:cs typeface="Consolas"/>
                          <a:sym typeface="Consolas"/>
                        </a:rPr>
                        <a:t> == 0)</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r>
                        <a:rPr lang="en-US" sz="1400" b="0" u="none" strike="noStrike" cap="none" dirty="0">
                          <a:solidFill>
                            <a:schemeClr val="dk1"/>
                          </a:solidFill>
                          <a:latin typeface="Consolas"/>
                          <a:ea typeface="Consolas"/>
                          <a:cs typeface="Consolas"/>
                          <a:sym typeface="Consolas"/>
                        </a:rPr>
                        <a:t> // set the current candidate to `A[j]`</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m = A[j];</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 reset the counter to 1</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i</a:t>
                      </a:r>
                      <a:r>
                        <a:rPr lang="en-US" sz="1400" b="0" u="none" strike="noStrike" cap="none" dirty="0">
                          <a:solidFill>
                            <a:schemeClr val="dk1"/>
                          </a:solidFill>
                          <a:highlight>
                            <a:schemeClr val="lt1"/>
                          </a:highlight>
                          <a:latin typeface="Consolas"/>
                          <a:ea typeface="Consolas"/>
                          <a:cs typeface="Consolas"/>
                          <a:sym typeface="Consolas"/>
                        </a:rPr>
                        <a:t> = 1;</a:t>
                      </a:r>
                      <a:endParaRPr sz="1400" u="none" strike="noStrike" cap="none" dirty="0"/>
                    </a:p>
                    <a:p>
                      <a:pPr marL="0" marR="0" lvl="0" indent="0" algn="l" rtl="0">
                        <a:lnSpc>
                          <a:spcPct val="100000"/>
                        </a:lnSpc>
                        <a:spcBef>
                          <a:spcPts val="0"/>
                        </a:spcBef>
                        <a:spcAft>
                          <a:spcPts val="0"/>
                        </a:spcAft>
                        <a:buClr>
                          <a:srgbClr val="000000"/>
                        </a:buClr>
                        <a:buSzPts val="1100"/>
                        <a:buFont typeface="Arial"/>
                        <a:buNone/>
                      </a:pPr>
                      <a:endParaRPr sz="1400" b="0" u="none" strike="noStrike" cap="none" dirty="0">
                        <a:solidFill>
                          <a:schemeClr val="dk1"/>
                        </a:solidFill>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 otherwise, increment the counter if `A[j]` is a current candidate</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else if (m == A[j])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i</a:t>
                      </a:r>
                      <a:r>
                        <a:rPr lang="en-US" sz="1400" b="0" u="none" strike="noStrike" cap="none" dirty="0">
                          <a:solidFill>
                            <a:schemeClr val="dk1"/>
                          </a:solidFill>
                          <a:highlight>
                            <a:schemeClr val="lt1"/>
                          </a:highlight>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 otherwise, decrement the counter if `A[j]` is a current candidate</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else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r>
                        <a:rPr lang="en-US" sz="1400" b="0" u="none" strike="noStrike" cap="none" dirty="0" err="1">
                          <a:solidFill>
                            <a:schemeClr val="dk1"/>
                          </a:solidFill>
                          <a:highlight>
                            <a:schemeClr val="lt1"/>
                          </a:highlight>
                          <a:latin typeface="Consolas"/>
                          <a:ea typeface="Consolas"/>
                          <a:cs typeface="Consolas"/>
                          <a:sym typeface="Consolas"/>
                        </a:rPr>
                        <a:t>i</a:t>
                      </a:r>
                      <a:r>
                        <a:rPr lang="en-US" sz="1400" b="0" u="none" strike="noStrike" cap="none" dirty="0">
                          <a:solidFill>
                            <a:schemeClr val="dk1"/>
                          </a:solidFill>
                          <a:highlight>
                            <a:schemeClr val="lt1"/>
                          </a:highlight>
                          <a:latin typeface="Consolas"/>
                          <a:ea typeface="Consolas"/>
                          <a:cs typeface="Consolas"/>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return m;</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highlight>
                            <a:schemeClr val="lt1"/>
                          </a:highlight>
                          <a:latin typeface="Consolas"/>
                          <a:ea typeface="Consolas"/>
                          <a:cs typeface="Consolas"/>
                          <a:sym typeface="Consolas"/>
                        </a:rPr>
                        <a:t> }</a:t>
                      </a:r>
                      <a:endParaRPr sz="14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857BA27A-CE2E-2959-01DA-002238F8E2DB}"/>
              </a:ext>
            </a:extLst>
          </p:cNvPr>
          <p:cNvSpPr txBox="1"/>
          <p:nvPr/>
        </p:nvSpPr>
        <p:spPr>
          <a:xfrm>
            <a:off x="2419815" y="459366"/>
            <a:ext cx="4572000" cy="307777"/>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Majority Element – Linear Solution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4" name="Google Shape;284;p48"/>
          <p:cNvSpPr/>
          <p:nvPr/>
        </p:nvSpPr>
        <p:spPr>
          <a:xfrm>
            <a:off x="478800" y="2884320"/>
            <a:ext cx="75960" cy="75960"/>
          </a:xfrm>
          <a:prstGeom prst="ellipse">
            <a:avLst/>
          </a:prstGeom>
          <a:solidFill>
            <a:srgbClr val="E5F0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8"/>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286" name="Google Shape;286;p48"/>
          <p:cNvGraphicFramePr/>
          <p:nvPr/>
        </p:nvGraphicFramePr>
        <p:xfrm>
          <a:off x="2065339" y="1495568"/>
          <a:ext cx="5013325" cy="2152375"/>
        </p:xfrm>
        <a:graphic>
          <a:graphicData uri="http://schemas.openxmlformats.org/drawingml/2006/table">
            <a:tbl>
              <a:tblPr firstRow="1" bandRow="1">
                <a:noFill/>
                <a:tableStyleId>{C50A13CB-694B-4DB4-893A-0AF11BF5B380}</a:tableStyleId>
              </a:tblPr>
              <a:tblGrid>
                <a:gridCol w="5013325">
                  <a:extLst>
                    <a:ext uri="{9D8B030D-6E8A-4147-A177-3AD203B41FA5}">
                      <a16:colId xmlns:a16="http://schemas.microsoft.com/office/drawing/2014/main" val="20000"/>
                    </a:ext>
                  </a:extLst>
                </a:gridCol>
              </a:tblGrid>
              <a:tr h="2152375">
                <a:tc>
                  <a:txBody>
                    <a:bodyPr/>
                    <a:lstStyle/>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public static void main (String[] args)</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 assumption: valid input (majority element is present)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int[] arr = { 1, 8, 7, 4, 1, 2, 2, 2, 2, 2, 2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System.out.println(findMajorityElement(arr));</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 }</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400" b="0" u="none" strike="noStrike" cap="none">
                          <a:solidFill>
                            <a:schemeClr val="dk1"/>
                          </a:solidFill>
                          <a:latin typeface="Consolas"/>
                          <a:ea typeface="Consolas"/>
                          <a:cs typeface="Consolas"/>
                          <a:sym typeface="Consolas"/>
                        </a:rPr>
                        <a: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287" name="Google Shape;287;p48"/>
          <p:cNvSpPr txBox="1"/>
          <p:nvPr/>
        </p:nvSpPr>
        <p:spPr>
          <a:xfrm>
            <a:off x="2286000" y="241832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highlight>
                <a:schemeClr val="lt1"/>
              </a:highlight>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4" name="Google Shape;294;g27543104cdf_2_0"/>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295" name="Google Shape;295;g27543104cdf_2_0"/>
          <p:cNvSpPr txBox="1"/>
          <p:nvPr/>
        </p:nvSpPr>
        <p:spPr>
          <a:xfrm>
            <a:off x="2286000" y="2418326"/>
            <a:ext cx="457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highlight>
                <a:schemeClr val="lt1"/>
              </a:highlight>
              <a:latin typeface="Consolas"/>
              <a:ea typeface="Consolas"/>
              <a:cs typeface="Consolas"/>
              <a:sym typeface="Consolas"/>
            </a:endParaRPr>
          </a:p>
        </p:txBody>
      </p:sp>
      <p:sp>
        <p:nvSpPr>
          <p:cNvPr id="297" name="Google Shape;297;g27543104cdf_2_0"/>
          <p:cNvSpPr txBox="1"/>
          <p:nvPr/>
        </p:nvSpPr>
        <p:spPr>
          <a:xfrm>
            <a:off x="555125" y="1328950"/>
            <a:ext cx="8033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a:latin typeface="Consolas"/>
                <a:ea typeface="Consolas"/>
                <a:cs typeface="Consolas"/>
                <a:sym typeface="Consolas"/>
              </a:rPr>
              <a:t>1. What is a majority element in an array?</a:t>
            </a:r>
            <a:endParaRPr/>
          </a:p>
        </p:txBody>
      </p:sp>
      <p:sp>
        <p:nvSpPr>
          <p:cNvPr id="298" name="Google Shape;298;g27543104cdf_2_0"/>
          <p:cNvSpPr txBox="1"/>
          <p:nvPr/>
        </p:nvSpPr>
        <p:spPr>
          <a:xfrm>
            <a:off x="1419175" y="2231325"/>
            <a:ext cx="7260000" cy="838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700">
                <a:solidFill>
                  <a:schemeClr val="dk1"/>
                </a:solidFill>
                <a:latin typeface="Consolas"/>
                <a:ea typeface="Consolas"/>
                <a:cs typeface="Consolas"/>
                <a:sym typeface="Consolas"/>
              </a:rPr>
              <a:t>A majority element in an array is an element that appears more than n/2 times, where n is the size of the array.</a:t>
            </a:r>
            <a:endParaRPr sz="1700">
              <a:latin typeface="Consolas"/>
              <a:ea typeface="Consolas"/>
              <a:cs typeface="Consolas"/>
              <a:sym typeface="Consolas"/>
            </a:endParaRPr>
          </a:p>
        </p:txBody>
      </p:sp>
      <p:sp>
        <p:nvSpPr>
          <p:cNvPr id="2" name="Google Shape;244;g25ff1c1f48c_0_39">
            <a:extLst>
              <a:ext uri="{FF2B5EF4-FFF2-40B4-BE49-F238E27FC236}">
                <a16:creationId xmlns:a16="http://schemas.microsoft.com/office/drawing/2014/main" id="{FA0D25FA-A423-4828-6FD0-4450A3C3F9FF}"/>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Black"/>
                <a:ea typeface="Roboto Black"/>
                <a:cs typeface="Roboto Black"/>
                <a:sym typeface="Roboto Black"/>
              </a:rPr>
              <a:t>Interview questions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4" name="Google Shape;304;g27543104cdf_2_14"/>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05" name="Google Shape;305;g27543104cdf_2_14"/>
          <p:cNvSpPr txBox="1"/>
          <p:nvPr/>
        </p:nvSpPr>
        <p:spPr>
          <a:xfrm>
            <a:off x="2286000" y="2418326"/>
            <a:ext cx="457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highlight>
                <a:schemeClr val="lt1"/>
              </a:highlight>
              <a:latin typeface="Consolas"/>
              <a:ea typeface="Consolas"/>
              <a:cs typeface="Consolas"/>
              <a:sym typeface="Consolas"/>
            </a:endParaRPr>
          </a:p>
        </p:txBody>
      </p:sp>
      <p:sp>
        <p:nvSpPr>
          <p:cNvPr id="307" name="Google Shape;307;g27543104cdf_2_14"/>
          <p:cNvSpPr txBox="1"/>
          <p:nvPr/>
        </p:nvSpPr>
        <p:spPr>
          <a:xfrm>
            <a:off x="555150" y="1189475"/>
            <a:ext cx="8033700" cy="4464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700">
                <a:solidFill>
                  <a:schemeClr val="dk1"/>
                </a:solidFill>
                <a:latin typeface="Consolas"/>
                <a:ea typeface="Consolas"/>
                <a:cs typeface="Consolas"/>
                <a:sym typeface="Consolas"/>
              </a:rPr>
              <a:t>2. How would you determine if an array has a majority element?</a:t>
            </a:r>
            <a:endParaRPr/>
          </a:p>
        </p:txBody>
      </p:sp>
      <p:sp>
        <p:nvSpPr>
          <p:cNvPr id="308" name="Google Shape;308;g27543104cdf_2_14"/>
          <p:cNvSpPr txBox="1"/>
          <p:nvPr/>
        </p:nvSpPr>
        <p:spPr>
          <a:xfrm>
            <a:off x="639850" y="1780125"/>
            <a:ext cx="8260800" cy="2446793"/>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dirty="0">
                <a:solidFill>
                  <a:schemeClr val="dk1"/>
                </a:solidFill>
                <a:latin typeface="Consolas"/>
                <a:ea typeface="Consolas"/>
                <a:cs typeface="Consolas"/>
                <a:sym typeface="Consolas"/>
              </a:rPr>
              <a:t>One common approach is to use the "Boyer-Moore Majority Vote Algorithm." This algorithm finds a candidate for the majority element and then verifies if it's actually a majority element. It iterates through the array, and when it finds an element that's different from the current candidate, it decrements the candidate's count. If the count reaches zero, a new candidate is chosen. Finally, the algorithm verifies if the chosen candidate is indeed a majority element by counting its occurrences in the array.</a:t>
            </a:r>
            <a:endParaRPr dirty="0">
              <a:solidFill>
                <a:schemeClr val="dk1"/>
              </a:solidFill>
              <a:latin typeface="Consolas"/>
              <a:ea typeface="Consolas"/>
              <a:cs typeface="Consolas"/>
              <a:sym typeface="Consolas"/>
            </a:endParaRPr>
          </a:p>
        </p:txBody>
      </p:sp>
      <p:sp>
        <p:nvSpPr>
          <p:cNvPr id="2" name="Google Shape;244;g25ff1c1f48c_0_39">
            <a:extLst>
              <a:ext uri="{FF2B5EF4-FFF2-40B4-BE49-F238E27FC236}">
                <a16:creationId xmlns:a16="http://schemas.microsoft.com/office/drawing/2014/main" id="{C8EBFAFD-7E64-46DD-C6F9-EDA577BEBE6E}"/>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Black"/>
                <a:ea typeface="Roboto Black"/>
                <a:cs typeface="Roboto Black"/>
                <a:sym typeface="Roboto Black"/>
              </a:rPr>
              <a:t>Interview questions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4" name="Google Shape;314;g27543104cdf_2_24"/>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15" name="Google Shape;315;g27543104cdf_2_24"/>
          <p:cNvSpPr txBox="1"/>
          <p:nvPr/>
        </p:nvSpPr>
        <p:spPr>
          <a:xfrm>
            <a:off x="2286000" y="2418326"/>
            <a:ext cx="457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highlight>
                <a:schemeClr val="lt1"/>
              </a:highlight>
              <a:latin typeface="Consolas"/>
              <a:ea typeface="Consolas"/>
              <a:cs typeface="Consolas"/>
              <a:sym typeface="Consolas"/>
            </a:endParaRPr>
          </a:p>
        </p:txBody>
      </p:sp>
      <p:sp>
        <p:nvSpPr>
          <p:cNvPr id="317" name="Google Shape;317;g27543104cdf_2_24"/>
          <p:cNvSpPr txBox="1"/>
          <p:nvPr/>
        </p:nvSpPr>
        <p:spPr>
          <a:xfrm>
            <a:off x="555150" y="1189475"/>
            <a:ext cx="8033700" cy="838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700">
                <a:solidFill>
                  <a:schemeClr val="dk1"/>
                </a:solidFill>
                <a:latin typeface="Consolas"/>
                <a:ea typeface="Consolas"/>
                <a:cs typeface="Consolas"/>
                <a:sym typeface="Consolas"/>
              </a:rPr>
              <a:t>3. What is the time complexity of the Boyer-Moore Majority Vote Algorithm?</a:t>
            </a:r>
            <a:endParaRPr/>
          </a:p>
        </p:txBody>
      </p:sp>
      <p:sp>
        <p:nvSpPr>
          <p:cNvPr id="318" name="Google Shape;318;g27543104cdf_2_24"/>
          <p:cNvSpPr txBox="1"/>
          <p:nvPr/>
        </p:nvSpPr>
        <p:spPr>
          <a:xfrm>
            <a:off x="639850" y="1780125"/>
            <a:ext cx="8260800" cy="2409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endParaRPr sz="1700">
              <a:solidFill>
                <a:schemeClr val="dk1"/>
              </a:solidFill>
              <a:latin typeface="Consolas"/>
              <a:ea typeface="Consolas"/>
              <a:cs typeface="Consolas"/>
              <a:sym typeface="Consolas"/>
            </a:endParaRPr>
          </a:p>
          <a:p>
            <a:pPr marL="0" lvl="0" indent="0" algn="l" rtl="0">
              <a:lnSpc>
                <a:spcPct val="150000"/>
              </a:lnSpc>
              <a:spcBef>
                <a:spcPts val="0"/>
              </a:spcBef>
              <a:spcAft>
                <a:spcPts val="0"/>
              </a:spcAft>
              <a:buNone/>
            </a:pPr>
            <a:r>
              <a:rPr lang="en-US" sz="1700">
                <a:solidFill>
                  <a:schemeClr val="dk1"/>
                </a:solidFill>
                <a:latin typeface="Consolas"/>
                <a:ea typeface="Consolas"/>
                <a:cs typeface="Consolas"/>
                <a:sym typeface="Consolas"/>
              </a:rPr>
              <a:t>The Boyer-Moore Majority Vote Algorithm runs in O(n) time complexity, where n is the size of the input array. This is because the algorithm processes each element in the array only once, and each iteration involves constant time operations.</a:t>
            </a:r>
            <a:endParaRPr sz="1700">
              <a:solidFill>
                <a:schemeClr val="dk1"/>
              </a:solidFill>
              <a:latin typeface="Consolas"/>
              <a:ea typeface="Consolas"/>
              <a:cs typeface="Consolas"/>
              <a:sym typeface="Consolas"/>
            </a:endParaRPr>
          </a:p>
          <a:p>
            <a:pPr marL="0" lvl="0" indent="0" algn="l" rtl="0">
              <a:lnSpc>
                <a:spcPct val="150000"/>
              </a:lnSpc>
              <a:spcBef>
                <a:spcPts val="0"/>
              </a:spcBef>
              <a:spcAft>
                <a:spcPts val="0"/>
              </a:spcAft>
              <a:buNone/>
            </a:pPr>
            <a:endParaRPr sz="1700">
              <a:solidFill>
                <a:schemeClr val="dk1"/>
              </a:solidFill>
              <a:latin typeface="Consolas"/>
              <a:ea typeface="Consolas"/>
              <a:cs typeface="Consolas"/>
              <a:sym typeface="Consolas"/>
            </a:endParaRPr>
          </a:p>
        </p:txBody>
      </p:sp>
      <p:sp>
        <p:nvSpPr>
          <p:cNvPr id="2" name="Google Shape;244;g25ff1c1f48c_0_39">
            <a:extLst>
              <a:ext uri="{FF2B5EF4-FFF2-40B4-BE49-F238E27FC236}">
                <a16:creationId xmlns:a16="http://schemas.microsoft.com/office/drawing/2014/main" id="{4F086E10-CC10-5E0B-B189-14E34F4ED21E}"/>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Black"/>
                <a:ea typeface="Roboto Black"/>
                <a:cs typeface="Roboto Black"/>
                <a:sym typeface="Roboto Black"/>
              </a:rPr>
              <a:t>Interview questions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4" name="Google Shape;324;g27543104cdf_2_34"/>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25" name="Google Shape;325;g27543104cdf_2_34"/>
          <p:cNvSpPr txBox="1"/>
          <p:nvPr/>
        </p:nvSpPr>
        <p:spPr>
          <a:xfrm>
            <a:off x="2286000" y="2418326"/>
            <a:ext cx="457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highlight>
                <a:schemeClr val="lt1"/>
              </a:highlight>
              <a:latin typeface="Consolas"/>
              <a:ea typeface="Consolas"/>
              <a:cs typeface="Consolas"/>
              <a:sym typeface="Consolas"/>
            </a:endParaRPr>
          </a:p>
        </p:txBody>
      </p:sp>
      <p:sp>
        <p:nvSpPr>
          <p:cNvPr id="327" name="Google Shape;327;g27543104cdf_2_34"/>
          <p:cNvSpPr txBox="1"/>
          <p:nvPr/>
        </p:nvSpPr>
        <p:spPr>
          <a:xfrm>
            <a:off x="555150" y="1189475"/>
            <a:ext cx="8033700" cy="838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700">
                <a:solidFill>
                  <a:schemeClr val="dk1"/>
                </a:solidFill>
                <a:latin typeface="Consolas"/>
                <a:ea typeface="Consolas"/>
                <a:cs typeface="Consolas"/>
                <a:sym typeface="Consolas"/>
              </a:rPr>
              <a:t>4. Are there any other methods to find the majority element in an array?</a:t>
            </a:r>
            <a:endParaRPr/>
          </a:p>
        </p:txBody>
      </p:sp>
      <p:sp>
        <p:nvSpPr>
          <p:cNvPr id="328" name="Google Shape;328;g27543104cdf_2_34"/>
          <p:cNvSpPr txBox="1"/>
          <p:nvPr/>
        </p:nvSpPr>
        <p:spPr>
          <a:xfrm>
            <a:off x="639850" y="1780125"/>
            <a:ext cx="8260800" cy="3193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endParaRPr sz="1700" dirty="0">
              <a:solidFill>
                <a:schemeClr val="dk1"/>
              </a:solidFill>
              <a:latin typeface="Consolas"/>
              <a:ea typeface="Consolas"/>
              <a:cs typeface="Consolas"/>
              <a:sym typeface="Consolas"/>
            </a:endParaRPr>
          </a:p>
          <a:p>
            <a:pPr marL="0" lvl="0" indent="0" algn="l" rtl="0">
              <a:lnSpc>
                <a:spcPct val="150000"/>
              </a:lnSpc>
              <a:spcBef>
                <a:spcPts val="0"/>
              </a:spcBef>
              <a:spcAft>
                <a:spcPts val="0"/>
              </a:spcAft>
              <a:buNone/>
            </a:pPr>
            <a:r>
              <a:rPr lang="en-US" sz="1700" dirty="0">
                <a:solidFill>
                  <a:schemeClr val="dk1"/>
                </a:solidFill>
                <a:latin typeface="Consolas"/>
                <a:ea typeface="Consolas"/>
                <a:cs typeface="Consolas"/>
                <a:sym typeface="Consolas"/>
              </a:rPr>
              <a:t> Yes, there are other methods, such as sorting the array and then finding the element at the middle index, which should be the majority element in a valid majority case. Additionally, you can use hashing to count the occurrences of elements in the array. However, these methods might not be as efficient as the Boyer-Moore algorithm in terms of time complexity.</a:t>
            </a:r>
            <a:endParaRPr sz="1700" dirty="0">
              <a:solidFill>
                <a:schemeClr val="dk1"/>
              </a:solidFill>
              <a:latin typeface="Consolas"/>
              <a:ea typeface="Consolas"/>
              <a:cs typeface="Consolas"/>
              <a:sym typeface="Consolas"/>
            </a:endParaRPr>
          </a:p>
          <a:p>
            <a:pPr marL="0" lvl="0" indent="0" algn="l" rtl="0">
              <a:lnSpc>
                <a:spcPct val="150000"/>
              </a:lnSpc>
              <a:spcBef>
                <a:spcPts val="0"/>
              </a:spcBef>
              <a:spcAft>
                <a:spcPts val="0"/>
              </a:spcAft>
              <a:buNone/>
            </a:pPr>
            <a:endParaRPr sz="1700" dirty="0">
              <a:solidFill>
                <a:schemeClr val="dk1"/>
              </a:solidFill>
              <a:latin typeface="Consolas"/>
              <a:ea typeface="Consolas"/>
              <a:cs typeface="Consolas"/>
              <a:sym typeface="Consolas"/>
            </a:endParaRPr>
          </a:p>
        </p:txBody>
      </p:sp>
      <p:sp>
        <p:nvSpPr>
          <p:cNvPr id="2" name="Google Shape;244;g25ff1c1f48c_0_39">
            <a:extLst>
              <a:ext uri="{FF2B5EF4-FFF2-40B4-BE49-F238E27FC236}">
                <a16:creationId xmlns:a16="http://schemas.microsoft.com/office/drawing/2014/main" id="{6BC104D1-1D8D-894A-33B3-E79A652B4D20}"/>
              </a:ext>
            </a:extLst>
          </p:cNvPr>
          <p:cNvSpPr txBox="1"/>
          <p:nvPr/>
        </p:nvSpPr>
        <p:spPr>
          <a:xfrm>
            <a:off x="374708" y="723145"/>
            <a:ext cx="4572000" cy="5537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Black"/>
                <a:ea typeface="Roboto Black"/>
                <a:cs typeface="Roboto Black"/>
                <a:sym typeface="Roboto Black"/>
              </a:rPr>
              <a:t>Interview questions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4"/>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endParaRPr sz="12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endParaRPr sz="12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endParaRPr sz="1200" b="0" i="0" u="none" strike="noStrike" cap="none">
              <a:solidFill>
                <a:srgbClr val="000000"/>
              </a:solidFill>
              <a:latin typeface="Roboto"/>
              <a:ea typeface="Roboto"/>
              <a:cs typeface="Roboto"/>
              <a:sym typeface="Roboto"/>
            </a:endParaRPr>
          </a:p>
        </p:txBody>
      </p:sp>
      <p:pic>
        <p:nvPicPr>
          <p:cNvPr id="280" name="Google Shape;280;p34"/>
          <p:cNvPicPr preferRelativeResize="0"/>
          <p:nvPr/>
        </p:nvPicPr>
        <p:blipFill rotWithShape="1">
          <a:blip r:embed="rId3">
            <a:alphaModFix/>
          </a:blip>
          <a:srcRect/>
          <a:stretch/>
        </p:blipFill>
        <p:spPr>
          <a:xfrm>
            <a:off x="2799160" y="913210"/>
            <a:ext cx="2855119" cy="2888456"/>
          </a:xfrm>
          <a:prstGeom prst="rect">
            <a:avLst/>
          </a:prstGeom>
          <a:noFill/>
          <a:ln>
            <a:noFill/>
          </a:ln>
        </p:spPr>
      </p:pic>
      <p:sp>
        <p:nvSpPr>
          <p:cNvPr id="281" name="Google Shape;281;p34"/>
          <p:cNvSpPr/>
          <p:nvPr/>
        </p:nvSpPr>
        <p:spPr>
          <a:xfrm>
            <a:off x="1634729" y="4055269"/>
            <a:ext cx="5183981" cy="284560"/>
          </a:xfrm>
          <a:prstGeom prst="rect">
            <a:avLst/>
          </a:prstGeom>
          <a:noFill/>
          <a:ln>
            <a:noFill/>
          </a:ln>
        </p:spPr>
        <p:txBody>
          <a:bodyPr spcFirstLastPara="1" wrap="square" lIns="81625" tIns="82925" rIns="81625" bIns="829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0" i="0" u="sng" strike="noStrike" cap="none">
                <a:solidFill>
                  <a:srgbClr val="666666"/>
                </a:solidFill>
                <a:latin typeface="Roboto"/>
                <a:ea typeface="Roboto"/>
                <a:cs typeface="Roboto"/>
                <a:sym typeface="Roboto"/>
                <a:hlinkClick r:id="rId4">
                  <a:extLst>
                    <a:ext uri="{A12FA001-AC4F-418D-AE19-62706E023703}">
                      <ahyp:hlinkClr xmlns:ahyp="http://schemas.microsoft.com/office/drawing/2018/hyperlinkcolor" val="tx"/>
                    </a:ext>
                  </a:extLst>
                </a:hlinkClick>
              </a:rPr>
              <a:t>https://learn.codemithra.com</a:t>
            </a:r>
            <a:endParaRPr sz="1200" b="0" i="0" u="none" strike="noStrike" cap="none">
              <a:solidFill>
                <a:srgbClr val="666666"/>
              </a:solidFill>
              <a:latin typeface="Roboto"/>
              <a:ea typeface="Roboto"/>
              <a:cs typeface="Roboto"/>
              <a:sym typeface="Roboto"/>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287" name="Google Shape;287;p3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288" name="Google Shape;288;p35"/>
          <p:cNvPicPr preferRelativeResize="0"/>
          <p:nvPr/>
        </p:nvPicPr>
        <p:blipFill rotWithShape="1">
          <a:blip r:embed="rId3">
            <a:alphaModFix/>
          </a:blip>
          <a:srcRect/>
          <a:stretch/>
        </p:blipFill>
        <p:spPr>
          <a:xfrm>
            <a:off x="1" y="-14867"/>
            <a:ext cx="9144003" cy="5143501"/>
          </a:xfrm>
          <a:prstGeom prst="rect">
            <a:avLst/>
          </a:prstGeom>
          <a:noFill/>
          <a:ln>
            <a:noFill/>
          </a:ln>
        </p:spPr>
      </p:pic>
      <p:sp>
        <p:nvSpPr>
          <p:cNvPr id="289" name="Google Shape;289;p35"/>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GB" sz="3700" b="0" i="0" u="none" strike="noStrike" cap="none">
                <a:solidFill>
                  <a:schemeClr val="lt1"/>
                </a:solidFill>
                <a:latin typeface="Roboto"/>
                <a:ea typeface="Roboto"/>
                <a:cs typeface="Roboto"/>
                <a:sym typeface="Roboto"/>
              </a:rPr>
              <a:t>THANK YOU</a:t>
            </a:r>
            <a:endParaRPr sz="3700" b="0" i="0" u="none" strike="noStrike" cap="none">
              <a:solidFill>
                <a:schemeClr val="lt1"/>
              </a:solidFill>
              <a:latin typeface="Roboto"/>
              <a:ea typeface="Roboto"/>
              <a:cs typeface="Roboto"/>
              <a:sym typeface="Roboto"/>
            </a:endParaRPr>
          </a:p>
        </p:txBody>
      </p:sp>
      <p:pic>
        <p:nvPicPr>
          <p:cNvPr id="290" name="Google Shape;290;p35"/>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291" name="Google Shape;291;p35"/>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292" name="Google Shape;292;p35"/>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GB" sz="1000" b="0" i="0" u="none" strike="noStrike" cap="none">
                <a:solidFill>
                  <a:schemeClr val="lt1"/>
                </a:solidFill>
                <a:latin typeface="Roboto"/>
                <a:ea typeface="Roboto"/>
                <a:cs typeface="Roboto"/>
                <a:sym typeface="Roboto"/>
              </a:rPr>
              <a:t>+91 78150 95095</a:t>
            </a:r>
            <a:endParaRPr sz="1000" b="0" i="0" u="none" strike="noStrike" cap="none">
              <a:solidFill>
                <a:schemeClr val="lt1"/>
              </a:solidFill>
              <a:latin typeface="Roboto"/>
              <a:ea typeface="Roboto"/>
              <a:cs typeface="Roboto"/>
              <a:sym typeface="Roboto"/>
            </a:endParaRPr>
          </a:p>
        </p:txBody>
      </p:sp>
      <p:cxnSp>
        <p:nvCxnSpPr>
          <p:cNvPr id="293" name="Google Shape;293;p35"/>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294" name="Google Shape;294;p35"/>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GB" sz="1000" b="0" i="0" u="none" strike="noStrike" cap="none">
                <a:solidFill>
                  <a:schemeClr val="lt1"/>
                </a:solidFill>
                <a:latin typeface="Roboto"/>
                <a:ea typeface="Roboto"/>
                <a:cs typeface="Roboto"/>
                <a:sym typeface="Roboto"/>
              </a:rPr>
              <a:t>codemithra@ethnus.com</a:t>
            </a:r>
            <a:endParaRPr sz="1000" b="0" i="0" u="none" strike="noStrike" cap="none">
              <a:solidFill>
                <a:schemeClr val="lt1"/>
              </a:solidFill>
              <a:latin typeface="Roboto"/>
              <a:ea typeface="Roboto"/>
              <a:cs typeface="Roboto"/>
              <a:sym typeface="Roboto"/>
            </a:endParaRPr>
          </a:p>
        </p:txBody>
      </p:sp>
      <p:pic>
        <p:nvPicPr>
          <p:cNvPr id="295" name="Google Shape;295;p35"/>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296" name="Google Shape;296;p35"/>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GB" sz="1000" b="0" i="0" u="none" strike="noStrike" cap="none">
                <a:solidFill>
                  <a:schemeClr val="lt1"/>
                </a:solidFill>
                <a:latin typeface="Roboto"/>
                <a:ea typeface="Roboto"/>
                <a:cs typeface="Roboto"/>
                <a:sym typeface="Roboto"/>
              </a:rPr>
              <a:t>www.codemithra.com</a:t>
            </a:r>
            <a:endParaRPr sz="1000" b="0" i="0" u="none" strike="noStrike" cap="none">
              <a:solidFill>
                <a:schemeClr val="lt1"/>
              </a:solidFill>
              <a:latin typeface="Roboto"/>
              <a:ea typeface="Roboto"/>
              <a:cs typeface="Roboto"/>
              <a:sym typeface="Roboto"/>
            </a:endParaRPr>
          </a:p>
        </p:txBody>
      </p:sp>
      <p:cxnSp>
        <p:nvCxnSpPr>
          <p:cNvPr id="297" name="Google Shape;297;p35"/>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2427</Words>
  <Application>Microsoft Office PowerPoint</Application>
  <PresentationFormat>On-screen Show (16:9)</PresentationFormat>
  <Paragraphs>327</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Roboto Black</vt:lpstr>
      <vt:lpstr>Roboto</vt:lpstr>
      <vt:lpstr>Arial</vt:lpstr>
      <vt:lpstr>Noto Sans Symbols</vt:lpstr>
      <vt:lpstr>Consolas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dheebanrajips@gmail.com</cp:lastModifiedBy>
  <cp:revision>2</cp:revision>
  <dcterms:modified xsi:type="dcterms:W3CDTF">2024-09-03T04:54:07Z</dcterms:modified>
</cp:coreProperties>
</file>