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embeddedFontLst>
    <p:embeddedFont>
      <p:font typeface="Roboto"/>
      <p:regular r:id="rId23"/>
      <p:bold r:id="rId24"/>
      <p:italic r:id="rId25"/>
      <p:boldItalic r:id="rId26"/>
    </p:embeddedFont>
    <p:embeddedFont>
      <p:font typeface="Proxima Nova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1" roundtripDataSignature="AMtx7mgubMEFeI1SzTRHirAD8I4lOe6Q9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F24307E-30A2-487B-97B3-F32149C585E2}">
  <a:tblStyle styleId="{5F24307E-30A2-487B-97B3-F32149C585E2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DFD"/>
          </a:solidFill>
        </a:fill>
      </a:tcStyle>
    </a:wholeTbl>
    <a:band1H>
      <a:tcTxStyle b="off" i="off"/>
      <a:tcStyle>
        <a:fill>
          <a:solidFill>
            <a:srgbClr val="CDD8FB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8FB"/>
          </a:solidFill>
        </a:fill>
      </a:tcStyle>
    </a:band1V>
    <a:band2V>
      <a:tcTxStyle b="off" i="off"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Roboto-bold.fntdata"/><Relationship Id="rId23" Type="http://schemas.openxmlformats.org/officeDocument/2006/relationships/font" Target="fonts/Robo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-boldItalic.fntdata"/><Relationship Id="rId25" Type="http://schemas.openxmlformats.org/officeDocument/2006/relationships/font" Target="fonts/Roboto-italic.fntdata"/><Relationship Id="rId28" Type="http://schemas.openxmlformats.org/officeDocument/2006/relationships/font" Target="fonts/ProximaNova-bold.fntdata"/><Relationship Id="rId27" Type="http://schemas.openxmlformats.org/officeDocument/2006/relationships/font" Target="fonts/ProximaNova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roximaNova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customschemas.google.com/relationships/presentationmetadata" Target="metadata"/><Relationship Id="rId30" Type="http://schemas.openxmlformats.org/officeDocument/2006/relationships/font" Target="fonts/ProximaNova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 txBox="1"/>
          <p:nvPr>
            <p:ph idx="1" type="body"/>
          </p:nvPr>
        </p:nvSpPr>
        <p:spPr>
          <a:xfrm>
            <a:off x="755719" y="5078556"/>
            <a:ext cx="6048000" cy="48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" name="Google Shape;52;p1:notes"/>
          <p:cNvSpPr/>
          <p:nvPr>
            <p:ph idx="2" type="sldImg"/>
          </p:nvPr>
        </p:nvSpPr>
        <p:spPr>
          <a:xfrm>
            <a:off x="217488" y="812800"/>
            <a:ext cx="7124700" cy="40084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29" y="4343327"/>
            <a:ext cx="5486100" cy="41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:notes"/>
          <p:cNvSpPr/>
          <p:nvPr/>
        </p:nvSpPr>
        <p:spPr>
          <a:xfrm>
            <a:off x="3884734" y="8685423"/>
            <a:ext cx="29712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0050" lIns="80100" spcFirstLastPara="1" rIns="80100" wrap="square" tIns="400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b="0" i="0" lang="en-US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815fc252b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" name="Google Shape;66;g2815fc252b8_1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/>
          <p:nvPr>
            <p:ph idx="2" type="sldImg"/>
          </p:nvPr>
        </p:nvSpPr>
        <p:spPr>
          <a:xfrm>
            <a:off x="685800" y="1143000"/>
            <a:ext cx="5484813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" name="Google Shape;74;p3:notes"/>
          <p:cNvSpPr txBox="1"/>
          <p:nvPr>
            <p:ph idx="1"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/>
          <p:nvPr>
            <p:ph idx="2" type="sldImg"/>
          </p:nvPr>
        </p:nvSpPr>
        <p:spPr>
          <a:xfrm>
            <a:off x="685800" y="1143000"/>
            <a:ext cx="5484813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" name="Google Shape;84;p4:notes"/>
          <p:cNvSpPr txBox="1"/>
          <p:nvPr>
            <p:ph idx="1"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:notes"/>
          <p:cNvSpPr/>
          <p:nvPr>
            <p:ph idx="2" type="sldImg"/>
          </p:nvPr>
        </p:nvSpPr>
        <p:spPr>
          <a:xfrm>
            <a:off x="685800" y="1143000"/>
            <a:ext cx="5484813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7" name="Google Shape;97;p5:notes"/>
          <p:cNvSpPr txBox="1"/>
          <p:nvPr>
            <p:ph idx="1"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/>
          <p:nvPr>
            <p:ph idx="2" type="sldImg"/>
          </p:nvPr>
        </p:nvSpPr>
        <p:spPr>
          <a:xfrm>
            <a:off x="685800" y="1143000"/>
            <a:ext cx="5484813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9" name="Google Shape;119;p6:notes"/>
          <p:cNvSpPr txBox="1"/>
          <p:nvPr>
            <p:ph idx="1"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/>
          <p:nvPr>
            <p:ph idx="2" type="sldImg"/>
          </p:nvPr>
        </p:nvSpPr>
        <p:spPr>
          <a:xfrm>
            <a:off x="-2305050" y="2032000"/>
            <a:ext cx="9752013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9" name="Google Shape;129;p7:notes"/>
          <p:cNvSpPr txBox="1"/>
          <p:nvPr>
            <p:ph idx="1" type="body"/>
          </p:nvPr>
        </p:nvSpPr>
        <p:spPr>
          <a:xfrm>
            <a:off x="514350" y="7823360"/>
            <a:ext cx="4114530" cy="6400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:notes"/>
          <p:cNvSpPr/>
          <p:nvPr>
            <p:ph idx="2" type="sldImg"/>
          </p:nvPr>
        </p:nvSpPr>
        <p:spPr>
          <a:xfrm>
            <a:off x="-2305050" y="2032000"/>
            <a:ext cx="9752013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7" name="Google Shape;137;p8:notes"/>
          <p:cNvSpPr txBox="1"/>
          <p:nvPr>
            <p:ph idx="1" type="body"/>
          </p:nvPr>
        </p:nvSpPr>
        <p:spPr>
          <a:xfrm>
            <a:off x="514350" y="7823360"/>
            <a:ext cx="4114530" cy="6400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:notes"/>
          <p:cNvSpPr/>
          <p:nvPr>
            <p:ph idx="2" type="sldImg"/>
          </p:nvPr>
        </p:nvSpPr>
        <p:spPr>
          <a:xfrm>
            <a:off x="685800" y="1143000"/>
            <a:ext cx="5484813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5" name="Google Shape;145;p9:notes"/>
          <p:cNvSpPr txBox="1"/>
          <p:nvPr>
            <p:ph idx="1"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:notes"/>
          <p:cNvSpPr/>
          <p:nvPr>
            <p:ph idx="2" type="sldImg"/>
          </p:nvPr>
        </p:nvSpPr>
        <p:spPr>
          <a:xfrm>
            <a:off x="685800" y="1143000"/>
            <a:ext cx="5484813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4" name="Google Shape;154;p10:notes"/>
          <p:cNvSpPr txBox="1"/>
          <p:nvPr>
            <p:ph idx="1"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:notes"/>
          <p:cNvSpPr/>
          <p:nvPr>
            <p:ph idx="2" type="sldImg"/>
          </p:nvPr>
        </p:nvSpPr>
        <p:spPr>
          <a:xfrm>
            <a:off x="685800" y="1143000"/>
            <a:ext cx="5484813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8" name="Google Shape;168;p11:notes"/>
          <p:cNvSpPr txBox="1"/>
          <p:nvPr>
            <p:ph idx="1"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2:notes"/>
          <p:cNvSpPr/>
          <p:nvPr>
            <p:ph idx="2" type="sldImg"/>
          </p:nvPr>
        </p:nvSpPr>
        <p:spPr>
          <a:xfrm>
            <a:off x="-2305050" y="2032000"/>
            <a:ext cx="9752013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7" name="Google Shape;177;p12:notes"/>
          <p:cNvSpPr txBox="1"/>
          <p:nvPr>
            <p:ph idx="1" type="body"/>
          </p:nvPr>
        </p:nvSpPr>
        <p:spPr>
          <a:xfrm>
            <a:off x="514350" y="7823360"/>
            <a:ext cx="4114530" cy="6400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4:notes"/>
          <p:cNvSpPr/>
          <p:nvPr>
            <p:ph idx="2" type="sldImg"/>
          </p:nvPr>
        </p:nvSpPr>
        <p:spPr>
          <a:xfrm>
            <a:off x="-2305050" y="2032000"/>
            <a:ext cx="9752013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5" name="Google Shape;185;p14:notes"/>
          <p:cNvSpPr txBox="1"/>
          <p:nvPr>
            <p:ph idx="1" type="body"/>
          </p:nvPr>
        </p:nvSpPr>
        <p:spPr>
          <a:xfrm>
            <a:off x="514350" y="7823360"/>
            <a:ext cx="4114530" cy="6400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2:notes"/>
          <p:cNvSpPr/>
          <p:nvPr>
            <p:ph idx="2" type="sldImg"/>
          </p:nvPr>
        </p:nvSpPr>
        <p:spPr>
          <a:xfrm>
            <a:off x="-2305050" y="2032000"/>
            <a:ext cx="9752013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0" name="Google Shape;220;p42:notes"/>
          <p:cNvSpPr txBox="1"/>
          <p:nvPr>
            <p:ph idx="1" type="body"/>
          </p:nvPr>
        </p:nvSpPr>
        <p:spPr>
          <a:xfrm>
            <a:off x="514350" y="7823360"/>
            <a:ext cx="4114530" cy="6400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14" name="Google Shape;1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7" name="Google Shape;17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8" name="Google Shape;18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2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2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3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3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3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3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3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forms.gle/L9yNisQKr1XjdLHH9" TargetMode="External"/><Relationship Id="rId4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12.png"/><Relationship Id="rId11" Type="http://schemas.openxmlformats.org/officeDocument/2006/relationships/image" Target="../media/image7.png"/><Relationship Id="rId10" Type="http://schemas.openxmlformats.org/officeDocument/2006/relationships/image" Target="../media/image11.png"/><Relationship Id="rId12" Type="http://schemas.openxmlformats.org/officeDocument/2006/relationships/image" Target="../media/image15.png"/><Relationship Id="rId9" Type="http://schemas.openxmlformats.org/officeDocument/2006/relationships/image" Target="../media/image20.png"/><Relationship Id="rId5" Type="http://schemas.openxmlformats.org/officeDocument/2006/relationships/image" Target="../media/image10.png"/><Relationship Id="rId6" Type="http://schemas.openxmlformats.org/officeDocument/2006/relationships/image" Target="../media/image13.png"/><Relationship Id="rId7" Type="http://schemas.openxmlformats.org/officeDocument/2006/relationships/image" Target="../media/image19.png"/><Relationship Id="rId8" Type="http://schemas.openxmlformats.org/officeDocument/2006/relationships/image" Target="../media/image2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Relationship Id="rId4" Type="http://schemas.openxmlformats.org/officeDocument/2006/relationships/image" Target="../media/image22.png"/><Relationship Id="rId5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6999" y="962974"/>
            <a:ext cx="2649990" cy="321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51297" y="2070612"/>
            <a:ext cx="3595704" cy="3502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315B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"/>
          <p:cNvSpPr/>
          <p:nvPr/>
        </p:nvSpPr>
        <p:spPr>
          <a:xfrm>
            <a:off x="1398862" y="2182077"/>
            <a:ext cx="6346277" cy="779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82925" lIns="81625" spcFirstLastPara="1" rIns="81625" wrap="square" tIns="82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WEIGHTED SUBSTRING</a:t>
            </a:r>
            <a:endParaRPr b="1" i="0" sz="4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" name="Google Shape;6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77168" y="152168"/>
            <a:ext cx="813084" cy="993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96359" y="510382"/>
            <a:ext cx="2340965" cy="2256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815fc252b8_1_0"/>
          <p:cNvSpPr txBox="1"/>
          <p:nvPr>
            <p:ph idx="1" type="body"/>
          </p:nvPr>
        </p:nvSpPr>
        <p:spPr>
          <a:xfrm>
            <a:off x="729200" y="1384300"/>
            <a:ext cx="8086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16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URL</a:t>
            </a:r>
            <a:r>
              <a:rPr b="1" lang="en-US" sz="1600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b="1" lang="en-US" sz="16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https://forms.gle/L9yNisQKr1XjdLHH9</a:t>
            </a:r>
            <a:endParaRPr b="1" sz="1600">
              <a:solidFill>
                <a:srgbClr val="37373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>
              <a:solidFill>
                <a:srgbClr val="37373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16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QR CODE</a:t>
            </a:r>
            <a:r>
              <a:rPr b="1" lang="en-US" sz="1600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1600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				</a:t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" name="Google Shape;69;g2815fc252b8_1_0"/>
          <p:cNvSpPr txBox="1"/>
          <p:nvPr/>
        </p:nvSpPr>
        <p:spPr>
          <a:xfrm>
            <a:off x="590650" y="529225"/>
            <a:ext cx="77862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                  TEST TIME ON QUICK, SELECTION SORT</a:t>
            </a:r>
            <a:endParaRPr b="1" i="0" sz="15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rgbClr val="202124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g2815fc252b8_1_0"/>
          <p:cNvSpPr txBox="1"/>
          <p:nvPr/>
        </p:nvSpPr>
        <p:spPr>
          <a:xfrm>
            <a:off x="5143500" y="944725"/>
            <a:ext cx="402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1" name="Google Shape;71;g2815fc252b8_1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42400" y="2275025"/>
            <a:ext cx="2727126" cy="229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3"/>
          <p:cNvPicPr preferRelativeResize="0"/>
          <p:nvPr/>
        </p:nvPicPr>
        <p:blipFill rotWithShape="1">
          <a:blip r:embed="rId3">
            <a:alphaModFix/>
          </a:blip>
          <a:srcRect b="57237" l="8630" r="8622" t="0"/>
          <a:stretch/>
        </p:blipFill>
        <p:spPr>
          <a:xfrm flipH="1" rot="10800000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3"/>
          <p:cNvSpPr/>
          <p:nvPr/>
        </p:nvSpPr>
        <p:spPr>
          <a:xfrm>
            <a:off x="2871394" y="181987"/>
            <a:ext cx="4921500" cy="449400"/>
          </a:xfrm>
          <a:prstGeom prst="roundRect">
            <a:avLst>
              <a:gd fmla="val 40110" name="adj"/>
            </a:avLst>
          </a:prstGeom>
          <a:solidFill>
            <a:srgbClr val="9900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WEIGHTED SUBSTRING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577637" y="787651"/>
            <a:ext cx="7968222" cy="415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INTRODUCTION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578787" y="1359426"/>
            <a:ext cx="7968222" cy="1246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143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⮚"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Given a string '</a:t>
            </a:r>
            <a:r>
              <a:rPr b="1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' consisting of small English letters and a string '</a:t>
            </a:r>
            <a:r>
              <a:rPr b="1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Q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' consisting of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weight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of all characters of English alphabet.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579937" y="2818076"/>
            <a:ext cx="7968222" cy="415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143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⮚"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Each alphabet will have a weight </a:t>
            </a:r>
            <a:r>
              <a:rPr b="1" i="1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where </a:t>
            </a:r>
            <a:r>
              <a:rPr b="1" i="1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0 &lt;= w &lt;= 9</a:t>
            </a:r>
            <a:endParaRPr b="1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581087" y="3444851"/>
            <a:ext cx="796822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143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⮚"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The task is to find the </a:t>
            </a:r>
            <a:r>
              <a:rPr b="0" i="1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total numbers of unique substring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with sum of </a:t>
            </a:r>
            <a:r>
              <a:rPr b="1" i="1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weights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atmost </a:t>
            </a:r>
            <a:r>
              <a:rPr b="1" i="1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K</a:t>
            </a:r>
            <a:endParaRPr b="1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4"/>
          <p:cNvPicPr preferRelativeResize="0"/>
          <p:nvPr/>
        </p:nvPicPr>
        <p:blipFill rotWithShape="1">
          <a:blip r:embed="rId3">
            <a:alphaModFix/>
          </a:blip>
          <a:srcRect b="57237" l="8630" r="8622" t="0"/>
          <a:stretch/>
        </p:blipFill>
        <p:spPr>
          <a:xfrm flipH="1" rot="10800000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4"/>
          <p:cNvSpPr/>
          <p:nvPr/>
        </p:nvSpPr>
        <p:spPr>
          <a:xfrm>
            <a:off x="579937" y="1711201"/>
            <a:ext cx="7968222" cy="415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143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⮚"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Weight of a string ‘</a:t>
            </a:r>
            <a:r>
              <a:rPr b="1" i="1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’ can be defined as ;</a:t>
            </a:r>
            <a:endParaRPr b="1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581087" y="2867351"/>
            <a:ext cx="1577722" cy="415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Weight</a:t>
            </a:r>
            <a:r>
              <a:rPr b="0" i="0" lang="en-US" sz="1800" u="none" cap="none" strike="noStrike">
                <a:solidFill>
                  <a:srgbClr val="92D050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S[0]</a:t>
            </a:r>
            <a:r>
              <a:rPr b="0" i="0" lang="en-US" sz="1800" u="none" cap="none" strike="noStrike">
                <a:solidFill>
                  <a:srgbClr val="92D050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1" i="1" sz="1400" u="none" cap="none" strike="noStrike">
              <a:solidFill>
                <a:srgbClr val="92D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2149737" y="2868501"/>
            <a:ext cx="1851624" cy="415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Weight</a:t>
            </a:r>
            <a:r>
              <a:rPr b="0" i="0" lang="en-US" sz="1800" u="none" cap="none" strike="noStrike">
                <a:solidFill>
                  <a:srgbClr val="92D050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S[1]</a:t>
            </a:r>
            <a:r>
              <a:rPr b="0" i="0" lang="en-US" sz="1800" u="none" cap="none" strike="noStrike">
                <a:solidFill>
                  <a:srgbClr val="92D050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1" i="1" sz="1400" u="none" cap="none" strike="noStrike">
              <a:solidFill>
                <a:srgbClr val="92D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3959012" y="2869651"/>
            <a:ext cx="1851624" cy="415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Weight</a:t>
            </a:r>
            <a:r>
              <a:rPr b="0" i="0" lang="en-US" sz="1800" u="none" cap="none" strike="noStrike">
                <a:solidFill>
                  <a:srgbClr val="92D050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S[2]</a:t>
            </a:r>
            <a:r>
              <a:rPr b="0" i="0" lang="en-US" sz="1800" u="none" cap="none" strike="noStrike">
                <a:solidFill>
                  <a:srgbClr val="92D050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1" i="1" sz="1400" u="none" cap="none" strike="noStrike">
              <a:solidFill>
                <a:srgbClr val="92D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5710987" y="2868501"/>
            <a:ext cx="442306" cy="415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 b="1" i="1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6152136" y="2869651"/>
            <a:ext cx="2634353" cy="415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Weight</a:t>
            </a:r>
            <a:r>
              <a:rPr b="0" i="0" lang="en-US" sz="1800" u="none" cap="none" strike="noStrike">
                <a:solidFill>
                  <a:srgbClr val="92D050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S[</a:t>
            </a:r>
            <a:r>
              <a:rPr b="0" i="0" lang="en-US" sz="1800" u="none" cap="none" strike="noStrike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Len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- 1]</a:t>
            </a:r>
            <a:r>
              <a:rPr b="0" i="0" lang="en-US" sz="1800" u="none" cap="none" strike="noStrike">
                <a:solidFill>
                  <a:srgbClr val="92D050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1" i="1" sz="1400" u="none" cap="none" strike="noStrike">
              <a:solidFill>
                <a:srgbClr val="92D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574212" y="3541101"/>
            <a:ext cx="7968222" cy="415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Where; </a:t>
            </a:r>
            <a:r>
              <a:rPr b="0" i="0" lang="en-US" sz="1800" u="none" cap="none" strike="noStrike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Len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is length of string</a:t>
            </a:r>
            <a:endParaRPr b="1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2723719" y="520012"/>
            <a:ext cx="4921500" cy="449400"/>
          </a:xfrm>
          <a:prstGeom prst="roundRect">
            <a:avLst>
              <a:gd fmla="val 16667" name="adj"/>
            </a:avLst>
          </a:prstGeom>
          <a:solidFill>
            <a:srgbClr val="9900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WEIGHTED SUBSTRING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5"/>
          <p:cNvPicPr preferRelativeResize="0"/>
          <p:nvPr/>
        </p:nvPicPr>
        <p:blipFill rotWithShape="1">
          <a:blip r:embed="rId3">
            <a:alphaModFix/>
          </a:blip>
          <a:srcRect b="57237" l="8630" r="8622" t="0"/>
          <a:stretch/>
        </p:blipFill>
        <p:spPr>
          <a:xfrm flipH="1" rot="10800000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5"/>
          <p:cNvSpPr/>
          <p:nvPr/>
        </p:nvSpPr>
        <p:spPr>
          <a:xfrm>
            <a:off x="3273344" y="35762"/>
            <a:ext cx="4921500" cy="449400"/>
          </a:xfrm>
          <a:prstGeom prst="roundRect">
            <a:avLst>
              <a:gd fmla="val 38286" name="adj"/>
            </a:avLst>
          </a:prstGeom>
          <a:solidFill>
            <a:srgbClr val="9900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WEIGHTED SUBSTRING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577637" y="485151"/>
            <a:ext cx="7968222" cy="415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Examples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545561" y="948025"/>
            <a:ext cx="3737681" cy="415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Sample IO #1 :</a:t>
            </a:r>
            <a:endParaRPr b="1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539836" y="1327300"/>
            <a:ext cx="3737681" cy="415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 = “abcde”</a:t>
            </a:r>
            <a:endParaRPr b="1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534111" y="1706575"/>
            <a:ext cx="3737681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Q = “12345678912345678912345678”</a:t>
            </a:r>
            <a:endParaRPr b="1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528386" y="2498350"/>
            <a:ext cx="3737681" cy="415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k = 5</a:t>
            </a:r>
            <a:endParaRPr b="1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529536" y="2884500"/>
            <a:ext cx="3737681" cy="415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Output = </a:t>
            </a:r>
            <a:endParaRPr b="0" i="0" sz="18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530686" y="3250025"/>
            <a:ext cx="3737681" cy="415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530686" y="3683150"/>
            <a:ext cx="3737681" cy="415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4816086" y="956050"/>
            <a:ext cx="3737681" cy="415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Sample IO #2 :</a:t>
            </a:r>
            <a:endParaRPr b="1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4810361" y="1335325"/>
            <a:ext cx="3737681" cy="415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 = “acbacbacaa”</a:t>
            </a:r>
            <a:endParaRPr b="1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4804636" y="1714600"/>
            <a:ext cx="3737681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Q = “12300045600078900012345000”</a:t>
            </a:r>
            <a:endParaRPr b="1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4798911" y="2506375"/>
            <a:ext cx="3737681" cy="415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k = 2</a:t>
            </a:r>
            <a:endParaRPr b="1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4800061" y="2892525"/>
            <a:ext cx="3737681" cy="415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Output = 3</a:t>
            </a:r>
            <a:endParaRPr b="0" i="0" sz="18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4801211" y="3258050"/>
            <a:ext cx="3737681" cy="415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Explanation :</a:t>
            </a:r>
            <a:endParaRPr b="0" i="0" sz="18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4801211" y="3691175"/>
            <a:ext cx="3737681" cy="415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“a”, “b”, “aa” </a:t>
            </a:r>
            <a:endParaRPr b="0" i="0" sz="18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585662" y="4329527"/>
            <a:ext cx="7968222" cy="415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The idea is to use HashSet to solve it!</a:t>
            </a:r>
            <a:endParaRPr b="1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6"/>
          <p:cNvPicPr preferRelativeResize="0"/>
          <p:nvPr/>
        </p:nvPicPr>
        <p:blipFill rotWithShape="1">
          <a:blip r:embed="rId3">
            <a:alphaModFix/>
          </a:blip>
          <a:srcRect b="57237" l="8630" r="8622" t="0"/>
          <a:stretch/>
        </p:blipFill>
        <p:spPr>
          <a:xfrm flipH="1" rot="10800000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6"/>
          <p:cNvSpPr/>
          <p:nvPr/>
        </p:nvSpPr>
        <p:spPr>
          <a:xfrm>
            <a:off x="2535044" y="5237"/>
            <a:ext cx="4921404" cy="449400"/>
          </a:xfrm>
          <a:prstGeom prst="roundRect">
            <a:avLst>
              <a:gd fmla="val 16667" name="adj"/>
            </a:avLst>
          </a:prstGeom>
          <a:solidFill>
            <a:srgbClr val="9900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WEIGHTED SUBSTRING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577637" y="636401"/>
            <a:ext cx="7968222" cy="415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Algorithm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579937" y="1305576"/>
            <a:ext cx="7968222" cy="1246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Iterate over all the substrings using the nested loops and maintain the sum of the weight of all the characters encountered so far.</a:t>
            </a:r>
            <a:endParaRPr b="0" i="0" sz="18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574212" y="2681726"/>
            <a:ext cx="796822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 startAt="2"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If the sum of characters is not greater than K, then insert it in a hashmap.</a:t>
            </a:r>
            <a:endParaRPr b="0" i="0" sz="18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568487" y="3672876"/>
            <a:ext cx="7968222" cy="415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 startAt="3"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Finally, output the size of the hashmap.</a:t>
            </a:r>
            <a:endParaRPr b="0" i="0" sz="18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1-removebg-preview" id="131" name="Google Shape;13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71600" y="4587840"/>
            <a:ext cx="2440080" cy="637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7"/>
          <p:cNvPicPr preferRelativeResize="0"/>
          <p:nvPr/>
        </p:nvPicPr>
        <p:blipFill rotWithShape="1">
          <a:blip r:embed="rId4">
            <a:alphaModFix/>
          </a:blip>
          <a:srcRect b="57237" l="8630" r="8622" t="0"/>
          <a:stretch/>
        </p:blipFill>
        <p:spPr>
          <a:xfrm flipH="1" rot="10800000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3" name="Google Shape;133;p7"/>
          <p:cNvGraphicFramePr/>
          <p:nvPr/>
        </p:nvGraphicFramePr>
        <p:xfrm>
          <a:off x="168279" y="62599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{5F24307E-30A2-487B-97B3-F32149C585E2}</a:tableStyleId>
              </a:tblPr>
              <a:tblGrid>
                <a:gridCol w="4517750"/>
                <a:gridCol w="4076050"/>
              </a:tblGrid>
              <a:tr h="4304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import java.util.*;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sz="1400" u="none" cap="none" strike="noStrik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 EthCode {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static int distinctSubString(String P, String Q, int K, int N) {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// Hashmap to store all subStrings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HashSet &lt; String &gt; S = new HashSet &lt; String &gt; ();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// Iterate over all subStrings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for (int i = 0; i &lt; N; ++i) {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// Maintain the sum of all characters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// encountered so far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int sum = 0;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// Maintain the subString till the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// current position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String s = "";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for (int j = i; j &lt; N; ++j) {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// Get the position of the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// character in String Q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int pos = P.charAt(j) - 'a';</a:t>
                      </a:r>
                      <a:endParaRPr b="0" sz="1400" u="none" cap="none" strike="noStrik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// Add weight to current sum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sum += Q.charAt(pos) - '0';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// Add current character to subString</a:t>
                      </a:r>
                      <a:endParaRPr b="0" sz="1400" u="none" cap="none" strike="noStrike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s += P.charAt(j);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// If sum of characters is &lt;=K then insert in into the set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if (sum &lt;= K) {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S.add(s);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} else {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break;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}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}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}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// required value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return S.size();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}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34" name="Google Shape;134;p7"/>
          <p:cNvSpPr/>
          <p:nvPr/>
        </p:nvSpPr>
        <p:spPr>
          <a:xfrm>
            <a:off x="2535044" y="5237"/>
            <a:ext cx="4921404" cy="449400"/>
          </a:xfrm>
          <a:prstGeom prst="roundRect">
            <a:avLst>
              <a:gd fmla="val 16667" name="adj"/>
            </a:avLst>
          </a:prstGeom>
          <a:solidFill>
            <a:srgbClr val="9900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WEIGHTED SUBSTRING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1-removebg-preview" id="139" name="Google Shape;13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71600" y="4587840"/>
            <a:ext cx="2440080" cy="637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8"/>
          <p:cNvPicPr preferRelativeResize="0"/>
          <p:nvPr/>
        </p:nvPicPr>
        <p:blipFill rotWithShape="1">
          <a:blip r:embed="rId4">
            <a:alphaModFix/>
          </a:blip>
          <a:srcRect b="57237" l="8630" r="8622" t="0"/>
          <a:stretch/>
        </p:blipFill>
        <p:spPr>
          <a:xfrm flipH="1" rot="10800000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1" name="Google Shape;141;p8"/>
          <p:cNvGraphicFramePr/>
          <p:nvPr/>
        </p:nvGraphicFramePr>
        <p:xfrm>
          <a:off x="168279" y="62599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{5F24307E-30A2-487B-97B3-F32149C585E2}</a:tableStyleId>
              </a:tblPr>
              <a:tblGrid>
                <a:gridCol w="4517750"/>
                <a:gridCol w="4076050"/>
              </a:tblGrid>
              <a:tr h="4304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public static void main(String[] args) {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//Sample Input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String P = "abcde";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String Q = "12345678912345678912345678";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int K = 5;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int N = P.length();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System.out.print(distinctSubString(P, Q, K, N));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}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b="0" sz="1400" u="none" cap="none" strike="noStrik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sz="1400" u="none" cap="none" strike="noStrike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42" name="Google Shape;142;p8"/>
          <p:cNvSpPr/>
          <p:nvPr/>
        </p:nvSpPr>
        <p:spPr>
          <a:xfrm>
            <a:off x="2535044" y="5237"/>
            <a:ext cx="4921404" cy="449400"/>
          </a:xfrm>
          <a:prstGeom prst="roundRect">
            <a:avLst>
              <a:gd fmla="val 16667" name="adj"/>
            </a:avLst>
          </a:prstGeom>
          <a:solidFill>
            <a:srgbClr val="9900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WEIGHTED SUBSTRING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9"/>
          <p:cNvPicPr preferRelativeResize="0"/>
          <p:nvPr/>
        </p:nvPicPr>
        <p:blipFill rotWithShape="1">
          <a:blip r:embed="rId3">
            <a:alphaModFix/>
          </a:blip>
          <a:srcRect b="57237" l="8630" r="8622" t="0"/>
          <a:stretch/>
        </p:blipFill>
        <p:spPr>
          <a:xfrm flipH="1" rot="10800000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9"/>
          <p:cNvSpPr/>
          <p:nvPr/>
        </p:nvSpPr>
        <p:spPr>
          <a:xfrm>
            <a:off x="2535044" y="5237"/>
            <a:ext cx="4921404" cy="449400"/>
          </a:xfrm>
          <a:prstGeom prst="roundRect">
            <a:avLst>
              <a:gd fmla="val 16667" name="adj"/>
            </a:avLst>
          </a:prstGeom>
          <a:solidFill>
            <a:srgbClr val="9900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WEIGHTED SUBSTRING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9"/>
          <p:cNvSpPr/>
          <p:nvPr/>
        </p:nvSpPr>
        <p:spPr>
          <a:xfrm>
            <a:off x="577637" y="636401"/>
            <a:ext cx="7968222" cy="415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Time Complexity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9"/>
          <p:cNvSpPr/>
          <p:nvPr/>
        </p:nvSpPr>
        <p:spPr>
          <a:xfrm>
            <a:off x="545561" y="1566775"/>
            <a:ext cx="3737681" cy="415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QuadraticTime Complexity:</a:t>
            </a:r>
            <a:endParaRPr b="1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4382961" y="1574800"/>
            <a:ext cx="3737681" cy="415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O(n^n)</a:t>
            </a:r>
            <a:endParaRPr b="1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0"/>
          <p:cNvPicPr preferRelativeResize="0"/>
          <p:nvPr/>
        </p:nvPicPr>
        <p:blipFill rotWithShape="1">
          <a:blip r:embed="rId3">
            <a:alphaModFix/>
          </a:blip>
          <a:srcRect b="57237" l="8630" r="8622" t="0"/>
          <a:stretch/>
        </p:blipFill>
        <p:spPr>
          <a:xfrm flipH="1" rot="10800000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0"/>
          <p:cNvSpPr/>
          <p:nvPr/>
        </p:nvSpPr>
        <p:spPr>
          <a:xfrm>
            <a:off x="2535044" y="5237"/>
            <a:ext cx="4921404" cy="449400"/>
          </a:xfrm>
          <a:prstGeom prst="roundRect">
            <a:avLst>
              <a:gd fmla="val 16667" name="adj"/>
            </a:avLst>
          </a:prstGeom>
          <a:solidFill>
            <a:srgbClr val="9900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WEIGHTED SUBSTRING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0"/>
          <p:cNvSpPr/>
          <p:nvPr/>
        </p:nvSpPr>
        <p:spPr>
          <a:xfrm>
            <a:off x="579937" y="734951"/>
            <a:ext cx="6020243" cy="415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⮚"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This is the variation of the previous program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0"/>
          <p:cNvSpPr/>
          <p:nvPr/>
        </p:nvSpPr>
        <p:spPr>
          <a:xfrm>
            <a:off x="574212" y="1162351"/>
            <a:ext cx="6020243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⮚"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Given string ‘S’ which contains only lowercase characters and an integer ‘K’</a:t>
            </a:r>
            <a:endParaRPr b="0" i="0" sz="18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0" name="Google Shape;160;p10"/>
          <p:cNvSpPr/>
          <p:nvPr/>
        </p:nvSpPr>
        <p:spPr>
          <a:xfrm>
            <a:off x="575362" y="1981626"/>
            <a:ext cx="6020243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⮚"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Have to find number of substrings having weight equal to ‘K’</a:t>
            </a:r>
            <a:endParaRPr b="0" i="0" sz="18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1" name="Google Shape;161;p10"/>
          <p:cNvSpPr/>
          <p:nvPr/>
        </p:nvSpPr>
        <p:spPr>
          <a:xfrm>
            <a:off x="545561" y="2907400"/>
            <a:ext cx="5009591" cy="415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Sample IO #1 : S = “abcdef”, K=5</a:t>
            </a:r>
            <a:endParaRPr b="1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0"/>
          <p:cNvSpPr/>
          <p:nvPr/>
        </p:nvSpPr>
        <p:spPr>
          <a:xfrm>
            <a:off x="539836" y="3369175"/>
            <a:ext cx="3737681" cy="415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Output = 3</a:t>
            </a:r>
            <a:endParaRPr b="1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0"/>
          <p:cNvSpPr/>
          <p:nvPr/>
        </p:nvSpPr>
        <p:spPr>
          <a:xfrm>
            <a:off x="539836" y="3871050"/>
            <a:ext cx="5009591" cy="415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Sample IO #2 : S = “abcdef”, K=4</a:t>
            </a:r>
            <a:endParaRPr b="1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0"/>
          <p:cNvSpPr/>
          <p:nvPr/>
        </p:nvSpPr>
        <p:spPr>
          <a:xfrm>
            <a:off x="534111" y="4332825"/>
            <a:ext cx="3737681" cy="415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Output = 2</a:t>
            </a:r>
            <a:endParaRPr b="1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5" name="Google Shape;16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95801" y="547454"/>
            <a:ext cx="2077084" cy="44626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11"/>
          <p:cNvPicPr preferRelativeResize="0"/>
          <p:nvPr/>
        </p:nvPicPr>
        <p:blipFill rotWithShape="1">
          <a:blip r:embed="rId3">
            <a:alphaModFix/>
          </a:blip>
          <a:srcRect b="57237" l="8630" r="8622" t="0"/>
          <a:stretch/>
        </p:blipFill>
        <p:spPr>
          <a:xfrm flipH="1" rot="10800000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1"/>
          <p:cNvSpPr/>
          <p:nvPr/>
        </p:nvSpPr>
        <p:spPr>
          <a:xfrm>
            <a:off x="2535044" y="5237"/>
            <a:ext cx="4921404" cy="449400"/>
          </a:xfrm>
          <a:prstGeom prst="roundRect">
            <a:avLst>
              <a:gd fmla="val 16667" name="adj"/>
            </a:avLst>
          </a:prstGeom>
          <a:solidFill>
            <a:srgbClr val="9900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WEIGHTED SUBSTRING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1"/>
          <p:cNvSpPr/>
          <p:nvPr/>
        </p:nvSpPr>
        <p:spPr>
          <a:xfrm>
            <a:off x="577637" y="636401"/>
            <a:ext cx="7968222" cy="415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Time Complexity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1"/>
          <p:cNvSpPr/>
          <p:nvPr/>
        </p:nvSpPr>
        <p:spPr>
          <a:xfrm>
            <a:off x="545561" y="1566775"/>
            <a:ext cx="3737681" cy="415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QuadraticTime Complexity:</a:t>
            </a:r>
            <a:endParaRPr b="1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1"/>
          <p:cNvSpPr/>
          <p:nvPr/>
        </p:nvSpPr>
        <p:spPr>
          <a:xfrm>
            <a:off x="4382961" y="1574800"/>
            <a:ext cx="3737681" cy="415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O(n^n)</a:t>
            </a:r>
            <a:endParaRPr b="1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1-removebg-preview" id="179" name="Google Shape;17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71600" y="4587840"/>
            <a:ext cx="2440080" cy="637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2"/>
          <p:cNvPicPr preferRelativeResize="0"/>
          <p:nvPr/>
        </p:nvPicPr>
        <p:blipFill rotWithShape="1">
          <a:blip r:embed="rId4">
            <a:alphaModFix/>
          </a:blip>
          <a:srcRect b="57237" l="8630" r="8622" t="0"/>
          <a:stretch/>
        </p:blipFill>
        <p:spPr>
          <a:xfrm flipH="1" rot="10800000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1" name="Google Shape;181;p12"/>
          <p:cNvGraphicFramePr/>
          <p:nvPr/>
        </p:nvGraphicFramePr>
        <p:xfrm>
          <a:off x="168279" y="62599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{5F24307E-30A2-487B-97B3-F32149C585E2}</a:tableStyleId>
              </a:tblPr>
              <a:tblGrid>
                <a:gridCol w="4517750"/>
                <a:gridCol w="4076050"/>
              </a:tblGrid>
              <a:tr h="4304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import java.util.*;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 EthCode {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static int distinctSubString(String str, int K, int N) {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// Hashmap to store all subStrings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HashSet &lt; String &gt; S = new HashSet &lt; String &gt; ();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// Iterate over all subStrings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for (int i = 0; i &lt; N; ++i) {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// Maintain the sum of all characters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// encountered so far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int sum = 0;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// Maintain the subString till the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// current position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String s = "";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for (int j = i; j &lt; N; ++j) {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char ch = str[j];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//Get the current weight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sz="1400" u="none" cap="none" strike="noStrik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int currWeight = ch - 'a'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int pos = P.charAt(j) - 'a';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// Add weight to current sum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sum += currweight;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// Add current character to subString</a:t>
                      </a:r>
                      <a:endParaRPr b="0" sz="1400" u="none" cap="none" strike="noStrike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s += P.charAt(j);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// If sum of characters is ==K then insert in into the set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if (sum == K) {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S.add(s);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} else {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break;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}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}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}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// required value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return S.size();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}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82" name="Google Shape;182;p12"/>
          <p:cNvSpPr/>
          <p:nvPr/>
        </p:nvSpPr>
        <p:spPr>
          <a:xfrm>
            <a:off x="2535044" y="5237"/>
            <a:ext cx="4921404" cy="449400"/>
          </a:xfrm>
          <a:prstGeom prst="roundRect">
            <a:avLst>
              <a:gd fmla="val 16667" name="adj"/>
            </a:avLst>
          </a:prstGeom>
          <a:solidFill>
            <a:srgbClr val="9900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WEIGHTED SUBSTRING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1-removebg-preview" id="187" name="Google Shape;18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71600" y="4587840"/>
            <a:ext cx="2440080" cy="637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4"/>
          <p:cNvPicPr preferRelativeResize="0"/>
          <p:nvPr/>
        </p:nvPicPr>
        <p:blipFill rotWithShape="1">
          <a:blip r:embed="rId4">
            <a:alphaModFix/>
          </a:blip>
          <a:srcRect b="57237" l="8630" r="8622" t="0"/>
          <a:stretch/>
        </p:blipFill>
        <p:spPr>
          <a:xfrm flipH="1" rot="10800000">
            <a:off x="0" y="625"/>
            <a:ext cx="3564399" cy="9261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9" name="Google Shape;189;p14"/>
          <p:cNvGraphicFramePr/>
          <p:nvPr/>
        </p:nvGraphicFramePr>
        <p:xfrm>
          <a:off x="168279" y="62599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{5F24307E-30A2-487B-97B3-F32149C585E2}</a:tableStyleId>
              </a:tblPr>
              <a:tblGrid>
                <a:gridCol w="4517750"/>
                <a:gridCol w="4076050"/>
              </a:tblGrid>
              <a:tr h="4304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public static void main(String[] args) {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//Sample Input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String str = "abcde";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int K = 5;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sz="1400" u="none" cap="none" strike="noStrik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//Length of the string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int N = P.length();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sz="1400" u="none" cap="none" strike="noStrik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//Sample Output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System.out.print(distinctSubString(str, K, N));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}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b="0" sz="1400" u="none" cap="none" strike="noStrik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sz="1400" u="none" cap="none" strike="noStrike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90" name="Google Shape;190;p14"/>
          <p:cNvSpPr/>
          <p:nvPr/>
        </p:nvSpPr>
        <p:spPr>
          <a:xfrm>
            <a:off x="2535044" y="5237"/>
            <a:ext cx="4921404" cy="449400"/>
          </a:xfrm>
          <a:prstGeom prst="roundRect">
            <a:avLst>
              <a:gd fmla="val 16667" name="adj"/>
            </a:avLst>
          </a:prstGeom>
          <a:solidFill>
            <a:srgbClr val="9900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WEIGHTED SUBSTRING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8"/>
          <p:cNvSpPr/>
          <p:nvPr/>
        </p:nvSpPr>
        <p:spPr>
          <a:xfrm>
            <a:off x="-25350" y="-7950"/>
            <a:ext cx="9169200" cy="1089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8"/>
          <p:cNvSpPr txBox="1"/>
          <p:nvPr/>
        </p:nvSpPr>
        <p:spPr>
          <a:xfrm>
            <a:off x="438250" y="1166625"/>
            <a:ext cx="3399900" cy="7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97" name="Google Shape;19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12038" y="1362462"/>
            <a:ext cx="1980001" cy="240767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8"/>
          <p:cNvSpPr txBox="1"/>
          <p:nvPr/>
        </p:nvSpPr>
        <p:spPr>
          <a:xfrm>
            <a:off x="1022925" y="362900"/>
            <a:ext cx="16734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/ethnuscodemithra</a:t>
            </a:r>
            <a:endParaRPr b="0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99" name="Google Shape;19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0225" y="213026"/>
            <a:ext cx="713224" cy="645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88851" y="225776"/>
            <a:ext cx="645070" cy="645101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8"/>
          <p:cNvSpPr txBox="1"/>
          <p:nvPr/>
        </p:nvSpPr>
        <p:spPr>
          <a:xfrm>
            <a:off x="6025875" y="362900"/>
            <a:ext cx="8982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rPr>
              <a:t>/ethnus</a:t>
            </a:r>
            <a:endParaRPr b="0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02" name="Google Shape;202;p18"/>
          <p:cNvSpPr txBox="1"/>
          <p:nvPr/>
        </p:nvSpPr>
        <p:spPr>
          <a:xfrm>
            <a:off x="3575139" y="373902"/>
            <a:ext cx="16734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Ethnus Codemithra</a:t>
            </a:r>
            <a:endParaRPr b="0" i="0" sz="1400" u="none" cap="none" strike="noStrike"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203" name="Google Shape;203;p18"/>
          <p:cNvPicPr preferRelativeResize="0"/>
          <p:nvPr/>
        </p:nvPicPr>
        <p:blipFill rotWithShape="1">
          <a:blip r:embed="rId6">
            <a:alphaModFix/>
          </a:blip>
          <a:srcRect b="0" l="2901" r="2899" t="0"/>
          <a:stretch/>
        </p:blipFill>
        <p:spPr>
          <a:xfrm>
            <a:off x="7065601" y="214801"/>
            <a:ext cx="608215" cy="645074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8"/>
          <p:cNvSpPr txBox="1"/>
          <p:nvPr/>
        </p:nvSpPr>
        <p:spPr>
          <a:xfrm>
            <a:off x="7689950" y="373900"/>
            <a:ext cx="13206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/code_mithra</a:t>
            </a:r>
            <a:endParaRPr b="0" i="0" sz="1400" u="none" cap="none" strike="noStrike"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05" name="Google Shape;205;p18"/>
          <p:cNvSpPr txBox="1"/>
          <p:nvPr/>
        </p:nvSpPr>
        <p:spPr>
          <a:xfrm>
            <a:off x="454025" y="1791970"/>
            <a:ext cx="4881900" cy="5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t/>
            </a:r>
            <a:endParaRPr b="0" i="0" sz="3700" u="none" cap="none" strike="noStrike">
              <a:solidFill>
                <a:srgbClr val="1C315B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06" name="Google Shape;206;p18"/>
          <p:cNvSpPr/>
          <p:nvPr/>
        </p:nvSpPr>
        <p:spPr>
          <a:xfrm>
            <a:off x="-25350" y="4051530"/>
            <a:ext cx="9169200" cy="1089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8"/>
          <p:cNvSpPr txBox="1"/>
          <p:nvPr/>
        </p:nvSpPr>
        <p:spPr>
          <a:xfrm>
            <a:off x="1563475" y="4422380"/>
            <a:ext cx="21846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codemithra@ethnus.com</a:t>
            </a:r>
            <a:endParaRPr b="0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208" name="Google Shape;208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98788" y="4274268"/>
            <a:ext cx="713232" cy="7132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09826" y="4272513"/>
            <a:ext cx="716750" cy="71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712438" y="4285267"/>
            <a:ext cx="713232" cy="713232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8"/>
          <p:cNvSpPr txBox="1"/>
          <p:nvPr/>
        </p:nvSpPr>
        <p:spPr>
          <a:xfrm>
            <a:off x="4425675" y="4422380"/>
            <a:ext cx="15732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+91 7815 095 095</a:t>
            </a:r>
            <a:endParaRPr b="0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12" name="Google Shape;212;p18"/>
          <p:cNvSpPr txBox="1"/>
          <p:nvPr/>
        </p:nvSpPr>
        <p:spPr>
          <a:xfrm>
            <a:off x="6660975" y="4433380"/>
            <a:ext cx="15732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+91 9019 921 340</a:t>
            </a:r>
            <a:endParaRPr b="0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213" name="Google Shape;213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823887" y="268626"/>
            <a:ext cx="788464" cy="55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38250" y="2292450"/>
            <a:ext cx="2463576" cy="28965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8"/>
          <p:cNvSpPr txBox="1"/>
          <p:nvPr/>
        </p:nvSpPr>
        <p:spPr>
          <a:xfrm>
            <a:off x="2292300" y="3338026"/>
            <a:ext cx="2854800" cy="60013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6" name="Google Shape;216;p1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607230" y="1469198"/>
            <a:ext cx="1904053" cy="1904053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8"/>
          <p:cNvSpPr/>
          <p:nvPr/>
        </p:nvSpPr>
        <p:spPr>
          <a:xfrm>
            <a:off x="3456191" y="3570348"/>
            <a:ext cx="23574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2925" lIns="81625" spcFirstLastPara="1" rIns="81625" wrap="square" tIns="82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https://learn.codemithra.com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2"/>
          <p:cNvSpPr/>
          <p:nvPr/>
        </p:nvSpPr>
        <p:spPr>
          <a:xfrm>
            <a:off x="2745000" y="83880"/>
            <a:ext cx="4026240" cy="440280"/>
          </a:xfrm>
          <a:prstGeom prst="roundRect">
            <a:avLst>
              <a:gd fmla="val 16667" name="adj"/>
            </a:avLst>
          </a:prstGeom>
          <a:solidFill>
            <a:srgbClr val="04C3E2">
              <a:alpha val="24705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HashSet (For Weighted Substring)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icture1-removebg-preview" id="223" name="Google Shape;223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71600" y="4587840"/>
            <a:ext cx="2440080" cy="63792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42"/>
          <p:cNvSpPr/>
          <p:nvPr/>
        </p:nvSpPr>
        <p:spPr>
          <a:xfrm>
            <a:off x="478800" y="2884320"/>
            <a:ext cx="75960" cy="75960"/>
          </a:xfrm>
          <a:prstGeom prst="ellipse">
            <a:avLst/>
          </a:prstGeom>
          <a:solidFill>
            <a:srgbClr val="E5F0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42"/>
          <p:cNvSpPr txBox="1"/>
          <p:nvPr/>
        </p:nvSpPr>
        <p:spPr>
          <a:xfrm>
            <a:off x="582930" y="895350"/>
            <a:ext cx="2983230" cy="366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HashSet class is used to create a collection that uses a hash table for storage.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Set contains unique elements only.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underlying data structure for HashSet is Hashtable.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 it implements the Set Interface, duplicate values are not allowed.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Objects that you insert in HashSet are not guaranteed to be inserted in the same order as they are inserted based on their hash code.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6" name="Google Shape;226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86370" y="1254760"/>
            <a:ext cx="1184910" cy="3044825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42"/>
          <p:cNvSpPr txBox="1"/>
          <p:nvPr/>
        </p:nvSpPr>
        <p:spPr>
          <a:xfrm>
            <a:off x="3903980" y="977265"/>
            <a:ext cx="2983230" cy="3876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sng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[A, B, C]</a:t>
            </a:r>
            <a:endParaRPr b="0" i="1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true</a:t>
            </a:r>
            <a:endParaRPr b="0" i="1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[A,C]</a:t>
            </a:r>
            <a:endParaRPr b="0" i="1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1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1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8" name="Google Shape;228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7800" y="1268828"/>
            <a:ext cx="2367915" cy="233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RAMASAMY</dc:creator>
</cp:coreProperties>
</file>