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0" r:id="rId2"/>
    <p:sldMasterId id="2147483669" r:id="rId3"/>
  </p:sldMasterIdLst>
  <p:notesMasterIdLst>
    <p:notesMasterId r:id="rId20"/>
  </p:notesMasterIdLst>
  <p:sldIdLst>
    <p:sldId id="256" r:id="rId4"/>
    <p:sldId id="257" r:id="rId5"/>
    <p:sldId id="337" r:id="rId6"/>
    <p:sldId id="340" r:id="rId7"/>
    <p:sldId id="341" r:id="rId8"/>
    <p:sldId id="342" r:id="rId9"/>
    <p:sldId id="343" r:id="rId10"/>
    <p:sldId id="344" r:id="rId11"/>
    <p:sldId id="345" r:id="rId12"/>
    <p:sldId id="346" r:id="rId13"/>
    <p:sldId id="347" r:id="rId14"/>
    <p:sldId id="348" r:id="rId15"/>
    <p:sldId id="349" r:id="rId16"/>
    <p:sldId id="350" r:id="rId17"/>
    <p:sldId id="351" r:id="rId18"/>
    <p:sldId id="303" r:id="rId19"/>
  </p:sldIdLst>
  <p:sldSz cx="9144000" cy="5143500" type="screen16x9"/>
  <p:notesSz cx="6858000" cy="9144000"/>
  <p:embeddedFontLst>
    <p:embeddedFont>
      <p:font typeface="Roboto" panose="02000000000000000000" pitchFamily="2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454">
          <p15:clr>
            <a:srgbClr val="FF00FF"/>
          </p15:clr>
        </p15:guide>
        <p15:guide id="2" orient="horz" pos="2755">
          <p15:clr>
            <a:srgbClr val="FF0000"/>
          </p15:clr>
        </p15:guide>
        <p15:guide id="3" orient="horz" pos="907">
          <p15:clr>
            <a:srgbClr val="FF0000"/>
          </p15:clr>
        </p15:guide>
        <p15:guide id="4" pos="5272">
          <p15:clr>
            <a:srgbClr val="FF00FF"/>
          </p15:clr>
        </p15:guide>
        <p15:guide id="5" orient="horz" pos="737">
          <p15:clr>
            <a:srgbClr val="00FF00"/>
          </p15:clr>
        </p15:guide>
        <p15:guide id="6" orient="horz" pos="397">
          <p15:clr>
            <a:srgbClr val="00FF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6" roundtripDataSignature="AMtx7miHiSzDa0vTNjS1xHGCbJH/tB5ZD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7" y="720"/>
      </p:cViewPr>
      <p:guideLst>
        <p:guide pos="454"/>
        <p:guide orient="horz" pos="2755"/>
        <p:guide orient="horz" pos="907"/>
        <p:guide pos="5272"/>
        <p:guide orient="horz" pos="737"/>
        <p:guide orient="horz" pos="39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font" Target="fonts/font1.fntdata"/><Relationship Id="rId68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6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notesMaster" Target="notesMasters/notesMaster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font" Target="fonts/font4.fntdata"/><Relationship Id="rId66" Type="http://customschemas.google.com/relationships/presentationmetadata" Target="metadata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font" Target="fonts/font3.fntdata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font" Target="fonts/font2.fntdata"/><Relationship Id="rId6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7" name="Google Shape;147;p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371199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145900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407253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255876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391473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913074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773133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108502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456216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746156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761525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293796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9" name="Google Shape;459;p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66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6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6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14" name="Google Shape;14;p6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7219"/>
            <a:ext cx="9144001" cy="51362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5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5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1" name="Google Shape;21;p5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5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54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5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2" name="Google Shape;32;p56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5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6" name="Google Shape;36;p5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5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5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1" name="Google Shape;41;p5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5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5" name="Google Shape;45;p5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0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60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6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6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0" name="Google Shape;60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67" name="Google Shape;67;p4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4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71" name="Google Shape;71;p4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72" name="Google Shape;72;p4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3" name="Google Shape;73;p4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76" name="Google Shape;76;p4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79" name="Google Shape;79;p4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0" name="Google Shape;80;p4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">
  <p:cSld name="4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44" descr="A close up of a logo&#10;&#10;Description generated with high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76800" y="183600"/>
            <a:ext cx="1022401" cy="766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44" descr="A picture containing colorful, colored&#10;&#10;Description generated with very high confidence"/>
          <p:cNvPicPr preferRelativeResize="0"/>
          <p:nvPr/>
        </p:nvPicPr>
        <p:blipFill rotWithShape="1">
          <a:blip r:embed="rId3">
            <a:alphaModFix/>
          </a:blip>
          <a:srcRect t="55602" b="37530"/>
          <a:stretch/>
        </p:blipFill>
        <p:spPr>
          <a:xfrm>
            <a:off x="0" y="4849200"/>
            <a:ext cx="9144000" cy="2943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44"/>
          <p:cNvSpPr/>
          <p:nvPr/>
        </p:nvSpPr>
        <p:spPr>
          <a:xfrm>
            <a:off x="894683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0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44"/>
          <p:cNvSpPr/>
          <p:nvPr/>
        </p:nvSpPr>
        <p:spPr>
          <a:xfrm>
            <a:off x="887040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0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44"/>
          <p:cNvSpPr/>
          <p:nvPr/>
        </p:nvSpPr>
        <p:spPr>
          <a:xfrm>
            <a:off x="879397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0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44"/>
          <p:cNvSpPr/>
          <p:nvPr/>
        </p:nvSpPr>
        <p:spPr>
          <a:xfrm>
            <a:off x="871754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0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68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4" name="Google Shape;104;p68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05" name="Google Shape;105;p6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2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4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12" name="Google Shape;112;p4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4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16" name="Google Shape;116;p4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17" name="Google Shape;117;p4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18" name="Google Shape;118;p4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121" name="Google Shape;121;p4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0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4" name="Google Shape;124;p50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25" name="Google Shape;125;p5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">
  <p:cSld name="4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51" descr="A close up of a logo&#10;&#10;Description generated with high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76800" y="183600"/>
            <a:ext cx="1022401" cy="766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51" descr="A picture containing colorful, colored&#10;&#10;Description generated with very high confidence"/>
          <p:cNvPicPr preferRelativeResize="0"/>
          <p:nvPr/>
        </p:nvPicPr>
        <p:blipFill rotWithShape="1">
          <a:blip r:embed="rId3">
            <a:alphaModFix/>
          </a:blip>
          <a:srcRect t="55603" b="37530"/>
          <a:stretch/>
        </p:blipFill>
        <p:spPr>
          <a:xfrm>
            <a:off x="0" y="4849200"/>
            <a:ext cx="9144000" cy="29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51"/>
          <p:cNvSpPr/>
          <p:nvPr/>
        </p:nvSpPr>
        <p:spPr>
          <a:xfrm>
            <a:off x="894683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0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51"/>
          <p:cNvSpPr/>
          <p:nvPr/>
        </p:nvSpPr>
        <p:spPr>
          <a:xfrm>
            <a:off x="887040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0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51"/>
          <p:cNvSpPr/>
          <p:nvPr/>
        </p:nvSpPr>
        <p:spPr>
          <a:xfrm>
            <a:off x="879397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0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51"/>
          <p:cNvSpPr/>
          <p:nvPr/>
        </p:nvSpPr>
        <p:spPr>
          <a:xfrm>
            <a:off x="871754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0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f1834e442a_2_1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5" name="Google Shape;135;g2f1834e442a_2_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9" Type="http://schemas.openxmlformats.org/officeDocument/2006/relationships/image" Target="../media/image1.jp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23.xml"/><Relationship Id="rId10" Type="http://schemas.openxmlformats.org/officeDocument/2006/relationships/theme" Target="../theme/theme3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9" name="Google Shape;9;p24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-1" y="7219"/>
            <a:ext cx="9144001" cy="513628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push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" name="Google Shape;54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" name="Google Shape;55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6" name="Google Shape;56;p26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-1" y="7219"/>
            <a:ext cx="9144001" cy="513628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0" name="Google Shape;90;p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1" name="Google Shape;91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92" name="Google Shape;92;p29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-1" y="7219"/>
            <a:ext cx="9144001" cy="513628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forms.gle/xBEqaAHK7WPC2FdD7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IN" dirty="0"/>
              <a:t> </a:t>
            </a:r>
            <a:endParaRPr dirty="0"/>
          </a:p>
        </p:txBody>
      </p:sp>
      <p:sp>
        <p:nvSpPr>
          <p:cNvPr id="141" name="Google Shape;141;p6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pic>
        <p:nvPicPr>
          <p:cNvPr id="142" name="Google Shape;142;p6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" y="4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6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4604" y="600291"/>
            <a:ext cx="4134799" cy="29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6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200054" y="3386141"/>
            <a:ext cx="4743901" cy="115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/>
          </a:p>
        </p:txBody>
      </p:sp>
      <p:sp>
        <p:nvSpPr>
          <p:cNvPr id="150" name="Google Shape;150;p6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endParaRPr/>
          </a:p>
        </p:txBody>
      </p:sp>
      <p:pic>
        <p:nvPicPr>
          <p:cNvPr id="151" name="Google Shape;151;p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" y="4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63"/>
          <p:cNvSpPr txBox="1"/>
          <p:nvPr/>
        </p:nvSpPr>
        <p:spPr>
          <a:xfrm>
            <a:off x="150941" y="1747162"/>
            <a:ext cx="4690800" cy="750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lnSpc>
                <a:spcPct val="115000"/>
              </a:lnSpc>
              <a:buSzPts val="3200"/>
            </a:pPr>
            <a:r>
              <a:rPr lang="en-IN" sz="3200" b="1" i="0" u="none" strike="noStrike" cap="none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3200" b="1" i="0" u="none" strike="noStrike" cap="none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Google Shape;61;p2">
            <a:extLst>
              <a:ext uri="{FF2B5EF4-FFF2-40B4-BE49-F238E27FC236}">
                <a16:creationId xmlns:a16="http://schemas.microsoft.com/office/drawing/2014/main" id="{CD580870-16D8-63DA-2C59-CA6A1E71BCBB}"/>
              </a:ext>
            </a:extLst>
          </p:cNvPr>
          <p:cNvSpPr/>
          <p:nvPr/>
        </p:nvSpPr>
        <p:spPr>
          <a:xfrm>
            <a:off x="734800" y="1701475"/>
            <a:ext cx="4774200" cy="11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82925" rIns="81625" bIns="829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GRAPH COLORING</a:t>
            </a:r>
            <a:endParaRPr sz="69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68AA61A1-B3EB-2249-14E3-7964B98769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5645" y="2197365"/>
            <a:ext cx="2364486" cy="2202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DFCAD0F-0BE6-B814-E86B-A3D21611C97A}"/>
              </a:ext>
            </a:extLst>
          </p:cNvPr>
          <p:cNvSpPr txBox="1"/>
          <p:nvPr/>
        </p:nvSpPr>
        <p:spPr>
          <a:xfrm>
            <a:off x="1554480" y="1569196"/>
            <a:ext cx="4572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IN" sz="1400" b="1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URL</a:t>
            </a:r>
            <a:r>
              <a:rPr lang="en-IN" sz="1400" b="1" i="0" u="none" strike="noStrike" dirty="0">
                <a:solidFill>
                  <a:srgbClr val="373737"/>
                </a:solidFill>
                <a:effectLst/>
                <a:latin typeface="Roboto" panose="02000000000000000000" pitchFamily="2" charset="0"/>
              </a:rPr>
              <a:t>:</a:t>
            </a:r>
            <a:r>
              <a:rPr lang="en-IN" sz="1400" b="1" i="0" u="sng" strike="noStrike" dirty="0">
                <a:solidFill>
                  <a:srgbClr val="0097A7"/>
                </a:solidFill>
                <a:effectLst/>
                <a:latin typeface="Roboto" panose="02000000000000000000" pitchFamily="2" charset="0"/>
                <a:hlinkClick r:id="rId3"/>
              </a:rPr>
              <a:t>https://forms.gle/xBEqaAHK7WPC2FdD7</a:t>
            </a:r>
            <a:endParaRPr lang="en-IN" b="0" dirty="0">
              <a:effectLst/>
            </a:endParaRPr>
          </a:p>
          <a:p>
            <a:br>
              <a:rPr lang="en-IN" b="0" dirty="0">
                <a:effectLst/>
              </a:rPr>
            </a:br>
            <a:r>
              <a:rPr lang="en-IN" sz="1400" b="1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QR CODE</a:t>
            </a:r>
            <a:r>
              <a:rPr lang="en-IN" sz="1400" b="1" i="0" u="none" strike="noStrike" dirty="0">
                <a:solidFill>
                  <a:srgbClr val="373737"/>
                </a:solidFill>
                <a:effectLst/>
                <a:latin typeface="Roboto" panose="02000000000000000000" pitchFamily="2" charset="0"/>
              </a:rPr>
              <a:t>: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5F43F2-1FD2-D235-25B1-6F33D5C74EF8}"/>
              </a:ext>
            </a:extLst>
          </p:cNvPr>
          <p:cNvSpPr txBox="1"/>
          <p:nvPr/>
        </p:nvSpPr>
        <p:spPr>
          <a:xfrm>
            <a:off x="2286000" y="589823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TEST TIME ON ACTIVITY SELECTION PROBLEM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0799244"/>
      </p:ext>
    </p:extLst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71;g257bd1e9c5e_0_0">
            <a:extLst>
              <a:ext uri="{FF2B5EF4-FFF2-40B4-BE49-F238E27FC236}">
                <a16:creationId xmlns:a16="http://schemas.microsoft.com/office/drawing/2014/main" id="{7F494034-5FE0-6AAF-1D7F-03BF23C93184}"/>
              </a:ext>
            </a:extLst>
          </p:cNvPr>
          <p:cNvSpPr/>
          <p:nvPr/>
        </p:nvSpPr>
        <p:spPr>
          <a:xfrm>
            <a:off x="2819533" y="340218"/>
            <a:ext cx="3246300" cy="362100"/>
          </a:xfrm>
          <a:prstGeom prst="roundRect">
            <a:avLst>
              <a:gd name="adj" fmla="val 16667"/>
            </a:avLst>
          </a:prstGeom>
          <a:solidFill>
            <a:srgbClr val="9900F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</a:t>
            </a:r>
            <a:r>
              <a:rPr lang="en-US" sz="1600" dirty="0">
                <a:solidFill>
                  <a:schemeClr val="lt1"/>
                </a:solidFill>
              </a:rPr>
              <a:t>Graph Coloring</a:t>
            </a:r>
            <a:endParaRPr sz="16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69;g257bd1e9c5e_0_0">
            <a:extLst>
              <a:ext uri="{FF2B5EF4-FFF2-40B4-BE49-F238E27FC236}">
                <a16:creationId xmlns:a16="http://schemas.microsoft.com/office/drawing/2014/main" id="{46EAB4C3-FFC3-329A-84B3-D960C805B5AE}"/>
              </a:ext>
            </a:extLst>
          </p:cNvPr>
          <p:cNvSpPr txBox="1"/>
          <p:nvPr/>
        </p:nvSpPr>
        <p:spPr>
          <a:xfrm>
            <a:off x="582930" y="895350"/>
            <a:ext cx="7978200" cy="47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 sz="2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Graph Coloring is an assignment of labels traditionally called "colors" to elements of a graph subject to certain constraints.</a:t>
            </a: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way of coloring the vertices of a graph such that no two adjacent vertices are of the same color -- a common graph coloring problem</a:t>
            </a: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Other kinds of Graph coloring are Edge Coloring and Face coloring</a:t>
            </a: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Graph coloring enjoys many practical applications as well as theoretical challenges.</a:t>
            </a: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108594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71;g257bd1e9c5e_0_0">
            <a:extLst>
              <a:ext uri="{FF2B5EF4-FFF2-40B4-BE49-F238E27FC236}">
                <a16:creationId xmlns:a16="http://schemas.microsoft.com/office/drawing/2014/main" id="{7F494034-5FE0-6AAF-1D7F-03BF23C93184}"/>
              </a:ext>
            </a:extLst>
          </p:cNvPr>
          <p:cNvSpPr/>
          <p:nvPr/>
        </p:nvSpPr>
        <p:spPr>
          <a:xfrm>
            <a:off x="2819533" y="340218"/>
            <a:ext cx="3246300" cy="362100"/>
          </a:xfrm>
          <a:prstGeom prst="roundRect">
            <a:avLst>
              <a:gd name="adj" fmla="val 16667"/>
            </a:avLst>
          </a:prstGeom>
          <a:solidFill>
            <a:srgbClr val="9900F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</a:t>
            </a:r>
            <a:r>
              <a:rPr lang="en-US" sz="1600" dirty="0">
                <a:solidFill>
                  <a:schemeClr val="lt1"/>
                </a:solidFill>
              </a:rPr>
              <a:t>Graph Coloring</a:t>
            </a:r>
            <a:endParaRPr sz="16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78;g257bd1e9c5e_0_7">
            <a:extLst>
              <a:ext uri="{FF2B5EF4-FFF2-40B4-BE49-F238E27FC236}">
                <a16:creationId xmlns:a16="http://schemas.microsoft.com/office/drawing/2014/main" id="{22B67911-7102-BBBA-E2E1-B258B111B6DE}"/>
              </a:ext>
            </a:extLst>
          </p:cNvPr>
          <p:cNvSpPr txBox="1"/>
          <p:nvPr/>
        </p:nvSpPr>
        <p:spPr>
          <a:xfrm>
            <a:off x="582930" y="895350"/>
            <a:ext cx="4606800" cy="41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endParaRPr sz="2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Vertex coloring of the “Petersen graph” with 3 colors, the minimum number possible</a:t>
            </a: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Chromatic Number: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smallest number of colors needed to color a graph G is called its chromatic number. For example, the graph on the right can be colored minimum 3 colors. </a:t>
            </a: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Google Shape;79;g257bd1e9c5e_0_7">
            <a:extLst>
              <a:ext uri="{FF2B5EF4-FFF2-40B4-BE49-F238E27FC236}">
                <a16:creationId xmlns:a16="http://schemas.microsoft.com/office/drawing/2014/main" id="{D0E16E6B-CD1A-DEEB-3FB5-EBF6C72EA76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89730" y="1043570"/>
            <a:ext cx="3625850" cy="34620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437978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71;g257bd1e9c5e_0_0">
            <a:extLst>
              <a:ext uri="{FF2B5EF4-FFF2-40B4-BE49-F238E27FC236}">
                <a16:creationId xmlns:a16="http://schemas.microsoft.com/office/drawing/2014/main" id="{7F494034-5FE0-6AAF-1D7F-03BF23C93184}"/>
              </a:ext>
            </a:extLst>
          </p:cNvPr>
          <p:cNvSpPr/>
          <p:nvPr/>
        </p:nvSpPr>
        <p:spPr>
          <a:xfrm>
            <a:off x="2819533" y="340218"/>
            <a:ext cx="3246300" cy="362100"/>
          </a:xfrm>
          <a:prstGeom prst="roundRect">
            <a:avLst>
              <a:gd name="adj" fmla="val 16667"/>
            </a:avLst>
          </a:prstGeom>
          <a:solidFill>
            <a:srgbClr val="9900F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</a:t>
            </a:r>
            <a:r>
              <a:rPr lang="en-US" sz="1600" dirty="0">
                <a:solidFill>
                  <a:schemeClr val="lt1"/>
                </a:solidFill>
              </a:rPr>
              <a:t>Graph Coloring</a:t>
            </a:r>
            <a:endParaRPr sz="16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88;g257bd1e9c5e_0_15">
            <a:extLst>
              <a:ext uri="{FF2B5EF4-FFF2-40B4-BE49-F238E27FC236}">
                <a16:creationId xmlns:a16="http://schemas.microsoft.com/office/drawing/2014/main" id="{A25C41D0-7FC4-0568-35D2-2A0F5AC8B141}"/>
              </a:ext>
            </a:extLst>
          </p:cNvPr>
          <p:cNvSpPr txBox="1"/>
          <p:nvPr/>
        </p:nvSpPr>
        <p:spPr>
          <a:xfrm>
            <a:off x="582930" y="895350"/>
            <a:ext cx="7646100" cy="41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Applications</a:t>
            </a:r>
            <a:endParaRPr sz="2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1) Making Schedule or Time Table</a:t>
            </a: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2) Mobile Radio Frequency Assignment</a:t>
            </a: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3) Sudoku</a:t>
            </a: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4) Register Allocation</a:t>
            </a: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5) Bipartite Graphs</a:t>
            </a: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6) Map Coloring</a:t>
            </a: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05894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71;g257bd1e9c5e_0_0">
            <a:extLst>
              <a:ext uri="{FF2B5EF4-FFF2-40B4-BE49-F238E27FC236}">
                <a16:creationId xmlns:a16="http://schemas.microsoft.com/office/drawing/2014/main" id="{7F494034-5FE0-6AAF-1D7F-03BF23C93184}"/>
              </a:ext>
            </a:extLst>
          </p:cNvPr>
          <p:cNvSpPr/>
          <p:nvPr/>
        </p:nvSpPr>
        <p:spPr>
          <a:xfrm>
            <a:off x="2819533" y="340218"/>
            <a:ext cx="3246300" cy="362100"/>
          </a:xfrm>
          <a:prstGeom prst="roundRect">
            <a:avLst>
              <a:gd name="adj" fmla="val 16667"/>
            </a:avLst>
          </a:prstGeom>
          <a:solidFill>
            <a:srgbClr val="9900F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</a:t>
            </a:r>
            <a:r>
              <a:rPr lang="en-US" sz="1600" dirty="0">
                <a:solidFill>
                  <a:schemeClr val="lt1"/>
                </a:solidFill>
              </a:rPr>
              <a:t>Graph Coloring</a:t>
            </a:r>
            <a:endParaRPr sz="16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97;g257bd1e9c5e_0_22">
            <a:extLst>
              <a:ext uri="{FF2B5EF4-FFF2-40B4-BE49-F238E27FC236}">
                <a16:creationId xmlns:a16="http://schemas.microsoft.com/office/drawing/2014/main" id="{52F7BA78-7BF5-706C-8B76-24AEA652728B}"/>
              </a:ext>
            </a:extLst>
          </p:cNvPr>
          <p:cNvSpPr txBox="1"/>
          <p:nvPr/>
        </p:nvSpPr>
        <p:spPr>
          <a:xfrm>
            <a:off x="582930" y="895350"/>
            <a:ext cx="7978200" cy="39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Greedy method to solve it</a:t>
            </a:r>
            <a:endParaRPr sz="2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There is no efficient algorithm available for coloring a graph with minimum number of colors as the problem is a known </a:t>
            </a:r>
            <a:r>
              <a:rPr lang="en-US" sz="1800" i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NP-Complete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problem</a:t>
            </a: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algorithm doesn’t guarantee to use minimum colors, but it guarantees an upper bound on the number of colors.</a:t>
            </a: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basic algorithm never uses more than d+1 colors where d is the maximum degree of a vertex in the given graph.</a:t>
            </a: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716016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71;g257bd1e9c5e_0_0">
            <a:extLst>
              <a:ext uri="{FF2B5EF4-FFF2-40B4-BE49-F238E27FC236}">
                <a16:creationId xmlns:a16="http://schemas.microsoft.com/office/drawing/2014/main" id="{7F494034-5FE0-6AAF-1D7F-03BF23C93184}"/>
              </a:ext>
            </a:extLst>
          </p:cNvPr>
          <p:cNvSpPr/>
          <p:nvPr/>
        </p:nvSpPr>
        <p:spPr>
          <a:xfrm>
            <a:off x="2819533" y="340218"/>
            <a:ext cx="3246300" cy="362100"/>
          </a:xfrm>
          <a:prstGeom prst="roundRect">
            <a:avLst>
              <a:gd name="adj" fmla="val 16667"/>
            </a:avLst>
          </a:prstGeom>
          <a:solidFill>
            <a:srgbClr val="9900F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</a:t>
            </a:r>
            <a:r>
              <a:rPr lang="en-US" sz="1600" dirty="0">
                <a:solidFill>
                  <a:schemeClr val="lt1"/>
                </a:solidFill>
              </a:rPr>
              <a:t>Graph Coloring</a:t>
            </a:r>
            <a:endParaRPr sz="16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106;g257bd1e9c5e_0_29">
            <a:extLst>
              <a:ext uri="{FF2B5EF4-FFF2-40B4-BE49-F238E27FC236}">
                <a16:creationId xmlns:a16="http://schemas.microsoft.com/office/drawing/2014/main" id="{57DAA83F-4ABA-31CB-A84D-9B392EACE573}"/>
              </a:ext>
            </a:extLst>
          </p:cNvPr>
          <p:cNvSpPr txBox="1"/>
          <p:nvPr/>
        </p:nvSpPr>
        <p:spPr>
          <a:xfrm>
            <a:off x="582930" y="895350"/>
            <a:ext cx="7978200" cy="3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Algorithm</a:t>
            </a:r>
            <a:endParaRPr sz="2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Color first vertex with first color. </a:t>
            </a: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Do following for remaining V-1 vertices. </a:t>
            </a: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Consider the currently picked vertex and color it with the lowest numbered color that has not been used on any previously colored vertices adjacent to it. 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all previously used colors appear on vertices adjacent to v, assign a new color to it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314224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71;g257bd1e9c5e_0_0">
            <a:extLst>
              <a:ext uri="{FF2B5EF4-FFF2-40B4-BE49-F238E27FC236}">
                <a16:creationId xmlns:a16="http://schemas.microsoft.com/office/drawing/2014/main" id="{7F494034-5FE0-6AAF-1D7F-03BF23C93184}"/>
              </a:ext>
            </a:extLst>
          </p:cNvPr>
          <p:cNvSpPr/>
          <p:nvPr/>
        </p:nvSpPr>
        <p:spPr>
          <a:xfrm>
            <a:off x="2819533" y="340218"/>
            <a:ext cx="3246300" cy="362100"/>
          </a:xfrm>
          <a:prstGeom prst="roundRect">
            <a:avLst>
              <a:gd name="adj" fmla="val 16667"/>
            </a:avLst>
          </a:prstGeom>
          <a:solidFill>
            <a:srgbClr val="9900F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</a:t>
            </a:r>
            <a:r>
              <a:rPr lang="en-US" sz="1600" dirty="0">
                <a:solidFill>
                  <a:schemeClr val="lt1"/>
                </a:solidFill>
              </a:rPr>
              <a:t>Graph Coloring</a:t>
            </a:r>
            <a:endParaRPr sz="16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115;g257bd1e9c5e_0_36">
            <a:extLst>
              <a:ext uri="{FF2B5EF4-FFF2-40B4-BE49-F238E27FC236}">
                <a16:creationId xmlns:a16="http://schemas.microsoft.com/office/drawing/2014/main" id="{C5FC8B96-473F-9A1D-4D05-E9FD57433E9A}"/>
              </a:ext>
            </a:extLst>
          </p:cNvPr>
          <p:cNvSpPr txBox="1"/>
          <p:nvPr/>
        </p:nvSpPr>
        <p:spPr>
          <a:xfrm>
            <a:off x="1887474" y="772200"/>
            <a:ext cx="7978200" cy="437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Program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graphcoloring1.java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 sz="1400" u="sng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Coloring of graph 1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Vertex 0 ---&gt;  Color 0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Vertex 1 ---&gt;  Color 1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Vertex 2 ---&gt;  Color 2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Vertex 3 ---&gt;  Color 0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Vertex 4 ---&gt;  Color 1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Coloring of graph 2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Vertex 0 ---&gt;  Color 0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Vertex 1 ---&gt;  Color 1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Vertex 2 ---&gt;  Color 2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Vertex 3 ---&gt;  Color 0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Vertex 4 ---&gt;  Color 3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52544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71;g257bd1e9c5e_0_0">
            <a:extLst>
              <a:ext uri="{FF2B5EF4-FFF2-40B4-BE49-F238E27FC236}">
                <a16:creationId xmlns:a16="http://schemas.microsoft.com/office/drawing/2014/main" id="{7F494034-5FE0-6AAF-1D7F-03BF23C93184}"/>
              </a:ext>
            </a:extLst>
          </p:cNvPr>
          <p:cNvSpPr/>
          <p:nvPr/>
        </p:nvSpPr>
        <p:spPr>
          <a:xfrm>
            <a:off x="2819533" y="340218"/>
            <a:ext cx="3246300" cy="281574"/>
          </a:xfrm>
          <a:prstGeom prst="roundRect">
            <a:avLst>
              <a:gd name="adj" fmla="val 16667"/>
            </a:avLst>
          </a:prstGeom>
          <a:solidFill>
            <a:srgbClr val="9900F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</a:t>
            </a:r>
            <a:r>
              <a:rPr lang="en-US" sz="1600" dirty="0">
                <a:solidFill>
                  <a:schemeClr val="lt1"/>
                </a:solidFill>
              </a:rPr>
              <a:t>Graph Coloring</a:t>
            </a:r>
            <a:endParaRPr sz="16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" name="Google Shape;128;g257bd1e9c5e_0_174">
            <a:extLst>
              <a:ext uri="{FF2B5EF4-FFF2-40B4-BE49-F238E27FC236}">
                <a16:creationId xmlns:a16="http://schemas.microsoft.com/office/drawing/2014/main" id="{73DBF809-98E9-9BC3-0FA3-0E66F2470CF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09798229"/>
              </p:ext>
            </p:extLst>
          </p:nvPr>
        </p:nvGraphicFramePr>
        <p:xfrm>
          <a:off x="98114" y="816864"/>
          <a:ext cx="8947771" cy="417641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129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348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7641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import java.io.*;</a:t>
                      </a:r>
                      <a:endParaRPr sz="105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import </a:t>
                      </a:r>
                      <a:r>
                        <a:rPr lang="en-US" sz="1050" b="0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java.util</a:t>
                      </a:r>
                      <a:r>
                        <a:rPr lang="en-US" sz="105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.*;</a:t>
                      </a:r>
                      <a:endParaRPr sz="105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import </a:t>
                      </a:r>
                      <a:r>
                        <a:rPr lang="en-US" sz="1050" b="0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java.util.LinkedList</a:t>
                      </a:r>
                      <a:r>
                        <a:rPr lang="en-US" sz="105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;</a:t>
                      </a:r>
                      <a:endParaRPr sz="105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05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class Graph</a:t>
                      </a:r>
                      <a:endParaRPr sz="105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{</a:t>
                      </a:r>
                      <a:endParaRPr sz="105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	private int V; // No. of vertices</a:t>
                      </a:r>
                      <a:endParaRPr sz="105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	private LinkedList&lt;Integer&gt; adj[]; </a:t>
                      </a:r>
                      <a:endParaRPr sz="105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     Graph(int v)</a:t>
                      </a:r>
                      <a:endParaRPr sz="105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	{</a:t>
                      </a:r>
                      <a:endParaRPr sz="105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		V = v;</a:t>
                      </a:r>
                      <a:endParaRPr sz="105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		adj = new LinkedList[v];</a:t>
                      </a:r>
                      <a:endParaRPr sz="105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		for (int </a:t>
                      </a:r>
                      <a:r>
                        <a:rPr lang="en-US" sz="1050" b="0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i</a:t>
                      </a:r>
                      <a:r>
                        <a:rPr lang="en-US" sz="105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=0; </a:t>
                      </a:r>
                      <a:r>
                        <a:rPr lang="en-US" sz="1050" b="0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i</a:t>
                      </a:r>
                      <a:r>
                        <a:rPr lang="en-US" sz="105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&lt;v; ++</a:t>
                      </a:r>
                      <a:r>
                        <a:rPr lang="en-US" sz="1050" b="0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i</a:t>
                      </a:r>
                      <a:r>
                        <a:rPr lang="en-US" sz="105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)</a:t>
                      </a:r>
                      <a:endParaRPr sz="105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		adj[</a:t>
                      </a:r>
                      <a:r>
                        <a:rPr lang="en-US" sz="1050" b="0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i</a:t>
                      </a:r>
                      <a:r>
                        <a:rPr lang="en-US" sz="105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] = new LinkedList();</a:t>
                      </a:r>
                      <a:endParaRPr sz="105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	}</a:t>
                      </a:r>
                      <a:endParaRPr sz="105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	void </a:t>
                      </a:r>
                      <a:r>
                        <a:rPr lang="en-US" sz="1050" b="0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addEdge</a:t>
                      </a:r>
                      <a:r>
                        <a:rPr lang="en-US" sz="105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(int </a:t>
                      </a:r>
                      <a:r>
                        <a:rPr lang="en-US" sz="1050" b="0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v,int</a:t>
                      </a:r>
                      <a:r>
                        <a:rPr lang="en-US" sz="105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w)</a:t>
                      </a:r>
                      <a:endParaRPr sz="105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	{</a:t>
                      </a:r>
                      <a:endParaRPr sz="105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		adj[v].add(w);</a:t>
                      </a:r>
                      <a:endParaRPr sz="105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		adj[w].add(v); //Graph is undirected</a:t>
                      </a:r>
                      <a:endParaRPr sz="105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	}</a:t>
                      </a:r>
                      <a:endParaRPr sz="105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05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void </a:t>
                      </a:r>
                      <a:r>
                        <a:rPr lang="en-US" sz="1050" b="0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greedyColoring</a:t>
                      </a:r>
                      <a:r>
                        <a:rPr lang="en-US" sz="105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()</a:t>
                      </a:r>
                      <a:endParaRPr sz="105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	{</a:t>
                      </a:r>
                      <a:endParaRPr sz="105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		int result[] = new int[V];</a:t>
                      </a:r>
                      <a:endParaRPr sz="105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		</a:t>
                      </a:r>
                      <a:r>
                        <a:rPr lang="en-US" sz="1050" b="0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Arrays.fill</a:t>
                      </a:r>
                      <a:r>
                        <a:rPr lang="en-US" sz="105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(result, -1);</a:t>
                      </a:r>
                      <a:endParaRPr sz="105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          result[0] = 0;</a:t>
                      </a:r>
                      <a:endParaRPr sz="105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		</a:t>
                      </a:r>
                      <a:r>
                        <a:rPr lang="en-US" sz="1050" b="0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boolean</a:t>
                      </a:r>
                      <a:r>
                        <a:rPr lang="en-US" sz="105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available[] = new </a:t>
                      </a:r>
                      <a:r>
                        <a:rPr lang="en-US" sz="1050" b="0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boolean</a:t>
                      </a:r>
                      <a:r>
                        <a:rPr lang="en-US" sz="105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[V];</a:t>
                      </a:r>
                      <a:endParaRPr sz="105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		</a:t>
                      </a:r>
                      <a:r>
                        <a:rPr lang="en-US" sz="1050" b="0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Arrays.fill</a:t>
                      </a:r>
                      <a:r>
                        <a:rPr lang="en-US" sz="105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(available, true);</a:t>
                      </a:r>
                      <a:endParaRPr sz="105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		for (int u = 1; u &lt; V; u++)</a:t>
                      </a:r>
                      <a:endParaRPr sz="105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		{			</a:t>
                      </a:r>
                      <a:endParaRPr sz="105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Iterator&lt;Integer&gt; it = adj[u].iterator() ;</a:t>
                      </a:r>
                      <a:endParaRPr sz="105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			while (</a:t>
                      </a:r>
                      <a:r>
                        <a:rPr lang="en-US" sz="1050" b="0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it.hasNext</a:t>
                      </a:r>
                      <a:r>
                        <a:rPr lang="en-US" sz="105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())</a:t>
                      </a:r>
                      <a:endParaRPr sz="105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			{</a:t>
                      </a:r>
                      <a:endParaRPr sz="105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				int </a:t>
                      </a:r>
                      <a:r>
                        <a:rPr lang="en-US" sz="1050" b="0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i</a:t>
                      </a:r>
                      <a:r>
                        <a:rPr lang="en-US" sz="105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= </a:t>
                      </a:r>
                      <a:r>
                        <a:rPr lang="en-US" sz="1050" b="0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it.next</a:t>
                      </a:r>
                      <a:r>
                        <a:rPr lang="en-US" sz="105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();</a:t>
                      </a:r>
                      <a:endParaRPr sz="105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				if (result[</a:t>
                      </a:r>
                      <a:r>
                        <a:rPr lang="en-US" sz="1050" b="0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i</a:t>
                      </a:r>
                      <a:r>
                        <a:rPr lang="en-US" sz="105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] != -1)</a:t>
                      </a:r>
                      <a:endParaRPr sz="105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			available[result[</a:t>
                      </a:r>
                      <a:r>
                        <a:rPr lang="en-US" sz="1050" b="0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i</a:t>
                      </a:r>
                      <a:r>
                        <a:rPr lang="en-US" sz="105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]] = false;</a:t>
                      </a:r>
                      <a:endParaRPr sz="105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			}</a:t>
                      </a:r>
                      <a:endParaRPr sz="105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050" b="0" dirty="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79573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71;g257bd1e9c5e_0_0">
            <a:extLst>
              <a:ext uri="{FF2B5EF4-FFF2-40B4-BE49-F238E27FC236}">
                <a16:creationId xmlns:a16="http://schemas.microsoft.com/office/drawing/2014/main" id="{7F494034-5FE0-6AAF-1D7F-03BF23C93184}"/>
              </a:ext>
            </a:extLst>
          </p:cNvPr>
          <p:cNvSpPr/>
          <p:nvPr/>
        </p:nvSpPr>
        <p:spPr>
          <a:xfrm>
            <a:off x="2819533" y="340218"/>
            <a:ext cx="3246300" cy="257190"/>
          </a:xfrm>
          <a:prstGeom prst="roundRect">
            <a:avLst>
              <a:gd name="adj" fmla="val 16667"/>
            </a:avLst>
          </a:prstGeom>
          <a:solidFill>
            <a:srgbClr val="9900F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</a:t>
            </a:r>
            <a:r>
              <a:rPr lang="en-US" sz="1600" dirty="0">
                <a:solidFill>
                  <a:schemeClr val="lt1"/>
                </a:solidFill>
              </a:rPr>
              <a:t>Graph Coloring</a:t>
            </a:r>
            <a:endParaRPr sz="16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Google Shape;138;g257bd1e9c5e_0_183">
            <a:extLst>
              <a:ext uri="{FF2B5EF4-FFF2-40B4-BE49-F238E27FC236}">
                <a16:creationId xmlns:a16="http://schemas.microsoft.com/office/drawing/2014/main" id="{2172AC93-5C9A-909C-476E-F5843F09B9A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38086626"/>
              </p:ext>
            </p:extLst>
          </p:nvPr>
        </p:nvGraphicFramePr>
        <p:xfrm>
          <a:off x="208421" y="752543"/>
          <a:ext cx="8428300" cy="431743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52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7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645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                int </a:t>
                      </a:r>
                      <a:r>
                        <a:rPr lang="en-US" sz="1050" b="0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cr</a:t>
                      </a:r>
                      <a:r>
                        <a:rPr lang="en-US" sz="105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;</a:t>
                      </a:r>
                      <a:endParaRPr sz="105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	for (</a:t>
                      </a:r>
                      <a:r>
                        <a:rPr lang="en-US" sz="1050" b="0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cr</a:t>
                      </a:r>
                      <a:r>
                        <a:rPr lang="en-US" sz="105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= 0; </a:t>
                      </a:r>
                      <a:r>
                        <a:rPr lang="en-US" sz="1050" b="0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cr</a:t>
                      </a:r>
                      <a:r>
                        <a:rPr lang="en-US" sz="105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&lt; V; </a:t>
                      </a:r>
                      <a:r>
                        <a:rPr lang="en-US" sz="1050" b="0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cr</a:t>
                      </a:r>
                      <a:r>
                        <a:rPr lang="en-US" sz="105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++){</a:t>
                      </a:r>
                      <a:endParaRPr sz="105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	if (available[</a:t>
                      </a:r>
                      <a:r>
                        <a:rPr lang="en-US" sz="1050" b="0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cr</a:t>
                      </a:r>
                      <a:r>
                        <a:rPr lang="en-US" sz="105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])</a:t>
                      </a:r>
                      <a:endParaRPr sz="105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					break;</a:t>
                      </a:r>
                      <a:endParaRPr sz="105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	}</a:t>
                      </a:r>
                      <a:endParaRPr sz="105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05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	result[u] = </a:t>
                      </a:r>
                      <a:r>
                        <a:rPr lang="en-US" sz="1050" b="0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cr</a:t>
                      </a:r>
                      <a:r>
                        <a:rPr lang="en-US" sz="105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; 			             </a:t>
                      </a:r>
                      <a:r>
                        <a:rPr lang="en-US" sz="1050" b="0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Arrays.fill</a:t>
                      </a:r>
                      <a:r>
                        <a:rPr lang="en-US" sz="105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(available, true);</a:t>
                      </a:r>
                      <a:endParaRPr sz="105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		}</a:t>
                      </a:r>
                      <a:endParaRPr sz="105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		for (int u = 0; u &lt; V; u++)</a:t>
                      </a:r>
                      <a:endParaRPr sz="105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System.out.println</a:t>
                      </a:r>
                      <a:r>
                        <a:rPr lang="en-US" sz="105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("Vertex " + u + " ---&gt; Color "</a:t>
                      </a:r>
                      <a:endParaRPr sz="105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						+result[u]);</a:t>
                      </a:r>
                      <a:endParaRPr sz="105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	}</a:t>
                      </a:r>
                      <a:endParaRPr sz="105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05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public static void main(String </a:t>
                      </a:r>
                      <a:r>
                        <a:rPr lang="en-US" sz="1050" b="0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args</a:t>
                      </a:r>
                      <a:r>
                        <a:rPr lang="en-US" sz="105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[])</a:t>
                      </a:r>
                      <a:endParaRPr sz="105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	{</a:t>
                      </a:r>
                      <a:endParaRPr sz="105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		Graph g1 = new Graph(5);</a:t>
                      </a:r>
                      <a:endParaRPr sz="105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		g1.addEdge(0, 1);</a:t>
                      </a:r>
                      <a:endParaRPr sz="105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		g1.addEdge(0, 2);</a:t>
                      </a:r>
                      <a:endParaRPr sz="105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		g1.addEdge(1, 2);</a:t>
                      </a:r>
                      <a:endParaRPr sz="105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		g1.addEdge(1, 3);</a:t>
                      </a:r>
                      <a:endParaRPr sz="105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		g1.addEdge(2, 3);</a:t>
                      </a:r>
                      <a:endParaRPr sz="105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		g1.addEdge(3, 4);</a:t>
                      </a:r>
                      <a:endParaRPr sz="105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	</a:t>
                      </a:r>
                      <a:r>
                        <a:rPr lang="en-US" sz="1050" b="0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System.out.println</a:t>
                      </a:r>
                      <a:r>
                        <a:rPr lang="en-US" sz="105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("Coloring of graph 1");</a:t>
                      </a:r>
                      <a:endParaRPr sz="105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		g1.greedyColoring();</a:t>
                      </a:r>
                      <a:endParaRPr sz="105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05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		</a:t>
                      </a:r>
                      <a:r>
                        <a:rPr lang="en-US" sz="1050" b="0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System.out.println</a:t>
                      </a:r>
                      <a:r>
                        <a:rPr lang="en-US" sz="105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();</a:t>
                      </a:r>
                      <a:endParaRPr sz="105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		Graph g2 = new Graph(5);</a:t>
                      </a:r>
                      <a:endParaRPr sz="105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		g2.addEdge(0, 1);</a:t>
                      </a:r>
                      <a:endParaRPr sz="105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		g2.addEdge(0, 2);</a:t>
                      </a:r>
                      <a:endParaRPr sz="105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		g2.addEdge(1, 2);</a:t>
                      </a:r>
                      <a:endParaRPr sz="105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		g2.addEdge(1, 4);</a:t>
                      </a:r>
                      <a:endParaRPr sz="105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		g2.addEdge(2, 4);</a:t>
                      </a:r>
                      <a:endParaRPr sz="105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		g2.addEdge(4, 3);</a:t>
                      </a:r>
                      <a:endParaRPr sz="105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System.out.println</a:t>
                      </a:r>
                      <a:r>
                        <a:rPr lang="en-US" sz="105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("Coloring of graph 2 ");</a:t>
                      </a:r>
                      <a:endParaRPr sz="105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		g2.greedyColoring();</a:t>
                      </a:r>
                      <a:endParaRPr sz="105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	}}</a:t>
                      </a:r>
                      <a:endParaRPr sz="105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71082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71;g257bd1e9c5e_0_0">
            <a:extLst>
              <a:ext uri="{FF2B5EF4-FFF2-40B4-BE49-F238E27FC236}">
                <a16:creationId xmlns:a16="http://schemas.microsoft.com/office/drawing/2014/main" id="{7F494034-5FE0-6AAF-1D7F-03BF23C93184}"/>
              </a:ext>
            </a:extLst>
          </p:cNvPr>
          <p:cNvSpPr/>
          <p:nvPr/>
        </p:nvSpPr>
        <p:spPr>
          <a:xfrm>
            <a:off x="2819533" y="340218"/>
            <a:ext cx="3246300" cy="362100"/>
          </a:xfrm>
          <a:prstGeom prst="roundRect">
            <a:avLst>
              <a:gd name="adj" fmla="val 16667"/>
            </a:avLst>
          </a:prstGeom>
          <a:solidFill>
            <a:srgbClr val="9900F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</a:t>
            </a:r>
            <a:r>
              <a:rPr lang="en-US" sz="1600" dirty="0">
                <a:solidFill>
                  <a:schemeClr val="lt1"/>
                </a:solidFill>
              </a:rPr>
              <a:t>Graph Coloring</a:t>
            </a:r>
            <a:endParaRPr sz="16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145;g257bd1e9c5e_0_44">
            <a:extLst>
              <a:ext uri="{FF2B5EF4-FFF2-40B4-BE49-F238E27FC236}">
                <a16:creationId xmlns:a16="http://schemas.microsoft.com/office/drawing/2014/main" id="{64395FD6-98E5-805A-0F27-B61D7DD08259}"/>
              </a:ext>
            </a:extLst>
          </p:cNvPr>
          <p:cNvSpPr txBox="1"/>
          <p:nvPr/>
        </p:nvSpPr>
        <p:spPr>
          <a:xfrm>
            <a:off x="582930" y="856615"/>
            <a:ext cx="7978200" cy="3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Program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graphcoloring1.java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algorithm doesn’t always use minimum number of colors. 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number of colors used sometime depend on the order in which vertices are processed. 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Order in which the vertices are picked is important. There are different ways to do so 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most common is Welsh–Powell Algorithm which considers vertices in descending order of degrees. 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001240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71;g257bd1e9c5e_0_0">
            <a:extLst>
              <a:ext uri="{FF2B5EF4-FFF2-40B4-BE49-F238E27FC236}">
                <a16:creationId xmlns:a16="http://schemas.microsoft.com/office/drawing/2014/main" id="{7F494034-5FE0-6AAF-1D7F-03BF23C93184}"/>
              </a:ext>
            </a:extLst>
          </p:cNvPr>
          <p:cNvSpPr/>
          <p:nvPr/>
        </p:nvSpPr>
        <p:spPr>
          <a:xfrm>
            <a:off x="2819533" y="340218"/>
            <a:ext cx="3246300" cy="362100"/>
          </a:xfrm>
          <a:prstGeom prst="roundRect">
            <a:avLst>
              <a:gd name="adj" fmla="val 16667"/>
            </a:avLst>
          </a:prstGeom>
          <a:solidFill>
            <a:srgbClr val="9900F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</a:t>
            </a:r>
            <a:r>
              <a:rPr lang="en-US" sz="1600" dirty="0">
                <a:solidFill>
                  <a:schemeClr val="lt1"/>
                </a:solidFill>
              </a:rPr>
              <a:t>Graph Coloring</a:t>
            </a:r>
            <a:endParaRPr sz="16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154;g257bd1e9c5e_0_51">
            <a:extLst>
              <a:ext uri="{FF2B5EF4-FFF2-40B4-BE49-F238E27FC236}">
                <a16:creationId xmlns:a16="http://schemas.microsoft.com/office/drawing/2014/main" id="{3ACD2181-92CA-4DA8-4520-F151DB46448A}"/>
              </a:ext>
            </a:extLst>
          </p:cNvPr>
          <p:cNvSpPr txBox="1"/>
          <p:nvPr/>
        </p:nvSpPr>
        <p:spPr>
          <a:xfrm>
            <a:off x="582930" y="856615"/>
            <a:ext cx="7978200" cy="28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Welsh Powell Algorithm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Find the degree of each vertex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List the vertices in order of descending degrees.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Colour the first vertex with color 1.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Move down the list and color all the vertices not connected to the coloured vertex, with the same color.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Repeat step 4 on all uncolored vertices with a new color, in descending order of degrees until all the vertices are coloured.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41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244136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71;g257bd1e9c5e_0_0">
            <a:extLst>
              <a:ext uri="{FF2B5EF4-FFF2-40B4-BE49-F238E27FC236}">
                <a16:creationId xmlns:a16="http://schemas.microsoft.com/office/drawing/2014/main" id="{7F494034-5FE0-6AAF-1D7F-03BF23C93184}"/>
              </a:ext>
            </a:extLst>
          </p:cNvPr>
          <p:cNvSpPr/>
          <p:nvPr/>
        </p:nvSpPr>
        <p:spPr>
          <a:xfrm>
            <a:off x="2819533" y="340218"/>
            <a:ext cx="3246300" cy="362100"/>
          </a:xfrm>
          <a:prstGeom prst="roundRect">
            <a:avLst>
              <a:gd name="adj" fmla="val 16667"/>
            </a:avLst>
          </a:prstGeom>
          <a:solidFill>
            <a:srgbClr val="9900F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</a:t>
            </a:r>
            <a:r>
              <a:rPr lang="en-US" sz="1600" dirty="0">
                <a:solidFill>
                  <a:schemeClr val="lt1"/>
                </a:solidFill>
              </a:rPr>
              <a:t>Graph Coloring</a:t>
            </a:r>
            <a:endParaRPr sz="16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163;g257bd1e9c5e_0_58">
            <a:extLst>
              <a:ext uri="{FF2B5EF4-FFF2-40B4-BE49-F238E27FC236}">
                <a16:creationId xmlns:a16="http://schemas.microsoft.com/office/drawing/2014/main" id="{01E0CCE2-9C83-37B2-21DB-94EF2B971D9E}"/>
              </a:ext>
            </a:extLst>
          </p:cNvPr>
          <p:cNvSpPr txBox="1"/>
          <p:nvPr/>
        </p:nvSpPr>
        <p:spPr>
          <a:xfrm>
            <a:off x="582930" y="856615"/>
            <a:ext cx="7978200" cy="11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Welsh Powell Algorithm</a:t>
            </a:r>
            <a:endParaRPr sz="2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Google Shape;164;g257bd1e9c5e_0_58">
            <a:extLst>
              <a:ext uri="{FF2B5EF4-FFF2-40B4-BE49-F238E27FC236}">
                <a16:creationId xmlns:a16="http://schemas.microsoft.com/office/drawing/2014/main" id="{0DDC3EE6-C8BC-9B0E-813D-A2B0DA2A726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25320" y="1311275"/>
            <a:ext cx="5292725" cy="348043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596297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71;g257bd1e9c5e_0_0">
            <a:extLst>
              <a:ext uri="{FF2B5EF4-FFF2-40B4-BE49-F238E27FC236}">
                <a16:creationId xmlns:a16="http://schemas.microsoft.com/office/drawing/2014/main" id="{7F494034-5FE0-6AAF-1D7F-03BF23C93184}"/>
              </a:ext>
            </a:extLst>
          </p:cNvPr>
          <p:cNvSpPr/>
          <p:nvPr/>
        </p:nvSpPr>
        <p:spPr>
          <a:xfrm>
            <a:off x="2819533" y="340218"/>
            <a:ext cx="3246300" cy="281574"/>
          </a:xfrm>
          <a:prstGeom prst="roundRect">
            <a:avLst>
              <a:gd name="adj" fmla="val 16667"/>
            </a:avLst>
          </a:prstGeom>
          <a:solidFill>
            <a:srgbClr val="9900F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</a:t>
            </a:r>
            <a:r>
              <a:rPr lang="en-US" sz="1600" dirty="0">
                <a:solidFill>
                  <a:schemeClr val="lt1"/>
                </a:solidFill>
              </a:rPr>
              <a:t>Graph Coloring</a:t>
            </a:r>
            <a:endParaRPr sz="16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173;g257bd1e9c5e_0_66">
            <a:extLst>
              <a:ext uri="{FF2B5EF4-FFF2-40B4-BE49-F238E27FC236}">
                <a16:creationId xmlns:a16="http://schemas.microsoft.com/office/drawing/2014/main" id="{8313E8A2-B574-BA4E-2E00-E48198024038}"/>
              </a:ext>
            </a:extLst>
          </p:cNvPr>
          <p:cNvSpPr txBox="1"/>
          <p:nvPr/>
        </p:nvSpPr>
        <p:spPr>
          <a:xfrm>
            <a:off x="0" y="521268"/>
            <a:ext cx="1463700" cy="16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Welsh Powell Algorithm</a:t>
            </a:r>
            <a:endParaRPr sz="2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Google Shape;174;g257bd1e9c5e_0_66">
            <a:extLst>
              <a:ext uri="{FF2B5EF4-FFF2-40B4-BE49-F238E27FC236}">
                <a16:creationId xmlns:a16="http://schemas.microsoft.com/office/drawing/2014/main" id="{C8DED460-5C45-C28D-EE16-C5E57363ED8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63700" y="621792"/>
            <a:ext cx="3532295" cy="4521708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75;g257bd1e9c5e_0_66">
            <a:extLst>
              <a:ext uri="{FF2B5EF4-FFF2-40B4-BE49-F238E27FC236}">
                <a16:creationId xmlns:a16="http://schemas.microsoft.com/office/drawing/2014/main" id="{96EA2104-0E82-83E6-7BAB-D813FB95ECE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4474" r="2939"/>
          <a:stretch/>
        </p:blipFill>
        <p:spPr>
          <a:xfrm>
            <a:off x="4995995" y="1158240"/>
            <a:ext cx="4026085" cy="270662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290442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65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endParaRPr/>
          </a:p>
        </p:txBody>
      </p:sp>
      <p:sp>
        <p:nvSpPr>
          <p:cNvPr id="462" name="Google Shape;462;p6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pic>
        <p:nvPicPr>
          <p:cNvPr id="463" name="Google Shape;463;p6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1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65"/>
          <p:cNvSpPr txBox="1"/>
          <p:nvPr/>
        </p:nvSpPr>
        <p:spPr>
          <a:xfrm>
            <a:off x="3141000" y="2194650"/>
            <a:ext cx="2862000" cy="7540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lang="en-IN" sz="37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THANK YOU</a:t>
            </a:r>
            <a:endParaRPr sz="37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65" name="Google Shape;465;p6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52016" y="4591075"/>
            <a:ext cx="338156" cy="3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6" name="Google Shape;466;p6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72650" y="4591075"/>
            <a:ext cx="338156" cy="3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65"/>
          <p:cNvSpPr txBox="1"/>
          <p:nvPr/>
        </p:nvSpPr>
        <p:spPr>
          <a:xfrm>
            <a:off x="1980750" y="4590801"/>
            <a:ext cx="1187100" cy="338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IN"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+91 78150 95095</a:t>
            </a:r>
            <a:endParaRPr sz="10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68" name="Google Shape;468;p65"/>
          <p:cNvCxnSpPr/>
          <p:nvPr/>
        </p:nvCxnSpPr>
        <p:spPr>
          <a:xfrm rot="10800000">
            <a:off x="3220250" y="4619675"/>
            <a:ext cx="0" cy="3000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69" name="Google Shape;469;p65"/>
          <p:cNvSpPr txBox="1"/>
          <p:nvPr/>
        </p:nvSpPr>
        <p:spPr>
          <a:xfrm>
            <a:off x="3519050" y="4590801"/>
            <a:ext cx="1934700" cy="338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IN"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codemithra@ethnus.com</a:t>
            </a:r>
            <a:endParaRPr sz="10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70" name="Google Shape;470;p6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223771" y="4591063"/>
            <a:ext cx="338156" cy="3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65"/>
          <p:cNvSpPr txBox="1"/>
          <p:nvPr/>
        </p:nvSpPr>
        <p:spPr>
          <a:xfrm>
            <a:off x="5457275" y="4590801"/>
            <a:ext cx="1934700" cy="338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IN"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www.codemithra.com</a:t>
            </a:r>
            <a:endParaRPr sz="10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72" name="Google Shape;472;p65"/>
          <p:cNvCxnSpPr/>
          <p:nvPr/>
        </p:nvCxnSpPr>
        <p:spPr>
          <a:xfrm rot="10800000">
            <a:off x="5166625" y="4610150"/>
            <a:ext cx="0" cy="3000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</TotalTime>
  <Words>1135</Words>
  <Application>Microsoft Office PowerPoint</Application>
  <PresentationFormat>On-screen Show (16:9)</PresentationFormat>
  <Paragraphs>208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Calibri</vt:lpstr>
      <vt:lpstr>Roboto</vt:lpstr>
      <vt:lpstr>Courier New</vt:lpstr>
      <vt:lpstr>Arial</vt:lpstr>
      <vt:lpstr>Simple Light</vt:lpstr>
      <vt:lpstr>Simple Light</vt:lpstr>
      <vt:lpstr>Simple Light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pooja ram</dc:creator>
  <cp:lastModifiedBy>dheebanrajips@gmail.com</cp:lastModifiedBy>
  <cp:revision>3</cp:revision>
  <dcterms:created xsi:type="dcterms:W3CDTF">2022-10-05T06:20:26Z</dcterms:created>
  <dcterms:modified xsi:type="dcterms:W3CDTF">2024-09-04T10:15:39Z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5AF2CBCEB9C44D759E6C7127A2DBAAD4</vt:lpwstr>
  </property>
  <property fmtid="{D5CDD505-2E9C-101B-9397-08002B2CF9AE}" pid="3" name="KSOProductBuildVer">
    <vt:lpwstr>1033-11.2.0.11341</vt:lpwstr>
  </property>
</Properties>
</file>