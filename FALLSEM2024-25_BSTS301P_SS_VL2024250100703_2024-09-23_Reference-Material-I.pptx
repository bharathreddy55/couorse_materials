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Robot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9" roundtripDataSignature="AMtx7mhtFDBI7PLBwh2HOUtdN/+KVRA3W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656F72E-C72A-420B-A7F1-D06247FDEAB7}">
  <a:tblStyle styleId="{4656F72E-C72A-420B-A7F1-D06247FDEAB7}"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DFD"/>
          </a:solidFill>
        </a:fill>
      </a:tcStyle>
    </a:wholeTbl>
    <a:band1H>
      <a:tcTxStyle b="off" i="off"/>
      <a:tcStyle>
        <a:fill>
          <a:solidFill>
            <a:srgbClr val="CDD8FB"/>
          </a:solidFill>
        </a:fill>
      </a:tcStyle>
    </a:band1H>
    <a:band2H>
      <a:tcTxStyle b="off" i="off"/>
    </a:band2H>
    <a:band1V>
      <a:tcTxStyle b="off" i="off"/>
      <a:tcStyle>
        <a:fill>
          <a:solidFill>
            <a:srgbClr val="CDD8FB"/>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customschemas.google.com/relationships/presentationmetadata" Target="meta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 name="Google Shape;5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 name="Google Shape;6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815f4a3a6d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0" name="Google Shape;70;g2815f4a3a6d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3: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 name="Google Shape;78;p3:notes"/>
          <p:cNvSpPr txBox="1"/>
          <p:nvPr>
            <p:ph idx="1" type="body"/>
          </p:nvPr>
        </p:nvSpPr>
        <p:spPr>
          <a:xfrm>
            <a:off x="514350" y="7823360"/>
            <a:ext cx="4114530" cy="64006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4: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 name="Google Shape;86;p4:notes"/>
          <p:cNvSpPr txBox="1"/>
          <p:nvPr>
            <p:ph idx="1" type="body"/>
          </p:nvPr>
        </p:nvSpPr>
        <p:spPr>
          <a:xfrm>
            <a:off x="514350" y="7823360"/>
            <a:ext cx="4114530" cy="6400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lang="en-US" sz="1200" strike="noStrike">
                <a:latin typeface="Roboto"/>
                <a:ea typeface="Roboto"/>
                <a:cs typeface="Roboto"/>
                <a:sym typeface="Roboto"/>
              </a:rPr>
              <a:t>|a| is the length of the string a</a:t>
            </a:r>
            <a:endParaRPr>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5: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 name="Google Shape;98;p5:notes"/>
          <p:cNvSpPr txBox="1"/>
          <p:nvPr>
            <p:ph idx="1" type="body"/>
          </p:nvPr>
        </p:nvSpPr>
        <p:spPr>
          <a:xfrm>
            <a:off x="514350" y="7823360"/>
            <a:ext cx="4114530" cy="64006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6: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 name="Google Shape;109;p6:notes"/>
          <p:cNvSpPr txBox="1"/>
          <p:nvPr>
            <p:ph idx="1" type="body"/>
          </p:nvPr>
        </p:nvSpPr>
        <p:spPr>
          <a:xfrm>
            <a:off x="514350" y="7823360"/>
            <a:ext cx="4114530" cy="6400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lang="en-US" sz="1200" strike="noStrike">
                <a:latin typeface="Roboto"/>
                <a:ea typeface="Roboto"/>
                <a:cs typeface="Roboto"/>
                <a:sym typeface="Roboto"/>
              </a:rPr>
              <a:t>|a| is the length of the string a</a:t>
            </a:r>
            <a:endParaRPr>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7:notes"/>
          <p:cNvSpPr txBox="1"/>
          <p:nvPr>
            <p:ph idx="1" type="body"/>
          </p:nvPr>
        </p:nvSpPr>
        <p:spPr>
          <a:xfrm>
            <a:off x="514350" y="7823360"/>
            <a:ext cx="4114530" cy="6400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lang="en-US" sz="1200" strike="noStrike">
                <a:latin typeface="Roboto"/>
                <a:ea typeface="Roboto"/>
                <a:cs typeface="Roboto"/>
                <a:sym typeface="Roboto"/>
              </a:rPr>
              <a:t>Note that:-</a:t>
            </a:r>
            <a:endParaRPr>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lang="en-US" sz="1200" strike="noStrike">
                <a:latin typeface="Roboto"/>
                <a:ea typeface="Roboto"/>
                <a:cs typeface="Roboto"/>
                <a:sym typeface="Roboto"/>
              </a:rPr>
              <a:t>odd_str : It is empty if there is no character with odd frequency. Else it contains all occurrences of odd character.</a:t>
            </a:r>
            <a:endParaRPr>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lang="en-US" sz="1200" strike="noStrike">
                <a:latin typeface="Roboto"/>
                <a:ea typeface="Roboto"/>
                <a:cs typeface="Roboto"/>
                <a:sym typeface="Roboto"/>
              </a:rPr>
              <a:t>front_str : Contains half occurrences of all even occurring characters of string in increasing order.</a:t>
            </a:r>
            <a:endParaRPr>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lang="en-US" sz="1200" strike="noStrike">
                <a:latin typeface="Roboto"/>
                <a:ea typeface="Roboto"/>
                <a:cs typeface="Roboto"/>
                <a:sym typeface="Roboto"/>
              </a:rPr>
              <a:t>rear_str Contains half occurrences of all even occurring characters of string in reverse order of front_str.</a:t>
            </a:r>
            <a:endParaRPr>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 name="Google Shape;135;p8:notes"/>
          <p:cNvSpPr txBox="1"/>
          <p:nvPr>
            <p:ph idx="1" type="body"/>
          </p:nvPr>
        </p:nvSpPr>
        <p:spPr>
          <a:xfrm>
            <a:off x="514350" y="7823360"/>
            <a:ext cx="4114530" cy="64006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9: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2" name="Google Shape;142;p9:notes"/>
          <p:cNvSpPr txBox="1"/>
          <p:nvPr>
            <p:ph idx="1" type="body"/>
          </p:nvPr>
        </p:nvSpPr>
        <p:spPr>
          <a:xfrm>
            <a:off x="514350" y="7823360"/>
            <a:ext cx="4114530" cy="64006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0: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 name="Google Shape;149;p10:notes"/>
          <p:cNvSpPr txBox="1"/>
          <p:nvPr>
            <p:ph idx="1" type="body"/>
          </p:nvPr>
        </p:nvSpPr>
        <p:spPr>
          <a:xfrm>
            <a:off x="514350" y="7823360"/>
            <a:ext cx="4114530" cy="64006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1: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6" name="Google Shape;156;p11:notes"/>
          <p:cNvSpPr txBox="1"/>
          <p:nvPr>
            <p:ph idx="1" type="body"/>
          </p:nvPr>
        </p:nvSpPr>
        <p:spPr>
          <a:xfrm>
            <a:off x="514350" y="7823360"/>
            <a:ext cx="4114530" cy="64006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3c15c8a29b_1_0: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 name="Google Shape;166;g23c15c8a29b_1_0:notes"/>
          <p:cNvSpPr txBox="1"/>
          <p:nvPr>
            <p:ph idx="1" type="body"/>
          </p:nvPr>
        </p:nvSpPr>
        <p:spPr>
          <a:xfrm>
            <a:off x="514350" y="7823360"/>
            <a:ext cx="4114500" cy="6400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3c15c8a29b_1_12: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4" name="Google Shape;174;g23c15c8a29b_1_12:notes"/>
          <p:cNvSpPr txBox="1"/>
          <p:nvPr>
            <p:ph idx="1" type="body"/>
          </p:nvPr>
        </p:nvSpPr>
        <p:spPr>
          <a:xfrm>
            <a:off x="514350" y="7823360"/>
            <a:ext cx="4114500" cy="6400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3c15c8a29b_1_22: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2" name="Google Shape;182;g23c15c8a29b_1_22:notes"/>
          <p:cNvSpPr txBox="1"/>
          <p:nvPr>
            <p:ph idx="1" type="body"/>
          </p:nvPr>
        </p:nvSpPr>
        <p:spPr>
          <a:xfrm>
            <a:off x="514350" y="7823360"/>
            <a:ext cx="4114500" cy="6400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23c15c8a29b_1_31: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g23c15c8a29b_1_31:notes"/>
          <p:cNvSpPr txBox="1"/>
          <p:nvPr>
            <p:ph idx="1" type="body"/>
          </p:nvPr>
        </p:nvSpPr>
        <p:spPr>
          <a:xfrm>
            <a:off x="514350" y="7823360"/>
            <a:ext cx="4114500" cy="6400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4: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8" name="Google Shape;198;p14: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2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800"/>
              <a:buFont typeface="Calibri"/>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Clr>
                <a:schemeClr val="dk1"/>
              </a:buClr>
              <a:buSzPts val="1800"/>
              <a:buChar char="●"/>
              <a:defRPr>
                <a:latin typeface="Roboto"/>
                <a:ea typeface="Roboto"/>
                <a:cs typeface="Roboto"/>
                <a:sym typeface="Roboto"/>
              </a:defRPr>
            </a:lvl1pPr>
            <a:lvl2pPr indent="-317500" lvl="1" marL="914400" algn="l">
              <a:lnSpc>
                <a:spcPct val="115000"/>
              </a:lnSpc>
              <a:spcBef>
                <a:spcPts val="1200"/>
              </a:spcBef>
              <a:spcAft>
                <a:spcPts val="0"/>
              </a:spcAft>
              <a:buClr>
                <a:schemeClr val="dk1"/>
              </a:buClr>
              <a:buSzPts val="1400"/>
              <a:buChar char="○"/>
              <a:defRPr/>
            </a:lvl2pPr>
            <a:lvl3pPr indent="-317500" lvl="2" marL="1371600" algn="l">
              <a:lnSpc>
                <a:spcPct val="115000"/>
              </a:lnSpc>
              <a:spcBef>
                <a:spcPts val="1200"/>
              </a:spcBef>
              <a:spcAft>
                <a:spcPts val="0"/>
              </a:spcAft>
              <a:buClr>
                <a:schemeClr val="dk1"/>
              </a:buClr>
              <a:buSzPts val="1400"/>
              <a:buChar char="■"/>
              <a:defRPr/>
            </a:lvl3pPr>
            <a:lvl4pPr indent="-317500" lvl="3" marL="1828800" algn="l">
              <a:lnSpc>
                <a:spcPct val="115000"/>
              </a:lnSpc>
              <a:spcBef>
                <a:spcPts val="1200"/>
              </a:spcBef>
              <a:spcAft>
                <a:spcPts val="0"/>
              </a:spcAft>
              <a:buClr>
                <a:schemeClr val="dk1"/>
              </a:buClr>
              <a:buSzPts val="1400"/>
              <a:buChar char="●"/>
              <a:defRPr/>
            </a:lvl4pPr>
            <a:lvl5pPr indent="-317500" lvl="4" marL="2286000" algn="l">
              <a:lnSpc>
                <a:spcPct val="115000"/>
              </a:lnSpc>
              <a:spcBef>
                <a:spcPts val="1200"/>
              </a:spcBef>
              <a:spcAft>
                <a:spcPts val="0"/>
              </a:spcAft>
              <a:buClr>
                <a:schemeClr val="dk1"/>
              </a:buClr>
              <a:buSzPts val="1400"/>
              <a:buChar char="○"/>
              <a:defRPr/>
            </a:lvl5pPr>
            <a:lvl6pPr indent="-317500" lvl="5" marL="2743200" algn="l">
              <a:lnSpc>
                <a:spcPct val="115000"/>
              </a:lnSpc>
              <a:spcBef>
                <a:spcPts val="1200"/>
              </a:spcBef>
              <a:spcAft>
                <a:spcPts val="0"/>
              </a:spcAft>
              <a:buClr>
                <a:schemeClr val="dk1"/>
              </a:buClr>
              <a:buSzPts val="1400"/>
              <a:buChar char="■"/>
              <a:defRPr/>
            </a:lvl6pPr>
            <a:lvl7pPr indent="-317500" lvl="6" marL="3200400" algn="l">
              <a:lnSpc>
                <a:spcPct val="115000"/>
              </a:lnSpc>
              <a:spcBef>
                <a:spcPts val="1200"/>
              </a:spcBef>
              <a:spcAft>
                <a:spcPts val="0"/>
              </a:spcAft>
              <a:buClr>
                <a:schemeClr val="dk1"/>
              </a:buClr>
              <a:buSzPts val="1400"/>
              <a:buChar char="●"/>
              <a:defRPr/>
            </a:lvl7pPr>
            <a:lvl8pPr indent="-317500" lvl="7" marL="3657600" algn="l">
              <a:lnSpc>
                <a:spcPct val="115000"/>
              </a:lnSpc>
              <a:spcBef>
                <a:spcPts val="1200"/>
              </a:spcBef>
              <a:spcAft>
                <a:spcPts val="0"/>
              </a:spcAft>
              <a:buClr>
                <a:schemeClr val="dk1"/>
              </a:buClr>
              <a:buSzPts val="1400"/>
              <a:buChar char="○"/>
              <a:defRPr/>
            </a:lvl8pPr>
            <a:lvl9pPr indent="-317500" lvl="8" marL="4114800" algn="l">
              <a:lnSpc>
                <a:spcPct val="115000"/>
              </a:lnSpc>
              <a:spcBef>
                <a:spcPts val="1200"/>
              </a:spcBef>
              <a:spcAft>
                <a:spcPts val="1200"/>
              </a:spcAft>
              <a:buClr>
                <a:schemeClr val="dk1"/>
              </a:buClr>
              <a:buSzPts val="1400"/>
              <a:buChar char="■"/>
              <a:defRPr/>
            </a:lvl9pPr>
          </a:lstStyle>
          <a:p/>
        </p:txBody>
      </p:sp>
      <p:sp>
        <p:nvSpPr>
          <p:cNvPr id="17" name="Google Shape;17;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1pPr>
            <a:lvl2pPr indent="0" lvl="1"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2pPr>
            <a:lvl3pPr indent="0" lvl="2"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3pPr>
            <a:lvl4pPr indent="0" lvl="3"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4pPr>
            <a:lvl5pPr indent="0" lvl="4"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5pPr>
            <a:lvl6pPr indent="0" lvl="5"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6pPr>
            <a:lvl7pPr indent="0" lvl="6"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7pPr>
            <a:lvl8pPr indent="0" lvl="7"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8pPr>
            <a:lvl9pPr indent="0" lvl="8"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 name="Shape 18"/>
        <p:cNvGrpSpPr/>
        <p:nvPr/>
      </p:nvGrpSpPr>
      <p:grpSpPr>
        <a:xfrm>
          <a:off x="0" y="0"/>
          <a:ext cx="0" cy="0"/>
          <a:chOff x="0" y="0"/>
          <a:chExt cx="0" cy="0"/>
        </a:xfrm>
      </p:grpSpPr>
      <p:sp>
        <p:nvSpPr>
          <p:cNvPr id="19" name="Google Shape;19;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2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2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2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7" name="Google Shape;27;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3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3" name="Google Shape;33;p30"/>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4" name="Google Shape;34;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5" name="Shape 35"/>
        <p:cNvGrpSpPr/>
        <p:nvPr/>
      </p:nvGrpSpPr>
      <p:grpSpPr>
        <a:xfrm>
          <a:off x="0" y="0"/>
          <a:ext cx="0" cy="0"/>
          <a:chOff x="0" y="0"/>
          <a:chExt cx="0" cy="0"/>
        </a:xfrm>
      </p:grpSpPr>
      <p:sp>
        <p:nvSpPr>
          <p:cNvPr id="36" name="Google Shape;36;p3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7" name="Google Shape;37;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3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3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1" name="Google Shape;41;p3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3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3" name="Google Shape;43;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3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6" name="Google Shape;46;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34"/>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9" name="Google Shape;49;p34"/>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0" name="Google Shape;50;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9" name="Google Shape;9;p19"/>
          <p:cNvPicPr preferRelativeResize="0"/>
          <p:nvPr/>
        </p:nvPicPr>
        <p:blipFill rotWithShape="1">
          <a:blip r:embed="rId1">
            <a:alphaModFix/>
          </a:blip>
          <a:srcRect b="0" l="0" r="0" t="0"/>
          <a:stretch/>
        </p:blipFill>
        <p:spPr>
          <a:xfrm>
            <a:off x="0" y="0"/>
            <a:ext cx="9144003" cy="514350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4.png"/><Relationship Id="rId5"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forms.gle/SFDVg26roZ2rtzcy5" TargetMode="Externa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hyperlink" Target="https://learn.codemithra.com/"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8.jpg"/><Relationship Id="rId4" Type="http://schemas.openxmlformats.org/officeDocument/2006/relationships/image" Target="../media/image9.png"/><Relationship Id="rId5" Type="http://schemas.openxmlformats.org/officeDocument/2006/relationships/image" Target="../media/image7.png"/><Relationship Id="rId6"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56" name="Google Shape;56;p1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57" name="Google Shape;57;p12"/>
          <p:cNvPicPr preferRelativeResize="0"/>
          <p:nvPr/>
        </p:nvPicPr>
        <p:blipFill rotWithShape="1">
          <a:blip r:embed="rId3">
            <a:alphaModFix/>
          </a:blip>
          <a:srcRect b="0" l="0" r="0" t="0"/>
          <a:stretch/>
        </p:blipFill>
        <p:spPr>
          <a:xfrm>
            <a:off x="1" y="3"/>
            <a:ext cx="9144003" cy="5143501"/>
          </a:xfrm>
          <a:prstGeom prst="rect">
            <a:avLst/>
          </a:prstGeom>
          <a:noFill/>
          <a:ln>
            <a:noFill/>
          </a:ln>
        </p:spPr>
      </p:pic>
      <p:pic>
        <p:nvPicPr>
          <p:cNvPr id="58" name="Google Shape;58;p12"/>
          <p:cNvPicPr preferRelativeResize="0"/>
          <p:nvPr/>
        </p:nvPicPr>
        <p:blipFill rotWithShape="1">
          <a:blip r:embed="rId4">
            <a:alphaModFix/>
          </a:blip>
          <a:srcRect b="0" l="0" r="0" t="0"/>
          <a:stretch/>
        </p:blipFill>
        <p:spPr>
          <a:xfrm>
            <a:off x="2504603" y="600290"/>
            <a:ext cx="4134799" cy="2923400"/>
          </a:xfrm>
          <a:prstGeom prst="rect">
            <a:avLst/>
          </a:prstGeom>
          <a:noFill/>
          <a:ln>
            <a:noFill/>
          </a:ln>
        </p:spPr>
      </p:pic>
      <p:pic>
        <p:nvPicPr>
          <p:cNvPr id="59" name="Google Shape;59;p12"/>
          <p:cNvPicPr preferRelativeResize="0"/>
          <p:nvPr/>
        </p:nvPicPr>
        <p:blipFill rotWithShape="1">
          <a:blip r:embed="rId5">
            <a:alphaModFix/>
          </a:blip>
          <a:srcRect b="0" l="0" r="0" t="0"/>
          <a:stretch/>
        </p:blipFill>
        <p:spPr>
          <a:xfrm>
            <a:off x="2200053" y="3386140"/>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65" name="Google Shape;65;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66" name="Google Shape;66;p13"/>
          <p:cNvPicPr preferRelativeResize="0"/>
          <p:nvPr/>
        </p:nvPicPr>
        <p:blipFill rotWithShape="1">
          <a:blip r:embed="rId3">
            <a:alphaModFix/>
          </a:blip>
          <a:srcRect b="0" l="0" r="0" t="0"/>
          <a:stretch/>
        </p:blipFill>
        <p:spPr>
          <a:xfrm>
            <a:off x="1" y="3"/>
            <a:ext cx="9144003" cy="5143501"/>
          </a:xfrm>
          <a:prstGeom prst="rect">
            <a:avLst/>
          </a:prstGeom>
          <a:noFill/>
          <a:ln>
            <a:noFill/>
          </a:ln>
        </p:spPr>
      </p:pic>
      <p:sp>
        <p:nvSpPr>
          <p:cNvPr id="67" name="Google Shape;67;p13"/>
          <p:cNvSpPr txBox="1"/>
          <p:nvPr/>
        </p:nvSpPr>
        <p:spPr>
          <a:xfrm>
            <a:off x="178420" y="1568044"/>
            <a:ext cx="4690948" cy="1661963"/>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lt1"/>
                </a:solidFill>
                <a:latin typeface="Roboto"/>
                <a:ea typeface="Roboto"/>
                <a:cs typeface="Roboto"/>
                <a:sym typeface="Roboto"/>
              </a:rPr>
              <a:t>LEXICOGRAPHICALLY FIRST PALINDROMIC STRING</a:t>
            </a:r>
            <a:endParaRPr b="1" i="0" sz="2400" u="none" cap="none" strike="noStrike">
              <a:solidFill>
                <a:schemeClr val="lt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g2815f4a3a6d_1_0"/>
          <p:cNvSpPr txBox="1"/>
          <p:nvPr>
            <p:ph idx="1" type="body"/>
          </p:nvPr>
        </p:nvSpPr>
        <p:spPr>
          <a:xfrm>
            <a:off x="729200" y="1384300"/>
            <a:ext cx="80862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US" sz="1600">
                <a:solidFill>
                  <a:schemeClr val="dk1"/>
                </a:solidFill>
                <a:highlight>
                  <a:srgbClr val="FFFFFF"/>
                </a:highlight>
                <a:latin typeface="Roboto"/>
                <a:ea typeface="Roboto"/>
                <a:cs typeface="Roboto"/>
                <a:sym typeface="Roboto"/>
              </a:rPr>
              <a:t>URL</a:t>
            </a:r>
            <a:r>
              <a:rPr b="1" lang="en-US" sz="1600">
                <a:solidFill>
                  <a:srgbClr val="373737"/>
                </a:solidFill>
                <a:highlight>
                  <a:srgbClr val="FFFFFF"/>
                </a:highlight>
                <a:latin typeface="Roboto"/>
                <a:ea typeface="Roboto"/>
                <a:cs typeface="Roboto"/>
                <a:sym typeface="Roboto"/>
              </a:rPr>
              <a:t>:</a:t>
            </a:r>
            <a:r>
              <a:rPr b="1" lang="en-US" sz="1600" u="sng">
                <a:solidFill>
                  <a:schemeClr val="hlink"/>
                </a:solidFill>
                <a:highlight>
                  <a:srgbClr val="FFFFFF"/>
                </a:highlight>
                <a:latin typeface="Roboto"/>
                <a:ea typeface="Roboto"/>
                <a:cs typeface="Roboto"/>
                <a:sym typeface="Roboto"/>
                <a:hlinkClick r:id="rId3"/>
              </a:rPr>
              <a:t>https://forms.gle/SFDVg26roZ2rtzcy5</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rgbClr val="373737"/>
              </a:solidFill>
              <a:latin typeface="Roboto"/>
              <a:ea typeface="Roboto"/>
              <a:cs typeface="Roboto"/>
              <a:sym typeface="Roboto"/>
            </a:endParaRPr>
          </a:p>
          <a:p>
            <a:pPr indent="0" lvl="0" marL="0" rtl="0" algn="l">
              <a:lnSpc>
                <a:spcPct val="115000"/>
              </a:lnSpc>
              <a:spcBef>
                <a:spcPts val="0"/>
              </a:spcBef>
              <a:spcAft>
                <a:spcPts val="0"/>
              </a:spcAft>
              <a:buSzPts val="1800"/>
              <a:buNone/>
            </a:pPr>
            <a:r>
              <a:rPr b="1" lang="en-US" sz="1600">
                <a:solidFill>
                  <a:schemeClr val="dk1"/>
                </a:solidFill>
                <a:highlight>
                  <a:srgbClr val="FFFFFF"/>
                </a:highlight>
                <a:latin typeface="Roboto"/>
                <a:ea typeface="Roboto"/>
                <a:cs typeface="Roboto"/>
                <a:sym typeface="Roboto"/>
              </a:rPr>
              <a:t>QR CODE</a:t>
            </a:r>
            <a:r>
              <a:rPr b="1" lang="en-US" sz="1600">
                <a:solidFill>
                  <a:srgbClr val="373737"/>
                </a:solidFill>
                <a:highlight>
                  <a:srgbClr val="FFFFFF"/>
                </a:highlight>
                <a:latin typeface="Roboto"/>
                <a:ea typeface="Roboto"/>
                <a:cs typeface="Roboto"/>
                <a:sym typeface="Roboto"/>
              </a:rPr>
              <a:t>:</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US" sz="1600">
                <a:solidFill>
                  <a:srgbClr val="373737"/>
                </a:solidFill>
                <a:highlight>
                  <a:srgbClr val="FFFFFF"/>
                </a:highlight>
                <a:latin typeface="Roboto"/>
                <a:ea typeface="Roboto"/>
                <a:cs typeface="Roboto"/>
                <a:sym typeface="Roboto"/>
              </a:rPr>
              <a:t>				</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rgbClr val="373737"/>
              </a:solidFill>
              <a:highlight>
                <a:srgbClr val="FFFFFF"/>
              </a:highlight>
              <a:latin typeface="Roboto"/>
              <a:ea typeface="Roboto"/>
              <a:cs typeface="Roboto"/>
              <a:sym typeface="Roboto"/>
            </a:endParaRPr>
          </a:p>
        </p:txBody>
      </p:sp>
      <p:sp>
        <p:nvSpPr>
          <p:cNvPr id="73" name="Google Shape;73;g2815f4a3a6d_1_0"/>
          <p:cNvSpPr txBox="1"/>
          <p:nvPr/>
        </p:nvSpPr>
        <p:spPr>
          <a:xfrm>
            <a:off x="577325" y="622125"/>
            <a:ext cx="7786200" cy="877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000000"/>
                </a:solidFill>
                <a:latin typeface="Roboto"/>
                <a:ea typeface="Roboto"/>
                <a:cs typeface="Roboto"/>
                <a:sym typeface="Roboto"/>
              </a:rPr>
              <a:t>                    TEST TIME ON MAJORITY ELEMENT</a:t>
            </a:r>
            <a:endParaRPr b="1" i="0" sz="15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500"/>
              <a:buFont typeface="Arial"/>
              <a:buNone/>
            </a:pPr>
            <a:r>
              <a:t/>
            </a:r>
            <a:endParaRPr b="1" i="0" sz="1500" u="none" cap="none" strike="noStrike">
              <a:solidFill>
                <a:srgbClr val="202124"/>
              </a:solidFill>
              <a:highlight>
                <a:srgbClr val="FFFFFF"/>
              </a:highlight>
              <a:latin typeface="Arial"/>
              <a:ea typeface="Arial"/>
              <a:cs typeface="Arial"/>
              <a:sym typeface="Arial"/>
            </a:endParaRPr>
          </a:p>
        </p:txBody>
      </p:sp>
      <p:sp>
        <p:nvSpPr>
          <p:cNvPr id="74" name="Google Shape;74;g2815f4a3a6d_1_0"/>
          <p:cNvSpPr txBox="1"/>
          <p:nvPr/>
        </p:nvSpPr>
        <p:spPr>
          <a:xfrm>
            <a:off x="5143500" y="944725"/>
            <a:ext cx="4028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pic>
        <p:nvPicPr>
          <p:cNvPr id="75" name="Google Shape;75;g2815f4a3a6d_1_0"/>
          <p:cNvPicPr preferRelativeResize="0"/>
          <p:nvPr/>
        </p:nvPicPr>
        <p:blipFill rotWithShape="1">
          <a:blip r:embed="rId4">
            <a:alphaModFix/>
          </a:blip>
          <a:srcRect b="0" l="0" r="0" t="0"/>
          <a:stretch/>
        </p:blipFill>
        <p:spPr>
          <a:xfrm>
            <a:off x="3442400" y="2331900"/>
            <a:ext cx="2740451" cy="22418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3"/>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81" name="Google Shape;81;p3"/>
          <p:cNvSpPr/>
          <p:nvPr/>
        </p:nvSpPr>
        <p:spPr>
          <a:xfrm>
            <a:off x="552771" y="1065017"/>
            <a:ext cx="8033207"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600" u="none" cap="none" strike="noStrike">
                <a:solidFill>
                  <a:srgbClr val="000000"/>
                </a:solidFill>
                <a:latin typeface="Roboto"/>
                <a:ea typeface="Roboto"/>
                <a:cs typeface="Roboto"/>
                <a:sym typeface="Roboto"/>
              </a:rPr>
              <a:t>Introduction</a:t>
            </a:r>
            <a:endParaRPr b="1" i="0" sz="1600" u="none" cap="none" strike="noStrike">
              <a:solidFill>
                <a:srgbClr val="000000"/>
              </a:solidFill>
              <a:latin typeface="Roboto"/>
              <a:ea typeface="Roboto"/>
              <a:cs typeface="Roboto"/>
              <a:sym typeface="Roboto"/>
            </a:endParaRPr>
          </a:p>
        </p:txBody>
      </p:sp>
      <p:sp>
        <p:nvSpPr>
          <p:cNvPr id="82" name="Google Shape;82;p3"/>
          <p:cNvSpPr/>
          <p:nvPr/>
        </p:nvSpPr>
        <p:spPr>
          <a:xfrm>
            <a:off x="552771" y="1682082"/>
            <a:ext cx="8033207"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Imagine you have been given a string of alphabets.</a:t>
            </a:r>
            <a:endParaRPr b="0" i="0" sz="1600" u="none" cap="none" strike="noStrike">
              <a:solidFill>
                <a:srgbClr val="000000"/>
              </a:solidFill>
              <a:latin typeface="Roboto"/>
              <a:ea typeface="Roboto"/>
              <a:cs typeface="Roboto"/>
              <a:sym typeface="Roboto"/>
            </a:endParaRPr>
          </a:p>
        </p:txBody>
      </p:sp>
      <p:sp>
        <p:nvSpPr>
          <p:cNvPr id="83" name="Google Shape;83;p3"/>
          <p:cNvSpPr/>
          <p:nvPr/>
        </p:nvSpPr>
        <p:spPr>
          <a:xfrm>
            <a:off x="557457" y="2149128"/>
            <a:ext cx="8033207" cy="58473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The task is to rearrange the characters of the given string to form a lexicographically first palindromic string</a:t>
            </a:r>
            <a:endParaRPr b="0" i="0" sz="16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
                                        </p:tgtEl>
                                        <p:attrNameLst>
                                          <p:attrName>style.visibility</p:attrName>
                                        </p:attrNameLst>
                                      </p:cBhvr>
                                      <p:to>
                                        <p:strVal val="visible"/>
                                      </p:to>
                                    </p:set>
                                    <p:animEffect filter="fade" transition="in">
                                      <p:cBhvr>
                                        <p:cTn dur="1000"/>
                                        <p:tgtEl>
                                          <p:spTgt spid="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gtEl>
                                        <p:attrNameLst>
                                          <p:attrName>style.visibility</p:attrName>
                                        </p:attrNameLst>
                                      </p:cBhvr>
                                      <p:to>
                                        <p:strVal val="visible"/>
                                      </p:to>
                                    </p:set>
                                    <p:animEffect filter="fade" transition="in">
                                      <p:cBhvr>
                                        <p:cTn dur="500"/>
                                        <p:tgtEl>
                                          <p:spTgt spid="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gtEl>
                                        <p:attrNameLst>
                                          <p:attrName>style.visibility</p:attrName>
                                        </p:attrNameLst>
                                      </p:cBhvr>
                                      <p:to>
                                        <p:strVal val="visible"/>
                                      </p:to>
                                    </p:set>
                                    <p:animEffect filter="fade" transition="in">
                                      <p:cBhvr>
                                        <p:cTn dur="500"/>
                                        <p:tgtEl>
                                          <p:spTgt spid="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4"/>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89" name="Google Shape;89;p4"/>
          <p:cNvSpPr/>
          <p:nvPr/>
        </p:nvSpPr>
        <p:spPr>
          <a:xfrm>
            <a:off x="555109" y="1605162"/>
            <a:ext cx="8033207"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String x is lexicographically less than string y</a:t>
            </a:r>
            <a:endParaRPr b="0" i="0" sz="1600" u="none" cap="none" strike="noStrike">
              <a:solidFill>
                <a:srgbClr val="000000"/>
              </a:solidFill>
              <a:latin typeface="Roboto"/>
              <a:ea typeface="Roboto"/>
              <a:cs typeface="Roboto"/>
              <a:sym typeface="Roboto"/>
            </a:endParaRPr>
          </a:p>
        </p:txBody>
      </p:sp>
      <p:sp>
        <p:nvSpPr>
          <p:cNvPr id="90" name="Google Shape;90;p4"/>
          <p:cNvSpPr/>
          <p:nvPr/>
        </p:nvSpPr>
        <p:spPr>
          <a:xfrm>
            <a:off x="552761" y="990856"/>
            <a:ext cx="8033207" cy="33851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FF0000"/>
                </a:solidFill>
                <a:latin typeface="Roboto"/>
                <a:ea typeface="Roboto"/>
                <a:cs typeface="Roboto"/>
                <a:sym typeface="Roboto"/>
              </a:rPr>
              <a:t>Lexicographically First / Lexicographically Minimum</a:t>
            </a:r>
            <a:endParaRPr b="1" i="0" sz="1600" u="none" cap="none" strike="noStrike">
              <a:solidFill>
                <a:srgbClr val="FF0000"/>
              </a:solidFill>
              <a:latin typeface="Roboto"/>
              <a:ea typeface="Roboto"/>
              <a:cs typeface="Roboto"/>
              <a:sym typeface="Roboto"/>
            </a:endParaRPr>
          </a:p>
        </p:txBody>
      </p:sp>
      <p:sp>
        <p:nvSpPr>
          <p:cNvPr id="91" name="Google Shape;91;p4"/>
          <p:cNvSpPr/>
          <p:nvPr/>
        </p:nvSpPr>
        <p:spPr>
          <a:xfrm>
            <a:off x="552762" y="2214772"/>
            <a:ext cx="4715590"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If either x is a prefix of y (and x ≠ y)</a:t>
            </a:r>
            <a:endParaRPr b="0" i="0" sz="1600" u="none" cap="none" strike="noStrike">
              <a:solidFill>
                <a:srgbClr val="000000"/>
              </a:solidFill>
              <a:latin typeface="Roboto"/>
              <a:ea typeface="Roboto"/>
              <a:cs typeface="Roboto"/>
              <a:sym typeface="Roboto"/>
            </a:endParaRPr>
          </a:p>
        </p:txBody>
      </p:sp>
      <p:sp>
        <p:nvSpPr>
          <p:cNvPr id="92" name="Google Shape;92;p4"/>
          <p:cNvSpPr/>
          <p:nvPr/>
        </p:nvSpPr>
        <p:spPr>
          <a:xfrm>
            <a:off x="550415" y="2789212"/>
            <a:ext cx="5147000"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There exists such i (1 ≤ i ≤ min(|x|, |y|)),</a:t>
            </a:r>
            <a:endParaRPr b="0" i="0" sz="1600" u="none" cap="none" strike="noStrike">
              <a:solidFill>
                <a:srgbClr val="000000"/>
              </a:solidFill>
              <a:latin typeface="Roboto"/>
              <a:ea typeface="Roboto"/>
              <a:cs typeface="Roboto"/>
              <a:sym typeface="Roboto"/>
            </a:endParaRPr>
          </a:p>
        </p:txBody>
      </p:sp>
      <p:sp>
        <p:nvSpPr>
          <p:cNvPr id="93" name="Google Shape;93;p4"/>
          <p:cNvSpPr/>
          <p:nvPr/>
        </p:nvSpPr>
        <p:spPr>
          <a:xfrm>
            <a:off x="548066" y="3391788"/>
            <a:ext cx="5662819"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that xi &lt; yi, and for any j (1 ≤ j &lt; i) xj = yj</a:t>
            </a:r>
            <a:endParaRPr b="0" i="0" sz="1600" u="none" cap="none" strike="noStrike">
              <a:solidFill>
                <a:srgbClr val="000000"/>
              </a:solidFill>
              <a:latin typeface="Roboto"/>
              <a:ea typeface="Roboto"/>
              <a:cs typeface="Roboto"/>
              <a:sym typeface="Roboto"/>
            </a:endParaRPr>
          </a:p>
        </p:txBody>
      </p:sp>
      <p:sp>
        <p:nvSpPr>
          <p:cNvPr id="94" name="Google Shape;94;p4"/>
          <p:cNvSpPr/>
          <p:nvPr/>
        </p:nvSpPr>
        <p:spPr>
          <a:xfrm>
            <a:off x="545718" y="3980296"/>
            <a:ext cx="8225488" cy="58473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The lexicographic comparison of strings is implemented by operator &lt; in modern programming languages​​.</a:t>
            </a:r>
            <a:endParaRPr b="0" i="0" sz="1600" u="none" cap="none" strike="noStrike">
              <a:solidFill>
                <a:srgbClr val="000000"/>
              </a:solidFill>
              <a:latin typeface="Roboto"/>
              <a:ea typeface="Roboto"/>
              <a:cs typeface="Roboto"/>
              <a:sym typeface="Roboto"/>
            </a:endParaRPr>
          </a:p>
        </p:txBody>
      </p:sp>
      <p:sp>
        <p:nvSpPr>
          <p:cNvPr id="95" name="Google Shape;95;p4"/>
          <p:cNvSpPr/>
          <p:nvPr/>
        </p:nvSpPr>
        <p:spPr>
          <a:xfrm>
            <a:off x="5129548" y="2212424"/>
            <a:ext cx="729646"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Or,</a:t>
            </a:r>
            <a:endParaRPr b="0" i="0" sz="16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
                                        </p:tgtEl>
                                        <p:attrNameLst>
                                          <p:attrName>style.visibility</p:attrName>
                                        </p:attrNameLst>
                                      </p:cBhvr>
                                      <p:to>
                                        <p:strVal val="visible"/>
                                      </p:to>
                                    </p:set>
                                    <p:animEffect filter="fade" transition="in">
                                      <p:cBhvr>
                                        <p:cTn dur="500"/>
                                        <p:tgtEl>
                                          <p:spTgt spid="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gtEl>
                                        <p:attrNameLst>
                                          <p:attrName>style.visibility</p:attrName>
                                        </p:attrNameLst>
                                      </p:cBhvr>
                                      <p:to>
                                        <p:strVal val="visible"/>
                                      </p:to>
                                    </p:set>
                                    <p:animEffect filter="fade" transition="in">
                                      <p:cBhvr>
                                        <p:cTn dur="500"/>
                                        <p:tgtEl>
                                          <p:spTgt spid="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gtEl>
                                        <p:attrNameLst>
                                          <p:attrName>style.visibility</p:attrName>
                                        </p:attrNameLst>
                                      </p:cBhvr>
                                      <p:to>
                                        <p:strVal val="visible"/>
                                      </p:to>
                                    </p:set>
                                    <p:animEffect filter="fade" transition="in">
                                      <p:cBhvr>
                                        <p:cTn dur="500"/>
                                        <p:tgtEl>
                                          <p:spTgt spid="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
                                        </p:tgtEl>
                                        <p:attrNameLst>
                                          <p:attrName>style.visibility</p:attrName>
                                        </p:attrNameLst>
                                      </p:cBhvr>
                                      <p:to>
                                        <p:strVal val="visible"/>
                                      </p:to>
                                    </p:set>
                                    <p:animEffect filter="fade" transition="in">
                                      <p:cBhvr>
                                        <p:cTn dur="500"/>
                                        <p:tgtEl>
                                          <p:spTgt spid="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gtEl>
                                        <p:attrNameLst>
                                          <p:attrName>style.visibility</p:attrName>
                                        </p:attrNameLst>
                                      </p:cBhvr>
                                      <p:to>
                                        <p:strVal val="visible"/>
                                      </p:to>
                                    </p:set>
                                    <p:animEffect filter="fade" transition="in">
                                      <p:cBhvr>
                                        <p:cTn dur="500"/>
                                        <p:tgtEl>
                                          <p:spTgt spid="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
                                        </p:tgtEl>
                                        <p:attrNameLst>
                                          <p:attrName>style.visibility</p:attrName>
                                        </p:attrNameLst>
                                      </p:cBhvr>
                                      <p:to>
                                        <p:strVal val="visible"/>
                                      </p:to>
                                    </p:set>
                                    <p:animEffect filter="fade" transition="in">
                                      <p:cBhvr>
                                        <p:cTn dur="500"/>
                                        <p:tgtEl>
                                          <p:spTgt spid="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gtEl>
                                        <p:attrNameLst>
                                          <p:attrName>style.visibility</p:attrName>
                                        </p:attrNameLst>
                                      </p:cBhvr>
                                      <p:to>
                                        <p:strVal val="visible"/>
                                      </p:to>
                                    </p:set>
                                    <p:animEffect filter="fade" transition="in">
                                      <p:cBhvr>
                                        <p:cTn dur="500"/>
                                        <p:tgtEl>
                                          <p:spTgt spid="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5"/>
          <p:cNvSpPr/>
          <p:nvPr/>
        </p:nvSpPr>
        <p:spPr>
          <a:xfrm>
            <a:off x="555119" y="929908"/>
            <a:ext cx="8033207"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Our output string must be lexicographically minimum or lexicographically first.</a:t>
            </a:r>
            <a:endParaRPr b="0" i="0" sz="1600" u="none" cap="none" strike="noStrike">
              <a:solidFill>
                <a:srgbClr val="000000"/>
              </a:solidFill>
              <a:latin typeface="Roboto"/>
              <a:ea typeface="Roboto"/>
              <a:cs typeface="Roboto"/>
              <a:sym typeface="Roboto"/>
            </a:endParaRPr>
          </a:p>
        </p:txBody>
      </p:sp>
      <p:sp>
        <p:nvSpPr>
          <p:cNvPr id="101" name="Google Shape;101;p5"/>
          <p:cNvSpPr/>
          <p:nvPr/>
        </p:nvSpPr>
        <p:spPr>
          <a:xfrm>
            <a:off x="552771" y="1736470"/>
            <a:ext cx="8033207"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Roboto"/>
                <a:ea typeface="Roboto"/>
                <a:cs typeface="Roboto"/>
                <a:sym typeface="Roboto"/>
              </a:rPr>
              <a:t>Example :</a:t>
            </a:r>
            <a:endParaRPr b="1" i="0" sz="1600" u="none" cap="none" strike="noStrike">
              <a:solidFill>
                <a:srgbClr val="000000"/>
              </a:solidFill>
              <a:latin typeface="Roboto"/>
              <a:ea typeface="Roboto"/>
              <a:cs typeface="Roboto"/>
              <a:sym typeface="Roboto"/>
            </a:endParaRPr>
          </a:p>
        </p:txBody>
      </p:sp>
      <p:sp>
        <p:nvSpPr>
          <p:cNvPr id="102" name="Google Shape;102;p5"/>
          <p:cNvSpPr/>
          <p:nvPr/>
        </p:nvSpPr>
        <p:spPr>
          <a:xfrm>
            <a:off x="552762" y="2306214"/>
            <a:ext cx="1852813"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Sample Input :</a:t>
            </a:r>
            <a:endParaRPr b="0" i="0" sz="1600" u="none" cap="none" strike="noStrike">
              <a:solidFill>
                <a:srgbClr val="000000"/>
              </a:solidFill>
              <a:latin typeface="Roboto"/>
              <a:ea typeface="Roboto"/>
              <a:cs typeface="Roboto"/>
              <a:sym typeface="Roboto"/>
            </a:endParaRPr>
          </a:p>
        </p:txBody>
      </p:sp>
      <p:sp>
        <p:nvSpPr>
          <p:cNvPr id="103" name="Google Shape;103;p5"/>
          <p:cNvSpPr/>
          <p:nvPr/>
        </p:nvSpPr>
        <p:spPr>
          <a:xfrm>
            <a:off x="2335221" y="2303866"/>
            <a:ext cx="2799471"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str = “aabcc”</a:t>
            </a:r>
            <a:endParaRPr b="0" i="0" sz="1600" u="none" cap="none" strike="noStrike">
              <a:solidFill>
                <a:srgbClr val="000000"/>
              </a:solidFill>
              <a:latin typeface="Roboto"/>
              <a:ea typeface="Roboto"/>
              <a:cs typeface="Roboto"/>
              <a:sym typeface="Roboto"/>
            </a:endParaRPr>
          </a:p>
        </p:txBody>
      </p:sp>
      <p:sp>
        <p:nvSpPr>
          <p:cNvPr id="104" name="Google Shape;104;p5"/>
          <p:cNvSpPr/>
          <p:nvPr/>
        </p:nvSpPr>
        <p:spPr>
          <a:xfrm>
            <a:off x="557448" y="2704804"/>
            <a:ext cx="1852813"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Sample Output :</a:t>
            </a:r>
            <a:endParaRPr b="0" i="0" sz="1600" u="none" cap="none" strike="noStrike">
              <a:solidFill>
                <a:srgbClr val="000000"/>
              </a:solidFill>
              <a:latin typeface="Roboto"/>
              <a:ea typeface="Roboto"/>
              <a:cs typeface="Roboto"/>
              <a:sym typeface="Roboto"/>
            </a:endParaRPr>
          </a:p>
        </p:txBody>
      </p:sp>
      <p:sp>
        <p:nvSpPr>
          <p:cNvPr id="105" name="Google Shape;105;p5"/>
          <p:cNvSpPr/>
          <p:nvPr/>
        </p:nvSpPr>
        <p:spPr>
          <a:xfrm>
            <a:off x="2339907" y="2702456"/>
            <a:ext cx="2799471"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str = “acbca”</a:t>
            </a:r>
            <a:endParaRPr b="0" i="0" sz="1600" u="none" cap="none" strike="noStrike">
              <a:solidFill>
                <a:srgbClr val="000000"/>
              </a:solidFill>
              <a:latin typeface="Roboto"/>
              <a:ea typeface="Roboto"/>
              <a:cs typeface="Roboto"/>
              <a:sym typeface="Roboto"/>
            </a:endParaRPr>
          </a:p>
        </p:txBody>
      </p:sp>
      <p:sp>
        <p:nvSpPr>
          <p:cNvPr id="106" name="Google Shape;106;p5"/>
          <p:cNvSpPr/>
          <p:nvPr/>
        </p:nvSpPr>
        <p:spPr>
          <a:xfrm>
            <a:off x="548066" y="3567638"/>
            <a:ext cx="8047294"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Print </a:t>
            </a:r>
            <a:r>
              <a:rPr b="0" i="0" lang="en-US" sz="1600" u="none" cap="none" strike="noStrike">
                <a:solidFill>
                  <a:srgbClr val="FF0000"/>
                </a:solidFill>
                <a:latin typeface="Roboto"/>
                <a:ea typeface="Roboto"/>
                <a:cs typeface="Roboto"/>
                <a:sym typeface="Roboto"/>
              </a:rPr>
              <a:t>-1</a:t>
            </a:r>
            <a:r>
              <a:rPr b="0" i="0" lang="en-US" sz="1600" u="none" cap="none" strike="noStrike">
                <a:solidFill>
                  <a:schemeClr val="dk1"/>
                </a:solidFill>
                <a:latin typeface="Roboto"/>
                <a:ea typeface="Roboto"/>
                <a:cs typeface="Roboto"/>
                <a:sym typeface="Roboto"/>
              </a:rPr>
              <a:t>,</a:t>
            </a:r>
            <a:r>
              <a:rPr b="0" i="0" lang="en-US" sz="1600" u="none" cap="none" strike="noStrike">
                <a:solidFill>
                  <a:srgbClr val="000000"/>
                </a:solidFill>
                <a:latin typeface="Roboto"/>
                <a:ea typeface="Roboto"/>
                <a:cs typeface="Roboto"/>
                <a:sym typeface="Roboto"/>
              </a:rPr>
              <a:t> if there are no such lexicographically minimum substring.</a:t>
            </a:r>
            <a:endParaRPr b="0" i="0" sz="16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
                                        </p:tgtEl>
                                        <p:attrNameLst>
                                          <p:attrName>style.visibility</p:attrName>
                                        </p:attrNameLst>
                                      </p:cBhvr>
                                      <p:to>
                                        <p:strVal val="visible"/>
                                      </p:to>
                                    </p:set>
                                    <p:animEffect filter="fade" transition="in">
                                      <p:cBhvr>
                                        <p:cTn dur="1000"/>
                                        <p:tgtEl>
                                          <p:spTgt spid="1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gtEl>
                                        <p:attrNameLst>
                                          <p:attrName>style.visibility</p:attrName>
                                        </p:attrNameLst>
                                      </p:cBhvr>
                                      <p:to>
                                        <p:strVal val="visible"/>
                                      </p:to>
                                    </p:set>
                                    <p:animEffect filter="fade" transition="in">
                                      <p:cBhvr>
                                        <p:cTn dur="1000"/>
                                        <p:tgtEl>
                                          <p:spTgt spid="1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gtEl>
                                        <p:attrNameLst>
                                          <p:attrName>style.visibility</p:attrName>
                                        </p:attrNameLst>
                                      </p:cBhvr>
                                      <p:to>
                                        <p:strVal val="visible"/>
                                      </p:to>
                                    </p:set>
                                    <p:animEffect filter="fade" transition="in">
                                      <p:cBhvr>
                                        <p:cTn dur="500"/>
                                        <p:tgtEl>
                                          <p:spTgt spid="1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gtEl>
                                        <p:attrNameLst>
                                          <p:attrName>style.visibility</p:attrName>
                                        </p:attrNameLst>
                                      </p:cBhvr>
                                      <p:to>
                                        <p:strVal val="visible"/>
                                      </p:to>
                                    </p:set>
                                    <p:animEffect filter="fade" transition="in">
                                      <p:cBhvr>
                                        <p:cTn dur="500"/>
                                        <p:tgtEl>
                                          <p:spTgt spid="1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gtEl>
                                        <p:attrNameLst>
                                          <p:attrName>style.visibility</p:attrName>
                                        </p:attrNameLst>
                                      </p:cBhvr>
                                      <p:to>
                                        <p:strVal val="visible"/>
                                      </p:to>
                                    </p:set>
                                    <p:animEffect filter="fade" transition="in">
                                      <p:cBhvr>
                                        <p:cTn dur="500"/>
                                        <p:tgtEl>
                                          <p:spTgt spid="1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gtEl>
                                        <p:attrNameLst>
                                          <p:attrName>style.visibility</p:attrName>
                                        </p:attrNameLst>
                                      </p:cBhvr>
                                      <p:to>
                                        <p:strVal val="visible"/>
                                      </p:to>
                                    </p:set>
                                    <p:animEffect filter="fade" transition="in">
                                      <p:cBhvr>
                                        <p:cTn dur="500"/>
                                        <p:tgtEl>
                                          <p:spTgt spid="1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
                                        </p:tgtEl>
                                        <p:attrNameLst>
                                          <p:attrName>style.visibility</p:attrName>
                                        </p:attrNameLst>
                                      </p:cBhvr>
                                      <p:to>
                                        <p:strVal val="visible"/>
                                      </p:to>
                                    </p:set>
                                    <p:animEffect filter="fade" transition="in">
                                      <p:cBhvr>
                                        <p:cTn dur="500"/>
                                        <p:tgtEl>
                                          <p:spTgt spid="1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6"/>
          <p:cNvSpPr/>
          <p:nvPr/>
        </p:nvSpPr>
        <p:spPr>
          <a:xfrm>
            <a:off x="478800" y="2884320"/>
            <a:ext cx="75960" cy="75960"/>
          </a:xfrm>
          <a:prstGeom prst="ellipse">
            <a:avLst/>
          </a:prstGeom>
          <a:solidFill>
            <a:srgbClr val="E5F0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12" name="Google Shape;112;p6"/>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13" name="Google Shape;113;p6"/>
          <p:cNvSpPr/>
          <p:nvPr/>
        </p:nvSpPr>
        <p:spPr>
          <a:xfrm>
            <a:off x="555109" y="1675502"/>
            <a:ext cx="8033207"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Noto Sans Symbols"/>
              <a:buChar char="⮚"/>
            </a:pPr>
            <a:r>
              <a:rPr b="0" i="0" lang="en-US" sz="1600" u="none" cap="none" strike="noStrike">
                <a:solidFill>
                  <a:srgbClr val="000000"/>
                </a:solidFill>
                <a:latin typeface="Roboto"/>
                <a:ea typeface="Roboto"/>
                <a:cs typeface="Roboto"/>
                <a:sym typeface="Roboto"/>
              </a:rPr>
              <a:t> Sort the string characters in alphabetical(ascending) order.</a:t>
            </a:r>
            <a:endParaRPr b="0" i="0" sz="1600" u="none" cap="none" strike="noStrike">
              <a:solidFill>
                <a:srgbClr val="000000"/>
              </a:solidFill>
              <a:latin typeface="Roboto"/>
              <a:ea typeface="Roboto"/>
              <a:cs typeface="Roboto"/>
              <a:sym typeface="Roboto"/>
            </a:endParaRPr>
          </a:p>
        </p:txBody>
      </p:sp>
      <p:sp>
        <p:nvSpPr>
          <p:cNvPr id="114" name="Google Shape;114;p6"/>
          <p:cNvSpPr/>
          <p:nvPr/>
        </p:nvSpPr>
        <p:spPr>
          <a:xfrm>
            <a:off x="552761" y="990856"/>
            <a:ext cx="8033207" cy="33851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FF0000"/>
                </a:solidFill>
                <a:latin typeface="Roboto"/>
                <a:ea typeface="Roboto"/>
                <a:cs typeface="Roboto"/>
                <a:sym typeface="Roboto"/>
              </a:rPr>
              <a:t>Simple Approach</a:t>
            </a:r>
            <a:endParaRPr b="1" i="0" sz="1600" u="none" cap="none" strike="noStrike">
              <a:solidFill>
                <a:srgbClr val="FF0000"/>
              </a:solidFill>
              <a:latin typeface="Roboto"/>
              <a:ea typeface="Roboto"/>
              <a:cs typeface="Roboto"/>
              <a:sym typeface="Roboto"/>
            </a:endParaRPr>
          </a:p>
        </p:txBody>
      </p:sp>
      <p:sp>
        <p:nvSpPr>
          <p:cNvPr id="115" name="Google Shape;115;p6"/>
          <p:cNvSpPr/>
          <p:nvPr/>
        </p:nvSpPr>
        <p:spPr>
          <a:xfrm>
            <a:off x="559795" y="2264010"/>
            <a:ext cx="8033207"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Noto Sans Symbols"/>
              <a:buChar char="⮚"/>
            </a:pPr>
            <a:r>
              <a:rPr b="0" i="0" lang="en-US" sz="1600" u="none" cap="none" strike="noStrike">
                <a:solidFill>
                  <a:srgbClr val="000000"/>
                </a:solidFill>
                <a:latin typeface="Roboto"/>
                <a:ea typeface="Roboto"/>
                <a:cs typeface="Roboto"/>
                <a:sym typeface="Roboto"/>
              </a:rPr>
              <a:t> One by one find lexicographically next permutation of the given string.</a:t>
            </a:r>
            <a:endParaRPr b="0" i="0" sz="1600" u="none" cap="none" strike="noStrike">
              <a:solidFill>
                <a:srgbClr val="000000"/>
              </a:solidFill>
              <a:latin typeface="Roboto"/>
              <a:ea typeface="Roboto"/>
              <a:cs typeface="Roboto"/>
              <a:sym typeface="Roboto"/>
            </a:endParaRPr>
          </a:p>
        </p:txBody>
      </p:sp>
      <p:sp>
        <p:nvSpPr>
          <p:cNvPr id="116" name="Google Shape;116;p6"/>
          <p:cNvSpPr/>
          <p:nvPr/>
        </p:nvSpPr>
        <p:spPr>
          <a:xfrm>
            <a:off x="564481" y="3070572"/>
            <a:ext cx="8033207"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Noto Sans Symbols"/>
              <a:buChar char="⮚"/>
            </a:pPr>
            <a:r>
              <a:rPr b="0" i="0" lang="en-US" sz="1600" u="none" cap="none" strike="noStrike">
                <a:solidFill>
                  <a:srgbClr val="000000"/>
                </a:solidFill>
                <a:latin typeface="Roboto"/>
                <a:ea typeface="Roboto"/>
                <a:cs typeface="Roboto"/>
                <a:sym typeface="Roboto"/>
              </a:rPr>
              <a:t> The first permutation which is palindrome is the answer.</a:t>
            </a:r>
            <a:endParaRPr b="0" i="0" sz="16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gtEl>
                                        <p:attrNameLst>
                                          <p:attrName>style.visibility</p:attrName>
                                        </p:attrNameLst>
                                      </p:cBhvr>
                                      <p:to>
                                        <p:strVal val="visible"/>
                                      </p:to>
                                    </p:set>
                                    <p:animEffect filter="fade" transition="in">
                                      <p:cBhvr>
                                        <p:cTn dur="500"/>
                                        <p:tgtEl>
                                          <p:spTgt spid="1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
                                        </p:tgtEl>
                                        <p:attrNameLst>
                                          <p:attrName>style.visibility</p:attrName>
                                        </p:attrNameLst>
                                      </p:cBhvr>
                                      <p:to>
                                        <p:strVal val="visible"/>
                                      </p:to>
                                    </p:set>
                                    <p:animEffect filter="fade" transition="in">
                                      <p:cBhvr>
                                        <p:cTn dur="500"/>
                                        <p:tgtEl>
                                          <p:spTgt spid="1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
                                        </p:tgtEl>
                                        <p:attrNameLst>
                                          <p:attrName>style.visibility</p:attrName>
                                        </p:attrNameLst>
                                      </p:cBhvr>
                                      <p:to>
                                        <p:strVal val="visible"/>
                                      </p:to>
                                    </p:set>
                                    <p:animEffect filter="fade" transition="in">
                                      <p:cBhvr>
                                        <p:cTn dur="500"/>
                                        <p:tgtEl>
                                          <p:spTgt spid="1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gtEl>
                                        <p:attrNameLst>
                                          <p:attrName>style.visibility</p:attrName>
                                        </p:attrNameLst>
                                      </p:cBhvr>
                                      <p:to>
                                        <p:strVal val="visible"/>
                                      </p:to>
                                    </p:set>
                                    <p:animEffect filter="fade" transition="in">
                                      <p:cBhvr>
                                        <p:cTn dur="500"/>
                                        <p:tgtEl>
                                          <p:spTgt spid="1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7"/>
          <p:cNvSpPr/>
          <p:nvPr/>
        </p:nvSpPr>
        <p:spPr>
          <a:xfrm>
            <a:off x="478800" y="2884320"/>
            <a:ext cx="75960" cy="75960"/>
          </a:xfrm>
          <a:prstGeom prst="ellipse">
            <a:avLst/>
          </a:prstGeom>
          <a:solidFill>
            <a:srgbClr val="E5F0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22" name="Google Shape;122;p7"/>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23" name="Google Shape;123;p7"/>
          <p:cNvSpPr/>
          <p:nvPr/>
        </p:nvSpPr>
        <p:spPr>
          <a:xfrm>
            <a:off x="555109" y="1084646"/>
            <a:ext cx="8033207" cy="338514"/>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800"/>
              <a:buFont typeface="Arial"/>
              <a:buAutoNum type="arabicPeriod"/>
            </a:pPr>
            <a:r>
              <a:rPr b="0" i="0" lang="en-US" sz="1600" u="none" cap="none" strike="noStrike">
                <a:solidFill>
                  <a:srgbClr val="000000"/>
                </a:solidFill>
                <a:latin typeface="Roboto"/>
                <a:ea typeface="Roboto"/>
                <a:cs typeface="Roboto"/>
                <a:sym typeface="Roboto"/>
              </a:rPr>
              <a:t>Store frequency of each character in the given string</a:t>
            </a:r>
            <a:endParaRPr b="0" i="0" sz="1600" u="none" cap="none" strike="noStrike">
              <a:solidFill>
                <a:srgbClr val="000000"/>
              </a:solidFill>
              <a:latin typeface="Roboto"/>
              <a:ea typeface="Roboto"/>
              <a:cs typeface="Roboto"/>
              <a:sym typeface="Roboto"/>
            </a:endParaRPr>
          </a:p>
        </p:txBody>
      </p:sp>
      <p:sp>
        <p:nvSpPr>
          <p:cNvPr id="124" name="Google Shape;124;p7"/>
          <p:cNvSpPr/>
          <p:nvPr/>
        </p:nvSpPr>
        <p:spPr>
          <a:xfrm>
            <a:off x="552761" y="667292"/>
            <a:ext cx="8033207" cy="33851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FF0000"/>
                </a:solidFill>
                <a:latin typeface="Roboto"/>
                <a:ea typeface="Roboto"/>
                <a:cs typeface="Roboto"/>
                <a:sym typeface="Roboto"/>
              </a:rPr>
              <a:t>Algorithm</a:t>
            </a:r>
            <a:endParaRPr b="1" i="0" sz="1600" u="none" cap="none" strike="noStrike">
              <a:solidFill>
                <a:srgbClr val="FF0000"/>
              </a:solidFill>
              <a:latin typeface="Roboto"/>
              <a:ea typeface="Roboto"/>
              <a:cs typeface="Roboto"/>
              <a:sym typeface="Roboto"/>
            </a:endParaRPr>
          </a:p>
        </p:txBody>
      </p:sp>
      <p:sp>
        <p:nvSpPr>
          <p:cNvPr id="125" name="Google Shape;125;p7"/>
          <p:cNvSpPr/>
          <p:nvPr/>
        </p:nvSpPr>
        <p:spPr>
          <a:xfrm>
            <a:off x="559795" y="1757562"/>
            <a:ext cx="8033207" cy="584735"/>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800"/>
              <a:buFont typeface="Arial"/>
              <a:buAutoNum type="arabicPeriod" startAt="2"/>
            </a:pPr>
            <a:r>
              <a:rPr b="0" i="0" lang="en-US" sz="1600" u="none" cap="none" strike="noStrike">
                <a:solidFill>
                  <a:srgbClr val="000000"/>
                </a:solidFill>
                <a:latin typeface="Roboto"/>
                <a:ea typeface="Roboto"/>
                <a:cs typeface="Roboto"/>
                <a:sym typeface="Roboto"/>
              </a:rPr>
              <a:t>Check whether a palindromic string can be formed or not using the properties of palindromic string mentioned above.</a:t>
            </a:r>
            <a:endParaRPr b="0" i="0" sz="1600" u="none" cap="none" strike="noStrike">
              <a:solidFill>
                <a:srgbClr val="000000"/>
              </a:solidFill>
              <a:latin typeface="Roboto"/>
              <a:ea typeface="Roboto"/>
              <a:cs typeface="Roboto"/>
              <a:sym typeface="Roboto"/>
            </a:endParaRPr>
          </a:p>
        </p:txBody>
      </p:sp>
      <p:sp>
        <p:nvSpPr>
          <p:cNvPr id="126" name="Google Shape;126;p7"/>
          <p:cNvSpPr/>
          <p:nvPr/>
        </p:nvSpPr>
        <p:spPr>
          <a:xfrm>
            <a:off x="564481" y="2613362"/>
            <a:ext cx="8033207" cy="338514"/>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800"/>
              <a:buFont typeface="Arial"/>
              <a:buAutoNum type="arabicPeriod" startAt="3"/>
            </a:pPr>
            <a:r>
              <a:rPr b="0" i="0" lang="en-US" sz="1600" u="none" cap="none" strike="noStrike">
                <a:solidFill>
                  <a:srgbClr val="000000"/>
                </a:solidFill>
                <a:latin typeface="Roboto"/>
                <a:ea typeface="Roboto"/>
                <a:cs typeface="Roboto"/>
                <a:sym typeface="Roboto"/>
              </a:rPr>
              <a:t>If palindromic string cannot be formed, return “No Palindromic String”.</a:t>
            </a:r>
            <a:endParaRPr b="0" i="0" sz="1600" u="none" cap="none" strike="noStrike">
              <a:solidFill>
                <a:srgbClr val="000000"/>
              </a:solidFill>
              <a:latin typeface="Roboto"/>
              <a:ea typeface="Roboto"/>
              <a:cs typeface="Roboto"/>
              <a:sym typeface="Roboto"/>
            </a:endParaRPr>
          </a:p>
        </p:txBody>
      </p:sp>
      <p:sp>
        <p:nvSpPr>
          <p:cNvPr id="127" name="Google Shape;127;p7"/>
          <p:cNvSpPr/>
          <p:nvPr/>
        </p:nvSpPr>
        <p:spPr>
          <a:xfrm>
            <a:off x="569167" y="3511366"/>
            <a:ext cx="8033207" cy="338514"/>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800"/>
              <a:buFont typeface="Arial"/>
              <a:buAutoNum type="arabicPeriod" startAt="4"/>
            </a:pPr>
            <a:r>
              <a:rPr b="0" i="0" lang="en-US" sz="1600" u="none" cap="none" strike="noStrike">
                <a:solidFill>
                  <a:srgbClr val="000000"/>
                </a:solidFill>
                <a:latin typeface="Roboto"/>
                <a:ea typeface="Roboto"/>
                <a:cs typeface="Roboto"/>
                <a:sym typeface="Roboto"/>
              </a:rPr>
              <a:t>Else we create three strings and then return;</a:t>
            </a:r>
            <a:endParaRPr b="0" i="0" sz="1600" u="none" cap="none" strike="noStrike">
              <a:solidFill>
                <a:srgbClr val="000000"/>
              </a:solidFill>
              <a:latin typeface="Roboto"/>
              <a:ea typeface="Roboto"/>
              <a:cs typeface="Roboto"/>
              <a:sym typeface="Roboto"/>
            </a:endParaRPr>
          </a:p>
        </p:txBody>
      </p:sp>
      <p:sp>
        <p:nvSpPr>
          <p:cNvPr id="128" name="Google Shape;128;p7"/>
          <p:cNvSpPr/>
          <p:nvPr/>
        </p:nvSpPr>
        <p:spPr>
          <a:xfrm>
            <a:off x="1424948" y="4022505"/>
            <a:ext cx="1191643" cy="338514"/>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Roboto"/>
                <a:ea typeface="Roboto"/>
                <a:cs typeface="Roboto"/>
                <a:sym typeface="Roboto"/>
              </a:rPr>
              <a:t>front_str</a:t>
            </a:r>
            <a:endParaRPr b="0" i="0" sz="1600" u="none" cap="none" strike="noStrike">
              <a:solidFill>
                <a:srgbClr val="000000"/>
              </a:solidFill>
              <a:latin typeface="Roboto"/>
              <a:ea typeface="Roboto"/>
              <a:cs typeface="Roboto"/>
              <a:sym typeface="Roboto"/>
            </a:endParaRPr>
          </a:p>
        </p:txBody>
      </p:sp>
      <p:sp>
        <p:nvSpPr>
          <p:cNvPr id="129" name="Google Shape;129;p7"/>
          <p:cNvSpPr/>
          <p:nvPr/>
        </p:nvSpPr>
        <p:spPr>
          <a:xfrm>
            <a:off x="2576176" y="4020157"/>
            <a:ext cx="307701" cy="338514"/>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a:t>
            </a:r>
            <a:endParaRPr b="0" i="0" sz="1600" u="none" cap="none" strike="noStrike">
              <a:solidFill>
                <a:srgbClr val="000000"/>
              </a:solidFill>
              <a:latin typeface="Roboto"/>
              <a:ea typeface="Roboto"/>
              <a:cs typeface="Roboto"/>
              <a:sym typeface="Roboto"/>
            </a:endParaRPr>
          </a:p>
        </p:txBody>
      </p:sp>
      <p:sp>
        <p:nvSpPr>
          <p:cNvPr id="130" name="Google Shape;130;p7"/>
          <p:cNvSpPr/>
          <p:nvPr/>
        </p:nvSpPr>
        <p:spPr>
          <a:xfrm>
            <a:off x="2805950" y="4010775"/>
            <a:ext cx="971225" cy="338514"/>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Roboto"/>
                <a:ea typeface="Roboto"/>
                <a:cs typeface="Roboto"/>
                <a:sym typeface="Roboto"/>
              </a:rPr>
              <a:t>odd_str</a:t>
            </a:r>
            <a:endParaRPr b="0" i="0" sz="1600" u="none" cap="none" strike="noStrike">
              <a:solidFill>
                <a:srgbClr val="000000"/>
              </a:solidFill>
              <a:latin typeface="Roboto"/>
              <a:ea typeface="Roboto"/>
              <a:cs typeface="Roboto"/>
              <a:sym typeface="Roboto"/>
            </a:endParaRPr>
          </a:p>
        </p:txBody>
      </p:sp>
      <p:sp>
        <p:nvSpPr>
          <p:cNvPr id="131" name="Google Shape;131;p7"/>
          <p:cNvSpPr/>
          <p:nvPr/>
        </p:nvSpPr>
        <p:spPr>
          <a:xfrm>
            <a:off x="3957179" y="4015461"/>
            <a:ext cx="1121234" cy="338514"/>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Roboto"/>
                <a:ea typeface="Roboto"/>
                <a:cs typeface="Roboto"/>
                <a:sym typeface="Roboto"/>
              </a:rPr>
              <a:t>rear_str</a:t>
            </a:r>
            <a:endParaRPr b="1" i="0" sz="1600" u="none" cap="none" strike="noStrike">
              <a:solidFill>
                <a:srgbClr val="000000"/>
              </a:solidFill>
              <a:latin typeface="Roboto"/>
              <a:ea typeface="Roboto"/>
              <a:cs typeface="Roboto"/>
              <a:sym typeface="Roboto"/>
            </a:endParaRPr>
          </a:p>
        </p:txBody>
      </p:sp>
      <p:sp>
        <p:nvSpPr>
          <p:cNvPr id="132" name="Google Shape;132;p7"/>
          <p:cNvSpPr/>
          <p:nvPr/>
        </p:nvSpPr>
        <p:spPr>
          <a:xfrm>
            <a:off x="3706302" y="4017809"/>
            <a:ext cx="307701" cy="338514"/>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a:t>
            </a:r>
            <a:endParaRPr b="0" i="0" sz="16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gtEl>
                                        <p:attrNameLst>
                                          <p:attrName>style.visibility</p:attrName>
                                        </p:attrNameLst>
                                      </p:cBhvr>
                                      <p:to>
                                        <p:strVal val="visible"/>
                                      </p:to>
                                    </p:set>
                                    <p:animEffect filter="fade" transition="in">
                                      <p:cBhvr>
                                        <p:cTn dur="500"/>
                                        <p:tgtEl>
                                          <p:spTgt spid="1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gtEl>
                                        <p:attrNameLst>
                                          <p:attrName>style.visibility</p:attrName>
                                        </p:attrNameLst>
                                      </p:cBhvr>
                                      <p:to>
                                        <p:strVal val="visible"/>
                                      </p:to>
                                    </p:set>
                                    <p:animEffect filter="fade" transition="in">
                                      <p:cBhvr>
                                        <p:cTn dur="500"/>
                                        <p:tgtEl>
                                          <p:spTgt spid="1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
                                        </p:tgtEl>
                                        <p:attrNameLst>
                                          <p:attrName>style.visibility</p:attrName>
                                        </p:attrNameLst>
                                      </p:cBhvr>
                                      <p:to>
                                        <p:strVal val="visible"/>
                                      </p:to>
                                    </p:set>
                                    <p:animEffect filter="fade" transition="in">
                                      <p:cBhvr>
                                        <p:cTn dur="500"/>
                                        <p:tgtEl>
                                          <p:spTgt spid="1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
                                        </p:tgtEl>
                                        <p:attrNameLst>
                                          <p:attrName>style.visibility</p:attrName>
                                        </p:attrNameLst>
                                      </p:cBhvr>
                                      <p:to>
                                        <p:strVal val="visible"/>
                                      </p:to>
                                    </p:set>
                                    <p:animEffect filter="fade" transition="in">
                                      <p:cBhvr>
                                        <p:cTn dur="500"/>
                                        <p:tgtEl>
                                          <p:spTgt spid="1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500"/>
                                        <p:tgtEl>
                                          <p:spTgt spid="1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500"/>
                                        <p:tgtEl>
                                          <p:spTgt spid="1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500"/>
                                        <p:tgtEl>
                                          <p:spTgt spid="1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500"/>
                                        <p:tgtEl>
                                          <p:spTgt spid="1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500"/>
                                        <p:tgtEl>
                                          <p:spTgt spid="1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500"/>
                                        <p:tgtEl>
                                          <p:spTgt spid="1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8"/>
          <p:cNvSpPr/>
          <p:nvPr/>
        </p:nvSpPr>
        <p:spPr>
          <a:xfrm>
            <a:off x="478800" y="2884320"/>
            <a:ext cx="75960" cy="75960"/>
          </a:xfrm>
          <a:prstGeom prst="ellipse">
            <a:avLst/>
          </a:prstGeom>
          <a:solidFill>
            <a:srgbClr val="E5F0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38" name="Google Shape;138;p8"/>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graphicFrame>
        <p:nvGraphicFramePr>
          <p:cNvPr id="139" name="Google Shape;139;p8"/>
          <p:cNvGraphicFramePr/>
          <p:nvPr/>
        </p:nvGraphicFramePr>
        <p:xfrm>
          <a:off x="168279" y="700970"/>
          <a:ext cx="3000000" cy="3000000"/>
        </p:xfrm>
        <a:graphic>
          <a:graphicData uri="http://schemas.openxmlformats.org/drawingml/2006/table">
            <a:tbl>
              <a:tblPr bandRow="1" firstRow="1">
                <a:noFill/>
                <a:tableStyleId>{4656F72E-C72A-420B-A7F1-D06247FDEAB7}</a:tableStyleId>
              </a:tblPr>
              <a:tblGrid>
                <a:gridCol w="4517750"/>
                <a:gridCol w="4076050"/>
              </a:tblGrid>
              <a:tr h="4279100">
                <a:tc>
                  <a:txBody>
                    <a:bodyPr/>
                    <a:lstStyle/>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class EthCode {</a:t>
                      </a:r>
                      <a:endParaRPr sz="14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static char MAX_CHAR = 26;</a:t>
                      </a:r>
                      <a:endParaRPr sz="14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 Function to count frequency of each char in the</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 string. freq[0] for 'a',...., freq[25] for 'z'</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static void countFreq(String str, int freq[], int len)</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for (int i = 0; i &lt; len; i++)</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freq[str.charAt(i) - 'a']++;</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 Cases to check whether a palindr0mic</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 string can be formed or not</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static boolean canMakePalindrome(int freq[], int len)</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a:t>
                      </a:r>
                      <a:endParaRPr b="0" sz="1400" u="none" cap="none" strike="noStrike">
                        <a:solidFill>
                          <a:schemeClr val="dk1"/>
                        </a:solidFill>
                        <a:latin typeface="Roboto"/>
                        <a:ea typeface="Roboto"/>
                        <a:cs typeface="Roboto"/>
                        <a:sym typeface="Roboto"/>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 count_odd to count no of</a:t>
                      </a:r>
                      <a:endParaRPr sz="14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 chars with odd frequency</a:t>
                      </a:r>
                      <a:endParaRPr sz="14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int count_odd = 0;</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for (int i = 0; i &lt; MAX_CHAR; i++)</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if (freq[i] % 2 != 0)</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count_odd++;</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 For even length string</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 no odd freq character</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if (len % 2 == 0)</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if (count_odd &gt; 0)</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 return false;</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else</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 return true;</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 }</a:t>
                      </a:r>
                      <a:endParaRPr b="0" sz="1400" u="none" cap="none" strike="noStrike">
                        <a:solidFill>
                          <a:schemeClr val="dk1"/>
                        </a:solidFill>
                        <a:highlight>
                          <a:schemeClr val="lt1"/>
                        </a:highlight>
                        <a:latin typeface="Roboto"/>
                        <a:ea typeface="Roboto"/>
                        <a:cs typeface="Roboto"/>
                        <a:sym typeface="Roboto"/>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9"/>
          <p:cNvSpPr/>
          <p:nvPr/>
        </p:nvSpPr>
        <p:spPr>
          <a:xfrm>
            <a:off x="478800" y="2884320"/>
            <a:ext cx="75960" cy="75960"/>
          </a:xfrm>
          <a:prstGeom prst="ellipse">
            <a:avLst/>
          </a:prstGeom>
          <a:solidFill>
            <a:srgbClr val="E5F0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45" name="Google Shape;145;p9"/>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graphicFrame>
        <p:nvGraphicFramePr>
          <p:cNvPr id="146" name="Google Shape;146;p9"/>
          <p:cNvGraphicFramePr/>
          <p:nvPr/>
        </p:nvGraphicFramePr>
        <p:xfrm>
          <a:off x="168279" y="792470"/>
          <a:ext cx="3000000" cy="3000000"/>
        </p:xfrm>
        <a:graphic>
          <a:graphicData uri="http://schemas.openxmlformats.org/drawingml/2006/table">
            <a:tbl>
              <a:tblPr bandRow="1" firstRow="1">
                <a:noFill/>
                <a:tableStyleId>{4656F72E-C72A-420B-A7F1-D06247FDEAB7}</a:tableStyleId>
              </a:tblPr>
              <a:tblGrid>
                <a:gridCol w="4517750"/>
                <a:gridCol w="4076050"/>
              </a:tblGrid>
              <a:tr h="4105125">
                <a:tc>
                  <a:txBody>
                    <a:bodyPr/>
                    <a:lstStyle/>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 For odd length string</a:t>
                      </a:r>
                      <a:endParaRPr sz="14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 one odd freq character</a:t>
                      </a:r>
                      <a:endParaRPr sz="14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if (count_odd != 1)</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return false;</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return true;</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 Function to find odd freq char and</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 reducing its freq by 1returns "" if odd freq// char is not present</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static String findOddAndRemoveItsFreq(int freq[])</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String odd_str =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for (int i = 0; i &lt; MAX_CHAR; i++)</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if (freq[i] % 2 != 0)</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freq[i]--;</a:t>
                      </a:r>
                      <a:endParaRPr sz="14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odd_str = odd_str + (char) (i + 'a');</a:t>
                      </a:r>
                      <a:endParaRPr sz="14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return odd_str;</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return odd_str;</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 To find lexicographically first palindromic</a:t>
                      </a:r>
                      <a:endParaRPr b="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 string.</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static String findPalindromicString(String str)</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int len = str.length();</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int freq[] = new int[MAX_CHAR];</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countFreq(str, freq, len);</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if (!canMakePalindrome(freq, len))</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return "No Palindromic String";</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a:t>
                      </a:r>
                      <a:endParaRPr b="0" sz="1400" u="none" cap="none" strike="noStrike">
                        <a:solidFill>
                          <a:schemeClr val="dk1"/>
                        </a:solidFill>
                        <a:highlight>
                          <a:schemeClr val="lt1"/>
                        </a:highlight>
                        <a:latin typeface="Roboto"/>
                        <a:ea typeface="Roboto"/>
                        <a:cs typeface="Roboto"/>
                        <a:sym typeface="Roboto"/>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0"/>
          <p:cNvSpPr/>
          <p:nvPr/>
        </p:nvSpPr>
        <p:spPr>
          <a:xfrm>
            <a:off x="478800" y="2884320"/>
            <a:ext cx="75960" cy="75960"/>
          </a:xfrm>
          <a:prstGeom prst="ellipse">
            <a:avLst/>
          </a:prstGeom>
          <a:solidFill>
            <a:srgbClr val="E5F0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52" name="Google Shape;152;p10"/>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graphicFrame>
        <p:nvGraphicFramePr>
          <p:cNvPr id="153" name="Google Shape;153;p10"/>
          <p:cNvGraphicFramePr/>
          <p:nvPr/>
        </p:nvGraphicFramePr>
        <p:xfrm>
          <a:off x="168279" y="811675"/>
          <a:ext cx="3000000" cy="3000000"/>
        </p:xfrm>
        <a:graphic>
          <a:graphicData uri="http://schemas.openxmlformats.org/drawingml/2006/table">
            <a:tbl>
              <a:tblPr bandRow="1" firstRow="1">
                <a:noFill/>
                <a:tableStyleId>{4656F72E-C72A-420B-A7F1-D06247FDEAB7}</a:tableStyleId>
              </a:tblPr>
              <a:tblGrid>
                <a:gridCol w="4517750"/>
                <a:gridCol w="4076050"/>
              </a:tblGrid>
              <a:tr h="4136750">
                <a:tc>
                  <a:txBody>
                    <a:bodyPr/>
                    <a:lstStyle/>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 Assigning odd freq character if present</a:t>
                      </a:r>
                      <a:endParaRPr sz="14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 else empty string.</a:t>
                      </a:r>
                      <a:endParaRPr sz="14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String odd_str = findOddAndRemoveItsFreq(freq);</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String front_str = "", rear_str = "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 Traverse characters in increasing order</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for (int i = 0; i &lt; MAX_CHAR; i++)</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String temp =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if (freq[i] != 0)</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char ch = (char) (i + 'a');</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 Divide all occurrences into two</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 halves. Note that odd character</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 is removed by findOddAndRemoveItsFreq()</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for (int j = 1; j &lt;= freq[i] / 2; j++)</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temp = temp + ch;</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b="0" lang="en-US" sz="1400" u="none" cap="none" strike="noStrike">
                          <a:solidFill>
                            <a:schemeClr val="dk1"/>
                          </a:solidFill>
                          <a:latin typeface="Roboto"/>
                          <a:ea typeface="Roboto"/>
                          <a:cs typeface="Roboto"/>
                          <a:sym typeface="Roboto"/>
                        </a:rPr>
                        <a:t> }</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 creating front string</a:t>
                      </a:r>
                      <a:endParaRPr sz="14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front_str = front_str + temp;</a:t>
                      </a:r>
                      <a:endParaRPr sz="14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 creating rear string</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rear_str = temp + rear_str;</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 Final palindromic string which is</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 lexicographically first</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return (front_str + odd_str + rear_str);</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b="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public static void main(String[] args)</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String str = "malayalam";</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System.out.println(findPalindromicString(str));</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highlight>
                            <a:schemeClr val="lt1"/>
                          </a:highlight>
                          <a:latin typeface="Roboto"/>
                          <a:ea typeface="Roboto"/>
                          <a:cs typeface="Roboto"/>
                          <a:sym typeface="Roboto"/>
                        </a:rPr>
                        <a:t> }}</a:t>
                      </a:r>
                      <a:endParaRPr b="0" sz="1400" u="none" cap="none" strike="noStrike">
                        <a:solidFill>
                          <a:schemeClr val="dk1"/>
                        </a:solidFill>
                        <a:highlight>
                          <a:schemeClr val="lt1"/>
                        </a:highlight>
                        <a:latin typeface="Roboto"/>
                        <a:ea typeface="Roboto"/>
                        <a:cs typeface="Roboto"/>
                        <a:sym typeface="Roboto"/>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1"/>
          <p:cNvSpPr/>
          <p:nvPr/>
        </p:nvSpPr>
        <p:spPr>
          <a:xfrm>
            <a:off x="478800" y="2884320"/>
            <a:ext cx="75960" cy="75960"/>
          </a:xfrm>
          <a:prstGeom prst="ellipse">
            <a:avLst/>
          </a:prstGeom>
          <a:solidFill>
            <a:srgbClr val="E5F0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59" name="Google Shape;159;p11"/>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60" name="Google Shape;160;p11"/>
          <p:cNvSpPr/>
          <p:nvPr/>
        </p:nvSpPr>
        <p:spPr>
          <a:xfrm>
            <a:off x="2944270" y="1567643"/>
            <a:ext cx="2106033"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Time Complexity :</a:t>
            </a:r>
            <a:endParaRPr b="0" i="0" sz="1600" u="none" cap="none" strike="noStrike">
              <a:solidFill>
                <a:srgbClr val="000000"/>
              </a:solidFill>
              <a:latin typeface="Roboto"/>
              <a:ea typeface="Roboto"/>
              <a:cs typeface="Roboto"/>
              <a:sym typeface="Roboto"/>
            </a:endParaRPr>
          </a:p>
        </p:txBody>
      </p:sp>
      <p:sp>
        <p:nvSpPr>
          <p:cNvPr id="161" name="Google Shape;161;p11"/>
          <p:cNvSpPr/>
          <p:nvPr/>
        </p:nvSpPr>
        <p:spPr>
          <a:xfrm>
            <a:off x="5052037" y="1565308"/>
            <a:ext cx="891518"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O(n)</a:t>
            </a:r>
            <a:endParaRPr b="0" i="0" sz="1600" u="none" cap="none" strike="noStrike">
              <a:solidFill>
                <a:srgbClr val="000000"/>
              </a:solidFill>
              <a:latin typeface="Roboto"/>
              <a:ea typeface="Roboto"/>
              <a:cs typeface="Roboto"/>
              <a:sym typeface="Roboto"/>
            </a:endParaRPr>
          </a:p>
        </p:txBody>
      </p:sp>
      <p:sp>
        <p:nvSpPr>
          <p:cNvPr id="162" name="Google Shape;162;p11"/>
          <p:cNvSpPr/>
          <p:nvPr/>
        </p:nvSpPr>
        <p:spPr>
          <a:xfrm>
            <a:off x="1709226" y="2120981"/>
            <a:ext cx="3425484"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Auxiliary Space Complexity :</a:t>
            </a:r>
            <a:endParaRPr b="0" i="0" sz="1600" u="none" cap="none" strike="noStrike">
              <a:solidFill>
                <a:srgbClr val="000000"/>
              </a:solidFill>
              <a:latin typeface="Roboto"/>
              <a:ea typeface="Roboto"/>
              <a:cs typeface="Roboto"/>
              <a:sym typeface="Roboto"/>
            </a:endParaRPr>
          </a:p>
        </p:txBody>
      </p:sp>
      <p:sp>
        <p:nvSpPr>
          <p:cNvPr id="163" name="Google Shape;163;p11"/>
          <p:cNvSpPr/>
          <p:nvPr/>
        </p:nvSpPr>
        <p:spPr>
          <a:xfrm>
            <a:off x="5056722" y="2118646"/>
            <a:ext cx="1175265" cy="33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Constant</a:t>
            </a:r>
            <a:endParaRPr b="0" i="0" sz="16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500"/>
                                        <p:tgtEl>
                                          <p:spTgt spid="1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500"/>
                                        <p:tgtEl>
                                          <p:spTgt spid="1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500"/>
                                        <p:tgtEl>
                                          <p:spTgt spid="1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500"/>
                                        <p:tgtEl>
                                          <p:spTgt spid="1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23c15c8a29b_1_0"/>
          <p:cNvSpPr/>
          <p:nvPr/>
        </p:nvSpPr>
        <p:spPr>
          <a:xfrm>
            <a:off x="555120" y="915840"/>
            <a:ext cx="7545000" cy="82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69" name="Google Shape;169;g23c15c8a29b_1_0"/>
          <p:cNvSpPr/>
          <p:nvPr/>
        </p:nvSpPr>
        <p:spPr>
          <a:xfrm>
            <a:off x="664475" y="1567650"/>
            <a:ext cx="7545000" cy="1004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100"/>
              <a:buFont typeface="Arial"/>
              <a:buNone/>
            </a:pPr>
            <a:r>
              <a:rPr b="0" i="0" lang="en-US" sz="1600" u="none" cap="none" strike="noStrike">
                <a:solidFill>
                  <a:srgbClr val="000000"/>
                </a:solidFill>
                <a:latin typeface="Roboto"/>
                <a:ea typeface="Roboto"/>
                <a:cs typeface="Roboto"/>
                <a:sym typeface="Roboto"/>
              </a:rPr>
              <a:t>1.Explain the problem statement of the "Lexicographically First Palindromic String" problem.</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US" sz="1600" u="none" cap="none" strike="noStrike">
                <a:solidFill>
                  <a:srgbClr val="000000"/>
                </a:solidFill>
                <a:latin typeface="Roboto"/>
                <a:ea typeface="Roboto"/>
                <a:cs typeface="Roboto"/>
                <a:sym typeface="Roboto"/>
              </a:rPr>
              <a:t> </a:t>
            </a:r>
            <a:endParaRPr b="0" i="0" sz="1600" u="none" cap="none" strike="noStrike">
              <a:solidFill>
                <a:srgbClr val="000000"/>
              </a:solidFill>
              <a:latin typeface="Roboto"/>
              <a:ea typeface="Roboto"/>
              <a:cs typeface="Roboto"/>
              <a:sym typeface="Roboto"/>
            </a:endParaRPr>
          </a:p>
        </p:txBody>
      </p:sp>
      <p:sp>
        <p:nvSpPr>
          <p:cNvPr id="170" name="Google Shape;170;g23c15c8a29b_1_0"/>
          <p:cNvSpPr/>
          <p:nvPr/>
        </p:nvSpPr>
        <p:spPr>
          <a:xfrm>
            <a:off x="1115650" y="2370775"/>
            <a:ext cx="7399500" cy="6300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100"/>
              <a:buFont typeface="Arial"/>
              <a:buNone/>
            </a:pPr>
            <a:r>
              <a:rPr b="0" i="0" lang="en-US" sz="1600" u="none" cap="none" strike="noStrike">
                <a:solidFill>
                  <a:schemeClr val="dk1"/>
                </a:solidFill>
                <a:latin typeface="Roboto"/>
                <a:ea typeface="Roboto"/>
                <a:cs typeface="Roboto"/>
                <a:sym typeface="Roboto"/>
              </a:rPr>
              <a:t>The problem involves finding the smallest palindromic string that can be formed using the characters of a given string `s`, and the resulting string should be lexicographically smallest among all possible palindromic strings.</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a:ea typeface="Roboto"/>
              <a:cs typeface="Roboto"/>
              <a:sym typeface="Roboto"/>
            </a:endParaRPr>
          </a:p>
        </p:txBody>
      </p:sp>
      <p:sp>
        <p:nvSpPr>
          <p:cNvPr id="171" name="Google Shape;171;g23c15c8a29b_1_0"/>
          <p:cNvSpPr txBox="1"/>
          <p:nvPr/>
        </p:nvSpPr>
        <p:spPr>
          <a:xfrm>
            <a:off x="374708" y="723145"/>
            <a:ext cx="4572000" cy="587813"/>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2800"/>
              <a:buFont typeface="Arial"/>
              <a:buNone/>
            </a:pPr>
            <a:r>
              <a:rPr b="0" i="0" lang="en-US" sz="2800" u="none" cap="none" strike="noStrike">
                <a:solidFill>
                  <a:srgbClr val="00B0F0"/>
                </a:solidFill>
                <a:latin typeface="Roboto"/>
                <a:ea typeface="Roboto"/>
                <a:cs typeface="Roboto"/>
                <a:sym typeface="Roboto"/>
              </a:rPr>
              <a:t>Interview questions</a:t>
            </a:r>
            <a:endParaRPr b="0" i="0" sz="14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500"/>
                                        <p:tgtEl>
                                          <p:spTgt spid="1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500"/>
                                        <p:tgtEl>
                                          <p:spTgt spid="1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23c15c8a29b_1_12"/>
          <p:cNvSpPr/>
          <p:nvPr/>
        </p:nvSpPr>
        <p:spPr>
          <a:xfrm>
            <a:off x="555120" y="915840"/>
            <a:ext cx="7545000" cy="82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77" name="Google Shape;177;g23c15c8a29b_1_12"/>
          <p:cNvSpPr/>
          <p:nvPr/>
        </p:nvSpPr>
        <p:spPr>
          <a:xfrm>
            <a:off x="664475" y="1567650"/>
            <a:ext cx="7545000" cy="1004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600" u="none" cap="none" strike="noStrike">
                <a:solidFill>
                  <a:schemeClr val="dk1"/>
                </a:solidFill>
                <a:latin typeface="Roboto"/>
                <a:ea typeface="Roboto"/>
                <a:cs typeface="Roboto"/>
                <a:sym typeface="Roboto"/>
              </a:rPr>
              <a:t>2.How does the proposed solution work?</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0" i="0" lang="en-US" sz="1600" u="none" cap="none" strike="noStrike">
                <a:solidFill>
                  <a:srgbClr val="000000"/>
                </a:solidFill>
                <a:latin typeface="Roboto"/>
                <a:ea typeface="Roboto"/>
                <a:cs typeface="Roboto"/>
                <a:sym typeface="Roboto"/>
              </a:rPr>
              <a:t> </a:t>
            </a:r>
            <a:endParaRPr b="0" i="0" sz="1600" u="none" cap="none" strike="noStrike">
              <a:solidFill>
                <a:srgbClr val="000000"/>
              </a:solidFill>
              <a:latin typeface="Roboto"/>
              <a:ea typeface="Roboto"/>
              <a:cs typeface="Roboto"/>
              <a:sym typeface="Roboto"/>
            </a:endParaRPr>
          </a:p>
        </p:txBody>
      </p:sp>
      <p:sp>
        <p:nvSpPr>
          <p:cNvPr id="178" name="Google Shape;178;g23c15c8a29b_1_12"/>
          <p:cNvSpPr/>
          <p:nvPr/>
        </p:nvSpPr>
        <p:spPr>
          <a:xfrm>
            <a:off x="1115650" y="2001625"/>
            <a:ext cx="7399500" cy="6300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100"/>
              <a:buFont typeface="Arial"/>
              <a:buNone/>
            </a:pPr>
            <a:r>
              <a:rPr b="0" i="0" lang="en-US" sz="1600" u="none" cap="none" strike="noStrike">
                <a:solidFill>
                  <a:schemeClr val="dk1"/>
                </a:solidFill>
                <a:latin typeface="Roboto"/>
                <a:ea typeface="Roboto"/>
                <a:cs typeface="Roboto"/>
                <a:sym typeface="Roboto"/>
              </a:rPr>
              <a:t>The solution sorts the characters of the input string, and then iterates through the sorted characters. It appends each character to both the beginning and the end of the resulting palindromic string. This way, it constructs a palindromic string in a way that maintains lexicographical order.</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sp>
        <p:nvSpPr>
          <p:cNvPr id="179" name="Google Shape;179;g23c15c8a29b_1_12"/>
          <p:cNvSpPr txBox="1"/>
          <p:nvPr/>
        </p:nvSpPr>
        <p:spPr>
          <a:xfrm>
            <a:off x="374708" y="723145"/>
            <a:ext cx="4572000" cy="587813"/>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2800"/>
              <a:buFont typeface="Arial"/>
              <a:buNone/>
            </a:pPr>
            <a:r>
              <a:rPr b="0" i="0" lang="en-US" sz="2800" u="none" cap="none" strike="noStrike">
                <a:solidFill>
                  <a:srgbClr val="00B0F0"/>
                </a:solidFill>
                <a:latin typeface="Roboto"/>
                <a:ea typeface="Roboto"/>
                <a:cs typeface="Roboto"/>
                <a:sym typeface="Roboto"/>
              </a:rPr>
              <a:t>Interview questions</a:t>
            </a:r>
            <a:endParaRPr b="0" i="0" sz="14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
                                        </p:tgtEl>
                                        <p:attrNameLst>
                                          <p:attrName>style.visibility</p:attrName>
                                        </p:attrNameLst>
                                      </p:cBhvr>
                                      <p:to>
                                        <p:strVal val="visible"/>
                                      </p:to>
                                    </p:set>
                                    <p:animEffect filter="fade" transition="in">
                                      <p:cBhvr>
                                        <p:cTn dur="500"/>
                                        <p:tgtEl>
                                          <p:spTgt spid="1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500"/>
                                        <p:tgtEl>
                                          <p:spTgt spid="1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23c15c8a29b_1_22"/>
          <p:cNvSpPr/>
          <p:nvPr/>
        </p:nvSpPr>
        <p:spPr>
          <a:xfrm>
            <a:off x="555120" y="915840"/>
            <a:ext cx="7545000" cy="82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85" name="Google Shape;185;g23c15c8a29b_1_22"/>
          <p:cNvSpPr/>
          <p:nvPr/>
        </p:nvSpPr>
        <p:spPr>
          <a:xfrm>
            <a:off x="664475" y="1567650"/>
            <a:ext cx="7545000" cy="507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100"/>
              <a:buFont typeface="Arial"/>
              <a:buNone/>
            </a:pPr>
            <a:r>
              <a:rPr b="0" i="0" lang="en-US" sz="1600" u="none" cap="none" strike="noStrike">
                <a:solidFill>
                  <a:schemeClr val="dk1"/>
                </a:solidFill>
                <a:latin typeface="Roboto"/>
                <a:ea typeface="Roboto"/>
                <a:cs typeface="Roboto"/>
                <a:sym typeface="Roboto"/>
              </a:rPr>
              <a:t>3. Can you explain the time complexity of the solution?</a:t>
            </a:r>
            <a:endParaRPr b="0" i="0" sz="1600" u="none" cap="none" strike="noStrike">
              <a:solidFill>
                <a:srgbClr val="000000"/>
              </a:solidFill>
              <a:latin typeface="Roboto"/>
              <a:ea typeface="Roboto"/>
              <a:cs typeface="Roboto"/>
              <a:sym typeface="Roboto"/>
            </a:endParaRPr>
          </a:p>
        </p:txBody>
      </p:sp>
      <p:sp>
        <p:nvSpPr>
          <p:cNvPr id="186" name="Google Shape;186;g23c15c8a29b_1_22"/>
          <p:cNvSpPr/>
          <p:nvPr/>
        </p:nvSpPr>
        <p:spPr>
          <a:xfrm>
            <a:off x="1115650" y="2001625"/>
            <a:ext cx="7399500" cy="6300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US" sz="1600" u="none" cap="none" strike="noStrike">
                <a:solidFill>
                  <a:schemeClr val="dk1"/>
                </a:solidFill>
                <a:latin typeface="Roboto"/>
                <a:ea typeface="Roboto"/>
                <a:cs typeface="Roboto"/>
                <a:sym typeface="Roboto"/>
              </a:rPr>
              <a:t>The time complexity is dominated by the sorting step, which takes O(n * log n) time, where n is the length of the input string. The subsequent iteration through the sorted characters takes O(n) time. So, the overall time complexity is O(n * log n).</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sp>
        <p:nvSpPr>
          <p:cNvPr id="187" name="Google Shape;187;g23c15c8a29b_1_22"/>
          <p:cNvSpPr txBox="1"/>
          <p:nvPr/>
        </p:nvSpPr>
        <p:spPr>
          <a:xfrm>
            <a:off x="374708" y="723145"/>
            <a:ext cx="4572000" cy="587813"/>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2800"/>
              <a:buFont typeface="Arial"/>
              <a:buNone/>
            </a:pPr>
            <a:r>
              <a:rPr b="0" i="0" lang="en-US" sz="2800" u="none" cap="none" strike="noStrike">
                <a:solidFill>
                  <a:srgbClr val="00B0F0"/>
                </a:solidFill>
                <a:latin typeface="Roboto"/>
                <a:ea typeface="Roboto"/>
                <a:cs typeface="Roboto"/>
                <a:sym typeface="Roboto"/>
              </a:rPr>
              <a:t>Interview questions</a:t>
            </a:r>
            <a:endParaRPr b="0" i="0" sz="14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gtEl>
                                        <p:attrNameLst>
                                          <p:attrName>style.visibility</p:attrName>
                                        </p:attrNameLst>
                                      </p:cBhvr>
                                      <p:to>
                                        <p:strVal val="visible"/>
                                      </p:to>
                                    </p:set>
                                    <p:animEffect filter="fade" transition="in">
                                      <p:cBhvr>
                                        <p:cTn dur="500"/>
                                        <p:tgtEl>
                                          <p:spTgt spid="1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500"/>
                                        <p:tgtEl>
                                          <p:spTgt spid="1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23c15c8a29b_1_31"/>
          <p:cNvSpPr/>
          <p:nvPr/>
        </p:nvSpPr>
        <p:spPr>
          <a:xfrm>
            <a:off x="555120" y="915840"/>
            <a:ext cx="7545000" cy="82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93" name="Google Shape;193;g23c15c8a29b_1_31"/>
          <p:cNvSpPr/>
          <p:nvPr/>
        </p:nvSpPr>
        <p:spPr>
          <a:xfrm>
            <a:off x="664475" y="1567650"/>
            <a:ext cx="7545000" cy="507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100"/>
              <a:buFont typeface="Arial"/>
              <a:buNone/>
            </a:pPr>
            <a:r>
              <a:rPr b="0" i="0" lang="en-US" sz="1600" u="none" cap="none" strike="noStrike">
                <a:solidFill>
                  <a:schemeClr val="dk1"/>
                </a:solidFill>
                <a:latin typeface="Roboto"/>
                <a:ea typeface="Roboto"/>
                <a:cs typeface="Roboto"/>
                <a:sym typeface="Roboto"/>
              </a:rPr>
              <a:t>4. What happens if the input string contains duplicate characters?</a:t>
            </a:r>
            <a:endParaRPr b="0" i="0" sz="1600" u="none" cap="none" strike="noStrike">
              <a:solidFill>
                <a:srgbClr val="000000"/>
              </a:solidFill>
              <a:latin typeface="Roboto"/>
              <a:ea typeface="Roboto"/>
              <a:cs typeface="Roboto"/>
              <a:sym typeface="Roboto"/>
            </a:endParaRPr>
          </a:p>
        </p:txBody>
      </p:sp>
      <p:sp>
        <p:nvSpPr>
          <p:cNvPr id="194" name="Google Shape;194;g23c15c8a29b_1_31"/>
          <p:cNvSpPr/>
          <p:nvPr/>
        </p:nvSpPr>
        <p:spPr>
          <a:xfrm>
            <a:off x="1050025" y="2420000"/>
            <a:ext cx="7399500" cy="6300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100"/>
              <a:buFont typeface="Arial"/>
              <a:buNone/>
            </a:pPr>
            <a:r>
              <a:rPr b="0" i="0" lang="en-US" sz="1600" u="none" cap="none" strike="noStrike">
                <a:solidFill>
                  <a:schemeClr val="dk1"/>
                </a:solidFill>
                <a:latin typeface="Roboto"/>
                <a:ea typeface="Roboto"/>
                <a:cs typeface="Roboto"/>
                <a:sym typeface="Roboto"/>
              </a:rPr>
              <a:t> Duplicate characters are handled correctly in the solution. The sorting step ensures that duplicate characters are grouped together, and the iteration through the sorted characters appends each character twice, maintaining their duplicates in the resulting palindromic string.</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sp>
        <p:nvSpPr>
          <p:cNvPr id="195" name="Google Shape;195;g23c15c8a29b_1_31"/>
          <p:cNvSpPr txBox="1"/>
          <p:nvPr/>
        </p:nvSpPr>
        <p:spPr>
          <a:xfrm>
            <a:off x="374708" y="723145"/>
            <a:ext cx="4572000" cy="587813"/>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2800"/>
              <a:buFont typeface="Arial"/>
              <a:buNone/>
            </a:pPr>
            <a:r>
              <a:rPr b="0" i="0" lang="en-US" sz="2800" u="none" cap="none" strike="noStrike">
                <a:solidFill>
                  <a:srgbClr val="00B0F0"/>
                </a:solidFill>
                <a:latin typeface="Roboto"/>
                <a:ea typeface="Roboto"/>
                <a:cs typeface="Roboto"/>
                <a:sym typeface="Roboto"/>
              </a:rPr>
              <a:t>Interview questions</a:t>
            </a:r>
            <a:endParaRPr b="0" i="0" sz="14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
                                        </p:tgtEl>
                                        <p:attrNameLst>
                                          <p:attrName>style.visibility</p:attrName>
                                        </p:attrNameLst>
                                      </p:cBhvr>
                                      <p:to>
                                        <p:strVal val="visible"/>
                                      </p:to>
                                    </p:set>
                                    <p:animEffect filter="fade" transition="in">
                                      <p:cBhvr>
                                        <p:cTn dur="500"/>
                                        <p:tgtEl>
                                          <p:spTgt spid="1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
                                        </p:tgtEl>
                                        <p:attrNameLst>
                                          <p:attrName>style.visibility</p:attrName>
                                        </p:attrNameLst>
                                      </p:cBhvr>
                                      <p:to>
                                        <p:strVal val="visible"/>
                                      </p:to>
                                    </p:set>
                                    <p:animEffect filter="fade" transition="in">
                                      <p:cBhvr>
                                        <p:cTn dur="500"/>
                                        <p:tgtEl>
                                          <p:spTgt spid="1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4"/>
          <p:cNvSpPr/>
          <p:nvPr/>
        </p:nvSpPr>
        <p:spPr>
          <a:xfrm>
            <a:off x="555120" y="915840"/>
            <a:ext cx="7544880" cy="8309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Roboto"/>
              <a:ea typeface="Roboto"/>
              <a:cs typeface="Roboto"/>
              <a:sym typeface="Roboto"/>
            </a:endParaRPr>
          </a:p>
        </p:txBody>
      </p:sp>
      <p:pic>
        <p:nvPicPr>
          <p:cNvPr id="201" name="Google Shape;201;p14"/>
          <p:cNvPicPr preferRelativeResize="0"/>
          <p:nvPr/>
        </p:nvPicPr>
        <p:blipFill rotWithShape="1">
          <a:blip r:embed="rId3">
            <a:alphaModFix/>
          </a:blip>
          <a:srcRect b="0" l="0" r="0" t="0"/>
          <a:stretch/>
        </p:blipFill>
        <p:spPr>
          <a:xfrm>
            <a:off x="2799160" y="913210"/>
            <a:ext cx="2855119" cy="2888456"/>
          </a:xfrm>
          <a:prstGeom prst="rect">
            <a:avLst/>
          </a:prstGeom>
          <a:noFill/>
          <a:ln>
            <a:noFill/>
          </a:ln>
        </p:spPr>
      </p:pic>
      <p:sp>
        <p:nvSpPr>
          <p:cNvPr id="202" name="Google Shape;202;p14"/>
          <p:cNvSpPr/>
          <p:nvPr/>
        </p:nvSpPr>
        <p:spPr>
          <a:xfrm>
            <a:off x="1634729" y="4055269"/>
            <a:ext cx="5183981" cy="28456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208" name="Google Shape;208;p1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209" name="Google Shape;209;p15"/>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210" name="Google Shape;210;p15"/>
          <p:cNvSpPr txBox="1"/>
          <p:nvPr/>
        </p:nvSpPr>
        <p:spPr>
          <a:xfrm>
            <a:off x="3141000" y="2194650"/>
            <a:ext cx="2862000" cy="75402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0" i="0" lang="en-US"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211" name="Google Shape;211;p15"/>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212" name="Google Shape;212;p15"/>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213" name="Google Shape;213;p15"/>
          <p:cNvSpPr txBox="1"/>
          <p:nvPr/>
        </p:nvSpPr>
        <p:spPr>
          <a:xfrm>
            <a:off x="1980750" y="4590801"/>
            <a:ext cx="11871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0" i="0" lang="en-US"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214" name="Google Shape;214;p15"/>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215" name="Google Shape;215;p15"/>
          <p:cNvSpPr txBox="1"/>
          <p:nvPr/>
        </p:nvSpPr>
        <p:spPr>
          <a:xfrm>
            <a:off x="3519050"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0" i="0" lang="en-US"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216" name="Google Shape;216;p15"/>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217" name="Google Shape;217;p15"/>
          <p:cNvSpPr txBox="1"/>
          <p:nvPr/>
        </p:nvSpPr>
        <p:spPr>
          <a:xfrm>
            <a:off x="5457275"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0" i="0" lang="en-US"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218" name="Google Shape;218;p15"/>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RAMASAMY</dc:creator>
</cp:coreProperties>
</file>