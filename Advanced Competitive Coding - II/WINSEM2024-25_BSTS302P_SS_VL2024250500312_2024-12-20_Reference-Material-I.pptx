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2" r:id="rId2"/>
    <p:sldId id="260" r:id="rId3"/>
    <p:sldId id="317" r:id="rId4"/>
    <p:sldId id="340" r:id="rId5"/>
    <p:sldId id="320" r:id="rId6"/>
    <p:sldId id="321" r:id="rId7"/>
    <p:sldId id="322" r:id="rId8"/>
    <p:sldId id="338" r:id="rId9"/>
    <p:sldId id="28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B67429-E2AE-465B-9370-02768973E1AF}" type="datetimeFigureOut">
              <a:rPr lang="en-IN" smtClean="0"/>
              <a:t>30-12-2024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5345C7-4415-4083-A1EA-00591E2D2C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973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</a:t>
            </a:r>
            <a:r>
              <a:rPr lang="en-US" b="1" baseline="30000" dirty="0"/>
              <a:t>st</a:t>
            </a:r>
            <a:r>
              <a:rPr lang="en-US" b="1" dirty="0"/>
              <a:t> slide (Mandatory)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894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Section End/Start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Use this at section’s start or end. For example: “Questions” or “Time for Practice”. To be used for Impacts (get the student’s attention). </a:t>
            </a:r>
            <a:endParaRPr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3075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dirty="0">
              <a:solidFill>
                <a:schemeClr val="tx1"/>
              </a:solidFill>
              <a:latin typeface="Nunito Sans" panose="020B06040202020202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976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Time Complexity: 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O(1)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Auxiliary Space: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O(1)</a:t>
            </a:r>
            <a:endParaRPr lang="en-US" sz="1200" b="1" dirty="0">
              <a:solidFill>
                <a:schemeClr val="tx1"/>
              </a:solidFill>
              <a:latin typeface="Nunito Sans" panose="020B06040202020202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972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576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5599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8710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8710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Thank you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2B4241-60F6-AFB6-AC1E-AE7406157E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8362455-A809-0779-9EE4-A4CA80B5B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B9176D4-5C73-88A9-7B62-3488BDB04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50D0F-3B8D-4405-BCA0-CBA555EF9386}" type="datetimeFigureOut">
              <a:rPr lang="en-IN" smtClean="0"/>
              <a:t>30-12-2024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2C9A435-7549-E84F-075B-852E10C3E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164DE4F-E643-70BC-B33D-E871914B0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7B8EF-0243-47D6-AADE-6D5FFC83C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855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886DC4-89F3-9AC8-A534-A0BA36AEA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19CA87B-61B6-3316-1ADC-D0639331A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1508289-B384-AC3B-F2CD-C1303CF45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50D0F-3B8D-4405-BCA0-CBA555EF9386}" type="datetimeFigureOut">
              <a:rPr lang="en-IN" smtClean="0"/>
              <a:t>30-12-2024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8465793-4156-1C9C-7D52-87C4CD631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DF8F78D-F2B9-5442-691B-DA63A8BC1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7B8EF-0243-47D6-AADE-6D5FFC83C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033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A598ED-4D05-3919-572F-661F98C65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DC3DAD4-B745-14AD-A540-1BCB28F86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444CD9E-F957-A2F9-FB7B-95637A31D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50D0F-3B8D-4405-BCA0-CBA555EF9386}" type="datetimeFigureOut">
              <a:rPr lang="en-IN" smtClean="0"/>
              <a:t>30-12-2024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28C918C-4442-605C-DB95-990C4DC12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021A258-169D-FBB1-5DE7-8C0CCDEB1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7B8EF-0243-47D6-AADE-6D5FFC83C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468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7B3A14-A69C-2C65-3346-A043888FC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777F0F9-A98C-95B0-680C-83F4180D86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8FF156E-1C6D-124D-86A3-BDE7E53D5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B007AB2-AFFA-695E-10E6-16D861381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50D0F-3B8D-4405-BCA0-CBA555EF9386}" type="datetimeFigureOut">
              <a:rPr lang="en-IN" smtClean="0"/>
              <a:t>30-12-2024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1B1F2B3-1653-56E9-F965-E43D7F702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D243AAB-471A-35F8-14A6-A50803F58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7B8EF-0243-47D6-AADE-6D5FFC83C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4574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643572-167F-EC92-0671-93887B7CE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C56C491-383B-B058-AB30-C908B4C0C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F9E8174-F532-C05F-E97A-A70BF2154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59E04230-B0B7-C52F-C287-61F51080A3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85CB56C-F0B9-574F-359C-5C2F5904C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094E5A5E-639A-BC76-F15A-A1BE8F634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50D0F-3B8D-4405-BCA0-CBA555EF9386}" type="datetimeFigureOut">
              <a:rPr lang="en-IN" smtClean="0"/>
              <a:t>30-12-2024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FDD4503-47B8-C534-8260-7AFE1079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8F3A2169-5DA8-CAEA-0C56-3AF24358D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7B8EF-0243-47D6-AADE-6D5FFC83C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451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A34B086-198B-3AC4-6EE2-0C8B3DAA8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1AE1B34-CBD3-BB53-A3DC-C3EE4C916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50D0F-3B8D-4405-BCA0-CBA555EF9386}" type="datetimeFigureOut">
              <a:rPr lang="en-IN" smtClean="0"/>
              <a:t>30-12-2024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653EF40-31F5-3196-0554-AD9D7185D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87E3839-8858-13F9-48D6-12EE025FD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7B8EF-0243-47D6-AADE-6D5FFC83C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356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CAE973A-9DD2-EEF2-1DB6-CD0877A35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50D0F-3B8D-4405-BCA0-CBA555EF9386}" type="datetimeFigureOut">
              <a:rPr lang="en-IN" smtClean="0"/>
              <a:t>30-12-2024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A3032617-3737-30C0-EDD5-8CB03B220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3594304-BCC0-BC57-C3B3-82F84C2F4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7B8EF-0243-47D6-AADE-6D5FFC83C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2452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A9F8149-C0C8-F7AE-FBE2-12A110634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D69F775-E7F8-0166-E3C9-7BFF1751F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6C35137-8BC8-88A6-CE7A-5F7EDA9EA0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D9C5A88-1DBB-DBCA-E6C7-15D12B217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50D0F-3B8D-4405-BCA0-CBA555EF9386}" type="datetimeFigureOut">
              <a:rPr lang="en-IN" smtClean="0"/>
              <a:t>30-12-2024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8AD30DF-DC65-C236-6F45-08C285658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91B8A15-AB3D-D420-D03A-35F91E089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7B8EF-0243-47D6-AADE-6D5FFC83C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869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43E31C-12F3-A26F-C682-9B5C40A18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E8DBE78C-E198-530E-79A2-FA6C4356F4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85D4F1F-55C9-1531-5E8A-7D0C2CC7B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1B624A4-3B5A-7CD7-CF19-E0CBD0E66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50D0F-3B8D-4405-BCA0-CBA555EF9386}" type="datetimeFigureOut">
              <a:rPr lang="en-IN" smtClean="0"/>
              <a:t>30-12-2024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CFBD35C-5696-49F7-F1C5-37D97D077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14A27CD-5822-3E0F-52C2-F4B9690F4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7B8EF-0243-47D6-AADE-6D5FFC83C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567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CD39C4-1FE3-744F-62CD-DEE11ACE7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B249F88-2411-DBDC-12A2-C541FB3E76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8D140DE-87E3-174E-BE55-1FF5022AE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50D0F-3B8D-4405-BCA0-CBA555EF9386}" type="datetimeFigureOut">
              <a:rPr lang="en-IN" smtClean="0"/>
              <a:t>30-12-2024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71646BA-2977-352E-6E44-612CAF4FD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B7249EB-F00C-8E74-ED1F-857594FAE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7B8EF-0243-47D6-AADE-6D5FFC83C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785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185FAF17-CCB5-1F4F-60C1-4345019DF5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E92D4E9-6A96-60C6-0017-9CE2E90F8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9917884-219D-CACB-6CA0-44FAFDA55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50D0F-3B8D-4405-BCA0-CBA555EF9386}" type="datetimeFigureOut">
              <a:rPr lang="en-IN" smtClean="0"/>
              <a:t>30-12-2024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509E82E-C8CE-E58E-7F18-2DA0E6369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C1575B4-9C6E-0077-E729-984602D1B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7B8EF-0243-47D6-AADE-6D5FFC83C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209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E04772BE-1313-10C4-DC87-7F5F3CCBF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3A6777C-69ED-1AFB-F5EB-3E9DF0FD3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371EC9B-0D15-91BB-98EC-ABED4E1A3F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E50D0F-3B8D-4405-BCA0-CBA555EF9386}" type="datetimeFigureOut">
              <a:rPr lang="en-IN" smtClean="0"/>
              <a:t>30-12-2024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948634D-1B62-B628-585C-EF2F3CD1C6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909A1B6-8750-9854-5D06-706E774DAD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D7B8EF-0243-47D6-AADE-6D5FFC83CD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F192FD2-167D-148F-3CFD-A39C050401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0" y="3067050"/>
            <a:ext cx="57150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884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0" y="3055701"/>
            <a:ext cx="12192000" cy="885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Nunito Sans"/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Minimu</a:t>
            </a:r>
            <a:r>
              <a:rPr lang="en-US" sz="5400" b="1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 Stack</a:t>
            </a:r>
            <a:endParaRPr sz="5400" b="1" i="0" u="none" strike="noStrike" cap="none" dirty="0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A635DAA-35C4-4438-9D75-515C2C193139}"/>
              </a:ext>
            </a:extLst>
          </p:cNvPr>
          <p:cNvSpPr txBox="1"/>
          <p:nvPr/>
        </p:nvSpPr>
        <p:spPr>
          <a:xfrm>
            <a:off x="526224" y="769163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en-US" sz="4500" b="1" i="0" dirty="0">
                <a:solidFill>
                  <a:srgbClr val="273239"/>
                </a:solidFill>
                <a:effectLst/>
                <a:latin typeface="Nunito Sans" pitchFamily="2" charset="0"/>
              </a:rPr>
              <a:t>Minimum Stack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6373F422-781C-4385-84E3-34EDBC7AB3E7}"/>
              </a:ext>
            </a:extLst>
          </p:cNvPr>
          <p:cNvSpPr txBox="1"/>
          <p:nvPr/>
        </p:nvSpPr>
        <p:spPr>
          <a:xfrm>
            <a:off x="526224" y="1740311"/>
            <a:ext cx="11104481" cy="4276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Nunito Sans" panose="020B0604020202020204" charset="0"/>
              </a:rPr>
              <a:t>Problem: </a:t>
            </a:r>
            <a:r>
              <a:rPr lang="en-US" sz="2500" dirty="0">
                <a:latin typeface="Nunito Sans" panose="020B0604020202020204" charset="0"/>
              </a:rPr>
              <a:t>Design and implement a stack that supports push(),pop(), top() and retrieving the minimum element in constant time.  </a:t>
            </a:r>
          </a:p>
          <a:p>
            <a:endParaRPr lang="en-US" sz="2500" dirty="0">
              <a:solidFill>
                <a:srgbClr val="273239"/>
              </a:solidFill>
              <a:latin typeface="Nunito Sans" panose="020B0604020202020204" charset="0"/>
            </a:endParaRPr>
          </a:p>
          <a:p>
            <a:r>
              <a:rPr lang="en-US" sz="2500" dirty="0">
                <a:solidFill>
                  <a:srgbClr val="273239"/>
                </a:solidFill>
                <a:latin typeface="Nunito Sans" panose="020B0604020202020204" charset="0"/>
              </a:rPr>
              <a:t>Implement a  Stack class, which supports the following methods in O(1) time complexity.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solidFill>
                  <a:srgbClr val="273239"/>
                </a:solidFill>
                <a:latin typeface="Nunito Sans" panose="020B0604020202020204" charset="0"/>
              </a:rPr>
              <a:t>	void push() : Insert element onto the stack.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solidFill>
                  <a:srgbClr val="273239"/>
                </a:solidFill>
                <a:latin typeface="Nunito Sans" panose="020B0604020202020204" charset="0"/>
              </a:rPr>
              <a:t>	void pop() : Remove the top element from the stack.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solidFill>
                  <a:srgbClr val="273239"/>
                </a:solidFill>
                <a:latin typeface="Nunito Sans" panose="020B0604020202020204" charset="0"/>
              </a:rPr>
              <a:t>	int top() : Retrieve the top element in the stack.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solidFill>
                  <a:srgbClr val="273239"/>
                </a:solidFill>
                <a:latin typeface="Nunito Sans" panose="020B0604020202020204" charset="0"/>
              </a:rPr>
              <a:t>	int </a:t>
            </a:r>
            <a:r>
              <a:rPr lang="en-US" sz="2500" dirty="0" err="1">
                <a:solidFill>
                  <a:srgbClr val="273239"/>
                </a:solidFill>
                <a:latin typeface="Nunito Sans" panose="020B0604020202020204" charset="0"/>
              </a:rPr>
              <a:t>getmin</a:t>
            </a:r>
            <a:r>
              <a:rPr lang="en-US" sz="2500" dirty="0">
                <a:solidFill>
                  <a:srgbClr val="273239"/>
                </a:solidFill>
                <a:latin typeface="Nunito Sans" panose="020B0604020202020204" charset="0"/>
              </a:rPr>
              <a:t>() : Retrieve the minimum element in the stack.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82BFE46E-879C-E0FE-6419-3F325F5148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710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3E767CAB-1FA5-494A-96EC-9E612067A695}"/>
              </a:ext>
            </a:extLst>
          </p:cNvPr>
          <p:cNvSpPr/>
          <p:nvPr/>
        </p:nvSpPr>
        <p:spPr>
          <a:xfrm>
            <a:off x="930019" y="883668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2CBCD106-8851-98DA-A312-EB2401313734}"/>
              </a:ext>
            </a:extLst>
          </p:cNvPr>
          <p:cNvSpPr txBox="1"/>
          <p:nvPr/>
        </p:nvSpPr>
        <p:spPr>
          <a:xfrm>
            <a:off x="804942" y="967959"/>
            <a:ext cx="10907486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Nunito Sans" pitchFamily="2" charset="0"/>
              </a:rPr>
              <a:t>Example</a:t>
            </a:r>
            <a:endParaRPr lang="en-US" sz="2500" dirty="0">
              <a:latin typeface="Nunito Sans" pitchFamily="2" charset="0"/>
            </a:endParaRPr>
          </a:p>
          <a:p>
            <a:endParaRPr lang="en-US" sz="2500" dirty="0">
              <a:latin typeface="Nunito Sans" pitchFamily="2" charset="0"/>
            </a:endParaRPr>
          </a:p>
          <a:p>
            <a:endParaRPr lang="en-US" sz="2500" dirty="0">
              <a:latin typeface="Nunito Sans" pitchFamily="2" charset="0"/>
            </a:endParaRPr>
          </a:p>
          <a:p>
            <a:endParaRPr lang="en-US" sz="2500" dirty="0">
              <a:latin typeface="Nunito Sans" pitchFamily="2" charset="0"/>
            </a:endParaRPr>
          </a:p>
          <a:p>
            <a:endParaRPr lang="en-US" sz="2500" dirty="0">
              <a:latin typeface="Nunito Sans" pitchFamily="2" charset="0"/>
            </a:endParaRPr>
          </a:p>
          <a:p>
            <a:endParaRPr lang="en-US" sz="2500" dirty="0">
              <a:latin typeface="Nunito Sans" pitchFamily="2" charset="0"/>
            </a:endParaRPr>
          </a:p>
          <a:p>
            <a:r>
              <a:rPr lang="en-US" sz="2500" dirty="0">
                <a:latin typeface="Nunito Sans" pitchFamily="2" charset="0"/>
              </a:rPr>
              <a:t>	</a:t>
            </a:r>
          </a:p>
          <a:p>
            <a:endParaRPr lang="en-US" sz="2500" dirty="0">
              <a:latin typeface="Nunito Sans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500" dirty="0">
              <a:latin typeface="Nunito Sans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500" dirty="0">
              <a:latin typeface="Nunito Sans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500" dirty="0">
              <a:latin typeface="Nunito Sans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481CAEB-DB1F-CDA8-1F53-501C20E5D525}"/>
              </a:ext>
            </a:extLst>
          </p:cNvPr>
          <p:cNvSpPr/>
          <p:nvPr/>
        </p:nvSpPr>
        <p:spPr>
          <a:xfrm>
            <a:off x="2141666" y="3934346"/>
            <a:ext cx="794852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71306C93-AECD-59F0-CEAC-63DAE4891368}"/>
              </a:ext>
            </a:extLst>
          </p:cNvPr>
          <p:cNvSpPr/>
          <p:nvPr/>
        </p:nvSpPr>
        <p:spPr>
          <a:xfrm>
            <a:off x="4975899" y="3128605"/>
            <a:ext cx="794852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598AF175-B4A3-64EB-6DDC-4A515437051A}"/>
              </a:ext>
            </a:extLst>
          </p:cNvPr>
          <p:cNvSpPr/>
          <p:nvPr/>
        </p:nvSpPr>
        <p:spPr>
          <a:xfrm>
            <a:off x="3557352" y="3128605"/>
            <a:ext cx="794852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D66555C4-0D2C-2AE9-9919-747EDBE5C849}"/>
              </a:ext>
            </a:extLst>
          </p:cNvPr>
          <p:cNvSpPr/>
          <p:nvPr/>
        </p:nvSpPr>
        <p:spPr>
          <a:xfrm>
            <a:off x="3557352" y="3954010"/>
            <a:ext cx="794852" cy="533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FBEEF262-6E28-230B-7341-C45EF5BA322D}"/>
              </a:ext>
            </a:extLst>
          </p:cNvPr>
          <p:cNvSpPr/>
          <p:nvPr/>
        </p:nvSpPr>
        <p:spPr>
          <a:xfrm>
            <a:off x="4975899" y="3954010"/>
            <a:ext cx="794852" cy="533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C6BB95F5-7438-3771-E63A-F3DC1B1D01C8}"/>
              </a:ext>
            </a:extLst>
          </p:cNvPr>
          <p:cNvSpPr/>
          <p:nvPr/>
        </p:nvSpPr>
        <p:spPr>
          <a:xfrm>
            <a:off x="6391919" y="3954010"/>
            <a:ext cx="794852" cy="533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xmlns="" id="{5371A649-4DDB-FBFA-919C-C87968B13368}"/>
              </a:ext>
            </a:extLst>
          </p:cNvPr>
          <p:cNvSpPr/>
          <p:nvPr/>
        </p:nvSpPr>
        <p:spPr>
          <a:xfrm>
            <a:off x="7807939" y="3934346"/>
            <a:ext cx="794852" cy="533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xmlns="" id="{BEC5A410-352C-26DD-28A1-311994566E3D}"/>
              </a:ext>
            </a:extLst>
          </p:cNvPr>
          <p:cNvSpPr/>
          <p:nvPr/>
        </p:nvSpPr>
        <p:spPr>
          <a:xfrm>
            <a:off x="9223959" y="3906078"/>
            <a:ext cx="794852" cy="533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xmlns="" id="{3ADCF057-6DA1-5C0C-B1A2-2B17771B2D37}"/>
              </a:ext>
            </a:extLst>
          </p:cNvPr>
          <p:cNvSpPr/>
          <p:nvPr/>
        </p:nvSpPr>
        <p:spPr>
          <a:xfrm>
            <a:off x="10639979" y="3906078"/>
            <a:ext cx="794852" cy="533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xmlns="" id="{1506B018-BDD8-B5AA-25E1-52A9EC4FE78E}"/>
              </a:ext>
            </a:extLst>
          </p:cNvPr>
          <p:cNvSpPr/>
          <p:nvPr/>
        </p:nvSpPr>
        <p:spPr>
          <a:xfrm>
            <a:off x="4975899" y="2305854"/>
            <a:ext cx="794852" cy="533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xmlns="" id="{F33D6B40-A152-6AB9-3097-8ABDAD674CB3}"/>
              </a:ext>
            </a:extLst>
          </p:cNvPr>
          <p:cNvSpPr/>
          <p:nvPr/>
        </p:nvSpPr>
        <p:spPr>
          <a:xfrm>
            <a:off x="10639979" y="2352807"/>
            <a:ext cx="794852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xmlns="" id="{313E8944-B5C8-79D7-D8F2-99A9C907F2CA}"/>
              </a:ext>
            </a:extLst>
          </p:cNvPr>
          <p:cNvSpPr/>
          <p:nvPr/>
        </p:nvSpPr>
        <p:spPr>
          <a:xfrm>
            <a:off x="7807939" y="2304037"/>
            <a:ext cx="794852" cy="533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xmlns="" id="{41F771FF-3C09-4C24-FCCA-0A957F055A78}"/>
              </a:ext>
            </a:extLst>
          </p:cNvPr>
          <p:cNvSpPr/>
          <p:nvPr/>
        </p:nvSpPr>
        <p:spPr>
          <a:xfrm>
            <a:off x="6357424" y="1478632"/>
            <a:ext cx="794852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xmlns="" id="{46A78B97-11CC-6F04-951C-803E43F2363C}"/>
              </a:ext>
            </a:extLst>
          </p:cNvPr>
          <p:cNvSpPr/>
          <p:nvPr/>
        </p:nvSpPr>
        <p:spPr>
          <a:xfrm>
            <a:off x="6391919" y="3129442"/>
            <a:ext cx="794852" cy="533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xmlns="" id="{D3A6D523-4F61-BED6-3C31-6598EFB822AC}"/>
              </a:ext>
            </a:extLst>
          </p:cNvPr>
          <p:cNvSpPr/>
          <p:nvPr/>
        </p:nvSpPr>
        <p:spPr>
          <a:xfrm>
            <a:off x="6391919" y="2304037"/>
            <a:ext cx="794852" cy="533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xmlns="" id="{E4799356-9561-F9FD-1EB7-75CEC872B512}"/>
              </a:ext>
            </a:extLst>
          </p:cNvPr>
          <p:cNvSpPr/>
          <p:nvPr/>
        </p:nvSpPr>
        <p:spPr>
          <a:xfrm>
            <a:off x="9223959" y="3170061"/>
            <a:ext cx="794852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xmlns="" id="{1D9BC6E7-5D2B-BCF0-0708-B1DFDFFD641B}"/>
              </a:ext>
            </a:extLst>
          </p:cNvPr>
          <p:cNvSpPr/>
          <p:nvPr/>
        </p:nvSpPr>
        <p:spPr>
          <a:xfrm>
            <a:off x="7807939" y="3146875"/>
            <a:ext cx="794852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xmlns="" id="{D602710F-3BCA-3F45-E5B5-2C02A71C2F14}"/>
              </a:ext>
            </a:extLst>
          </p:cNvPr>
          <p:cNvSpPr/>
          <p:nvPr/>
        </p:nvSpPr>
        <p:spPr>
          <a:xfrm>
            <a:off x="10639979" y="3123018"/>
            <a:ext cx="794852" cy="533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xmlns="" id="{849330A9-C649-B8E6-0E9A-1A2914B6BFC3}"/>
              </a:ext>
            </a:extLst>
          </p:cNvPr>
          <p:cNvSpPr/>
          <p:nvPr/>
        </p:nvSpPr>
        <p:spPr>
          <a:xfrm>
            <a:off x="472636" y="4837542"/>
            <a:ext cx="1393566" cy="6096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xmlns="" id="{E5AFFB12-CE0C-32D4-F6B1-B35298FB2741}"/>
              </a:ext>
            </a:extLst>
          </p:cNvPr>
          <p:cNvSpPr txBox="1"/>
          <p:nvPr/>
        </p:nvSpPr>
        <p:spPr>
          <a:xfrm>
            <a:off x="647002" y="4800811"/>
            <a:ext cx="1164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Current Minimum</a:t>
            </a:r>
            <a:endParaRPr lang="en-IN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xmlns="" id="{3D24B2C4-4850-2FC8-13CB-FD6CAA6F1F87}"/>
              </a:ext>
            </a:extLst>
          </p:cNvPr>
          <p:cNvSpPr/>
          <p:nvPr/>
        </p:nvSpPr>
        <p:spPr>
          <a:xfrm>
            <a:off x="2228763" y="4875642"/>
            <a:ext cx="794852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xmlns="" id="{7C1F083B-9200-B598-75B7-36D7C335AF1B}"/>
              </a:ext>
            </a:extLst>
          </p:cNvPr>
          <p:cNvSpPr/>
          <p:nvPr/>
        </p:nvSpPr>
        <p:spPr>
          <a:xfrm>
            <a:off x="3642552" y="4875642"/>
            <a:ext cx="794852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xmlns="" id="{73337B75-698A-67B6-719A-9B15A30EB45B}"/>
              </a:ext>
            </a:extLst>
          </p:cNvPr>
          <p:cNvSpPr/>
          <p:nvPr/>
        </p:nvSpPr>
        <p:spPr>
          <a:xfrm>
            <a:off x="5086371" y="4857276"/>
            <a:ext cx="794852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xmlns="" id="{8A60EEA7-1825-B08A-755A-F6198BA5BF68}"/>
              </a:ext>
            </a:extLst>
          </p:cNvPr>
          <p:cNvSpPr/>
          <p:nvPr/>
        </p:nvSpPr>
        <p:spPr>
          <a:xfrm>
            <a:off x="6415201" y="4842458"/>
            <a:ext cx="794852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xmlns="" id="{B0CEE16B-4650-0924-42D8-3CA9F13B2B7C}"/>
              </a:ext>
            </a:extLst>
          </p:cNvPr>
          <p:cNvSpPr/>
          <p:nvPr/>
        </p:nvSpPr>
        <p:spPr>
          <a:xfrm>
            <a:off x="7891438" y="4860223"/>
            <a:ext cx="794852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xmlns="" id="{BFE92F02-520A-4AFC-C6C0-892457982666}"/>
              </a:ext>
            </a:extLst>
          </p:cNvPr>
          <p:cNvSpPr/>
          <p:nvPr/>
        </p:nvSpPr>
        <p:spPr>
          <a:xfrm>
            <a:off x="9342631" y="4853464"/>
            <a:ext cx="794852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xmlns="" id="{9193C328-C9F0-71E7-6D3D-18C162570733}"/>
              </a:ext>
            </a:extLst>
          </p:cNvPr>
          <p:cNvSpPr/>
          <p:nvPr/>
        </p:nvSpPr>
        <p:spPr>
          <a:xfrm>
            <a:off x="10705402" y="4837542"/>
            <a:ext cx="794852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xmlns="" id="{935AF492-2EB4-ED3A-0F9A-293BF4DC4A3F}"/>
              </a:ext>
            </a:extLst>
          </p:cNvPr>
          <p:cNvSpPr txBox="1"/>
          <p:nvPr/>
        </p:nvSpPr>
        <p:spPr>
          <a:xfrm>
            <a:off x="1931505" y="3129442"/>
            <a:ext cx="90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Push 4</a:t>
            </a:r>
            <a:endParaRPr lang="en-IN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12C2A31F-FA39-D7A4-41E5-33449216060D}"/>
              </a:ext>
            </a:extLst>
          </p:cNvPr>
          <p:cNvSpPr txBox="1"/>
          <p:nvPr/>
        </p:nvSpPr>
        <p:spPr>
          <a:xfrm>
            <a:off x="3446013" y="2434841"/>
            <a:ext cx="90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Push 3</a:t>
            </a:r>
            <a:endParaRPr lang="en-IN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809D9B82-9E02-82E8-C5E9-D144ABA4C065}"/>
              </a:ext>
            </a:extLst>
          </p:cNvPr>
          <p:cNvSpPr txBox="1"/>
          <p:nvPr/>
        </p:nvSpPr>
        <p:spPr>
          <a:xfrm>
            <a:off x="4829095" y="1549677"/>
            <a:ext cx="90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Push 6</a:t>
            </a:r>
            <a:endParaRPr lang="en-IN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F19D3109-518D-A5C8-2A08-D301407E7EA7}"/>
              </a:ext>
            </a:extLst>
          </p:cNvPr>
          <p:cNvSpPr txBox="1"/>
          <p:nvPr/>
        </p:nvSpPr>
        <p:spPr>
          <a:xfrm>
            <a:off x="6315872" y="852771"/>
            <a:ext cx="90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Push 2</a:t>
            </a:r>
            <a:endParaRPr lang="en-IN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32045B9C-8E85-4366-A387-9C3DAAC9020C}"/>
              </a:ext>
            </a:extLst>
          </p:cNvPr>
          <p:cNvSpPr txBox="1"/>
          <p:nvPr/>
        </p:nvSpPr>
        <p:spPr>
          <a:xfrm>
            <a:off x="10585258" y="1659880"/>
            <a:ext cx="90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Push 1</a:t>
            </a:r>
            <a:endParaRPr lang="en-IN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F1113D8E-98DC-AC5A-F170-31B2FDF4110A}"/>
              </a:ext>
            </a:extLst>
          </p:cNvPr>
          <p:cNvSpPr txBox="1"/>
          <p:nvPr/>
        </p:nvSpPr>
        <p:spPr>
          <a:xfrm>
            <a:off x="9181255" y="2383893"/>
            <a:ext cx="90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Pop 6 </a:t>
            </a:r>
            <a:endParaRPr lang="en-IN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xmlns="" id="{7EF3A5BE-B926-7619-455F-754B63CA8C31}"/>
              </a:ext>
            </a:extLst>
          </p:cNvPr>
          <p:cNvSpPr txBox="1"/>
          <p:nvPr/>
        </p:nvSpPr>
        <p:spPr>
          <a:xfrm>
            <a:off x="7749620" y="1549677"/>
            <a:ext cx="90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Pop 2</a:t>
            </a:r>
            <a:endParaRPr lang="en-IN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xmlns="" id="{89B09630-2136-A6CB-3BAB-0690BCCBB128}"/>
              </a:ext>
            </a:extLst>
          </p:cNvPr>
          <p:cNvSpPr txBox="1"/>
          <p:nvPr/>
        </p:nvSpPr>
        <p:spPr>
          <a:xfrm>
            <a:off x="2388706" y="3982278"/>
            <a:ext cx="45719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4</a:t>
            </a:r>
            <a:endParaRPr lang="en-IN" sz="25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xmlns="" id="{F12EA7BF-A497-D6DD-F7D7-B68A62B25D86}"/>
              </a:ext>
            </a:extLst>
          </p:cNvPr>
          <p:cNvSpPr txBox="1"/>
          <p:nvPr/>
        </p:nvSpPr>
        <p:spPr>
          <a:xfrm>
            <a:off x="5168100" y="3962424"/>
            <a:ext cx="45719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4</a:t>
            </a:r>
            <a:endParaRPr lang="en-IN" sz="25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CB8A8D2E-BEA6-5764-316B-BCBADAC5C95D}"/>
              </a:ext>
            </a:extLst>
          </p:cNvPr>
          <p:cNvSpPr txBox="1"/>
          <p:nvPr/>
        </p:nvSpPr>
        <p:spPr>
          <a:xfrm>
            <a:off x="3760306" y="3982278"/>
            <a:ext cx="45719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4</a:t>
            </a:r>
            <a:endParaRPr lang="en-IN" sz="2500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xmlns="" id="{070F0F4F-709B-103C-4ED6-1ACEA91A0DA1}"/>
              </a:ext>
            </a:extLst>
          </p:cNvPr>
          <p:cNvSpPr txBox="1"/>
          <p:nvPr/>
        </p:nvSpPr>
        <p:spPr>
          <a:xfrm>
            <a:off x="2433151" y="4913742"/>
            <a:ext cx="34745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4</a:t>
            </a:r>
            <a:endParaRPr lang="en-IN" sz="25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xmlns="" id="{D6C16FA9-6D96-EA23-A349-B560AB204410}"/>
              </a:ext>
            </a:extLst>
          </p:cNvPr>
          <p:cNvSpPr txBox="1"/>
          <p:nvPr/>
        </p:nvSpPr>
        <p:spPr>
          <a:xfrm>
            <a:off x="3760306" y="3124224"/>
            <a:ext cx="30479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3</a:t>
            </a:r>
            <a:endParaRPr lang="en-IN" sz="25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xmlns="" id="{1D08CF48-9E4E-A6CB-9EA1-8E61FC48378F}"/>
              </a:ext>
            </a:extLst>
          </p:cNvPr>
          <p:cNvSpPr txBox="1"/>
          <p:nvPr/>
        </p:nvSpPr>
        <p:spPr>
          <a:xfrm>
            <a:off x="3847402" y="4893888"/>
            <a:ext cx="30479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3</a:t>
            </a:r>
            <a:endParaRPr lang="en-IN" sz="25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B2BF2377-632A-D7F3-756E-B4DBC9A299A8}"/>
              </a:ext>
            </a:extLst>
          </p:cNvPr>
          <p:cNvSpPr txBox="1"/>
          <p:nvPr/>
        </p:nvSpPr>
        <p:spPr>
          <a:xfrm>
            <a:off x="5208106" y="3124224"/>
            <a:ext cx="30479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3</a:t>
            </a:r>
            <a:endParaRPr lang="en-IN" sz="25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xmlns="" id="{C52312B6-BEB2-68AC-6196-B8656CFC917C}"/>
              </a:ext>
            </a:extLst>
          </p:cNvPr>
          <p:cNvSpPr txBox="1"/>
          <p:nvPr/>
        </p:nvSpPr>
        <p:spPr>
          <a:xfrm>
            <a:off x="5307493" y="4854443"/>
            <a:ext cx="30479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3</a:t>
            </a:r>
            <a:endParaRPr lang="en-IN" sz="25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xmlns="" id="{6141F4E7-26A2-710F-33D8-CBE5EAF680DE}"/>
              </a:ext>
            </a:extLst>
          </p:cNvPr>
          <p:cNvSpPr txBox="1"/>
          <p:nvPr/>
        </p:nvSpPr>
        <p:spPr>
          <a:xfrm>
            <a:off x="5168100" y="2352807"/>
            <a:ext cx="30479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6</a:t>
            </a:r>
            <a:endParaRPr lang="en-IN" sz="2500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C3FB398F-972C-1D19-9772-8A13130C1C0B}"/>
              </a:ext>
            </a:extLst>
          </p:cNvPr>
          <p:cNvSpPr txBox="1"/>
          <p:nvPr/>
        </p:nvSpPr>
        <p:spPr>
          <a:xfrm>
            <a:off x="6573130" y="3954010"/>
            <a:ext cx="30479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4</a:t>
            </a:r>
            <a:endParaRPr lang="en-IN" sz="2500" b="1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xmlns="" id="{51A430EA-2DF2-E8F2-53C0-EA80196F828A}"/>
              </a:ext>
            </a:extLst>
          </p:cNvPr>
          <p:cNvSpPr txBox="1"/>
          <p:nvPr/>
        </p:nvSpPr>
        <p:spPr>
          <a:xfrm>
            <a:off x="6598795" y="3179364"/>
            <a:ext cx="30479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3</a:t>
            </a:r>
            <a:endParaRPr lang="en-IN" sz="2500" b="1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xmlns="" id="{560C155A-42ED-591B-6D4D-084D48D2CD3D}"/>
              </a:ext>
            </a:extLst>
          </p:cNvPr>
          <p:cNvSpPr txBox="1"/>
          <p:nvPr/>
        </p:nvSpPr>
        <p:spPr>
          <a:xfrm>
            <a:off x="6587840" y="2363595"/>
            <a:ext cx="30479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6</a:t>
            </a:r>
            <a:endParaRPr lang="en-IN" sz="2500" b="1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xmlns="" id="{77332583-DADC-820C-A170-A7277A827962}"/>
              </a:ext>
            </a:extLst>
          </p:cNvPr>
          <p:cNvSpPr txBox="1"/>
          <p:nvPr/>
        </p:nvSpPr>
        <p:spPr>
          <a:xfrm>
            <a:off x="6598469" y="1496539"/>
            <a:ext cx="30479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2</a:t>
            </a:r>
            <a:endParaRPr lang="en-IN" sz="2500" b="1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xmlns="" id="{3B3A824F-90C6-3DA6-DF18-0198B3B763FC}"/>
              </a:ext>
            </a:extLst>
          </p:cNvPr>
          <p:cNvSpPr txBox="1"/>
          <p:nvPr/>
        </p:nvSpPr>
        <p:spPr>
          <a:xfrm>
            <a:off x="8024918" y="3929335"/>
            <a:ext cx="30479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4</a:t>
            </a:r>
            <a:endParaRPr lang="en-IN" sz="2500" b="1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F9BA1BC4-482A-7635-5906-4E2EBFE8BB25}"/>
              </a:ext>
            </a:extLst>
          </p:cNvPr>
          <p:cNvSpPr txBox="1"/>
          <p:nvPr/>
        </p:nvSpPr>
        <p:spPr>
          <a:xfrm>
            <a:off x="8024917" y="3187329"/>
            <a:ext cx="30479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3</a:t>
            </a:r>
            <a:endParaRPr lang="en-IN" sz="2500" b="1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xmlns="" id="{6C454CC0-B175-3484-A0E0-4F37C3A3AD9F}"/>
              </a:ext>
            </a:extLst>
          </p:cNvPr>
          <p:cNvSpPr txBox="1"/>
          <p:nvPr/>
        </p:nvSpPr>
        <p:spPr>
          <a:xfrm>
            <a:off x="8042807" y="2323771"/>
            <a:ext cx="30479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6</a:t>
            </a:r>
            <a:endParaRPr lang="en-IN" sz="2500" b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3C003C6F-5DDD-DFEC-BFFA-A9CD98BB30AA}"/>
              </a:ext>
            </a:extLst>
          </p:cNvPr>
          <p:cNvSpPr txBox="1"/>
          <p:nvPr/>
        </p:nvSpPr>
        <p:spPr>
          <a:xfrm>
            <a:off x="6687920" y="4854443"/>
            <a:ext cx="30479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2</a:t>
            </a:r>
            <a:endParaRPr lang="en-IN" sz="2500" b="1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xmlns="" id="{876086D8-290C-165C-BC66-27B5045E405D}"/>
              </a:ext>
            </a:extLst>
          </p:cNvPr>
          <p:cNvSpPr txBox="1"/>
          <p:nvPr/>
        </p:nvSpPr>
        <p:spPr>
          <a:xfrm>
            <a:off x="8110210" y="4865715"/>
            <a:ext cx="30479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3</a:t>
            </a:r>
            <a:endParaRPr lang="en-IN" sz="2500" b="1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xmlns="" id="{97F98E1A-1B1B-AB70-9549-FF1C4A1A8ADC}"/>
              </a:ext>
            </a:extLst>
          </p:cNvPr>
          <p:cNvSpPr txBox="1"/>
          <p:nvPr/>
        </p:nvSpPr>
        <p:spPr>
          <a:xfrm>
            <a:off x="9562403" y="4854443"/>
            <a:ext cx="30479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3</a:t>
            </a:r>
            <a:endParaRPr lang="en-IN" sz="25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xmlns="" id="{5B81DDBE-7DA9-5A35-B1C6-BABED90FB48A}"/>
              </a:ext>
            </a:extLst>
          </p:cNvPr>
          <p:cNvSpPr txBox="1"/>
          <p:nvPr/>
        </p:nvSpPr>
        <p:spPr>
          <a:xfrm>
            <a:off x="10950428" y="4874525"/>
            <a:ext cx="30479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1</a:t>
            </a:r>
            <a:endParaRPr lang="en-IN" sz="25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xmlns="" id="{30873FD6-55A3-B55A-C19E-53766D50356B}"/>
              </a:ext>
            </a:extLst>
          </p:cNvPr>
          <p:cNvSpPr txBox="1"/>
          <p:nvPr/>
        </p:nvSpPr>
        <p:spPr>
          <a:xfrm>
            <a:off x="9467181" y="3929335"/>
            <a:ext cx="30479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4</a:t>
            </a:r>
            <a:endParaRPr lang="en-IN" sz="2500" b="1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xmlns="" id="{B8A12EAC-83F2-F249-1CE9-98C7D1A06B1D}"/>
              </a:ext>
            </a:extLst>
          </p:cNvPr>
          <p:cNvSpPr txBox="1"/>
          <p:nvPr/>
        </p:nvSpPr>
        <p:spPr>
          <a:xfrm>
            <a:off x="10885005" y="3906078"/>
            <a:ext cx="30479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4</a:t>
            </a:r>
            <a:endParaRPr lang="en-IN" sz="2500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xmlns="" id="{8A794422-C2A5-DC3E-1FBC-3BC0FB3A1EAE}"/>
              </a:ext>
            </a:extLst>
          </p:cNvPr>
          <p:cNvSpPr txBox="1"/>
          <p:nvPr/>
        </p:nvSpPr>
        <p:spPr>
          <a:xfrm>
            <a:off x="9435258" y="3187873"/>
            <a:ext cx="30479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3</a:t>
            </a:r>
            <a:endParaRPr lang="en-IN" sz="2500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xmlns="" id="{290A832B-43D3-26B4-17B7-0FE214A77C7D}"/>
              </a:ext>
            </a:extLst>
          </p:cNvPr>
          <p:cNvSpPr txBox="1"/>
          <p:nvPr/>
        </p:nvSpPr>
        <p:spPr>
          <a:xfrm>
            <a:off x="10863331" y="3179364"/>
            <a:ext cx="30479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3</a:t>
            </a:r>
            <a:endParaRPr lang="en-IN" sz="2500" b="1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xmlns="" id="{C15D9760-4C50-992E-E6D9-B23D4C4EFD0D}"/>
              </a:ext>
            </a:extLst>
          </p:cNvPr>
          <p:cNvSpPr txBox="1"/>
          <p:nvPr/>
        </p:nvSpPr>
        <p:spPr>
          <a:xfrm>
            <a:off x="10852259" y="2362675"/>
            <a:ext cx="30479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1</a:t>
            </a:r>
            <a:endParaRPr lang="en-IN" sz="25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F5CDD7B-BD49-EE8B-8BC4-6240FAC349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554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Mystack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Stack&lt;Integer&gt; s;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Stack&lt;Integer&gt; a;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Mystack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s = new Stack&lt;Integer&gt;();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a = new Stack&lt;Integer&gt;();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void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getMin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a.isEmpty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System.out.println(“Stack is Empty”);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else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System.out.println(“Minimum element : “ +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a.peek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void peek(){	</a:t>
            </a:r>
          </a:p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s.isEmpty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(“Stack is Empty”);</a:t>
            </a:r>
          </a:p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return ;</a:t>
            </a:r>
          </a:p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617CE51-6F78-2479-3075-F4135E7B3C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121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pPr lvl="1"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integer t=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s.peek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1"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(“Top most element:” + t);</a:t>
            </a:r>
          </a:p>
          <a:p>
            <a:pPr lvl="1"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1"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pop() {</a:t>
            </a:r>
          </a:p>
          <a:p>
            <a:pPr lvl="1"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int t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s.pop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1"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s.isEmpty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pPr lvl="1"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System.out.println(“Stack is Empty”);</a:t>
            </a:r>
          </a:p>
          <a:p>
            <a:pPr lvl="1"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return ;</a:t>
            </a:r>
          </a:p>
          <a:p>
            <a:pPr lvl="1"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lvl="1"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else </a:t>
            </a:r>
          </a:p>
          <a:p>
            <a:pPr lvl="1"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System.out.println(“Removed element : “ + t);</a:t>
            </a:r>
          </a:p>
          <a:p>
            <a:pPr lvl="1"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if(t == </a:t>
            </a:r>
            <a:r>
              <a:rPr lang="en-US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a.peek</a:t>
            </a: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())</a:t>
            </a:r>
          </a:p>
          <a:p>
            <a:pPr lvl="1">
              <a:spcAft>
                <a:spcPts val="800"/>
              </a:spcAft>
            </a:pP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a.pop</a:t>
            </a: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();</a:t>
            </a:r>
          </a:p>
          <a:p>
            <a:pPr lvl="1"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</a:p>
          <a:p>
            <a:pPr>
              <a:spcAft>
                <a:spcPts val="600"/>
              </a:spcAft>
            </a:pPr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6B20F2F2-404D-EF27-2404-EF328A3136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70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pPr lvl="1"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</a:t>
            </a:r>
            <a:r>
              <a:rPr lang="en-US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oid push(int x)</a:t>
            </a: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{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if ( 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s.isEmpty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()) {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s.push</a:t>
            </a: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(x);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a.push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(x)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System.out.println(“ Number Inserted: “+ x);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return ;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}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e</a:t>
            </a: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lse {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s.push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(x);</a:t>
            </a:r>
          </a:p>
          <a:p>
            <a:pPr lvl="1">
              <a:spcAft>
                <a:spcPts val="800"/>
              </a:spcAft>
            </a:pP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</a:t>
            </a:r>
            <a:r>
              <a:rPr lang="en-IN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System.out.prinln</a:t>
            </a:r>
            <a:r>
              <a:rPr lang="en-IN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(“ Number Inserted: “ +x);</a:t>
            </a:r>
            <a:r>
              <a:rPr lang="en-IN" sz="20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</a:t>
            </a:r>
          </a:p>
          <a:p>
            <a:pPr lvl="1"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if ( x&lt;= </a:t>
            </a:r>
            <a:r>
              <a:rPr lang="en-US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a.peek</a:t>
            </a: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 ) </a:t>
            </a:r>
          </a:p>
          <a:p>
            <a:pPr lvl="1"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a.push</a:t>
            </a: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(x);</a:t>
            </a:r>
          </a:p>
          <a:p>
            <a:pPr lvl="1"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}</a:t>
            </a:r>
          </a:p>
          <a:p>
            <a:pPr lvl="1"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6A5F290-A112-C309-229D-F12B524398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180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pPr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public class Main {</a:t>
            </a:r>
          </a:p>
          <a:p>
            <a:pPr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public static void main(String args[]) {</a:t>
            </a:r>
          </a:p>
          <a:p>
            <a:pPr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Mystack</a:t>
            </a: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s=new </a:t>
            </a:r>
            <a:r>
              <a:rPr lang="en-US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Mystack</a:t>
            </a: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();</a:t>
            </a:r>
          </a:p>
          <a:p>
            <a:pPr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Scanner </a:t>
            </a:r>
            <a:r>
              <a:rPr lang="en-US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sc</a:t>
            </a: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new Scanner(System.in);</a:t>
            </a:r>
          </a:p>
          <a:p>
            <a:pPr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int n=</a:t>
            </a:r>
            <a:r>
              <a:rPr lang="en-US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sc.nextInt</a:t>
            </a: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();</a:t>
            </a:r>
          </a:p>
          <a:p>
            <a:pPr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for( int i=0;i&lt;</a:t>
            </a:r>
            <a:r>
              <a:rPr lang="en-US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n;i</a:t>
            </a: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++) {</a:t>
            </a:r>
          </a:p>
          <a:p>
            <a:pPr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	int m=</a:t>
            </a:r>
            <a:r>
              <a:rPr lang="en-US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sc.nextInt</a:t>
            </a: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();</a:t>
            </a:r>
          </a:p>
          <a:p>
            <a:pPr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s.push</a:t>
            </a: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(m);</a:t>
            </a:r>
          </a:p>
          <a:p>
            <a:pPr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		}</a:t>
            </a:r>
          </a:p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s.getMin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s.pop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s.getMin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s.pop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s.peek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>
              <a:spcAft>
                <a:spcPts val="600"/>
              </a:spcAft>
            </a:pP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spcAft>
                <a:spcPts val="800"/>
              </a:spcAft>
            </a:pPr>
            <a:r>
              <a:rPr lang="en-US" sz="2000" b="1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6860C7A-1C15-279E-22ED-E417283DA9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165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xmlns="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" b="849"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CE4AC68-DA55-A111-33DE-BCC85A736B7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244</Words>
  <Application>Microsoft Office PowerPoint</Application>
  <PresentationFormat>Widescreen</PresentationFormat>
  <Paragraphs>220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Nunito</vt:lpstr>
      <vt:lpstr>Nunito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UMAIYALAKSHMI UMAKANTH</dc:creator>
  <cp:lastModifiedBy>Microsoft account</cp:lastModifiedBy>
  <cp:revision>4</cp:revision>
  <dcterms:created xsi:type="dcterms:W3CDTF">2023-12-29T11:27:21Z</dcterms:created>
  <dcterms:modified xsi:type="dcterms:W3CDTF">2024-12-30T12:04:00Z</dcterms:modified>
</cp:coreProperties>
</file>