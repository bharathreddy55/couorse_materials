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744" r:id="rId2"/>
    <p:sldId id="260" r:id="rId3"/>
    <p:sldId id="352" r:id="rId4"/>
    <p:sldId id="317" r:id="rId5"/>
    <p:sldId id="358" r:id="rId6"/>
    <p:sldId id="745" r:id="rId7"/>
    <p:sldId id="746" r:id="rId8"/>
    <p:sldId id="747" r:id="rId9"/>
    <p:sldId id="28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51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D7811-FCF6-44FC-8958-DBF2135E9BE8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CE3910-7A1F-4CF8-A0CF-87666181F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3221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</a:t>
            </a:r>
            <a:r>
              <a:rPr lang="en-US" b="1" baseline="0" dirty="0"/>
              <a:t> = </a:t>
            </a:r>
          </a:p>
          <a:p>
            <a:r>
              <a:rPr lang="en-US" b="1" baseline="0" dirty="0"/>
              <a:t>Root</a:t>
            </a:r>
          </a:p>
          <a:p>
            <a:r>
              <a:rPr lang="en-US" b="1" baseline="0" dirty="0"/>
              <a:t>2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3404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Section End/Start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/>
              <a:t>Use this at section’s start or end. For example: “Questions” or “Time for Practice”. To be used for Impacts (get the student’s attention). </a:t>
            </a:r>
            <a:endParaRPr/>
          </a:p>
        </p:txBody>
      </p:sp>
      <p:sp>
        <p:nvSpPr>
          <p:cNvPr id="123" name="Google Shape;12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Blank slide (Text Only)</a:t>
            </a:r>
          </a:p>
          <a:p>
            <a:r>
              <a:rPr lang="en-US" b="0" dirty="0"/>
              <a:t>Use this slide as an </a:t>
            </a:r>
            <a:r>
              <a:rPr lang="en-US" b="1" dirty="0"/>
              <a:t>extension of other slides</a:t>
            </a:r>
            <a:r>
              <a:rPr lang="en-US" b="0" dirty="0"/>
              <a:t>. Therefore, if the data doesn’t fit in any of the slides then put the extra data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9135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err="1">
                <a:solidFill>
                  <a:schemeClr val="tx1"/>
                </a:solidFill>
                <a:latin typeface="Nunito Sans" pitchFamily="2" charset="0"/>
              </a:rPr>
              <a:t>Biotonic</a:t>
            </a:r>
            <a:r>
              <a:rPr lang="en-US" sz="1200" b="1" dirty="0">
                <a:solidFill>
                  <a:schemeClr val="tx1"/>
                </a:solidFill>
                <a:latin typeface="Nunito Sans" pitchFamily="2" charset="0"/>
              </a:rPr>
              <a:t> doubly linked list:</a:t>
            </a:r>
          </a:p>
          <a:p>
            <a:pPr algn="l"/>
            <a:r>
              <a:rPr lang="en-US" b="0" i="0" dirty="0">
                <a:solidFill>
                  <a:srgbClr val="4D5156"/>
                </a:solidFill>
                <a:effectLst/>
                <a:latin typeface="Nunito Sans" pitchFamily="2" charset="0"/>
              </a:rPr>
              <a:t>A </a:t>
            </a:r>
            <a:r>
              <a:rPr lang="en-US" b="0" i="0" dirty="0" err="1">
                <a:solidFill>
                  <a:srgbClr val="4D5156"/>
                </a:solidFill>
                <a:effectLst/>
                <a:latin typeface="Nunito Sans" pitchFamily="2" charset="0"/>
              </a:rPr>
              <a:t>biotonic</a:t>
            </a:r>
            <a:r>
              <a:rPr lang="en-US" b="0" i="0" dirty="0">
                <a:solidFill>
                  <a:srgbClr val="4D5156"/>
                </a:solidFill>
                <a:effectLst/>
                <a:latin typeface="Nunito Sans" pitchFamily="2" charset="0"/>
              </a:rPr>
              <a:t> doubly linked list is </a:t>
            </a:r>
            <a:r>
              <a:rPr lang="en-US" b="0" i="0" dirty="0">
                <a:solidFill>
                  <a:srgbClr val="040C28"/>
                </a:solidFill>
                <a:effectLst/>
                <a:latin typeface="Nunito Sans" pitchFamily="2" charset="0"/>
              </a:rPr>
              <a:t>a doubly-linked list which is first increasing and then decreasing</a:t>
            </a:r>
            <a:r>
              <a:rPr lang="en-US" b="0" i="0" dirty="0">
                <a:solidFill>
                  <a:srgbClr val="4D5156"/>
                </a:solidFill>
                <a:effectLst/>
                <a:latin typeface="Nunito Sans" pitchFamily="2" charset="0"/>
              </a:rPr>
              <a:t>. A strictly increasing or a strictly decreasing list is also a </a:t>
            </a:r>
            <a:r>
              <a:rPr lang="en-US" b="0" i="0" dirty="0" err="1">
                <a:solidFill>
                  <a:srgbClr val="4D5156"/>
                </a:solidFill>
                <a:effectLst/>
                <a:latin typeface="Nunito Sans" pitchFamily="2" charset="0"/>
              </a:rPr>
              <a:t>biotonic</a:t>
            </a:r>
            <a:r>
              <a:rPr lang="en-US" b="0" i="0" dirty="0">
                <a:solidFill>
                  <a:srgbClr val="4D5156"/>
                </a:solidFill>
                <a:effectLst/>
                <a:latin typeface="Nunito Sans" pitchFamily="2" charset="0"/>
              </a:rPr>
              <a:t> doubly linked list.</a:t>
            </a:r>
            <a:endParaRPr lang="en-US" b="0" i="0" dirty="0">
              <a:solidFill>
                <a:srgbClr val="202124"/>
              </a:solidFill>
              <a:effectLst/>
              <a:latin typeface="Nunito Sans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dirty="0">
              <a:solidFill>
                <a:schemeClr val="tx1"/>
              </a:solidFill>
              <a:latin typeface="Nunito Sans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9766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Thank you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133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16244-5E93-1282-6FFD-4F4DD4E28A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0E3F5-6832-D036-92C1-C1E292C6C0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63171-677F-CF46-3A18-44B06CEAA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5B8E1-DF4C-4068-A859-B60FF42584E7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2D914-868B-2AC8-FDAF-E80E0EA1A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D816AD-4925-5046-90BD-DC5C125C3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CF71A-E6A6-4D41-8A87-38434DD829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7738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E8236-EF38-EBD5-6A36-B8E09542F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38327-BED1-6762-8DCD-1F43581B7E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191DCB-74CD-EA27-8433-7F314C595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5B8E1-DF4C-4068-A859-B60FF42584E7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0A08E-A916-5693-65F7-546197CA3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26FA0-2B30-E3B4-1F8F-B8B45C637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CF71A-E6A6-4D41-8A87-38434DD829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2730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70F92-12A2-04A5-9F01-94529C4A8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89262B-C5B9-28D6-DB60-6C39EC990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2A964A-EA4C-111E-BE76-99294402A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5B8E1-DF4C-4068-A859-B60FF42584E7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CFA6D-C7DE-938A-DF56-8421E1D74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26297-2D0A-1E13-9DBB-5BAD5F831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CF71A-E6A6-4D41-8A87-38434DD829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869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8E1EE-9FE9-3FFA-E44A-D70507F5A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4786B-6829-8775-97D8-AE063D2CBA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1DB842-DD90-8A86-164B-3953D6E9D1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9B0A89-15E5-D9C1-460C-5C3D7A12D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5B8E1-DF4C-4068-A859-B60FF42584E7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9FAFC0-CFDC-918A-3022-D114D31B0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DD37B-E6A8-6CA9-D9C8-CD250DB25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CF71A-E6A6-4D41-8A87-38434DD829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9174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799CD-B6C1-E231-6F18-568B64F10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4F2BB8-7B4B-25E1-1B74-B19E4F713F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F68B24-ECE5-FF6A-7965-EBF8F55CD7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B639AC-6C66-3618-10A2-DA275CF09C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13375F-2E3F-F6E2-49A2-8B28DBB394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B3C22A-AB19-2323-AD27-C7DAD63C8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5B8E1-DF4C-4068-A859-B60FF42584E7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7311E1-7857-2539-5B22-7DA06BE66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B4E4B4-D78D-FE76-FB3D-10F3FCFE7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CF71A-E6A6-4D41-8A87-38434DD829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8819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F9CA4-6173-BC81-4955-CE0F73D3A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16DEC0-1830-4446-180F-461DF87C0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5B8E1-DF4C-4068-A859-B60FF42584E7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27F92F-90F8-7894-244D-9161B640A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16C19D-CFA0-BC50-C4DE-637458868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CF71A-E6A6-4D41-8A87-38434DD829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7209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7966AA-EB77-C6D2-4B36-6CF0CEF17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5B8E1-DF4C-4068-A859-B60FF42584E7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05066D-0B7D-04F3-36C0-1B53DAE91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344F5-B537-AB1E-DB5B-94FA3B0D1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CF71A-E6A6-4D41-8A87-38434DD829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2044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9DB8D-0723-813F-D575-311F97A7B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38B61-2B03-1EB7-FCF3-25D45EEF8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174C0F-89C0-5F6A-4B98-63CC6A9579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93000D-9991-744A-8590-807D275B4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5B8E1-DF4C-4068-A859-B60FF42584E7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486C86-6A98-FDC7-299F-3A81EF2BD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159EAF-A5CA-1F88-B69B-BCFFBE378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CF71A-E6A6-4D41-8A87-38434DD829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7072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C1EEA-CD69-DEA4-80DB-2B2DE169E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EB889F-493A-BDCF-6CB3-3B93DC5F33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906FD9-41F1-5ECB-17C4-13B9D7E1F6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78A704-03FC-EAAD-D108-E2E5E7D9B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5B8E1-DF4C-4068-A859-B60FF42584E7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BE4BE2-3FF4-2CDF-0737-C5DF3DADF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076AC1-CBA5-FAEA-8933-FCB72A17C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CF71A-E6A6-4D41-8A87-38434DD829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9176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B1898-79A3-7A55-097A-32D984D5C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E2AE8D-901C-6FD4-A62F-4BF915D9BC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E7D3B-8E5D-782E-8712-DCE63ABB4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5B8E1-DF4C-4068-A859-B60FF42584E7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58B8A-329F-8F0F-A710-99307F713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440CB-0F0E-A7F6-A3DC-F30649BE7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CF71A-E6A6-4D41-8A87-38434DD829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527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003203-F334-5D6A-B1FE-F35D1E3C9A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0EA7BB-3ED9-0970-486E-95CFFF3039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7E6A8-CE05-990A-D0BA-7BB7667DF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5B8E1-DF4C-4068-A859-B60FF42584E7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852DAA-114B-C05E-278C-78A415FAE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23DA1-5DEA-EE12-84A3-558ACE777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CF71A-E6A6-4D41-8A87-38434DD829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24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4B0284-27CD-F357-8DAA-4148C44E0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BCCCEA-3D97-74D7-7EFB-AF804D29C0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0B6FF4-0C14-CE2E-EE1E-31C9296F02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15B8E1-DF4C-4068-A859-B60FF42584E7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2785D0-1D06-CA84-348B-809C72D26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BF7B34-BD08-D3B4-64B9-9B6EA03B8F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6CF71A-E6A6-4D41-8A87-38434DD829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4557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0578" y="3105000"/>
            <a:ext cx="5110844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5136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/>
          <p:nvPr/>
        </p:nvSpPr>
        <p:spPr>
          <a:xfrm>
            <a:off x="0" y="3055701"/>
            <a:ext cx="12192000" cy="885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Nunito Sans"/>
              <a:buNone/>
            </a:pPr>
            <a:r>
              <a:rPr lang="en-US" sz="5400" b="1" i="0" u="none" strike="noStrike" cap="none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Iterative Tower of Hanoi</a:t>
            </a:r>
            <a:endParaRPr sz="5400" b="1" i="0" u="none" strike="noStrike" cap="none" dirty="0">
              <a:solidFill>
                <a:srgbClr val="FFFF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126" name="Google Shape;12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600" y="6202800"/>
            <a:ext cx="2356664" cy="2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A73E930-58B4-4FEC-8303-01C4F888F30D}"/>
              </a:ext>
            </a:extLst>
          </p:cNvPr>
          <p:cNvSpPr txBox="1"/>
          <p:nvPr/>
        </p:nvSpPr>
        <p:spPr>
          <a:xfrm>
            <a:off x="505257" y="547488"/>
            <a:ext cx="1105251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dirty="0">
                <a:latin typeface="Nunito Sans" panose="00000500000000000000" pitchFamily="2" charset="0"/>
              </a:rPr>
              <a:t>Tower of Hanoi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C2402C5-EEE3-4E4E-9F3D-6E86B8323502}"/>
              </a:ext>
            </a:extLst>
          </p:cNvPr>
          <p:cNvSpPr/>
          <p:nvPr/>
        </p:nvSpPr>
        <p:spPr>
          <a:xfrm>
            <a:off x="634226" y="551586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BEBD92D8-D519-4E61-AB8A-9B598CBFE1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88B27FD-5433-9B1C-B947-20F2EBC7A3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9078" y="1223889"/>
            <a:ext cx="9177962" cy="4626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908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A635DAA-35C4-4438-9D75-515C2C193139}"/>
              </a:ext>
            </a:extLst>
          </p:cNvPr>
          <p:cNvSpPr txBox="1"/>
          <p:nvPr/>
        </p:nvSpPr>
        <p:spPr>
          <a:xfrm>
            <a:off x="526224" y="769163"/>
            <a:ext cx="111363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/>
            <a:r>
              <a:rPr lang="en-US" sz="4800" b="1" i="0" dirty="0">
                <a:solidFill>
                  <a:srgbClr val="273239"/>
                </a:solidFill>
                <a:effectLst/>
                <a:latin typeface="Nunito Sans" pitchFamily="2" charset="0"/>
              </a:rPr>
              <a:t>Tower of Hanoi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767CAB-1FA5-494A-96EC-9E612067A695}"/>
              </a:ext>
            </a:extLst>
          </p:cNvPr>
          <p:cNvSpPr/>
          <p:nvPr/>
        </p:nvSpPr>
        <p:spPr>
          <a:xfrm>
            <a:off x="598714" y="711390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73F422-781C-4385-84E3-34EDBC7AB3E7}"/>
              </a:ext>
            </a:extLst>
          </p:cNvPr>
          <p:cNvSpPr txBox="1"/>
          <p:nvPr/>
        </p:nvSpPr>
        <p:spPr>
          <a:xfrm>
            <a:off x="681207" y="1496333"/>
            <a:ext cx="11104481" cy="4208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Nunito Sans" panose="020B0604020202020204" charset="0"/>
              </a:rPr>
              <a:t>1. Calculate the total number of moves required i.e. "pow(2, n) - 1" here n is number of disks.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Nunito Sans" panose="020B0604020202020204" charset="0"/>
              </a:rPr>
              <a:t>2. If number of disks (i.e. n) is even then interchange destination pole and auxiliary pole.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Nunito Sans" panose="020B0604020202020204" charset="0"/>
              </a:rPr>
              <a:t>3. for </a:t>
            </a:r>
            <a:r>
              <a:rPr lang="en-US" sz="2000" dirty="0" err="1">
                <a:latin typeface="Nunito Sans" panose="020B0604020202020204" charset="0"/>
              </a:rPr>
              <a:t>i</a:t>
            </a:r>
            <a:r>
              <a:rPr lang="en-US" sz="2000" dirty="0">
                <a:latin typeface="Nunito Sans" panose="020B0604020202020204" charset="0"/>
              </a:rPr>
              <a:t> = 1 to total number of moves: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Nunito Sans" panose="020B0604020202020204" charset="0"/>
              </a:rPr>
              <a:t>     if i%3 == 1: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Nunito Sans" panose="020B0604020202020204" charset="0"/>
              </a:rPr>
              <a:t>    legal movement of top disk between source pole and destination pole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Nunito Sans" panose="020B0604020202020204" charset="0"/>
              </a:rPr>
              <a:t>     if i%3 == 2: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Nunito Sans" panose="020B0604020202020204" charset="0"/>
              </a:rPr>
              <a:t>    legal movement top disk between source pole and auxiliary pole   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Nunito Sans" panose="020B0604020202020204" charset="0"/>
              </a:rPr>
              <a:t>     if i%3 == 0: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Nunito Sans" panose="020B0604020202020204" charset="0"/>
              </a:rPr>
              <a:t>        legal movement top disk between auxiliary pole and destination pole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9B32488-0EE1-C760-C9DD-9FC2575C238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710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java.util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.*;</a:t>
            </a: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 Main{    </a:t>
            </a:r>
          </a:p>
          <a:p>
            <a:r>
              <a:rPr lang="en-IN" sz="2000" b="1" dirty="0">
                <a:solidFill>
                  <a:srgbClr val="D4D4D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 Stack{    	</a:t>
            </a:r>
          </a:p>
          <a:p>
            <a:r>
              <a:rPr lang="en-IN" sz="2000" b="1" dirty="0">
                <a:solidFill>
                  <a:srgbClr val="D4D4D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 capacity;</a:t>
            </a:r>
          </a:p>
          <a:p>
            <a:r>
              <a:rPr lang="en-IN" sz="2000" b="1" dirty="0">
                <a:solidFill>
                  <a:srgbClr val="D4D4D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 top;</a:t>
            </a:r>
          </a:p>
          <a:p>
            <a:r>
              <a:rPr lang="en-IN" sz="2000" b="1" dirty="0">
                <a:solidFill>
                  <a:srgbClr val="D4D4D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 array[];    </a:t>
            </a:r>
          </a:p>
          <a:p>
            <a:r>
              <a:rPr lang="en-IN" sz="2000" b="1" dirty="0">
                <a:solidFill>
                  <a:srgbClr val="D4D4D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    </a:t>
            </a:r>
          </a:p>
          <a:p>
            <a:r>
              <a:rPr lang="en-IN" sz="2000" b="1" dirty="0">
                <a:solidFill>
                  <a:srgbClr val="D4D4D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Stack 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createStack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(int capacity){    	</a:t>
            </a:r>
          </a:p>
          <a:p>
            <a:r>
              <a:rPr lang="en-IN" sz="2000" b="1" dirty="0">
                <a:solidFill>
                  <a:srgbClr val="D4D4D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Stack 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stack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new Stack();</a:t>
            </a:r>
          </a:p>
          <a:p>
            <a:r>
              <a:rPr lang="en-IN" sz="2000" b="1" dirty="0">
                <a:solidFill>
                  <a:srgbClr val="D4D4D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stack.capacity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capacity;</a:t>
            </a:r>
          </a:p>
          <a:p>
            <a:r>
              <a:rPr lang="en-IN" sz="2000" b="1" dirty="0">
                <a:solidFill>
                  <a:srgbClr val="D4D4D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stack.top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-1;</a:t>
            </a:r>
          </a:p>
          <a:p>
            <a:r>
              <a:rPr lang="en-IN" sz="2000" b="1" dirty="0">
                <a:solidFill>
                  <a:srgbClr val="D4D4D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stack.array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new int[capacity];</a:t>
            </a:r>
          </a:p>
          <a:p>
            <a:r>
              <a:rPr lang="en-IN" sz="2000" b="1" dirty="0">
                <a:solidFill>
                  <a:srgbClr val="D4D4D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 stack;</a:t>
            </a:r>
          </a:p>
          <a:p>
            <a:r>
              <a:rPr lang="en-IN" sz="2000" b="1" dirty="0">
                <a:solidFill>
                  <a:srgbClr val="D4D4D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IN" sz="2000" b="1" dirty="0">
                <a:solidFill>
                  <a:srgbClr val="D4D4D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static 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isFull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(Stack stack){    	</a:t>
            </a:r>
          </a:p>
          <a:p>
            <a:r>
              <a:rPr lang="en-IN" sz="2000" b="1" dirty="0">
                <a:solidFill>
                  <a:srgbClr val="D4D4D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 (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stack.top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== 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stack.capacity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- 1);</a:t>
            </a:r>
          </a:p>
          <a:p>
            <a:r>
              <a:rPr lang="en-IN" sz="2000" b="1" dirty="0">
                <a:solidFill>
                  <a:srgbClr val="D4D4D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r>
              <a:rPr lang="en-US" sz="2000" b="1" dirty="0">
                <a:solidFill>
                  <a:srgbClr val="D4D4D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static </a:t>
            </a:r>
            <a:r>
              <a:rPr lang="en-US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isEmpty</a:t>
            </a:r>
            <a:r>
              <a:rPr lang="en-US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(Stack stack){</a:t>
            </a:r>
          </a:p>
          <a:p>
            <a:r>
              <a:rPr lang="en-US" sz="2000" b="1" dirty="0">
                <a:solidFill>
                  <a:srgbClr val="D4D4D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 (</a:t>
            </a:r>
            <a:r>
              <a:rPr lang="en-US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stack.top</a:t>
            </a:r>
            <a:r>
              <a:rPr lang="en-US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== -1);</a:t>
            </a:r>
          </a:p>
          <a:p>
            <a:r>
              <a:rPr lang="en-US" sz="2000" b="1" dirty="0">
                <a:solidFill>
                  <a:srgbClr val="D4D4D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</a:p>
          <a:p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108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pPr lvl="1"/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static void push(Stack 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stack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int item){    	</a:t>
            </a:r>
          </a:p>
          <a:p>
            <a:pPr lvl="1"/>
            <a:r>
              <a:rPr lang="en-IN" sz="2000" b="1" dirty="0">
                <a:solidFill>
                  <a:srgbClr val="DCDCD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isFull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(stack))</a:t>
            </a:r>
          </a:p>
          <a:p>
            <a:pPr lvl="1"/>
            <a:r>
              <a:rPr lang="en-IN" sz="2000" b="1" dirty="0">
                <a:solidFill>
                  <a:srgbClr val="DCDCD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return;</a:t>
            </a:r>
          </a:p>
          <a:p>
            <a:pPr lvl="1"/>
            <a:r>
              <a:rPr lang="en-IN" sz="2000" b="1" dirty="0">
                <a:solidFill>
                  <a:srgbClr val="DCDCD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stack.top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</a:p>
          <a:p>
            <a:pPr lvl="1"/>
            <a:r>
              <a:rPr lang="en-IN" sz="2000" b="1" dirty="0">
                <a:solidFill>
                  <a:srgbClr val="DCDCD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stack.array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stack.top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 = item;    </a:t>
            </a:r>
          </a:p>
          <a:p>
            <a:pPr lvl="1"/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lvl="1"/>
            <a:endParaRPr lang="en-IN" sz="2000" b="1" dirty="0">
              <a:solidFill>
                <a:srgbClr val="DCDCDC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static int pop(Stack stack){</a:t>
            </a:r>
          </a:p>
          <a:p>
            <a:pPr lvl="1"/>
            <a:r>
              <a:rPr lang="en-IN" sz="2000" b="1" dirty="0">
                <a:solidFill>
                  <a:srgbClr val="DCDCD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isEmpty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(stack))</a:t>
            </a:r>
          </a:p>
          <a:p>
            <a:pPr lvl="1"/>
            <a:r>
              <a:rPr lang="en-IN" sz="2000" b="1" dirty="0">
                <a:solidFill>
                  <a:srgbClr val="DCDCD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Integer.MIN_VALUE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/>
            <a:r>
              <a:rPr lang="en-IN" sz="2000" b="1" dirty="0">
                <a:solidFill>
                  <a:srgbClr val="DCDCD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stack.array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stack.top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--];</a:t>
            </a:r>
          </a:p>
          <a:p>
            <a:pPr lvl="1"/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lvl="1"/>
            <a:endParaRPr lang="en-IN" sz="2000" b="1" dirty="0">
              <a:solidFill>
                <a:srgbClr val="DCDCDC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static void 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move_disc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(Stack source, Stack destination, char s, char d){</a:t>
            </a:r>
          </a:p>
          <a:p>
            <a:pPr lvl="2"/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 p1= pop(source);</a:t>
            </a:r>
          </a:p>
          <a:p>
            <a:pPr lvl="2"/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 p2 = pop(destination);</a:t>
            </a:r>
          </a:p>
          <a:p>
            <a:pPr lvl="2"/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 (p1== 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Integer.MIN_VALUE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</a:p>
          <a:p>
            <a:pPr lvl="2"/>
            <a:r>
              <a:rPr lang="en-IN" sz="2000" b="1" dirty="0">
                <a:solidFill>
                  <a:srgbClr val="DCDCD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push(source, p2);</a:t>
            </a:r>
          </a:p>
          <a:p>
            <a:pPr lvl="2"/>
            <a:r>
              <a:rPr lang="en-IN" sz="2000" b="1" dirty="0">
                <a:solidFill>
                  <a:srgbClr val="DCDCD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("Move the disk "+p2+ " from “+d+ " to "+s);</a:t>
            </a:r>
          </a:p>
          <a:p>
            <a:pPr lvl="2"/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    </a:t>
            </a:r>
          </a:p>
          <a:p>
            <a:endParaRPr lang="en-IN" sz="2000" b="1" dirty="0">
              <a:solidFill>
                <a:srgbClr val="DCDCDC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b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25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694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pPr lvl="2"/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else if (p2 == 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Integer.MIN_VALUE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){    		</a:t>
            </a:r>
          </a:p>
          <a:p>
            <a:pPr lvl="2"/>
            <a:r>
              <a:rPr lang="en-IN" sz="2000" b="1" dirty="0">
                <a:solidFill>
                  <a:srgbClr val="DCDCD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push(destination, p1);</a:t>
            </a:r>
          </a:p>
          <a:p>
            <a:pPr lvl="2"/>
            <a:r>
              <a:rPr lang="en-IN" sz="2000" b="1" dirty="0">
                <a:solidFill>
                  <a:srgbClr val="DCDCD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("Move the disk "+p1+ " from "+s+" to "+d);</a:t>
            </a:r>
          </a:p>
          <a:p>
            <a:pPr lvl="2"/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lvl="2"/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else if (p1 &gt; p2){</a:t>
            </a:r>
          </a:p>
          <a:p>
            <a:pPr lvl="2"/>
            <a:r>
              <a:rPr lang="en-IN" sz="2000" b="1" dirty="0">
                <a:solidFill>
                  <a:srgbClr val="DCDCD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push(source, p1);</a:t>
            </a:r>
          </a:p>
          <a:p>
            <a:pPr lvl="2"/>
            <a:r>
              <a:rPr lang="en-IN" sz="2000" b="1" dirty="0">
                <a:solidFill>
                  <a:srgbClr val="DCDCD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push(source, p2);</a:t>
            </a:r>
          </a:p>
          <a:p>
            <a:pPr lvl="2"/>
            <a:r>
              <a:rPr lang="en-IN" sz="2000" b="1" dirty="0">
                <a:solidFill>
                  <a:srgbClr val="DCDCD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("Move the disk "+p2+" from "+d+" to "+s);    }</a:t>
            </a:r>
          </a:p>
          <a:p>
            <a:pPr lvl="2"/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else{</a:t>
            </a:r>
          </a:p>
          <a:p>
            <a:pPr lvl="2"/>
            <a:r>
              <a:rPr lang="en-IN" sz="2000" b="1" dirty="0">
                <a:solidFill>
                  <a:srgbClr val="DCDCD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push(destination, p2);</a:t>
            </a:r>
          </a:p>
          <a:p>
            <a:pPr lvl="2"/>
            <a:r>
              <a:rPr lang="en-IN" sz="2000" b="1" dirty="0">
                <a:solidFill>
                  <a:srgbClr val="DCDCD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push(destination, p1);</a:t>
            </a:r>
          </a:p>
          <a:p>
            <a:pPr lvl="2"/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("Move the disk "+p1+ " from " +s+ " to "+d);</a:t>
            </a:r>
          </a:p>
          <a:p>
            <a:pPr lvl="2"/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lvl="1"/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lvl="1"/>
            <a:r>
              <a:rPr lang="en-US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 static void main(String[] args){</a:t>
            </a:r>
          </a:p>
          <a:p>
            <a:pPr lvl="1"/>
            <a:r>
              <a:rPr lang="en-US" sz="2000" b="1" dirty="0">
                <a:solidFill>
                  <a:srgbClr val="DCDCD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Scanner us=new Scanner(System.in);</a:t>
            </a:r>
          </a:p>
          <a:p>
            <a:pPr lvl="1"/>
            <a:r>
              <a:rPr lang="en-US" sz="2000" b="1" dirty="0">
                <a:solidFill>
                  <a:srgbClr val="DCDCD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num_of_disks</a:t>
            </a:r>
            <a:r>
              <a:rPr lang="en-US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us.nextInt</a:t>
            </a:r>
            <a:r>
              <a:rPr lang="en-US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lvl="1"/>
            <a:r>
              <a:rPr lang="en-US" sz="2000" b="1" dirty="0">
                <a:solidFill>
                  <a:srgbClr val="DCDCD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Main </a:t>
            </a:r>
            <a:r>
              <a:rPr lang="en-US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ob</a:t>
            </a:r>
            <a:r>
              <a:rPr lang="en-US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new Main();</a:t>
            </a:r>
          </a:p>
          <a:p>
            <a:pPr lvl="1"/>
            <a:r>
              <a:rPr lang="en-US" sz="2000" b="1" dirty="0">
                <a:solidFill>
                  <a:srgbClr val="DCDCD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Stack source, destination, </a:t>
            </a:r>
            <a:r>
              <a:rPr lang="en-US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auxillary</a:t>
            </a:r>
            <a:r>
              <a:rPr lang="en-US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IN" sz="2000" b="1" dirty="0">
              <a:solidFill>
                <a:srgbClr val="DCDCDC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771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pPr lvl="2"/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source = 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ob.createStack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num_of_disks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lvl="2"/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destination = 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ob.createStack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num_of_disks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lvl="2"/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auxillary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ob.createStack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num_of_disks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lvl="2"/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total_num_of_moves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2"/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char s = 'S', d = 'D', a = 'A’;</a:t>
            </a:r>
          </a:p>
          <a:p>
            <a:pPr lvl="2"/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num_of_disks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% 2 == 0){</a:t>
            </a:r>
          </a:p>
          <a:p>
            <a:pPr lvl="2"/>
            <a:r>
              <a:rPr lang="en-IN" sz="2000" b="1" dirty="0">
                <a:solidFill>
                  <a:srgbClr val="D4D4D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char temp = d;</a:t>
            </a:r>
          </a:p>
          <a:p>
            <a:pPr lvl="2"/>
            <a:r>
              <a:rPr lang="en-IN" sz="2000" b="1" dirty="0">
                <a:solidFill>
                  <a:srgbClr val="D4D4D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 = a;</a:t>
            </a:r>
          </a:p>
          <a:p>
            <a:pPr lvl="2"/>
            <a:r>
              <a:rPr lang="en-IN" sz="2000" b="1" dirty="0">
                <a:solidFill>
                  <a:srgbClr val="D4D4D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 = temp;}</a:t>
            </a:r>
          </a:p>
          <a:p>
            <a:pPr lvl="2"/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total_num_of_moves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(int)(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Math.pow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(2, 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num_of_disks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- 1);</a:t>
            </a:r>
          </a:p>
          <a:p>
            <a:pPr lvl="2"/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for(int 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num_of_disks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&gt;= 1; 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--)</a:t>
            </a:r>
          </a:p>
          <a:p>
            <a:pPr lvl="2"/>
            <a:r>
              <a:rPr lang="en-IN" sz="2000" b="1" dirty="0">
                <a:solidFill>
                  <a:srgbClr val="D4D4D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ob.push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(source, 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lvl="2"/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for(int 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1; 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&lt;= 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total_num_of_moves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++){</a:t>
            </a:r>
          </a:p>
          <a:p>
            <a:pPr lvl="2"/>
            <a:r>
              <a:rPr lang="en-IN" sz="2000" b="1" dirty="0">
                <a:solidFill>
                  <a:srgbClr val="D4D4D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% 3 == 1)</a:t>
            </a:r>
          </a:p>
          <a:p>
            <a:pPr lvl="2"/>
            <a:r>
              <a:rPr lang="en-IN" sz="2000" b="1" dirty="0">
                <a:solidFill>
                  <a:srgbClr val="D4D4D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ob.move_disc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(source, destination, s, d);</a:t>
            </a:r>
          </a:p>
          <a:p>
            <a:pPr lvl="2"/>
            <a:r>
              <a:rPr lang="en-IN" sz="2000" b="1" dirty="0">
                <a:solidFill>
                  <a:srgbClr val="D4D4D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else if (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% 3 == 2)</a:t>
            </a:r>
          </a:p>
          <a:p>
            <a:pPr lvl="2"/>
            <a:r>
              <a:rPr lang="en-IN" sz="2000" b="1" dirty="0">
                <a:solidFill>
                  <a:srgbClr val="D4D4D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ob.move_disc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(source, 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auxillary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s, a);</a:t>
            </a:r>
          </a:p>
          <a:p>
            <a:pPr lvl="2"/>
            <a:r>
              <a:rPr lang="en-IN" sz="2000" b="1" dirty="0">
                <a:solidFill>
                  <a:srgbClr val="D4D4D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else if (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% 3 == 0)</a:t>
            </a:r>
          </a:p>
          <a:p>
            <a:pPr lvl="2"/>
            <a:r>
              <a:rPr lang="en-IN" sz="2000" b="1" dirty="0">
                <a:solidFill>
                  <a:srgbClr val="D4D4D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ob.move_disc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auxillary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destination, a, d);</a:t>
            </a:r>
          </a:p>
          <a:p>
            <a:pPr lvl="2"/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lvl="1"/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361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D71EE1CC-5860-4236-A6FD-5629645019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0" b="849"/>
          <a:stretch>
            <a:fillRect/>
          </a:stretch>
        </p:blipFill>
        <p:spPr>
          <a:xfrm rot="355158">
            <a:off x="-214550" y="3101269"/>
            <a:ext cx="4219796" cy="3942674"/>
          </a:xfrm>
          <a:custGeom>
            <a:avLst/>
            <a:gdLst>
              <a:gd name="connsiteX0" fmla="*/ 0 w 4219796"/>
              <a:gd name="connsiteY0" fmla="*/ 0 h 3942674"/>
              <a:gd name="connsiteX1" fmla="*/ 4219796 w 4219796"/>
              <a:gd name="connsiteY1" fmla="*/ 0 h 3942674"/>
              <a:gd name="connsiteX2" fmla="*/ 4219796 w 4219796"/>
              <a:gd name="connsiteY2" fmla="*/ 3547546 h 3942674"/>
              <a:gd name="connsiteX3" fmla="*/ 408778 w 4219796"/>
              <a:gd name="connsiteY3" fmla="*/ 3942674 h 3942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9796" h="3942674">
                <a:moveTo>
                  <a:pt x="0" y="0"/>
                </a:moveTo>
                <a:lnTo>
                  <a:pt x="4219796" y="0"/>
                </a:lnTo>
                <a:lnTo>
                  <a:pt x="4219796" y="3547546"/>
                </a:lnTo>
                <a:lnTo>
                  <a:pt x="408778" y="3942674"/>
                </a:lnTo>
                <a:close/>
              </a:path>
            </a:pathLst>
          </a:cu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A29A662-E105-4DCD-B841-5AE7DE607E52}"/>
              </a:ext>
            </a:extLst>
          </p:cNvPr>
          <p:cNvSpPr/>
          <p:nvPr/>
        </p:nvSpPr>
        <p:spPr>
          <a:xfrm>
            <a:off x="0" y="2438400"/>
            <a:ext cx="12192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0" b="1" dirty="0">
                <a:solidFill>
                  <a:srgbClr val="F05136"/>
                </a:solidFill>
                <a:latin typeface="Nunito Sans" panose="00000500000000000000" pitchFamily="2" charset="0"/>
              </a:rPr>
              <a:t>THANK YOU</a:t>
            </a:r>
            <a:endParaRPr lang="en-US" sz="8000" b="1" dirty="0">
              <a:solidFill>
                <a:srgbClr val="F05136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812E3F-71B2-4B8A-003E-4FB1F1097AF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136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1031</Words>
  <Application>Microsoft Office PowerPoint</Application>
  <PresentationFormat>Widescreen</PresentationFormat>
  <Paragraphs>201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Courier New</vt:lpstr>
      <vt:lpstr>Nunito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UMAIYALAKSHMI UMAKANTH</dc:creator>
  <cp:lastModifiedBy>UMAIYALAKSHMI UMAKANTH</cp:lastModifiedBy>
  <cp:revision>2</cp:revision>
  <dcterms:created xsi:type="dcterms:W3CDTF">2023-12-30T03:46:17Z</dcterms:created>
  <dcterms:modified xsi:type="dcterms:W3CDTF">2023-12-30T05:35:00Z</dcterms:modified>
</cp:coreProperties>
</file>