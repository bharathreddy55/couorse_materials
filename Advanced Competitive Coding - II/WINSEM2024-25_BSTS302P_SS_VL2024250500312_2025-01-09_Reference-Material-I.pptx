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2" r:id="rId2"/>
    <p:sldId id="260" r:id="rId3"/>
    <p:sldId id="317" r:id="rId4"/>
    <p:sldId id="340" r:id="rId5"/>
    <p:sldId id="320" r:id="rId6"/>
    <p:sldId id="321" r:id="rId7"/>
    <p:sldId id="341" r:id="rId8"/>
    <p:sldId id="342" r:id="rId9"/>
    <p:sldId id="343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DCF76-BD91-4EAF-AA98-F0573B9E3CE8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FEB07-2691-46C0-BD7E-4F61EDEC8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690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</a:t>
            </a:r>
            <a:r>
              <a:rPr lang="en-US" b="1" baseline="30000" dirty="0"/>
              <a:t>st</a:t>
            </a:r>
            <a:r>
              <a:rPr lang="en-US" b="1" dirty="0"/>
              <a:t> slide (Mandatory)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894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solidFill>
                <a:schemeClr val="tx1"/>
              </a:solidFill>
              <a:latin typeface="Nunito Sans" panose="020B060402020202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6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solidFill>
                <a:schemeClr val="tx1"/>
              </a:solidFill>
              <a:latin typeface="Nunito Sans" panose="020B060402020202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137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76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59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59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61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30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ABB2-F276-3438-B198-E68EE232F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5F66E0-23EE-6CC6-8A50-8D106A913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2872C-D71C-D384-6745-4C75080D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B195E-DBE4-4BDE-8929-D7864243DE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F3BDE-8165-3DA2-DC69-6FBDB2F83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3D07E-8457-511F-E92A-4E7DF93E2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C4A1-CCB7-4156-B5FE-1DF0D7F76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8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64A3A-17D2-1105-65F5-603C5144C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7929D-BCBD-649A-E69D-7A769866E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73F7A-B868-F8A4-4371-C5F7AE2FE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B195E-DBE4-4BDE-8929-D7864243DE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A72FA-6B39-A023-7F15-E6EDAC85D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F6293-4F64-C812-28B3-335A48AA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C4A1-CCB7-4156-B5FE-1DF0D7F76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142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AAF1-3D4E-DC18-B639-1DE940A24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632F1-8233-8BCD-4152-8632D8530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F9E4A-6A9C-671D-70A5-ED55C986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B195E-DBE4-4BDE-8929-D7864243DE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27087-4300-C11E-1215-FB4A9AB4A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4CF9D-D736-666C-73AB-82BC4C014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C4A1-CCB7-4156-B5FE-1DF0D7F76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851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B384-1727-BC2D-9084-22B2E4548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63B4B-44B7-2068-0FAC-E06D157F7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8443D-3326-D6C1-5242-FEA7C41DC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B6D97-5D48-0493-6662-F17AAD64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B195E-DBE4-4BDE-8929-D7864243DE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78A87-54DC-7B2D-9060-82D9FE508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79D9D-2689-D151-2991-6C781C936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C4A1-CCB7-4156-B5FE-1DF0D7F76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30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E275E-08A5-78B5-6987-19800D7D4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907DF-95DD-F8F6-1A4F-1B16D0A0A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3B195-183A-92E9-7BC9-A94789A91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CE2C47-FDD3-F512-57F7-75445FC6E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C572A-8D72-86FB-4202-79F3A82C8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C3C94C-F4AD-8CFF-7C1D-DF665C73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B195E-DBE4-4BDE-8929-D7864243DE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699D8-3A82-03A2-7493-73867CA3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9201CF-CB2A-6566-3792-F0C61365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C4A1-CCB7-4156-B5FE-1DF0D7F76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76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C5ACA-ECD2-64F6-F6F8-EA684AEBC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4E941-B553-9E51-619A-336FEAF9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B195E-DBE4-4BDE-8929-D7864243DE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7D748-D95E-500E-31BA-D30D98354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9C051-3FBA-2D2F-2D72-5FC46F9E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C4A1-CCB7-4156-B5FE-1DF0D7F76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235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45BC22-5547-1E04-B97F-E63F38488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B195E-DBE4-4BDE-8929-D7864243DE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44CA3C-F904-2485-6F55-2D1B5E37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2D030-6E38-1117-280F-490DFF1E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C4A1-CCB7-4156-B5FE-1DF0D7F76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29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A7C6B-2FAB-21DB-6BD1-F04F0FA87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52926-1E44-3B6C-301D-E3971BBF0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308B6-B145-5ED6-210A-37622B165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74F52-6F99-53CC-6402-3CACCF41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B195E-DBE4-4BDE-8929-D7864243DE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819A7-0830-5137-4F3A-0C33DE61A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0A507-D1F4-137D-E67B-8F4AC7BA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C4A1-CCB7-4156-B5FE-1DF0D7F76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24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04289-B7E6-E21E-EA19-A29C5114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85843E-03E9-E157-1205-BCF023712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FC070-C083-CCC3-F178-D50D288AF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1FC28-A2F2-5CC9-4028-A47520CD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B195E-DBE4-4BDE-8929-D7864243DE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92A70-3D66-D0C8-66F4-FFAFB8C2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12D7A-9CA9-DAD0-8B90-5D0C734ED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C4A1-CCB7-4156-B5FE-1DF0D7F76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87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AAB7-1778-E02B-EFBE-F65736510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5AEB4-4FCC-531A-D899-D7A9F020C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480B0-6A84-E4AF-F73B-A997A421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B195E-DBE4-4BDE-8929-D7864243DE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D6B09-5D23-6A24-0E4B-B3B4B98F1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693AB-5253-5CED-7DDC-636090B9D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C4A1-CCB7-4156-B5FE-1DF0D7F76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962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1F3B00-D835-77FE-3FD3-00FF26BB4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CFDC2-ADEA-A473-4BDA-38AA21827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82513-36F3-9E25-71DF-9CB5C04F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B195E-DBE4-4BDE-8929-D7864243DE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CA892-A574-11B5-ED7E-130188734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66590-670C-8BDB-4EAE-0F9EEA4B7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C4A1-CCB7-4156-B5FE-1DF0D7F76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4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4EC164-B3A7-04A9-4CA0-24CE1639B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AA4B6-4508-41D9-58A2-953075792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AEB53-38C6-EBF8-3902-3C9313142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B195E-DBE4-4BDE-8929-D7864243DE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AADC4-9480-8B72-9E41-7F97F8A93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62FCC-F1FD-3589-E84C-C0B98F175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1C4A1-CCB7-4156-B5FE-1DF0D7F76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600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192FD2-167D-148F-3CFD-A39C05040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3067050"/>
            <a:ext cx="57150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8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2819400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Priority Queue using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DLL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500" b="1" i="0" u="none" strike="noStrike" dirty="0">
                <a:solidFill>
                  <a:srgbClr val="000000"/>
                </a:solidFill>
                <a:effectLst/>
                <a:latin typeface="Nunito Sans" pitchFamily="2" charset="0"/>
              </a:rPr>
              <a:t>Priority Queue using DLL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3F422-781C-4385-84E3-34EDBC7AB3E7}"/>
              </a:ext>
            </a:extLst>
          </p:cNvPr>
          <p:cNvSpPr txBox="1"/>
          <p:nvPr/>
        </p:nvSpPr>
        <p:spPr>
          <a:xfrm>
            <a:off x="558069" y="1524000"/>
            <a:ext cx="11104481" cy="4083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 Priority queue is  abstract data type which behave similar to the linear queue except that each element </a:t>
            </a:r>
            <a:r>
              <a:rPr lang="en-US" sz="2500" dirty="0">
                <a:solidFill>
                  <a:srgbClr val="484848"/>
                </a:solidFill>
                <a:latin typeface="Nunito Sans" pitchFamily="2" charset="0"/>
              </a:rPr>
              <a:t> has priority.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500" b="0" i="0" dirty="0">
              <a:solidFill>
                <a:srgbClr val="484848"/>
              </a:solidFill>
              <a:effectLst/>
              <a:latin typeface="Nunito Sans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2500" b="1" dirty="0">
                <a:solidFill>
                  <a:srgbClr val="484848"/>
                </a:solidFill>
                <a:latin typeface="Nunito Sans" pitchFamily="2" charset="0"/>
              </a:rPr>
              <a:t>Example:</a:t>
            </a:r>
            <a:r>
              <a:rPr lang="en-US" sz="2500" dirty="0">
                <a:solidFill>
                  <a:srgbClr val="484848"/>
                </a:solidFill>
                <a:latin typeface="Nunito Sans" pitchFamily="2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rgbClr val="484848"/>
                </a:solidFill>
                <a:latin typeface="Nunito Sans" pitchFamily="2" charset="0"/>
              </a:rPr>
              <a:t>	Hospital Emergency Queue</a:t>
            </a:r>
          </a:p>
          <a:p>
            <a:pPr algn="just">
              <a:lnSpc>
                <a:spcPct val="150000"/>
              </a:lnSpc>
            </a:pPr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The patients will be treated  according to the</a:t>
            </a:r>
            <a:r>
              <a:rPr lang="en-US" sz="2500" dirty="0">
                <a:solidFill>
                  <a:srgbClr val="484848"/>
                </a:solidFill>
                <a:latin typeface="Nunito Sans" pitchFamily="2" charset="0"/>
              </a:rPr>
              <a:t>ir medical condition. (</a:t>
            </a:r>
            <a:r>
              <a:rPr lang="en-US" sz="2500" dirty="0" err="1">
                <a:solidFill>
                  <a:srgbClr val="484848"/>
                </a:solidFill>
                <a:latin typeface="Nunito Sans" pitchFamily="2" charset="0"/>
              </a:rPr>
              <a:t>i.e</a:t>
            </a:r>
            <a:r>
              <a:rPr lang="en-US" sz="2500" dirty="0">
                <a:solidFill>
                  <a:srgbClr val="484848"/>
                </a:solidFill>
                <a:latin typeface="Nunito Sans" pitchFamily="2" charset="0"/>
              </a:rPr>
              <a:t>: Person in pain – High priority).</a:t>
            </a:r>
            <a:endParaRPr lang="en-US" sz="2500" b="0" i="0" dirty="0">
              <a:solidFill>
                <a:srgbClr val="484848"/>
              </a:solidFill>
              <a:effectLst/>
              <a:latin typeface="Nunito Sans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AF2268-473B-542B-12DF-C4478EC866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1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500" b="1" i="0" u="none" strike="noStrike" dirty="0">
                <a:solidFill>
                  <a:srgbClr val="000000"/>
                </a:solidFill>
                <a:effectLst/>
                <a:latin typeface="Nunito Sans" pitchFamily="2" charset="0"/>
              </a:rPr>
              <a:t>Priority Queue using DLL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3F422-781C-4385-84E3-34EDBC7AB3E7}"/>
              </a:ext>
            </a:extLst>
          </p:cNvPr>
          <p:cNvSpPr txBox="1"/>
          <p:nvPr/>
        </p:nvSpPr>
        <p:spPr>
          <a:xfrm>
            <a:off x="532991" y="1521726"/>
            <a:ext cx="111044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b="1" i="0" dirty="0">
                <a:solidFill>
                  <a:srgbClr val="484848"/>
                </a:solidFill>
                <a:effectLst/>
                <a:latin typeface="Nunito Sans" pitchFamily="2" charset="0"/>
                <a:cs typeface="Heebo" panose="020B0604020202020204" pitchFamily="2" charset="-79"/>
              </a:rPr>
              <a:t>Example:</a:t>
            </a:r>
            <a:endParaRPr lang="en-US" sz="2500" i="0" dirty="0">
              <a:solidFill>
                <a:srgbClr val="484848"/>
              </a:solidFill>
              <a:effectLst/>
              <a:latin typeface="Nunito Sans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6EAF8B-201A-9C39-DAA3-11DD4D7AF4DF}"/>
              </a:ext>
            </a:extLst>
          </p:cNvPr>
          <p:cNvSpPr/>
          <p:nvPr/>
        </p:nvSpPr>
        <p:spPr>
          <a:xfrm>
            <a:off x="2101573" y="3113274"/>
            <a:ext cx="12192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F8625B-E6C9-E8C1-2B73-E2543E742810}"/>
              </a:ext>
            </a:extLst>
          </p:cNvPr>
          <p:cNvSpPr/>
          <p:nvPr/>
        </p:nvSpPr>
        <p:spPr>
          <a:xfrm>
            <a:off x="3757114" y="3114411"/>
            <a:ext cx="12192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89F79D-0FF7-FF93-1E48-B1DA353C6C32}"/>
              </a:ext>
            </a:extLst>
          </p:cNvPr>
          <p:cNvSpPr/>
          <p:nvPr/>
        </p:nvSpPr>
        <p:spPr>
          <a:xfrm>
            <a:off x="5428768" y="3124200"/>
            <a:ext cx="12192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FE2DDB-7A56-0431-7848-17BB25FF6B54}"/>
              </a:ext>
            </a:extLst>
          </p:cNvPr>
          <p:cNvSpPr/>
          <p:nvPr/>
        </p:nvSpPr>
        <p:spPr>
          <a:xfrm>
            <a:off x="7091346" y="3094494"/>
            <a:ext cx="12192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BB0E73-A0C0-38B4-03F1-FFED514596BA}"/>
              </a:ext>
            </a:extLst>
          </p:cNvPr>
          <p:cNvSpPr/>
          <p:nvPr/>
        </p:nvSpPr>
        <p:spPr>
          <a:xfrm>
            <a:off x="8763000" y="3068933"/>
            <a:ext cx="12192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8A3A8B-4539-E875-5586-D13E6E6E7ADD}"/>
              </a:ext>
            </a:extLst>
          </p:cNvPr>
          <p:cNvSpPr txBox="1"/>
          <p:nvPr/>
        </p:nvSpPr>
        <p:spPr>
          <a:xfrm>
            <a:off x="533400" y="4168914"/>
            <a:ext cx="1202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Nunito Sans" pitchFamily="2" charset="0"/>
              </a:rPr>
              <a:t>Front</a:t>
            </a:r>
          </a:p>
          <a:p>
            <a:r>
              <a:rPr lang="en-US" sz="2000" b="1" dirty="0">
                <a:latin typeface="Nunito Sans" pitchFamily="2" charset="0"/>
              </a:rPr>
              <a:t>Deletion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0E342-21A4-1E26-631A-DC27C170CCB8}"/>
              </a:ext>
            </a:extLst>
          </p:cNvPr>
          <p:cNvSpPr txBox="1"/>
          <p:nvPr/>
        </p:nvSpPr>
        <p:spPr>
          <a:xfrm>
            <a:off x="10462619" y="4168914"/>
            <a:ext cx="1234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Nunito Sans" pitchFamily="2" charset="0"/>
              </a:rPr>
              <a:t>Rear</a:t>
            </a:r>
          </a:p>
          <a:p>
            <a:r>
              <a:rPr lang="en-US" sz="2000" b="1" dirty="0">
                <a:latin typeface="Nunito Sans" pitchFamily="2" charset="0"/>
              </a:rPr>
              <a:t>Insertion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3D938C-A830-EA1A-DDD3-E0766D1780CC}"/>
              </a:ext>
            </a:extLst>
          </p:cNvPr>
          <p:cNvCxnSpPr>
            <a:cxnSpLocks/>
          </p:cNvCxnSpPr>
          <p:nvPr/>
        </p:nvCxnSpPr>
        <p:spPr>
          <a:xfrm>
            <a:off x="1066800" y="3581400"/>
            <a:ext cx="914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3018D6-6A81-7551-5246-5F319AA12340}"/>
              </a:ext>
            </a:extLst>
          </p:cNvPr>
          <p:cNvCxnSpPr>
            <a:cxnSpLocks/>
          </p:cNvCxnSpPr>
          <p:nvPr/>
        </p:nvCxnSpPr>
        <p:spPr>
          <a:xfrm>
            <a:off x="10134600" y="3581400"/>
            <a:ext cx="914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F937B6-7646-ACFE-921D-CE90F122A057}"/>
              </a:ext>
            </a:extLst>
          </p:cNvPr>
          <p:cNvCxnSpPr>
            <a:cxnSpLocks/>
          </p:cNvCxnSpPr>
          <p:nvPr/>
        </p:nvCxnSpPr>
        <p:spPr>
          <a:xfrm>
            <a:off x="1066800" y="3581400"/>
            <a:ext cx="0" cy="685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F51788D-40A8-9E1E-2B72-22347AF621CA}"/>
              </a:ext>
            </a:extLst>
          </p:cNvPr>
          <p:cNvCxnSpPr>
            <a:cxnSpLocks/>
          </p:cNvCxnSpPr>
          <p:nvPr/>
        </p:nvCxnSpPr>
        <p:spPr>
          <a:xfrm>
            <a:off x="11049000" y="3581400"/>
            <a:ext cx="0" cy="685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5012B5C-5D2A-FC8C-FC44-64AA4E94CAFE}"/>
              </a:ext>
            </a:extLst>
          </p:cNvPr>
          <p:cNvSpPr txBox="1"/>
          <p:nvPr/>
        </p:nvSpPr>
        <p:spPr>
          <a:xfrm>
            <a:off x="457200" y="2209800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Nunito Sans" pitchFamily="2" charset="0"/>
              </a:rPr>
              <a:t>Priority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78F911-A26D-D1A2-E31A-570DD4F71481}"/>
              </a:ext>
            </a:extLst>
          </p:cNvPr>
          <p:cNvSpPr txBox="1"/>
          <p:nvPr/>
        </p:nvSpPr>
        <p:spPr>
          <a:xfrm>
            <a:off x="2438400" y="2209800"/>
            <a:ext cx="381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1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26B345-A3EB-5A03-DE3F-B849D8440BF5}"/>
              </a:ext>
            </a:extLst>
          </p:cNvPr>
          <p:cNvSpPr txBox="1"/>
          <p:nvPr/>
        </p:nvSpPr>
        <p:spPr>
          <a:xfrm>
            <a:off x="4114800" y="2209800"/>
            <a:ext cx="381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2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FBB923-BB54-A669-8F30-5E2627976C13}"/>
              </a:ext>
            </a:extLst>
          </p:cNvPr>
          <p:cNvSpPr txBox="1"/>
          <p:nvPr/>
        </p:nvSpPr>
        <p:spPr>
          <a:xfrm>
            <a:off x="5791200" y="2209800"/>
            <a:ext cx="381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3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B26817-5612-CE09-E65C-F940C8A0F079}"/>
              </a:ext>
            </a:extLst>
          </p:cNvPr>
          <p:cNvSpPr txBox="1"/>
          <p:nvPr/>
        </p:nvSpPr>
        <p:spPr>
          <a:xfrm>
            <a:off x="7423427" y="2209800"/>
            <a:ext cx="42517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4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C4B86B-82E8-BCCC-4EEC-88483DF79C6F}"/>
              </a:ext>
            </a:extLst>
          </p:cNvPr>
          <p:cNvSpPr txBox="1"/>
          <p:nvPr/>
        </p:nvSpPr>
        <p:spPr>
          <a:xfrm>
            <a:off x="9144000" y="2209800"/>
            <a:ext cx="381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5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7FCB49-E097-1FB9-2C26-40CEB3BF3A97}"/>
              </a:ext>
            </a:extLst>
          </p:cNvPr>
          <p:cNvSpPr txBox="1"/>
          <p:nvPr/>
        </p:nvSpPr>
        <p:spPr>
          <a:xfrm>
            <a:off x="533400" y="5334000"/>
            <a:ext cx="989084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Nunito Sans" pitchFamily="2" charset="0"/>
              </a:rPr>
              <a:t>The priority of the elements in the priority queue will determine the </a:t>
            </a:r>
          </a:p>
          <a:p>
            <a:r>
              <a:rPr lang="en-US" sz="2500" dirty="0">
                <a:latin typeface="Nunito Sans" pitchFamily="2" charset="0"/>
              </a:rPr>
              <a:t>order of  removal of the data elements.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D164EE-87A9-855B-409C-E466167FC8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2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import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java.util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.*;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class Main 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static class Node 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int data;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int priority;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Node next,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prev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public Node(int data, int priority) 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this.data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data;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this.priority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priority;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}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}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private static Node head = null;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3738D-4DA5-5E32-8091-AECD6A285F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21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private static void push(int data, int priority) {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(head == null) {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Node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newNode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new Node(data, priority);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head =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newNode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return;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}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Node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node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new Node(data, priority);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	Node temp = head, parent = null;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	while (temp != null &amp;&amp;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temp.priority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&gt;= priority) 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		parent = temp;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		temp =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temp.next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	}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	if (parent == null) 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node.next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head;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head.prev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node;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		head = node;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IN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30AA66-5261-17FD-A68F-57ADA03E3D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0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else if (temp == null) 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parent.next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node;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node.prev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parent;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else 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parent.next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node;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node.prev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parent;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node.next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temp;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temp.prev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node;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}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}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private static int peek() 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	if (head != null) 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		return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head.data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	}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	return -1; 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1C2DD5-DE0A-B0A7-7FF6-CC09F60F98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15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private static int pop() {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(head != null) {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curr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head.data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head =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head.next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(head != null)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head.prev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null;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return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curr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return -1; 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 static void main(String[]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args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Scanner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=new Scanner(System.in);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int n=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for(int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=0;i&lt;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n;i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++)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int data=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BC5A27-007B-80E6-5307-11BD1EA9D7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797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				int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		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push(data,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		}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(peek());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(pop());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(pop());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(peek());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2A1B6A-8239-B99B-6B72-D7C57C280B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269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576AAF-0F70-69F7-6C90-825E2CB377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</Words>
  <Application>Microsoft Office PowerPoint</Application>
  <PresentationFormat>Widescreen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1</cp:revision>
  <dcterms:created xsi:type="dcterms:W3CDTF">2023-12-30T10:50:31Z</dcterms:created>
  <dcterms:modified xsi:type="dcterms:W3CDTF">2023-12-30T10:51:18Z</dcterms:modified>
</cp:coreProperties>
</file>