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  <p:sldId id="260" r:id="rId5"/>
    <p:sldId id="317" r:id="rId6"/>
    <p:sldId id="340" r:id="rId7"/>
    <p:sldId id="320" r:id="rId8"/>
    <p:sldId id="321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E4481-432D-4433-8E2C-59063F8C99B9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7784C-1B1C-4938-9BD5-92D2F5CBE52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slide (Mandatory)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 lang="en-US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 lang="en-US" b="0"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0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b="0" dirty="0">
              <a:solidFill>
                <a:schemeClr val="tx1"/>
              </a:solidFill>
              <a:latin typeface="Nunito San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5FD8E-419E-4E8D-A373-EEBA85090F0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D6866-13CC-4E54-9C4D-31D0CEE8FB9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3067050"/>
            <a:ext cx="57150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STOCK SPAN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u="none" strike="noStrike" dirty="0">
                <a:solidFill>
                  <a:srgbClr val="000000"/>
                </a:solidFill>
                <a:effectLst/>
                <a:latin typeface="Nunito Sans" pitchFamily="2" charset="0"/>
              </a:rPr>
              <a:t>Stock Span problem</a:t>
            </a:r>
            <a:r>
              <a:rPr lang="en-US" sz="4500" b="1" dirty="0">
                <a:latin typeface="Nunito Sans" pitchFamily="2" charset="0"/>
              </a:rPr>
              <a:t> </a:t>
            </a:r>
            <a:endParaRPr lang="en-US" sz="4500" b="1" i="0" dirty="0">
              <a:solidFill>
                <a:srgbClr val="273239"/>
              </a:solidFill>
              <a:effectLst/>
              <a:latin typeface="Nunito Sans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8069" y="1524000"/>
            <a:ext cx="11104481" cy="4083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1F1F1F"/>
                </a:solidFill>
                <a:effectLst/>
                <a:latin typeface="Nunito Sans" pitchFamily="2" charset="0"/>
              </a:rPr>
              <a:t>The stock span problem is </a:t>
            </a:r>
            <a:r>
              <a:rPr lang="en-US" sz="2500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a financial problem where we have a series of N daily price quotes for a stock and we need to calculate the span of the stock's price for all N days</a:t>
            </a:r>
            <a:r>
              <a:rPr lang="en-US" sz="2500" b="0" i="0" dirty="0">
                <a:solidFill>
                  <a:srgbClr val="1F1F1F"/>
                </a:solidFill>
                <a:effectLst/>
                <a:latin typeface="Nunito Sans" pitchFamily="2" charset="0"/>
              </a:rPr>
              <a:t>.</a:t>
            </a:r>
            <a:endParaRPr lang="en-US" sz="2500" b="0" i="0" dirty="0">
              <a:solidFill>
                <a:srgbClr val="1F1F1F"/>
              </a:solidFill>
              <a:effectLst/>
              <a:latin typeface="Nunito Sans" pitchFamily="2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74747"/>
                </a:solidFill>
                <a:latin typeface="Nunito Sans" pitchFamily="2" charset="0"/>
              </a:rPr>
              <a:t>Th</a:t>
            </a:r>
            <a:r>
              <a:rPr lang="en-US" sz="2500" b="0" i="0" dirty="0">
                <a:solidFill>
                  <a:srgbClr val="474747"/>
                </a:solidFill>
                <a:effectLst/>
                <a:latin typeface="Nunito Sans" pitchFamily="2" charset="0"/>
              </a:rPr>
              <a:t>e stock span problem can be solved efficiently using stack data structure. </a:t>
            </a:r>
            <a:endParaRPr lang="en-US" sz="2500" b="0" i="0" dirty="0">
              <a:solidFill>
                <a:srgbClr val="474747"/>
              </a:solidFill>
              <a:effectLst/>
              <a:latin typeface="Nunito Sans" pitchFamily="2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0" i="0" dirty="0">
                <a:solidFill>
                  <a:srgbClr val="474747"/>
                </a:solidFill>
                <a:effectLst/>
                <a:latin typeface="Nunito Sans" pitchFamily="2" charset="0"/>
              </a:rPr>
              <a:t>The idea is to </a:t>
            </a:r>
            <a:r>
              <a:rPr lang="en-US" sz="2500" b="0" i="0" dirty="0">
                <a:solidFill>
                  <a:srgbClr val="040C28"/>
                </a:solidFill>
                <a:effectLst/>
                <a:latin typeface="Nunito Sans" pitchFamily="2" charset="0"/>
              </a:rPr>
              <a:t>use a stack to maintain the prices in monotonically decreasing order</a:t>
            </a:r>
            <a:r>
              <a:rPr lang="en-US" sz="2500" b="0" i="0" dirty="0">
                <a:solidFill>
                  <a:srgbClr val="474747"/>
                </a:solidFill>
                <a:effectLst/>
                <a:latin typeface="Nunito Sans" pitchFamily="2" charset="0"/>
              </a:rPr>
              <a:t>. We will iterate over the price array and for each price we will find the price just greater than the current price, lying on the left side of the array.</a:t>
            </a:r>
            <a:endParaRPr lang="en-US" sz="2500" b="0" i="0" dirty="0">
              <a:solidFill>
                <a:srgbClr val="484848"/>
              </a:solidFill>
              <a:effectLst/>
              <a:latin typeface="Nunito Sans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u="none" strike="noStrike" dirty="0">
                <a:solidFill>
                  <a:srgbClr val="000000"/>
                </a:solidFill>
                <a:effectLst/>
                <a:latin typeface="Nunito Sans" pitchFamily="2" charset="0"/>
              </a:rPr>
              <a:t>Stock Span problem</a:t>
            </a:r>
            <a:r>
              <a:rPr lang="en-US" sz="4500" b="1" dirty="0">
                <a:latin typeface="Nunito Sans" pitchFamily="2" charset="0"/>
              </a:rPr>
              <a:t> </a:t>
            </a:r>
            <a:endParaRPr lang="en-US" sz="4500" b="1" i="0" dirty="0">
              <a:solidFill>
                <a:srgbClr val="273239"/>
              </a:solidFill>
              <a:effectLst/>
              <a:latin typeface="Nunito Sans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8069" y="1524000"/>
            <a:ext cx="1110448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i="0" dirty="0">
                <a:effectLst/>
                <a:latin typeface="Nunito Sans" pitchFamily="2" charset="0"/>
                <a:cs typeface="Heebo" panose="020B0604020202020204" pitchFamily="2" charset="-79"/>
              </a:rPr>
              <a:t>Example:</a:t>
            </a:r>
            <a:endParaRPr lang="en-US" sz="2500" b="1" i="0" dirty="0">
              <a:effectLst/>
              <a:latin typeface="Nunito Sans" pitchFamily="2" charset="0"/>
              <a:cs typeface="Heebo" panose="020B0604020202020204" pitchFamily="2" charset="-79"/>
            </a:endParaRPr>
          </a:p>
          <a:p>
            <a:pPr algn="just"/>
            <a:r>
              <a:rPr lang="en-US" sz="2500" b="1" dirty="0">
                <a:latin typeface="Nunito Sans" pitchFamily="2" charset="0"/>
              </a:rPr>
              <a:t>Input:</a:t>
            </a:r>
            <a:endParaRPr lang="en-US" sz="2500" b="1" dirty="0">
              <a:latin typeface="Nunito Sans" pitchFamily="2" charset="0"/>
            </a:endParaRPr>
          </a:p>
          <a:p>
            <a:pPr algn="just"/>
            <a:r>
              <a:rPr lang="en-US" sz="2500" i="0" dirty="0">
                <a:effectLst/>
                <a:latin typeface="Nunito Sans" pitchFamily="2" charset="0"/>
              </a:rPr>
              <a:t>	size = 6</a:t>
            </a:r>
            <a:endParaRPr lang="en-US" sz="2500" i="0" dirty="0">
              <a:effectLst/>
              <a:latin typeface="Nunito Sans" pitchFamily="2" charset="0"/>
            </a:endParaRPr>
          </a:p>
          <a:p>
            <a:pPr algn="just"/>
            <a:r>
              <a:rPr lang="en-US" sz="2500" dirty="0">
                <a:latin typeface="Nunito Sans" pitchFamily="2" charset="0"/>
              </a:rPr>
              <a:t>	</a:t>
            </a:r>
            <a:r>
              <a:rPr lang="en-US" sz="2500" dirty="0" err="1">
                <a:latin typeface="Nunito Sans" pitchFamily="2" charset="0"/>
              </a:rPr>
              <a:t>arr</a:t>
            </a:r>
            <a:r>
              <a:rPr lang="en-US" sz="2500" dirty="0">
                <a:latin typeface="Nunito Sans" pitchFamily="2" charset="0"/>
              </a:rPr>
              <a:t>[]={97,64,32,11,22,56}</a:t>
            </a:r>
            <a:endParaRPr lang="en-US" sz="2500" dirty="0">
              <a:latin typeface="Nunito Sans" pitchFamily="2" charset="0"/>
            </a:endParaRPr>
          </a:p>
          <a:p>
            <a:pPr algn="just"/>
            <a:endParaRPr lang="en-US" sz="2500" i="0" dirty="0">
              <a:effectLst/>
              <a:latin typeface="Nunito Sans" pitchFamily="2" charset="0"/>
            </a:endParaRPr>
          </a:p>
          <a:p>
            <a:pPr algn="just"/>
            <a:r>
              <a:rPr lang="en-US" sz="2800" i="1" dirty="0">
                <a:effectLst/>
                <a:latin typeface="Nunito Sans" pitchFamily="2" charset="0"/>
              </a:rPr>
              <a:t>Step 1: Traversing the given input span for 97 will be 1</a:t>
            </a:r>
            <a:endParaRPr lang="en-US" sz="2800" i="1" dirty="0">
              <a:effectLst/>
              <a:latin typeface="Nunito Sans" pitchFamily="2" charset="0"/>
            </a:endParaRPr>
          </a:p>
          <a:p>
            <a:pPr algn="just"/>
            <a:r>
              <a:rPr lang="en-US" sz="2800" i="1" dirty="0">
                <a:latin typeface="Nunito Sans" pitchFamily="2" charset="0"/>
              </a:rPr>
              <a:t>Step 2: 64 is smaller than 97, so span will be 1</a:t>
            </a:r>
            <a:endParaRPr lang="en-US" sz="2800" i="1" dirty="0">
              <a:latin typeface="Nunito Sans" pitchFamily="2" charset="0"/>
            </a:endParaRPr>
          </a:p>
          <a:p>
            <a:pPr algn="just"/>
            <a:r>
              <a:rPr lang="en-US" sz="2800" i="1" dirty="0">
                <a:latin typeface="Nunito Sans" pitchFamily="2" charset="0"/>
              </a:rPr>
              <a:t>Step 3: 32 is smaller than 64 &amp; 97, so span will be 1</a:t>
            </a:r>
            <a:endParaRPr lang="en-US" sz="2800" i="1" dirty="0">
              <a:latin typeface="Nunito Sans" pitchFamily="2" charset="0"/>
            </a:endParaRPr>
          </a:p>
          <a:p>
            <a:pPr algn="just"/>
            <a:r>
              <a:rPr lang="en-US" sz="2800" i="1" dirty="0">
                <a:latin typeface="Nunito Sans" pitchFamily="2" charset="0"/>
              </a:rPr>
              <a:t>Step 4: 11 is smaller than 97,64 &amp; 32, so span will be 1</a:t>
            </a:r>
            <a:endParaRPr lang="en-US" sz="2800" i="1" dirty="0">
              <a:latin typeface="Nunito Sans" pitchFamily="2" charset="0"/>
            </a:endParaRPr>
          </a:p>
          <a:p>
            <a:pPr algn="just"/>
            <a:r>
              <a:rPr lang="en-US" sz="2800" i="1" dirty="0">
                <a:latin typeface="Nunito Sans" pitchFamily="2" charset="0"/>
              </a:rPr>
              <a:t>Step 5: 22 is greater than 11, so the span is 2</a:t>
            </a:r>
            <a:endParaRPr lang="en-US" sz="2800" i="1" dirty="0">
              <a:latin typeface="Nunito Sans" pitchFamily="2" charset="0"/>
            </a:endParaRPr>
          </a:p>
          <a:p>
            <a:pPr algn="just"/>
            <a:r>
              <a:rPr lang="en-US" sz="2800" i="1" dirty="0">
                <a:latin typeface="Nunito Sans" pitchFamily="2" charset="0"/>
              </a:rPr>
              <a:t>Step 6: 56 is greater than 32,11,22, so the span is 4</a:t>
            </a:r>
            <a:endParaRPr lang="en-US" sz="2800" i="1" dirty="0">
              <a:latin typeface="Nunito Sans" pitchFamily="2" charset="0"/>
            </a:endParaRPr>
          </a:p>
          <a:p>
            <a:pPr algn="just"/>
            <a:endParaRPr lang="en-US" sz="2500" i="0" dirty="0">
              <a:effectLst/>
              <a:latin typeface="Nunito Sans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java.util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.*;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 class Main 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static void calculate(int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[], int n, int S[])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Stack&lt;Integer&gt;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Stack&lt;&gt;();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st.push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(0);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S[0] = 1;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for (int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1;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&lt; n;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 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{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while (!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st.isEmpty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 &amp;&amp;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st.peek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()] &lt;=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])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st.pop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S[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 = 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st.isEmpty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 ? 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+ 1) : 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-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st.peek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st.push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static void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printArray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[]){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Arrays.toString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public static void main(String[]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args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){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Scanner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=new Scanner(System.in);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 n=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[]=new int [n];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for(int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=0;i&lt;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]=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en-US" sz="2000" b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 S[] = new int[n];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calculate(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arr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n, S);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printArray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(S);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en-US" sz="20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/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WPS Presentation</Application>
  <PresentationFormat>Widescreen</PresentationFormat>
  <Paragraphs>106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Nunito Sans</vt:lpstr>
      <vt:lpstr>Segoe Print</vt:lpstr>
      <vt:lpstr>Calibri</vt:lpstr>
      <vt:lpstr>Nunito Sans</vt:lpstr>
      <vt:lpstr>Heebo</vt:lpstr>
      <vt:lpstr>Courier New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Admin</cp:lastModifiedBy>
  <cp:revision>2</cp:revision>
  <dcterms:created xsi:type="dcterms:W3CDTF">2023-12-30T09:52:00Z</dcterms:created>
  <dcterms:modified xsi:type="dcterms:W3CDTF">2024-01-30T11:18:45Z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539F79E2F8BE43F897D7274EDDC05FAF_12</vt:lpwstr>
  </property>
  <property fmtid="{D5CDD505-2E9C-101B-9397-08002B2CF9AE}" pid="3" name="KSOProductBuildVer">
    <vt:lpwstr>1033-12.2.0.13431</vt:lpwstr>
  </property>
</Properties>
</file>