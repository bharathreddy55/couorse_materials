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744" r:id="rId2"/>
    <p:sldId id="260" r:id="rId3"/>
    <p:sldId id="749" r:id="rId4"/>
    <p:sldId id="750" r:id="rId5"/>
    <p:sldId id="358" r:id="rId6"/>
    <p:sldId id="745" r:id="rId7"/>
    <p:sldId id="746" r:id="rId8"/>
    <p:sldId id="747" r:id="rId9"/>
    <p:sldId id="28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51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A29C60-0B23-4AAC-9BA8-EF11C491D0D0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9DC080-61AB-41AC-B8D6-EB2B3789D7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5930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</a:t>
            </a:r>
            <a:r>
              <a:rPr lang="en-US" b="1" baseline="0" dirty="0"/>
              <a:t> = </a:t>
            </a:r>
          </a:p>
          <a:p>
            <a:r>
              <a:rPr lang="en-US" b="1" baseline="0" dirty="0"/>
              <a:t>Root</a:t>
            </a:r>
          </a:p>
          <a:p>
            <a:r>
              <a:rPr lang="en-US" b="1" baseline="0" dirty="0"/>
              <a:t>2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3404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Section End/Start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/>
              <a:t>Use this at section’s start or end. For example: “Questions” or “Time for Practice”. To be used for Impacts (get the student’s attention). </a:t>
            </a:r>
            <a:endParaRPr/>
          </a:p>
        </p:txBody>
      </p:sp>
      <p:sp>
        <p:nvSpPr>
          <p:cNvPr id="123" name="Google Shape;12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Blank slide (Text Only)</a:t>
            </a:r>
          </a:p>
          <a:p>
            <a:r>
              <a:rPr lang="en-US" b="0" dirty="0"/>
              <a:t>Use this slide as an </a:t>
            </a:r>
            <a:r>
              <a:rPr lang="en-US" b="1" dirty="0"/>
              <a:t>extension of other slides</a:t>
            </a:r>
            <a:r>
              <a:rPr lang="en-US" b="0" dirty="0"/>
              <a:t>. Therefore, if the data doesn’t fit in any of the slides then put the extra data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9135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Blank slide (Text Only)</a:t>
            </a:r>
          </a:p>
          <a:p>
            <a:r>
              <a:rPr lang="en-US" b="0" dirty="0"/>
              <a:t>Use this slide as an </a:t>
            </a:r>
            <a:r>
              <a:rPr lang="en-US" b="1" dirty="0"/>
              <a:t>extension of other slides</a:t>
            </a:r>
            <a:r>
              <a:rPr lang="en-US" b="0" dirty="0"/>
              <a:t>. Therefore, if the data doesn’t fit in any of the slides then put the extra data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0385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Thank you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133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74943-6603-E0A8-E659-643FC2E350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3820C5-31DE-D4E3-D053-CCF1873487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26D6B-89CE-63B7-553D-9EC9C9D0C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A33D5-86F7-4606-A86C-88AAC639B7A7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0AD9B-0D93-0287-7D67-74D008348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B03D4-4C9E-E0C6-BD07-9AE65BFD2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E2C61-B1C2-4D54-9256-9C36C59AA5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9009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23A12-47A3-4222-2B87-D4EE9171A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5797B-6E8D-C373-2139-3DE00F7EC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3E084D-9C9C-95F5-3AE6-B75967668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A33D5-86F7-4606-A86C-88AAC639B7A7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2CF301-3EA9-5FE6-0049-8B40ECD73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70156-156F-623E-A224-8DAF905DF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E2C61-B1C2-4D54-9256-9C36C59AA5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877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1274B-4FC0-CA04-847A-224F7BBDF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FA26D7-F72C-A354-E988-25DAB6FF6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F2739-78B7-8D18-F995-55C078E33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A33D5-86F7-4606-A86C-88AAC639B7A7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6419D-0806-322A-F099-EA64A9771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F72DA-AD80-276E-8CA9-EA48EC21B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E2C61-B1C2-4D54-9256-9C36C59AA5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5536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AF30A-6971-9002-92FD-F10749D0F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1E8CE-DE26-AE9A-2D2D-27D0574318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29C1C4-17EB-9C70-5101-75B7265D22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DD8D56-CCED-6748-C389-41F0AF37A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A33D5-86F7-4606-A86C-88AAC639B7A7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B56606-A8A7-A399-3F9D-329FBF7FD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040638-5E55-0EEE-50BE-B9EDC5DCE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E2C61-B1C2-4D54-9256-9C36C59AA5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8895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80788-4F3C-7059-2572-ABB5694E0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9F3051-094F-A289-7141-B805624998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FEF612-285D-0D59-B850-2E40009B79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E7C604-6563-236E-45D1-A419BE9965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718E77-33C5-E10A-8222-1F0582D942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D8509E-6C6D-6628-A92D-76FCB884D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A33D5-86F7-4606-A86C-88AAC639B7A7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2C65A2-EBEA-BD9D-082B-068ABEBEA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175606-74FB-9D67-9DCE-F050EED65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E2C61-B1C2-4D54-9256-9C36C59AA5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019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51222-0C17-CEA7-F076-F0C987BCD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12914B-1CA6-07A5-93AE-1D7BFBBEF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A33D5-86F7-4606-A86C-88AAC639B7A7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80292C-3CD6-86A9-3D93-B0A957B94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436503-095C-4DF8-7FC1-678584D7D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E2C61-B1C2-4D54-9256-9C36C59AA5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8624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2360BC-91BD-9739-DBCD-76B4E02A6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A33D5-86F7-4606-A86C-88AAC639B7A7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135E68-0C8D-F81C-9C09-3A7F19E51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A34378-BB24-F9AD-DB2B-A7C28C374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E2C61-B1C2-4D54-9256-9C36C59AA5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4809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6AD3E-079D-5AE0-D6A5-D39D974D5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F68B9-E0F8-3894-18FE-8FB4D9433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E8DAD4-E672-B368-FA06-93F5241742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FAF668-36DE-D46E-5794-8770D7695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A33D5-86F7-4606-A86C-88AAC639B7A7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387895-0141-709D-8919-F61BEB2B9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68E02F-76D9-C6ED-5876-D9879FD3F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E2C61-B1C2-4D54-9256-9C36C59AA5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5281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46B27-3F95-646E-58EB-DE3165A87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79743D-B71C-F125-5DFE-F9E7F63461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2D3D03-6980-D186-5AF1-B1D9A42736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2044FB-8977-C831-66E1-0E69CAA8B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A33D5-86F7-4606-A86C-88AAC639B7A7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A2E635-ADF2-0A9C-A27B-5803F4785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0ECA95-7AEF-38E3-21D9-6CB4240B9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E2C61-B1C2-4D54-9256-9C36C59AA5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4084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6CD37-76DB-67E3-A393-9CBC00A39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289085-4397-5509-A4B7-EA9945AECB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5E5A7-B003-FFBB-D88D-C9FEDD5C9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A33D5-86F7-4606-A86C-88AAC639B7A7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909CA0-7B2D-7EDC-7B6F-2127DD31B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459113-BC3F-A688-EDE4-1FF05B01C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E2C61-B1C2-4D54-9256-9C36C59AA5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8166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35C4A1-E65A-BB78-B509-7002578677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3D715C-17E4-3BAD-2EDA-A8A2E865B8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E8A46-7B60-B345-86A0-391D67E3B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A33D5-86F7-4606-A86C-88AAC639B7A7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60D163-119A-8E35-717E-A0097D81C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6EFEA-E7E4-FF2A-77A8-03CD86743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E2C61-B1C2-4D54-9256-9C36C59AA5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520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9B787D-BF71-8B17-B7F5-5FB5B2449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B7B5C4-942F-F670-459A-45FD841FB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D5C34-7B3C-406E-37FF-31B3ED9EE6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EA33D5-86F7-4606-A86C-88AAC639B7A7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74AD4D-CB81-0142-CD72-EA923880D2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211A64-96AD-5082-A8E4-35DF36782B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4E2C61-B1C2-4D54-9256-9C36C59AA5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5100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0578" y="3105000"/>
            <a:ext cx="5110844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5136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/>
          <p:nvPr/>
        </p:nvSpPr>
        <p:spPr>
          <a:xfrm>
            <a:off x="0" y="2986451"/>
            <a:ext cx="12192000" cy="885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Nunito Sans"/>
              <a:buNone/>
            </a:pPr>
            <a:r>
              <a:rPr lang="en-US" sz="5400" b="1" i="0" u="none" strike="noStrike" cap="none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Dial’s Algorithm</a:t>
            </a:r>
            <a:endParaRPr sz="5400" b="1" i="0" u="none" strike="noStrike" cap="none" dirty="0">
              <a:solidFill>
                <a:srgbClr val="FFFFFF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126" name="Google Shape;12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600" y="6202800"/>
            <a:ext cx="2356664" cy="2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A73E930-58B4-4FEC-8303-01C4F888F30D}"/>
              </a:ext>
            </a:extLst>
          </p:cNvPr>
          <p:cNvSpPr txBox="1"/>
          <p:nvPr/>
        </p:nvSpPr>
        <p:spPr>
          <a:xfrm>
            <a:off x="505257" y="547488"/>
            <a:ext cx="110525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Nunito Sans" panose="00000500000000000000" pitchFamily="2" charset="0"/>
              </a:rPr>
              <a:t>Dial’s Algorithm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C2402C5-EEE3-4E4E-9F3D-6E86B8323502}"/>
              </a:ext>
            </a:extLst>
          </p:cNvPr>
          <p:cNvSpPr/>
          <p:nvPr/>
        </p:nvSpPr>
        <p:spPr>
          <a:xfrm>
            <a:off x="634226" y="551586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BEBD92D8-D519-4E61-AB8A-9B598CBFE16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8A53B6C-3042-597F-AE27-9A3C2F01F72B}"/>
              </a:ext>
            </a:extLst>
          </p:cNvPr>
          <p:cNvSpPr txBox="1"/>
          <p:nvPr/>
        </p:nvSpPr>
        <p:spPr>
          <a:xfrm>
            <a:off x="505257" y="1897816"/>
            <a:ext cx="1124803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 fontAlgn="base">
              <a:buFont typeface="+mj-lt"/>
              <a:buAutoNum type="arabicPeriod"/>
            </a:pPr>
            <a:r>
              <a:rPr lang="en-US" sz="2000" b="0" i="0" dirty="0">
                <a:effectLst/>
                <a:latin typeface="Nunito" pitchFamily="2" charset="0"/>
              </a:rPr>
              <a:t>Maintains some buckets, numbered 0, 1, 2,…,</a:t>
            </a:r>
            <a:r>
              <a:rPr lang="en-US" sz="2000" b="0" i="0" dirty="0" err="1">
                <a:effectLst/>
                <a:latin typeface="Nunito" pitchFamily="2" charset="0"/>
              </a:rPr>
              <a:t>wV</a:t>
            </a:r>
            <a:r>
              <a:rPr lang="en-US" sz="2000" b="0" i="0" dirty="0">
                <a:effectLst/>
                <a:latin typeface="Nunito" pitchFamily="2" charset="0"/>
              </a:rPr>
              <a:t>.</a:t>
            </a:r>
          </a:p>
          <a:p>
            <a:pPr marL="457200" indent="-457200" algn="l" fontAlgn="base">
              <a:buFont typeface="+mj-lt"/>
              <a:buAutoNum type="arabicPeriod"/>
            </a:pPr>
            <a:endParaRPr lang="en-US" sz="2000" b="0" i="0" dirty="0">
              <a:effectLst/>
              <a:latin typeface="Nunito" pitchFamily="2" charset="0"/>
            </a:endParaRPr>
          </a:p>
          <a:p>
            <a:pPr marL="457200" indent="-457200" algn="l" fontAlgn="base">
              <a:buFont typeface="+mj-lt"/>
              <a:buAutoNum type="arabicPeriod"/>
            </a:pPr>
            <a:r>
              <a:rPr lang="en-US" sz="2000" b="0" i="0" dirty="0">
                <a:effectLst/>
                <a:latin typeface="Nunito" pitchFamily="2" charset="0"/>
              </a:rPr>
              <a:t>Bucket k contains all temporarily labeled nodes with a distance equal to k.</a:t>
            </a:r>
          </a:p>
          <a:p>
            <a:pPr marL="457200" indent="-457200" algn="l" fontAlgn="base">
              <a:buFont typeface="+mj-lt"/>
              <a:buAutoNum type="arabicPeriod"/>
            </a:pPr>
            <a:endParaRPr lang="en-US" sz="2000" b="0" i="0" dirty="0">
              <a:effectLst/>
              <a:latin typeface="Nunito" pitchFamily="2" charset="0"/>
            </a:endParaRPr>
          </a:p>
          <a:p>
            <a:pPr marL="457200" indent="-457200" algn="l" fontAlgn="base">
              <a:buFont typeface="+mj-lt"/>
              <a:buAutoNum type="arabicPeriod"/>
            </a:pPr>
            <a:r>
              <a:rPr lang="en-US" sz="2000" b="0" i="0" dirty="0">
                <a:effectLst/>
                <a:latin typeface="Nunito" pitchFamily="2" charset="0"/>
              </a:rPr>
              <a:t>Nodes in each bucket are represented by a list of vertices.</a:t>
            </a:r>
          </a:p>
          <a:p>
            <a:pPr marL="457200" indent="-457200" algn="l" fontAlgn="base">
              <a:buFont typeface="+mj-lt"/>
              <a:buAutoNum type="arabicPeriod"/>
            </a:pPr>
            <a:endParaRPr lang="en-US" sz="2000" b="0" i="0" dirty="0">
              <a:effectLst/>
              <a:latin typeface="Nunito" pitchFamily="2" charset="0"/>
            </a:endParaRPr>
          </a:p>
          <a:p>
            <a:pPr marL="457200" indent="-457200" algn="l" fontAlgn="base">
              <a:buFont typeface="+mj-lt"/>
              <a:buAutoNum type="arabicPeriod"/>
            </a:pPr>
            <a:r>
              <a:rPr lang="en-US" sz="2000" b="0" i="0" dirty="0">
                <a:effectLst/>
                <a:latin typeface="Nunito" pitchFamily="2" charset="0"/>
              </a:rPr>
              <a:t>Buckets 0, 1, 2,..wV are checked sequentially until the first non-empty bucket is found. Each node contained in the first non-empty bucket has the minimum distance label by definition.</a:t>
            </a:r>
          </a:p>
          <a:p>
            <a:pPr marL="457200" indent="-457200" algn="l" fontAlgn="base">
              <a:buFont typeface="+mj-lt"/>
              <a:buAutoNum type="arabicPeriod"/>
            </a:pPr>
            <a:endParaRPr lang="en-US" sz="2000" b="0" i="0" dirty="0">
              <a:effectLst/>
              <a:latin typeface="Nunito" pitchFamily="2" charset="0"/>
            </a:endParaRPr>
          </a:p>
          <a:p>
            <a:pPr marL="457200" indent="-457200" algn="l" fontAlgn="base">
              <a:buFont typeface="+mj-lt"/>
              <a:buAutoNum type="arabicPeriod"/>
            </a:pPr>
            <a:r>
              <a:rPr lang="en-US" sz="2000" b="0" i="0" dirty="0">
                <a:effectLst/>
                <a:latin typeface="Nunito" pitchFamily="2" charset="0"/>
              </a:rPr>
              <a:t>One by one, these nodes with minimum distance labels are permanently labeled and deleted from the bucket during the scanning process.</a:t>
            </a:r>
          </a:p>
          <a:p>
            <a:pPr marL="457200" indent="-457200" algn="l" fontAlgn="base">
              <a:buFont typeface="+mj-lt"/>
              <a:buAutoNum type="arabicPeriod"/>
            </a:pPr>
            <a:endParaRPr lang="en-US" sz="2000" b="0" i="0" dirty="0">
              <a:effectLst/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585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A73E930-58B4-4FEC-8303-01C4F888F30D}"/>
              </a:ext>
            </a:extLst>
          </p:cNvPr>
          <p:cNvSpPr txBox="1"/>
          <p:nvPr/>
        </p:nvSpPr>
        <p:spPr>
          <a:xfrm>
            <a:off x="505257" y="547488"/>
            <a:ext cx="110525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Nunito Sans" panose="00000500000000000000" pitchFamily="2" charset="0"/>
              </a:rPr>
              <a:t>Dial’s Algorithm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C2402C5-EEE3-4E4E-9F3D-6E86B8323502}"/>
              </a:ext>
            </a:extLst>
          </p:cNvPr>
          <p:cNvSpPr/>
          <p:nvPr/>
        </p:nvSpPr>
        <p:spPr>
          <a:xfrm>
            <a:off x="634226" y="551586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BEBD92D8-D519-4E61-AB8A-9B598CBFE16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8A53B6C-3042-597F-AE27-9A3C2F01F72B}"/>
              </a:ext>
            </a:extLst>
          </p:cNvPr>
          <p:cNvSpPr txBox="1"/>
          <p:nvPr/>
        </p:nvSpPr>
        <p:spPr>
          <a:xfrm>
            <a:off x="505257" y="1851650"/>
            <a:ext cx="1124803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 fontAlgn="base">
              <a:buFont typeface="+mj-lt"/>
              <a:buAutoNum type="arabicPeriod" startAt="6"/>
            </a:pPr>
            <a:r>
              <a:rPr lang="en-US" sz="2000" b="0" i="0" dirty="0">
                <a:effectLst/>
                <a:latin typeface="Nunito" pitchFamily="2" charset="0"/>
              </a:rPr>
              <a:t> Thus operations involving vertex include:</a:t>
            </a:r>
          </a:p>
          <a:p>
            <a:pPr marL="457200" indent="-457200" algn="l" fontAlgn="base">
              <a:buFont typeface="+mj-lt"/>
              <a:buAutoNum type="arabicPeriod" startAt="6"/>
            </a:pPr>
            <a:endParaRPr lang="en-US" sz="2000" b="0" i="0" dirty="0">
              <a:effectLst/>
              <a:latin typeface="Nunito" pitchFamily="2" charset="0"/>
            </a:endParaRPr>
          </a:p>
          <a:p>
            <a:pPr marL="914400" lvl="1" indent="-457200" algn="l" fontAlgn="base">
              <a:buFont typeface="Wingdings" panose="05000000000000000000" pitchFamily="2" charset="2"/>
              <a:buChar char="Ø"/>
            </a:pPr>
            <a:r>
              <a:rPr lang="en-US" sz="2000" b="0" i="0" dirty="0">
                <a:effectLst/>
                <a:latin typeface="Nunito" pitchFamily="2" charset="0"/>
              </a:rPr>
              <a:t>Checking if a bucket is empty</a:t>
            </a:r>
          </a:p>
          <a:p>
            <a:pPr marL="914400" lvl="1" indent="-457200" algn="l" fontAlgn="base">
              <a:buFont typeface="Wingdings" panose="05000000000000000000" pitchFamily="2" charset="2"/>
              <a:buChar char="Ø"/>
            </a:pPr>
            <a:r>
              <a:rPr lang="en-US" sz="2000" b="0" i="0" dirty="0">
                <a:effectLst/>
                <a:latin typeface="Nunito" pitchFamily="2" charset="0"/>
              </a:rPr>
              <a:t>Adding a vertex to a bucket</a:t>
            </a:r>
          </a:p>
          <a:p>
            <a:pPr marL="914400" lvl="1" indent="-457200" algn="l" fontAlgn="base">
              <a:buFont typeface="Wingdings" panose="05000000000000000000" pitchFamily="2" charset="2"/>
              <a:buChar char="Ø"/>
            </a:pPr>
            <a:r>
              <a:rPr lang="en-US" sz="2000" b="0" i="0" dirty="0">
                <a:effectLst/>
                <a:latin typeface="Nunito" pitchFamily="2" charset="0"/>
              </a:rPr>
              <a:t>Deleting a vertex from a bucket.</a:t>
            </a:r>
          </a:p>
          <a:p>
            <a:pPr marL="457200" indent="-457200" algn="l" fontAlgn="base">
              <a:buFont typeface="+mj-lt"/>
              <a:buAutoNum type="arabicPeriod" startAt="6"/>
            </a:pPr>
            <a:endParaRPr lang="en-US" sz="2000" b="0" i="0" dirty="0">
              <a:effectLst/>
              <a:latin typeface="Nunito" pitchFamily="2" charset="0"/>
            </a:endParaRPr>
          </a:p>
          <a:p>
            <a:pPr marL="457200" indent="-457200" algn="l" fontAlgn="base">
              <a:buFont typeface="+mj-lt"/>
              <a:buAutoNum type="arabicPeriod" startAt="6"/>
            </a:pPr>
            <a:r>
              <a:rPr lang="en-US" sz="2000" b="0" i="0" dirty="0">
                <a:effectLst/>
                <a:latin typeface="Nunito" pitchFamily="2" charset="0"/>
              </a:rPr>
              <a:t>The position of a temporarily labeled vertex in the buckets is updated accordingly when the distance label of a vertex changes.</a:t>
            </a:r>
          </a:p>
          <a:p>
            <a:pPr marL="457200" indent="-457200" algn="l" fontAlgn="base">
              <a:buFont typeface="+mj-lt"/>
              <a:buAutoNum type="arabicPeriod" startAt="6"/>
            </a:pPr>
            <a:endParaRPr lang="en-US" sz="2000" b="0" i="0" dirty="0">
              <a:effectLst/>
              <a:latin typeface="Nunito" pitchFamily="2" charset="0"/>
            </a:endParaRPr>
          </a:p>
          <a:p>
            <a:pPr marL="457200" indent="-457200" algn="l" fontAlgn="base">
              <a:buFont typeface="+mj-lt"/>
              <a:buAutoNum type="arabicPeriod" startAt="6"/>
            </a:pPr>
            <a:r>
              <a:rPr lang="en-US" sz="2000" b="0" i="0" dirty="0">
                <a:effectLst/>
                <a:latin typeface="Nunito" pitchFamily="2" charset="0"/>
              </a:rPr>
              <a:t>The process is repeated until all vertices are permanently labeled (or the distances of all vertices are finalized).</a:t>
            </a:r>
          </a:p>
          <a:p>
            <a:pPr marL="457200" indent="-457200" algn="l" fontAlgn="base">
              <a:buFont typeface="+mj-lt"/>
              <a:buAutoNum type="arabicPeriod" startAt="6"/>
            </a:pPr>
            <a:endParaRPr lang="en-US" sz="2000" b="0" i="0" dirty="0">
              <a:effectLst/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5922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.*;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Graph 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static final int INF 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Integer.MAX_VALUE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private int V;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private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&lt;Tuple&gt; &gt; adj;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public Graph(int v){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this.V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v;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this.adj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new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&lt;Tuple&gt; &gt;();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for (int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v;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this.adj.add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(new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&lt;Tuple&gt;());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public void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AddEdge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(int u, int v, int w){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adj.get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(u).add(new Tuple(v, w));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adj.get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(v).add(new Tuple(u, w));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public void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shortestPath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(int src, int W){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int[]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new int[V];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Arrays.fill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INF);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&lt;Integer&gt;[] B = new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[W * V + 1];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for (int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W * V + 1;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B[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new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&lt;Integer&gt;();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B[0].add(src);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3928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</a:t>
            </a:r>
          </a:p>
          <a:p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108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[src] = 0;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idx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while (true) {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while (B[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idx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].size() == 0 &amp;&amp;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idx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W * V)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idx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if 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idx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W * V)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break;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int u = B[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idx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].get(0);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B[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idx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].remove(0);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for (Tuple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: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adj.get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(u)) {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int v 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i.v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int weight 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i.w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int du 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[u];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int dv 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[v];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if (dv &gt; du + weight) {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[v] = du + weight;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	dv 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[v];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	B[dv].add(0, v);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}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}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694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("Vertex Distance from Source");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for (int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V; ++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"\t\t" +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static class Tuple 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int v, w;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Tuple(int v, int w){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this.v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v;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this.w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w;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public static void main(String[] args){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Scanner s=new Scanner(System.in);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int V 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s.nextInt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Graph g = new Graph(V);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int e=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s.nextInt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st,en,d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771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for(int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&lt;e;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   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s.nextInt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   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s.nextInt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    d=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s.nextInt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   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g.AddEdge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st,en,d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g.shortestPath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(0,e);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361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D71EE1CC-5860-4236-A6FD-5629645019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0" b="849"/>
          <a:stretch>
            <a:fillRect/>
          </a:stretch>
        </p:blipFill>
        <p:spPr>
          <a:xfrm rot="355158">
            <a:off x="-214550" y="3101269"/>
            <a:ext cx="4219796" cy="3942674"/>
          </a:xfrm>
          <a:custGeom>
            <a:avLst/>
            <a:gdLst>
              <a:gd name="connsiteX0" fmla="*/ 0 w 4219796"/>
              <a:gd name="connsiteY0" fmla="*/ 0 h 3942674"/>
              <a:gd name="connsiteX1" fmla="*/ 4219796 w 4219796"/>
              <a:gd name="connsiteY1" fmla="*/ 0 h 3942674"/>
              <a:gd name="connsiteX2" fmla="*/ 4219796 w 4219796"/>
              <a:gd name="connsiteY2" fmla="*/ 3547546 h 3942674"/>
              <a:gd name="connsiteX3" fmla="*/ 408778 w 4219796"/>
              <a:gd name="connsiteY3" fmla="*/ 3942674 h 3942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9796" h="3942674">
                <a:moveTo>
                  <a:pt x="0" y="0"/>
                </a:moveTo>
                <a:lnTo>
                  <a:pt x="4219796" y="0"/>
                </a:lnTo>
                <a:lnTo>
                  <a:pt x="4219796" y="3547546"/>
                </a:lnTo>
                <a:lnTo>
                  <a:pt x="408778" y="3942674"/>
                </a:lnTo>
                <a:close/>
              </a:path>
            </a:pathLst>
          </a:cu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A29A662-E105-4DCD-B841-5AE7DE607E52}"/>
              </a:ext>
            </a:extLst>
          </p:cNvPr>
          <p:cNvSpPr/>
          <p:nvPr/>
        </p:nvSpPr>
        <p:spPr>
          <a:xfrm>
            <a:off x="0" y="2438400"/>
            <a:ext cx="12192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0" b="1" dirty="0">
                <a:solidFill>
                  <a:srgbClr val="F05136"/>
                </a:solidFill>
                <a:latin typeface="Nunito Sans" panose="00000500000000000000" pitchFamily="2" charset="0"/>
              </a:rPr>
              <a:t>THANK YOU</a:t>
            </a:r>
            <a:endParaRPr lang="en-US" sz="8000" b="1" dirty="0">
              <a:solidFill>
                <a:srgbClr val="F05136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812E3F-71B2-4B8A-003E-4FB1F1097AF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136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1059</Words>
  <Application>Microsoft Office PowerPoint</Application>
  <PresentationFormat>Widescreen</PresentationFormat>
  <Paragraphs>196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Calibri Light</vt:lpstr>
      <vt:lpstr>Courier New</vt:lpstr>
      <vt:lpstr>Nunito</vt:lpstr>
      <vt:lpstr>Nunito Sans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UMAIYALAKSHMI UMAKANTH</dc:creator>
  <cp:lastModifiedBy>UMAIYALAKSHMI UMAKANTH</cp:lastModifiedBy>
  <cp:revision>2</cp:revision>
  <dcterms:created xsi:type="dcterms:W3CDTF">2024-01-11T12:37:53Z</dcterms:created>
  <dcterms:modified xsi:type="dcterms:W3CDTF">2024-01-16T11:48:46Z</dcterms:modified>
</cp:coreProperties>
</file>