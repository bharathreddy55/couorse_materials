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744" r:id="rId2"/>
    <p:sldId id="260" r:id="rId3"/>
    <p:sldId id="750" r:id="rId4"/>
    <p:sldId id="358" r:id="rId5"/>
    <p:sldId id="745" r:id="rId6"/>
    <p:sldId id="746" r:id="rId7"/>
    <p:sldId id="747" r:id="rId8"/>
    <p:sldId id="28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51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B64F04-A824-41FE-B628-53A29CFD0125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437D7-4FE1-4933-987F-123751F9B5F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201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N</a:t>
            </a:r>
            <a:r>
              <a:rPr lang="en-US" b="1" baseline="0" dirty="0"/>
              <a:t> = </a:t>
            </a:r>
          </a:p>
          <a:p>
            <a:r>
              <a:rPr lang="en-US" b="1" baseline="0" dirty="0"/>
              <a:t>Root</a:t>
            </a:r>
          </a:p>
          <a:p>
            <a:r>
              <a:rPr lang="en-US" b="1" baseline="0" dirty="0"/>
              <a:t>2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340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2" name="Google Shape;1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/>
              <a:t>Section End/Start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/>
              <a:t>Use this at section’s start or end. For example: “Questions” or “Time for Practice”. To be used for Impacts (get the student’s attention). </a:t>
            </a:r>
            <a:endParaRPr/>
          </a:p>
        </p:txBody>
      </p:sp>
      <p:sp>
        <p:nvSpPr>
          <p:cNvPr id="123" name="Google Shape;1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Blank slide (Text Only)</a:t>
            </a:r>
          </a:p>
          <a:p>
            <a:r>
              <a:rPr lang="en-US" b="0" dirty="0"/>
              <a:t>Use this slide as an </a:t>
            </a:r>
            <a:r>
              <a:rPr lang="en-US" b="1" dirty="0"/>
              <a:t>extension of other slides</a:t>
            </a:r>
            <a:r>
              <a:rPr lang="en-US" b="0" dirty="0"/>
              <a:t>. Therefore, if the data doesn’t fit in any of the slides then put the extra data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79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Thank you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AB6876-1BF1-4B88-890A-0B4E46201506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1331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AA5591-FDE3-6106-74FD-CB91AE974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B60124-25E1-8066-739D-A78BEDEB0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C7A82F-3FFE-6ACC-C036-3DFD8FEB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9C99EA-0A8B-A8FE-C4C6-01851724D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BCC2A-D919-5E21-3363-0D17E572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4023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0938E-BA49-6DBE-86B6-760E130DD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9060A-5D96-3554-722B-81B14A951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2E3AE0-9F9E-FD47-8079-75EC0B381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0330E-0E19-E924-D654-B1E6BA9DE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4FED71-43A0-1AA5-053C-0AECC441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2854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CF01B-28E1-76F1-2DF7-4E5C8106D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4C280D-C0B1-E747-9EE8-0703ECDF9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BCD5A-C7D1-229A-8C57-5CD5F94F9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C811C4-5EAF-B359-82B8-98568D5CD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D71AD1-1892-D825-794B-B80A20267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469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644BB-4C1F-B526-D886-84962999D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ECE74-135D-656E-519E-10E386CCA5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7260BC-F4C7-F720-6325-025B00653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0E76B9-2A0E-402B-6B57-5FAC6AFDD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CE3E23-5048-C29E-6AB9-B93844720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B87F8-E06C-EE5C-A34F-42D42AC29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499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676E-AEB4-170D-0271-2E94A41A4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C4601-2C70-0AC4-E80B-E61E44C35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22E7D4-758E-FDA3-64EA-38773BC88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E737E2-A0AC-9C32-E801-BA3A5C2158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E67FB6-B723-28FA-3E0E-3237BC5625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042A2B-218F-589E-8231-945B658B0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9618AE-4195-3045-F9ED-8B049F2CC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7B966E-2ED6-30EC-18A1-AD24DE022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0209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B8EF2-7D39-3CC9-BD2A-B66F54C12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C4118D-18C9-63D5-28A6-50132B11F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BB08A3-4A80-3559-D992-E54E8F90F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A68AB-87C6-1BAB-156F-2E242A112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2042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2691E1-A56D-6B7E-8E4B-8C35AC3A2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C308C1-C275-F0FC-7844-2C4741014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947F9D-50A3-0BDD-D975-D3EB210E4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2260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79C88-8E22-3E99-16BC-5DE0C47B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E73CF-1D20-D1A3-B9C1-5733C25AD3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57A30C-D2DC-DCCB-367E-D6AEF4DBA3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37B43D-44EA-EA7F-CB0C-848743693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EBBE44-62EA-698D-4CD1-99D94C90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7BCB6-3A23-74A0-A32B-9B71C6B5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96003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C356A-ADF8-4592-8B7D-882EB6F70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0F0649-0D24-170D-118A-4BAE233B09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A79AD6-C526-09CF-39AF-A9D90EB234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547773-B952-D570-F8C8-B51A2D057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6C0540-439A-5E3A-1CF5-A06AB4DB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FB97FD-0861-D45D-125E-52748055C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7285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5CF8C-05A7-9C72-A1AD-ED1C67058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54D383-673D-1B43-C3E5-4CE333D89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3F6F66-CBE2-C364-FDB7-5872407B9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7D6CEF-E659-BFB2-983F-668F09A7B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A4B2-8EDB-3014-A5CE-852B6EDF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79235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D9E9AB8-C5FB-607C-3D11-1D60145D8A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436CBE-96DB-4B34-5F1D-356CDA896F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54A9A-CEE9-B958-5D69-D1B3C3DAA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7A4CDA-FA29-FB8A-1801-72122D351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FE332-3F9A-B662-8AE6-26D1BF03E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035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1012B38-0BE3-D9B1-4AB5-9C78ACE15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E5A5C6-B0F3-6EFD-420F-C19564A877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15C05-A0A6-2179-F507-7FCC87461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7276C9-54CA-49C3-B311-624A071D9328}" type="datetimeFigureOut">
              <a:rPr lang="en-IN" smtClean="0"/>
              <a:t>17-01-2024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E335E-7464-E007-13C2-F8FC7A0FC3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6BA68D-6515-DB74-5BD3-78929BA19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EC9EF9-3E42-4A19-9241-5678C0F960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852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0578" y="3105000"/>
            <a:ext cx="5110844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5136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0" y="3055701"/>
            <a:ext cx="12192000" cy="885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6775" tIns="26775" rIns="26775" bIns="26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Nunito Sans"/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Winner Tree</a:t>
            </a:r>
          </a:p>
        </p:txBody>
      </p:sp>
      <p:pic>
        <p:nvPicPr>
          <p:cNvPr id="126" name="Google Shape;12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600" y="6202800"/>
            <a:ext cx="2356664" cy="29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A73E930-58B4-4FEC-8303-01C4F888F30D}"/>
              </a:ext>
            </a:extLst>
          </p:cNvPr>
          <p:cNvSpPr txBox="1"/>
          <p:nvPr/>
        </p:nvSpPr>
        <p:spPr>
          <a:xfrm>
            <a:off x="505257" y="547488"/>
            <a:ext cx="11052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Nunito Sans" panose="00000500000000000000" pitchFamily="2" charset="0"/>
              </a:rPr>
              <a:t>Winner Tree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C2402C5-EEE3-4E4E-9F3D-6E86B8323502}"/>
              </a:ext>
            </a:extLst>
          </p:cNvPr>
          <p:cNvSpPr/>
          <p:nvPr/>
        </p:nvSpPr>
        <p:spPr>
          <a:xfrm>
            <a:off x="634226" y="551586"/>
            <a:ext cx="794852" cy="57773"/>
          </a:xfrm>
          <a:prstGeom prst="rect">
            <a:avLst/>
          </a:prstGeom>
          <a:solidFill>
            <a:srgbClr val="F051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" name="Picture 80">
            <a:extLst>
              <a:ext uri="{FF2B5EF4-FFF2-40B4-BE49-F238E27FC236}">
                <a16:creationId xmlns:a16="http://schemas.microsoft.com/office/drawing/2014/main" id="{BEBD92D8-D519-4E61-AB8A-9B598CBFE16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8A53B6C-3042-597F-AE27-9A3C2F01F72B}"/>
              </a:ext>
            </a:extLst>
          </p:cNvPr>
          <p:cNvSpPr txBox="1"/>
          <p:nvPr/>
        </p:nvSpPr>
        <p:spPr>
          <a:xfrm>
            <a:off x="471981" y="1513272"/>
            <a:ext cx="11248038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Nunito Sans" panose="020B0604020202020204" charset="0"/>
              </a:rPr>
              <a:t>A Tournament tree is a form of min (max) heap which is a complete binary tree. Every external node represents a player and the internal node represents the winner. </a:t>
            </a:r>
          </a:p>
          <a:p>
            <a:pPr algn="l"/>
            <a:r>
              <a:rPr lang="en-US" dirty="0">
                <a:latin typeface="Nunito Sans" panose="020B0604020202020204" charset="0"/>
              </a:rPr>
              <a:t>In a tournament tree, every internal node contains the winner and every leaf node contains one player. There will be N – 1 internal node in a binary tree with N leaf (external) nodes. </a:t>
            </a:r>
          </a:p>
          <a:p>
            <a:pPr algn="l"/>
            <a:endParaRPr lang="en-US" dirty="0">
              <a:latin typeface="Nunito Sans" panose="020B0604020202020204" charset="0"/>
            </a:endParaRPr>
          </a:p>
          <a:p>
            <a:pPr algn="l"/>
            <a:r>
              <a:rPr lang="en-US" sz="2000" b="1" dirty="0">
                <a:latin typeface="Nunito Sans" panose="020B0604020202020204" charset="0"/>
              </a:rPr>
              <a:t>Application of Tournament Trees: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Nunito Sans" panose="020B060402020202020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Used for sorting purposes.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Used to find the largest and smallest element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It may also be used in m-way merges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Nunito Sans" panose="020B0604020202020204" charset="0"/>
              </a:rPr>
              <a:t>Applied in the Truck Loading problem</a:t>
            </a:r>
          </a:p>
          <a:p>
            <a:pPr algn="l"/>
            <a:endParaRPr lang="en-US" dirty="0">
              <a:latin typeface="Nunito Sans" panose="020B0604020202020204" charset="0"/>
            </a:endParaRPr>
          </a:p>
          <a:p>
            <a:pPr algn="l"/>
            <a:r>
              <a:rPr lang="en-US" sz="2000" b="1" dirty="0">
                <a:latin typeface="Nunito Sans" panose="020B0604020202020204" charset="0"/>
              </a:rPr>
              <a:t>Implementation: </a:t>
            </a:r>
          </a:p>
          <a:p>
            <a:pPr algn="l"/>
            <a:endParaRPr lang="en-US" dirty="0">
              <a:latin typeface="Nunito Sans" panose="020B0604020202020204" charset="0"/>
            </a:endParaRPr>
          </a:p>
          <a:p>
            <a:pPr algn="l"/>
            <a:r>
              <a:rPr lang="en-US" dirty="0">
                <a:latin typeface="Nunito Sans" panose="020B0604020202020204" charset="0"/>
              </a:rPr>
              <a:t>We need to build the tree in a bottom-up manner. All the leaf nodes were filled first. Start at the left extreme of the tree and fill along the breadth (i.e. from 2k-1 to 2k – 1 where k is the depth of the tree) and play the game. </a:t>
            </a:r>
          </a:p>
        </p:txBody>
      </p:sp>
    </p:spTree>
    <p:extLst>
      <p:ext uri="{BB962C8B-B14F-4D97-AF65-F5344CB8AC3E}">
        <p14:creationId xmlns:p14="http://schemas.microsoft.com/office/powerpoint/2010/main" val="235756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import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java.util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.*;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Node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Node left, right;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 Main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static Node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Node t = new Node();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null;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t.idx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return t;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static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traverseHeight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(Node root, 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int[] res)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(root == null ||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null))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return;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if (res[0] &gt;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root.left.idx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root.left.idx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!=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res[0]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root.left.idx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traverseHeight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res);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53928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22</a:t>
            </a:r>
          </a:p>
          <a:p>
            <a:endParaRPr lang="en-US" sz="2000" b="1" dirty="0">
              <a:solidFill>
                <a:srgbClr val="FFFF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89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else if(res[0]&gt;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root.right.idx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]&amp;&amp;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root.right.idx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!=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res[0]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root.right.idx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traverseHeight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res);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static void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findSecondMin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(int[]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int n)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List&lt;Node&gt; li = new LinkedList&lt;&gt;();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Node root = null;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for 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&lt; 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+= 2)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Node t1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Node t2 = null;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if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 &lt; n) {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t2 =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root = 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&lt;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+ 1]) ?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: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createNode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+ 1);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root.left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t1;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root.right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t2;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li.add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(root);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} 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else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li.add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(t1);</a:t>
            </a:r>
          </a:p>
          <a:p>
            <a:pPr lvl="1"/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4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 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li.size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while 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!= 1)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int last = 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&amp; 1) == 1 ?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- 2 :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- 1;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for (int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&lt; last;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+= 2)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Node f1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li.remove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Node f2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li.remove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root = 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[f1.idx] &lt;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[f2.idx]) ?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createNode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(f1.idx) :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createNode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(f2.idx);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root.left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f1;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root.right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f2;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li.add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(root);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if ((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&amp; 1) == 1) {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li.add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li.get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(0));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li.remove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(0);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li.size</a:t>
            </a:r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</a:p>
          <a:p>
            <a:r>
              <a:rPr lang="en-US" sz="2000" b="1" dirty="0">
                <a:solidFill>
                  <a:schemeClr val="bg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66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7710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692" y="0"/>
            <a:ext cx="12180307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tIns="100584" bIns="914400" rtlCol="0" anchor="t" anchorCtr="0"/>
          <a:lstStyle/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int[] res = {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Integer.MAX_VALUE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traverseHeight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(root,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res);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System.out.println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("Minimum: " +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root.idx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 + ", Second 						minimum: " + res[0]);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public static void main(String[] args) {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Scanner s=new Scanner(System.in);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int n=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[] = new int[n];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for(int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=0;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&lt;n;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]=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s.nextInt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    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findSecondMin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n);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</a:p>
          <a:p>
            <a:r>
              <a:rPr lang="en-US" sz="2000" b="1" dirty="0">
                <a:solidFill>
                  <a:schemeClr val="bg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"/>
            <a:ext cx="533400" cy="76200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endParaRPr lang="en-US" sz="2000" b="1" dirty="0">
              <a:solidFill>
                <a:schemeClr val="bg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76201"/>
            <a:ext cx="533400" cy="6781798"/>
          </a:xfrm>
          <a:prstGeom prst="rect">
            <a:avLst/>
          </a:prstGeom>
          <a:solidFill>
            <a:schemeClr val="tx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914400" rtlCol="0" anchor="t" anchorCtr="0"/>
          <a:lstStyle/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78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79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81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82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83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84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85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86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87</a:t>
            </a:r>
          </a:p>
          <a:p>
            <a:r>
              <a:rPr lang="en-US" sz="2000" b="1" dirty="0">
                <a:solidFill>
                  <a:srgbClr val="FFFF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88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072FF7-A32F-42B8-A01D-0FB57E23C6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61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>
            <a:extLst>
              <a:ext uri="{FF2B5EF4-FFF2-40B4-BE49-F238E27FC236}">
                <a16:creationId xmlns:a16="http://schemas.microsoft.com/office/drawing/2014/main" id="{D71EE1CC-5860-4236-A6FD-5629645019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0" b="849"/>
          <a:stretch>
            <a:fillRect/>
          </a:stretch>
        </p:blipFill>
        <p:spPr>
          <a:xfrm rot="355158">
            <a:off x="-214550" y="3101269"/>
            <a:ext cx="4219796" cy="3942674"/>
          </a:xfrm>
          <a:custGeom>
            <a:avLst/>
            <a:gdLst>
              <a:gd name="connsiteX0" fmla="*/ 0 w 4219796"/>
              <a:gd name="connsiteY0" fmla="*/ 0 h 3942674"/>
              <a:gd name="connsiteX1" fmla="*/ 4219796 w 4219796"/>
              <a:gd name="connsiteY1" fmla="*/ 0 h 3942674"/>
              <a:gd name="connsiteX2" fmla="*/ 4219796 w 4219796"/>
              <a:gd name="connsiteY2" fmla="*/ 3547546 h 3942674"/>
              <a:gd name="connsiteX3" fmla="*/ 408778 w 4219796"/>
              <a:gd name="connsiteY3" fmla="*/ 3942674 h 3942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19796" h="3942674">
                <a:moveTo>
                  <a:pt x="0" y="0"/>
                </a:moveTo>
                <a:lnTo>
                  <a:pt x="4219796" y="0"/>
                </a:lnTo>
                <a:lnTo>
                  <a:pt x="4219796" y="3547546"/>
                </a:lnTo>
                <a:lnTo>
                  <a:pt x="408778" y="3942674"/>
                </a:lnTo>
                <a:close/>
              </a:path>
            </a:pathLst>
          </a:cu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A29A662-E105-4DCD-B841-5AE7DE607E52}"/>
              </a:ext>
            </a:extLst>
          </p:cNvPr>
          <p:cNvSpPr/>
          <p:nvPr/>
        </p:nvSpPr>
        <p:spPr>
          <a:xfrm>
            <a:off x="0" y="2438400"/>
            <a:ext cx="1219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8000" b="1" dirty="0">
                <a:solidFill>
                  <a:srgbClr val="F05136"/>
                </a:solidFill>
                <a:latin typeface="Nunito Sans" panose="00000500000000000000" pitchFamily="2" charset="0"/>
              </a:rPr>
              <a:t>THANK YOU</a:t>
            </a:r>
            <a:endParaRPr lang="en-US" sz="8000" b="1" dirty="0">
              <a:solidFill>
                <a:srgbClr val="F05136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A812E3F-71B2-4B8A-003E-4FB1F1097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600" y="6202800"/>
            <a:ext cx="2356664" cy="29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136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1088</Words>
  <Application>Microsoft Office PowerPoint</Application>
  <PresentationFormat>Widescreen</PresentationFormat>
  <Paragraphs>188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Courier New</vt:lpstr>
      <vt:lpstr>Nunito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UMAIYALAKSHMI UMAKANTH</dc:creator>
  <cp:lastModifiedBy>UMAIYALAKSHMI UMAKANTH</cp:lastModifiedBy>
  <cp:revision>2</cp:revision>
  <dcterms:created xsi:type="dcterms:W3CDTF">2024-01-16T15:44:18Z</dcterms:created>
  <dcterms:modified xsi:type="dcterms:W3CDTF">2024-01-17T05:19:55Z</dcterms:modified>
</cp:coreProperties>
</file>