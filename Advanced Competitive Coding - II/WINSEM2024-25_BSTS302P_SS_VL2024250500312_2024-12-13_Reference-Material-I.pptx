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2" r:id="rId2"/>
    <p:sldId id="260" r:id="rId3"/>
    <p:sldId id="317" r:id="rId4"/>
    <p:sldId id="333" r:id="rId5"/>
    <p:sldId id="334" r:id="rId6"/>
    <p:sldId id="318" r:id="rId7"/>
    <p:sldId id="319" r:id="rId8"/>
    <p:sldId id="320" r:id="rId9"/>
    <p:sldId id="321" r:id="rId10"/>
    <p:sldId id="322" r:id="rId11"/>
    <p:sldId id="338" r:id="rId12"/>
    <p:sldId id="28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7ADB09-0D0C-4966-8F3D-5C7722A7B794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185D71-D781-44EC-9AA5-B77A78DC07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74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</a:t>
            </a:r>
            <a:r>
              <a:rPr lang="en-US" b="1" baseline="30000" dirty="0"/>
              <a:t>st</a:t>
            </a:r>
            <a:r>
              <a:rPr lang="en-US" b="1" dirty="0"/>
              <a:t> slide (Mandatory)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894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Section End/Start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Use this at section’s start or end. For example: “Questions” or “Time for Practice”. To be used for Impacts (get the student’s attention). </a:t>
            </a:r>
            <a:endParaRPr/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chemeClr val="tx1"/>
                </a:solidFill>
                <a:latin typeface="Nunito Sans" panose="020B0604020202020204" charset="0"/>
              </a:rPr>
              <a:t>Problem Statement: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>
                <a:solidFill>
                  <a:schemeClr val="tx1"/>
                </a:solidFill>
                <a:latin typeface="Nunito Sans" panose="020B0604020202020204" charset="0"/>
              </a:rPr>
              <a:t>Given a linked list, check if the linked list has loop or not.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dirty="0">
              <a:solidFill>
                <a:schemeClr val="tx1"/>
              </a:solidFill>
              <a:latin typeface="Nunito Sans" panose="020B06040202020202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>
                <a:solidFill>
                  <a:schemeClr val="tx1"/>
                </a:solidFill>
                <a:latin typeface="Nunito Sans" panose="020B0604020202020204" charset="0"/>
              </a:rPr>
              <a:t>Loop Detection and Detect cycle in SLL both are same.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dirty="0">
              <a:solidFill>
                <a:schemeClr val="tx1"/>
              </a:solidFill>
              <a:latin typeface="Nunito Sans" panose="020B06040202020202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chemeClr val="tx1"/>
                </a:solidFill>
                <a:latin typeface="Nunito Sans" panose="020B0604020202020204" charset="0"/>
              </a:rPr>
              <a:t>First diagram: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>
                <a:solidFill>
                  <a:schemeClr val="tx1"/>
                </a:solidFill>
                <a:latin typeface="Nunito Sans" panose="020B0604020202020204" charset="0"/>
              </a:rPr>
              <a:t>Normal linked list without cycle.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dirty="0">
              <a:solidFill>
                <a:schemeClr val="tx1"/>
              </a:solidFill>
              <a:latin typeface="Nunito Sans" panose="020B06040202020202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chemeClr val="tx1"/>
                </a:solidFill>
                <a:latin typeface="Nunito Sans" panose="020B0604020202020204" charset="0"/>
              </a:rPr>
              <a:t>Second diagram: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>
                <a:solidFill>
                  <a:schemeClr val="tx1"/>
                </a:solidFill>
                <a:latin typeface="Nunito Sans" panose="020B0604020202020204" charset="0"/>
              </a:rPr>
              <a:t>Linked list with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976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dirty="0">
              <a:solidFill>
                <a:schemeClr val="tx1"/>
              </a:solidFill>
              <a:latin typeface="Nunito Sans" panose="020B06040202020202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6756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1" i="0" dirty="0">
                <a:solidFill>
                  <a:srgbClr val="303030"/>
                </a:solidFill>
                <a:effectLst/>
                <a:latin typeface="Nunito Sans" pitchFamily="2" charset="0"/>
              </a:rPr>
              <a:t>Time Complexity:</a:t>
            </a:r>
            <a:r>
              <a:rPr lang="en-US" sz="1200" b="0" i="0" dirty="0">
                <a:solidFill>
                  <a:srgbClr val="303030"/>
                </a:solidFill>
                <a:effectLst/>
                <a:latin typeface="Nunito Sans" pitchFamily="2" charset="0"/>
              </a:rPr>
              <a:t> O(N)</a:t>
            </a:r>
          </a:p>
          <a:p>
            <a:pPr algn="l"/>
            <a:r>
              <a:rPr lang="en-US" sz="1200" b="0" i="0" dirty="0">
                <a:solidFill>
                  <a:srgbClr val="303030"/>
                </a:solidFill>
                <a:effectLst/>
                <a:latin typeface="Nunito Sans" pitchFamily="2" charset="0"/>
              </a:rPr>
              <a:t>Reason: Entire list is iterated once.</a:t>
            </a:r>
          </a:p>
          <a:p>
            <a:pPr algn="l"/>
            <a:r>
              <a:rPr lang="en-US" sz="1200" b="1" i="0" dirty="0">
                <a:solidFill>
                  <a:srgbClr val="303030"/>
                </a:solidFill>
                <a:effectLst/>
                <a:latin typeface="Nunito Sans" pitchFamily="2" charset="0"/>
              </a:rPr>
              <a:t>Space Complexity:</a:t>
            </a:r>
            <a:r>
              <a:rPr lang="en-US" sz="1200" b="0" i="0" dirty="0">
                <a:solidFill>
                  <a:srgbClr val="303030"/>
                </a:solidFill>
                <a:effectLst/>
                <a:latin typeface="Nunito Sans" pitchFamily="2" charset="0"/>
              </a:rPr>
              <a:t> O(N)</a:t>
            </a:r>
          </a:p>
          <a:p>
            <a:pPr algn="l"/>
            <a:r>
              <a:rPr lang="en-US" sz="1200" b="0" i="0" dirty="0">
                <a:solidFill>
                  <a:srgbClr val="303030"/>
                </a:solidFill>
                <a:effectLst/>
                <a:latin typeface="Nunito Sans" pitchFamily="2" charset="0"/>
              </a:rPr>
              <a:t>Reason: All nodes present in the list are stored in a hash table.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i="0" dirty="0">
              <a:solidFill>
                <a:schemeClr val="tx1"/>
              </a:solidFill>
              <a:latin typeface="Nunito Sans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dirty="0">
                <a:solidFill>
                  <a:schemeClr val="tx1"/>
                </a:solidFill>
                <a:latin typeface="Nunito Sans" pitchFamily="2" charset="0"/>
              </a:rPr>
              <a:t>Diagram explanation: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>
                <a:solidFill>
                  <a:schemeClr val="tx1"/>
                </a:solidFill>
                <a:latin typeface="Nunito Sans" pitchFamily="2" charset="0"/>
              </a:rPr>
              <a:t>Step 1: Start iterating from first node and store the address in hash table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>
                <a:solidFill>
                  <a:schemeClr val="tx1"/>
                </a:solidFill>
                <a:latin typeface="Nunito Sans" pitchFamily="2" charset="0"/>
              </a:rPr>
              <a:t>Step 2: Since the second node is not present in the hash table, insert it and move ahead.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>
                <a:solidFill>
                  <a:schemeClr val="tx1"/>
                </a:solidFill>
                <a:latin typeface="Nunito Sans" pitchFamily="2" charset="0"/>
              </a:rPr>
              <a:t>Step 3: Since the second node is not present in the hash table, insert it and move ahead.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>
                <a:solidFill>
                  <a:schemeClr val="tx1"/>
                </a:solidFill>
                <a:latin typeface="Nunito Sans" pitchFamily="2" charset="0"/>
              </a:rPr>
              <a:t>Step 4: Since the second node is not present in the hash table, insert it and move ahead.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>
                <a:solidFill>
                  <a:schemeClr val="tx1"/>
                </a:solidFill>
                <a:latin typeface="Nunito Sans" pitchFamily="2" charset="0"/>
              </a:rPr>
              <a:t>Step 5: Since the second node is not present in the hash table, insert it and move ahead.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>
                <a:solidFill>
                  <a:schemeClr val="tx1"/>
                </a:solidFill>
                <a:latin typeface="Nunito Sans" pitchFamily="2" charset="0"/>
              </a:rPr>
              <a:t>Step 6: Since node one is already  present in the hash table, thus cycle is detected.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>
                <a:solidFill>
                  <a:schemeClr val="tx1"/>
                </a:solidFill>
                <a:latin typeface="Nunito Sans" pitchFamily="2" charset="0"/>
              </a:rPr>
              <a:t>Step 7: Stop the process.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dirty="0">
              <a:solidFill>
                <a:schemeClr val="tx1"/>
              </a:solidFill>
              <a:latin typeface="Nunito Sans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i="0" dirty="0">
              <a:solidFill>
                <a:schemeClr val="tx1"/>
              </a:solidFill>
              <a:latin typeface="Nunito Sans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618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chemeClr val="tx1"/>
                </a:solidFill>
                <a:latin typeface="Nunito Sans" panose="020B0604020202020204" charset="0"/>
              </a:rPr>
              <a:t>Description:</a:t>
            </a:r>
          </a:p>
          <a:p>
            <a:pPr algn="l"/>
            <a:r>
              <a:rPr lang="en-US" b="1" i="0" dirty="0">
                <a:solidFill>
                  <a:srgbClr val="303030"/>
                </a:solidFill>
                <a:effectLst/>
                <a:latin typeface="Titillium Web" panose="00000500000000000000" pitchFamily="2" charset="0"/>
              </a:rPr>
              <a:t>Time Complexity:</a:t>
            </a:r>
            <a:r>
              <a:rPr lang="en-US" b="0" i="0" dirty="0">
                <a:solidFill>
                  <a:srgbClr val="303030"/>
                </a:solidFill>
                <a:effectLst/>
                <a:latin typeface="Titillium Web" panose="00000500000000000000" pitchFamily="2" charset="0"/>
              </a:rPr>
              <a:t> O(N)</a:t>
            </a:r>
          </a:p>
          <a:p>
            <a:pPr algn="l"/>
            <a:r>
              <a:rPr lang="en-US" b="0" i="1" dirty="0">
                <a:solidFill>
                  <a:srgbClr val="303030"/>
                </a:solidFill>
                <a:effectLst/>
                <a:latin typeface="Titillium Web" panose="00000500000000000000" pitchFamily="2" charset="0"/>
              </a:rPr>
              <a:t>Reason</a:t>
            </a:r>
            <a:r>
              <a:rPr lang="en-US" b="0" i="0" dirty="0">
                <a:solidFill>
                  <a:srgbClr val="303030"/>
                </a:solidFill>
                <a:effectLst/>
                <a:latin typeface="Titillium Web" panose="00000500000000000000" pitchFamily="2" charset="0"/>
              </a:rPr>
              <a:t>: In the worst case, all the nodes of the list are visited.</a:t>
            </a:r>
          </a:p>
          <a:p>
            <a:pPr algn="l"/>
            <a:r>
              <a:rPr lang="en-US" b="1" i="0" dirty="0">
                <a:solidFill>
                  <a:srgbClr val="303030"/>
                </a:solidFill>
                <a:effectLst/>
                <a:latin typeface="Titillium Web" panose="00000500000000000000" pitchFamily="2" charset="0"/>
              </a:rPr>
              <a:t>Space Complexity:</a:t>
            </a:r>
            <a:r>
              <a:rPr lang="en-US" b="0" i="0" dirty="0">
                <a:solidFill>
                  <a:srgbClr val="303030"/>
                </a:solidFill>
                <a:effectLst/>
                <a:latin typeface="Titillium Web" panose="00000500000000000000" pitchFamily="2" charset="0"/>
              </a:rPr>
              <a:t> O(1)</a:t>
            </a:r>
          </a:p>
          <a:p>
            <a:pPr algn="l"/>
            <a:r>
              <a:rPr lang="en-US" b="0" i="1" dirty="0">
                <a:solidFill>
                  <a:srgbClr val="303030"/>
                </a:solidFill>
                <a:effectLst/>
                <a:latin typeface="Titillium Web" panose="00000500000000000000" pitchFamily="2" charset="0"/>
              </a:rPr>
              <a:t>Reason</a:t>
            </a:r>
            <a:r>
              <a:rPr lang="en-US" b="0" i="0" dirty="0">
                <a:solidFill>
                  <a:srgbClr val="303030"/>
                </a:solidFill>
                <a:effectLst/>
                <a:latin typeface="Titillium Web" panose="00000500000000000000" pitchFamily="2" charset="0"/>
              </a:rPr>
              <a:t>: No extra data structure is used.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dirty="0">
              <a:solidFill>
                <a:schemeClr val="tx1"/>
              </a:solidFill>
              <a:latin typeface="Nunito Sans" panose="020B06040202020202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5343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dirty="0">
              <a:solidFill>
                <a:schemeClr val="tx1"/>
              </a:solidFill>
              <a:latin typeface="Nunito Sans" panose="020B06040202020202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6756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5769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5599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8710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8710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Thank you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8E486-ECDF-3F97-87ED-58F25D63E8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2CAFA1-3920-1DAA-01D6-B335EA786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A255B-7B2A-47E5-B749-FAA53D28A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4FF46-14A5-4517-89D9-725D00D9239E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DDE94-A034-8C9C-29E2-C13AD9749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B1292-C6E4-686C-367D-66CA88AC9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F13E6-6FD6-4E2E-9335-C5CD54B93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773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5E9E0-E5A6-5628-6425-9F472D295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85E9E-AF53-7568-3CC4-EE42AC034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6D909-2BA7-2E91-3D79-661150D66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4FF46-14A5-4517-89D9-725D00D9239E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422AC-3519-2203-6A9C-EEEAD62CA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A23D3-4C9D-D08C-6B4A-434572EF9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F13E6-6FD6-4E2E-9335-C5CD54B93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630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6CAF4-B632-11D7-6CF0-F85D05E8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E8027-4EA1-2889-57F5-2338AC649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46046-3721-0637-11FA-C6979CD47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4FF46-14A5-4517-89D9-725D00D9239E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E17E-0398-C5CE-2E69-AE06A058D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FBF72-7175-D265-8EE1-C52843A4C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F13E6-6FD6-4E2E-9335-C5CD54B93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691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9257C-6333-584B-BC7F-459D340B7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00815-9D63-C51B-26E1-9B4E1114B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A9718-B196-0430-73CB-135A79EF00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CAF6F8-B628-49C7-2D36-D8E6A7913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4FF46-14A5-4517-89D9-725D00D9239E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D6E9AD-B042-02C5-7286-B48D9F872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DA1AA1-B86F-43B6-BEB9-86E4670C7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F13E6-6FD6-4E2E-9335-C5CD54B93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591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51A40-DB2C-45D5-127B-ED64AD4E4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77244-7B5B-6C4D-EAE4-D190428B9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02B311-B053-02D5-E4B1-B057BF808F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39992-5D50-8284-D632-929A3696CD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941C1B-99BE-E717-EE57-BC6CCB0E9C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7DB419-E463-642F-E174-EE8EA8B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4FF46-14A5-4517-89D9-725D00D9239E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C58BF1-5C5C-F4EA-4F45-53EC45500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76352C-5CA7-C4BF-B5A8-924E916F9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F13E6-6FD6-4E2E-9335-C5CD54B93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44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6CE71-B5F6-DFD7-7D9C-73D77D0FC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8587-D519-D61F-5D0B-63DA49FE0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4FF46-14A5-4517-89D9-725D00D9239E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AABF4C-0EAC-8BF0-5330-401BAA944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DC56B-715E-60FC-9011-1EE7BF940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F13E6-6FD6-4E2E-9335-C5CD54B93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32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8F490F-D5CF-C83F-00D6-9D97B3284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4FF46-14A5-4517-89D9-725D00D9239E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DE366D-35EC-4CEC-6DFB-6CFA55962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8D63C-3182-6DAE-C80F-0F2B1258D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F13E6-6FD6-4E2E-9335-C5CD54B93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19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48F6D-07F0-1417-F90D-826F83A2A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30B80-81D2-97EF-9654-837A9B427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0F6CF-0AE4-11A1-0926-71981EC5F1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A1798C-6684-7D42-BF69-A1917D239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4FF46-14A5-4517-89D9-725D00D9239E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FAC697-7F98-4C90-EDA5-7242E1154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7FE8D-13E7-8A74-CC94-68F5F5A99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F13E6-6FD6-4E2E-9335-C5CD54B93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971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D8C14-4013-FBF5-454E-C78A1976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BE0502-E3E0-6E03-CB50-53395390D6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7B8575-BEF5-CE61-15A7-16E2A2F50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FC0462-AE32-A336-B7A5-19E844C48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4FF46-14A5-4517-89D9-725D00D9239E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2C2D5-8ADA-37D4-ACE6-0C098B86D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914AC6-480E-394F-744D-127F4366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F13E6-6FD6-4E2E-9335-C5CD54B93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87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44626-FF56-0D7B-A59E-B3FA749BB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4D015A-3BDA-1267-1A41-7FE4C0DC1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225C0-47B2-C8E3-55C9-7E1B68E88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4FF46-14A5-4517-89D9-725D00D9239E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CD641-ABC4-4F6B-3AE0-1C206ECB9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97216-FB91-6DD1-4B2A-C6A339F48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F13E6-6FD6-4E2E-9335-C5CD54B93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374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AD42BC-B457-7566-F951-7E9FC6EF2F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64E51E-F8B9-94FC-E4C0-6B289364B7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6DD46-42C7-B1D4-668E-FBAAE9F6E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4FF46-14A5-4517-89D9-725D00D9239E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0B6BB-7B33-1260-5D4B-8C5B79826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69886-9D53-BC1E-1595-0C981BD23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F13E6-6FD6-4E2E-9335-C5CD54B93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21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8E229-CC85-0319-94E1-EC9324FF6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3848FC-0FD2-481F-85C2-E6A97FEE4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DD89C-4635-4E6D-9F50-5A17F4E504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4FF46-14A5-4517-89D9-725D00D9239E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B7E66-C7D4-0167-A53F-6B4A7A00D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E4327-750A-A790-469A-EA01146328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F13E6-6FD6-4E2E-9335-C5CD54B93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86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192FD2-167D-148F-3CFD-A39C050401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0" y="3067050"/>
            <a:ext cx="57150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884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0" y="3055701"/>
            <a:ext cx="12192000" cy="885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Nunito Sans"/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Loop Detection</a:t>
            </a: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526224" y="769163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500" b="1" dirty="0">
                <a:solidFill>
                  <a:srgbClr val="000000"/>
                </a:solidFill>
                <a:latin typeface="Nunito Sans" pitchFamily="2" charset="0"/>
              </a:rPr>
              <a:t>Loop Detection or Detect Cycle</a:t>
            </a:r>
            <a:r>
              <a:rPr lang="en-IN" sz="4500" b="1" dirty="0">
                <a:latin typeface="Nunito Sans" pitchFamily="2" charset="0"/>
              </a:rPr>
              <a:t> in SLL</a:t>
            </a:r>
            <a:endParaRPr lang="en-US" sz="4500" b="1" dirty="0">
              <a:latin typeface="Nunito Sans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73F422-781C-4385-84E3-34EDBC7AB3E7}"/>
              </a:ext>
            </a:extLst>
          </p:cNvPr>
          <p:cNvSpPr txBox="1"/>
          <p:nvPr/>
        </p:nvSpPr>
        <p:spPr>
          <a:xfrm>
            <a:off x="558069" y="1611766"/>
            <a:ext cx="11104481" cy="4083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Nunito Sans" panose="020B0604020202020204" charset="0"/>
              </a:rPr>
              <a:t>Problem: </a:t>
            </a:r>
            <a:r>
              <a:rPr lang="en-US" sz="2500" dirty="0">
                <a:latin typeface="Nunito Sans" panose="020B0604020202020204" charset="0"/>
              </a:rPr>
              <a:t>Given a linked list, check if the linked list has loop or not.</a:t>
            </a:r>
          </a:p>
          <a:p>
            <a:endParaRPr lang="en-US" sz="2500" dirty="0">
              <a:latin typeface="Nunito Sans" panose="020B0604020202020204" charset="0"/>
            </a:endParaRPr>
          </a:p>
          <a:p>
            <a:r>
              <a:rPr lang="en-US" sz="2500" dirty="0">
                <a:latin typeface="Nunito Sans" panose="020B0604020202020204" charset="0"/>
              </a:rPr>
              <a:t>Below diagram shows a linear linked list(without loop).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latin typeface="Nunito Sans" panose="020B0604020202020204" charset="0"/>
              </a:rPr>
              <a:t>Below diagram shows a linear linked list (with loop)</a:t>
            </a:r>
          </a:p>
          <a:p>
            <a:pPr>
              <a:lnSpc>
                <a:spcPct val="150000"/>
              </a:lnSpc>
            </a:pPr>
            <a:endParaRPr lang="en-US" sz="2500" dirty="0">
              <a:latin typeface="Nunito Sans" panose="020B0604020202020204" charset="0"/>
            </a:endParaRPr>
          </a:p>
          <a:p>
            <a:pPr>
              <a:lnSpc>
                <a:spcPct val="150000"/>
              </a:lnSpc>
            </a:pPr>
            <a:endParaRPr lang="en-US" sz="2500" dirty="0">
              <a:latin typeface="Nunito Sans" panose="020B0604020202020204" charset="0"/>
            </a:endParaRPr>
          </a:p>
          <a:p>
            <a:pPr>
              <a:lnSpc>
                <a:spcPct val="150000"/>
              </a:lnSpc>
            </a:pPr>
            <a:endParaRPr lang="en-US" sz="2500" dirty="0">
              <a:latin typeface="Nunito Sans" panose="020B0604020202020204" charset="0"/>
            </a:endParaRPr>
          </a:p>
          <a:p>
            <a:pPr>
              <a:lnSpc>
                <a:spcPct val="150000"/>
              </a:lnSpc>
            </a:pPr>
            <a:endParaRPr lang="en-US" sz="2500" dirty="0">
              <a:latin typeface="Nunito Sans" panose="020B060402020202020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60FBA8-A20B-5E3D-F30D-955C1E1B900C}"/>
              </a:ext>
            </a:extLst>
          </p:cNvPr>
          <p:cNvSpPr/>
          <p:nvPr/>
        </p:nvSpPr>
        <p:spPr>
          <a:xfrm>
            <a:off x="558069" y="4023698"/>
            <a:ext cx="965931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AB20B9-939E-1615-094B-479E0266E758}"/>
              </a:ext>
            </a:extLst>
          </p:cNvPr>
          <p:cNvSpPr/>
          <p:nvPr/>
        </p:nvSpPr>
        <p:spPr>
          <a:xfrm>
            <a:off x="9435458" y="4018844"/>
            <a:ext cx="1431716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0257D0-6BEF-BD57-BE9C-DA4A067EA6FB}"/>
              </a:ext>
            </a:extLst>
          </p:cNvPr>
          <p:cNvSpPr/>
          <p:nvPr/>
        </p:nvSpPr>
        <p:spPr>
          <a:xfrm>
            <a:off x="2327456" y="4045033"/>
            <a:ext cx="965931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D9EF8D-8294-34FA-B849-1E89509F0D90}"/>
              </a:ext>
            </a:extLst>
          </p:cNvPr>
          <p:cNvSpPr/>
          <p:nvPr/>
        </p:nvSpPr>
        <p:spPr>
          <a:xfrm>
            <a:off x="4130863" y="4022682"/>
            <a:ext cx="965931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9C9F97-D0A7-4639-5B90-26AF39A3C176}"/>
              </a:ext>
            </a:extLst>
          </p:cNvPr>
          <p:cNvSpPr/>
          <p:nvPr/>
        </p:nvSpPr>
        <p:spPr>
          <a:xfrm>
            <a:off x="5934270" y="4041422"/>
            <a:ext cx="965931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2473D9-1FEB-64FE-BA20-A8DCB4FE61EB}"/>
              </a:ext>
            </a:extLst>
          </p:cNvPr>
          <p:cNvSpPr/>
          <p:nvPr/>
        </p:nvSpPr>
        <p:spPr>
          <a:xfrm>
            <a:off x="7751788" y="4041422"/>
            <a:ext cx="965931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68C01C-F170-7AA7-55A5-D5D4A9F7E7EC}"/>
              </a:ext>
            </a:extLst>
          </p:cNvPr>
          <p:cNvSpPr txBox="1"/>
          <p:nvPr/>
        </p:nvSpPr>
        <p:spPr>
          <a:xfrm>
            <a:off x="554466" y="4062034"/>
            <a:ext cx="631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   1</a:t>
            </a:r>
            <a:endParaRPr lang="en-IN" sz="2800" b="1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2A9D5D4-9C65-5C95-AF6C-94A9DB92A252}"/>
              </a:ext>
            </a:extLst>
          </p:cNvPr>
          <p:cNvCxnSpPr/>
          <p:nvPr/>
        </p:nvCxnSpPr>
        <p:spPr>
          <a:xfrm>
            <a:off x="1524000" y="4338546"/>
            <a:ext cx="8034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56D0EC7-FAF9-6D1A-8EFC-8FAF97524BA3}"/>
              </a:ext>
            </a:extLst>
          </p:cNvPr>
          <p:cNvCxnSpPr/>
          <p:nvPr/>
        </p:nvCxnSpPr>
        <p:spPr>
          <a:xfrm>
            <a:off x="3293387" y="4359092"/>
            <a:ext cx="8034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6744C36-50B0-59CD-D73C-683330D55E89}"/>
              </a:ext>
            </a:extLst>
          </p:cNvPr>
          <p:cNvCxnSpPr/>
          <p:nvPr/>
        </p:nvCxnSpPr>
        <p:spPr>
          <a:xfrm>
            <a:off x="5096794" y="4373994"/>
            <a:ext cx="8034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DA2B960-6998-FC03-62ED-22DFBA682ECC}"/>
              </a:ext>
            </a:extLst>
          </p:cNvPr>
          <p:cNvCxnSpPr/>
          <p:nvPr/>
        </p:nvCxnSpPr>
        <p:spPr>
          <a:xfrm>
            <a:off x="6900201" y="4394540"/>
            <a:ext cx="8034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48AA3B7-4505-B1E7-AFB2-9EC324C57D48}"/>
              </a:ext>
            </a:extLst>
          </p:cNvPr>
          <p:cNvCxnSpPr/>
          <p:nvPr/>
        </p:nvCxnSpPr>
        <p:spPr>
          <a:xfrm>
            <a:off x="8737628" y="4338546"/>
            <a:ext cx="8034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1E815AB-8109-4938-207C-F6296F1179C8}"/>
              </a:ext>
            </a:extLst>
          </p:cNvPr>
          <p:cNvSpPr txBox="1"/>
          <p:nvPr/>
        </p:nvSpPr>
        <p:spPr>
          <a:xfrm>
            <a:off x="2343762" y="4041422"/>
            <a:ext cx="631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   2</a:t>
            </a:r>
            <a:endParaRPr lang="en-IN" sz="28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37DBB1-0118-899C-26BB-CE9B546D6B02}"/>
              </a:ext>
            </a:extLst>
          </p:cNvPr>
          <p:cNvSpPr txBox="1"/>
          <p:nvPr/>
        </p:nvSpPr>
        <p:spPr>
          <a:xfrm>
            <a:off x="4148855" y="4015385"/>
            <a:ext cx="631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   3</a:t>
            </a:r>
            <a:endParaRPr lang="en-IN" sz="28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BE050E-F74C-AF57-D87D-05B2C5866502}"/>
              </a:ext>
            </a:extLst>
          </p:cNvPr>
          <p:cNvSpPr txBox="1"/>
          <p:nvPr/>
        </p:nvSpPr>
        <p:spPr>
          <a:xfrm>
            <a:off x="5946695" y="4023698"/>
            <a:ext cx="631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   4</a:t>
            </a:r>
            <a:endParaRPr lang="en-IN" sz="28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3B89B0-13F5-5196-F033-D855A71D04E5}"/>
              </a:ext>
            </a:extLst>
          </p:cNvPr>
          <p:cNvSpPr txBox="1"/>
          <p:nvPr/>
        </p:nvSpPr>
        <p:spPr>
          <a:xfrm>
            <a:off x="7787025" y="4045035"/>
            <a:ext cx="631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   5</a:t>
            </a:r>
            <a:endParaRPr lang="en-IN" sz="28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3C0EBD-C5E8-167D-8861-5F67D6B9CF00}"/>
              </a:ext>
            </a:extLst>
          </p:cNvPr>
          <p:cNvSpPr txBox="1"/>
          <p:nvPr/>
        </p:nvSpPr>
        <p:spPr>
          <a:xfrm>
            <a:off x="9474276" y="4041422"/>
            <a:ext cx="13166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   NULL</a:t>
            </a:r>
            <a:endParaRPr lang="en-IN" sz="2800" b="1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D2400CF-7DCB-CF32-B200-C44C9708A930}"/>
              </a:ext>
            </a:extLst>
          </p:cNvPr>
          <p:cNvCxnSpPr/>
          <p:nvPr/>
        </p:nvCxnSpPr>
        <p:spPr>
          <a:xfrm>
            <a:off x="8229600" y="4665924"/>
            <a:ext cx="0" cy="8966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9761C59-3A3E-CD9E-AC5C-6FC4E4529E15}"/>
              </a:ext>
            </a:extLst>
          </p:cNvPr>
          <p:cNvCxnSpPr/>
          <p:nvPr/>
        </p:nvCxnSpPr>
        <p:spPr>
          <a:xfrm flipH="1">
            <a:off x="2667000" y="5486400"/>
            <a:ext cx="5562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1EEFC2E-EDA9-4876-3699-6C5B4EAFC81F}"/>
              </a:ext>
            </a:extLst>
          </p:cNvPr>
          <p:cNvCxnSpPr/>
          <p:nvPr/>
        </p:nvCxnSpPr>
        <p:spPr>
          <a:xfrm flipV="1">
            <a:off x="2743200" y="4665924"/>
            <a:ext cx="0" cy="8204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440C4EA-D329-A0BA-09EF-E082B4D15B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710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538792" y="914400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latin typeface="Nunito Sans" panose="00000500000000000000" pitchFamily="2" charset="0"/>
              </a:rPr>
              <a:t>Solutions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BCD106-8851-98DA-A312-EB2401313734}"/>
              </a:ext>
            </a:extLst>
          </p:cNvPr>
          <p:cNvSpPr txBox="1"/>
          <p:nvPr/>
        </p:nvSpPr>
        <p:spPr>
          <a:xfrm>
            <a:off x="565831" y="1840215"/>
            <a:ext cx="10907486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500" dirty="0">
                <a:latin typeface="Nunito Sans" pitchFamily="2" charset="0"/>
              </a:rPr>
              <a:t>Use Hashing</a:t>
            </a:r>
          </a:p>
          <a:p>
            <a:pPr marL="342900" indent="-342900">
              <a:buAutoNum type="arabicPeriod"/>
            </a:pPr>
            <a:endParaRPr lang="en-US" sz="2500" dirty="0">
              <a:latin typeface="Nunito Sans" pitchFamily="2" charset="0"/>
            </a:endParaRPr>
          </a:p>
          <a:p>
            <a:pPr marL="342900" indent="-342900">
              <a:buFontTx/>
              <a:buAutoNum type="arabicPeriod"/>
            </a:pPr>
            <a:r>
              <a:rPr lang="en-US" sz="2500" dirty="0">
                <a:latin typeface="Nunito Sans" pitchFamily="2" charset="0"/>
              </a:rPr>
              <a:t>Floyd’s cycle finding(Using two pointer variables)</a:t>
            </a:r>
          </a:p>
          <a:p>
            <a:pPr marL="342900" indent="-342900">
              <a:buAutoNum type="arabicPeriod"/>
            </a:pPr>
            <a:endParaRPr lang="en-US" sz="2500" dirty="0">
              <a:latin typeface="Nunito Sans" pitchFamily="2" charset="0"/>
            </a:endParaRPr>
          </a:p>
          <a:p>
            <a:endParaRPr lang="en-US" sz="2500" dirty="0">
              <a:latin typeface="Nunito Sans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375EDD-79DE-91C9-F1A8-B20FCFE0AB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372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526224" y="769163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latin typeface="Nunito Sans" panose="00000500000000000000" pitchFamily="2" charset="0"/>
              </a:rPr>
              <a:t>Use Hashing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22939E-AD3A-F5FD-4CDC-F34DCDAA5820}"/>
              </a:ext>
            </a:extLst>
          </p:cNvPr>
          <p:cNvSpPr txBox="1"/>
          <p:nvPr/>
        </p:nvSpPr>
        <p:spPr>
          <a:xfrm>
            <a:off x="598714" y="1543431"/>
            <a:ext cx="11212286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500" dirty="0">
                <a:latin typeface="Nunito Sans" pitchFamily="2" charset="0"/>
              </a:rPr>
              <a:t>Traverse the list one by one and keep putting the node addressed in a hash table.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500" dirty="0">
                <a:latin typeface="Nunito Sans" pitchFamily="2" charset="0"/>
              </a:rPr>
              <a:t>At any point, if NULL is reached then return false and if  next of current node points to any of the previously stored nodes in </a:t>
            </a:r>
            <a:r>
              <a:rPr lang="en-US" sz="2500" dirty="0" err="1">
                <a:latin typeface="Nunito Sans" pitchFamily="2" charset="0"/>
              </a:rPr>
              <a:t>Hashtable</a:t>
            </a:r>
            <a:r>
              <a:rPr lang="en-US" sz="2500" dirty="0">
                <a:latin typeface="Nunito Sans" pitchFamily="2" charset="0"/>
              </a:rPr>
              <a:t> then return true.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500" dirty="0">
              <a:latin typeface="Nunito Sans" pitchFamily="2" charset="0"/>
            </a:endParaRPr>
          </a:p>
          <a:p>
            <a:r>
              <a:rPr lang="en-US" sz="2500" dirty="0">
                <a:latin typeface="Nunito Sans" pitchFamily="2" charset="0"/>
              </a:rPr>
              <a:t>     </a:t>
            </a:r>
          </a:p>
          <a:p>
            <a:r>
              <a:rPr lang="en-US" sz="2500" dirty="0">
                <a:latin typeface="Nunito Sans" pitchFamily="2" charset="0"/>
              </a:rPr>
              <a:t>    </a:t>
            </a:r>
          </a:p>
          <a:p>
            <a:endParaRPr lang="en-US" sz="2500" dirty="0">
              <a:latin typeface="Nunito Sans" pitchFamily="2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E09789A-BBD0-A150-8922-12569518E115}"/>
              </a:ext>
            </a:extLst>
          </p:cNvPr>
          <p:cNvSpPr/>
          <p:nvPr/>
        </p:nvSpPr>
        <p:spPr>
          <a:xfrm>
            <a:off x="996140" y="3886200"/>
            <a:ext cx="6858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A122111-D762-CC62-8913-55D4F7AD5B1A}"/>
              </a:ext>
            </a:extLst>
          </p:cNvPr>
          <p:cNvSpPr/>
          <p:nvPr/>
        </p:nvSpPr>
        <p:spPr>
          <a:xfrm>
            <a:off x="2535763" y="3852789"/>
            <a:ext cx="6858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82DF87E-4252-48BC-2631-39E7A8E845CE}"/>
              </a:ext>
            </a:extLst>
          </p:cNvPr>
          <p:cNvSpPr/>
          <p:nvPr/>
        </p:nvSpPr>
        <p:spPr>
          <a:xfrm>
            <a:off x="4038600" y="3885446"/>
            <a:ext cx="6858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A104363-F3FD-EAFB-C1D0-87F748B96A6B}"/>
              </a:ext>
            </a:extLst>
          </p:cNvPr>
          <p:cNvSpPr/>
          <p:nvPr/>
        </p:nvSpPr>
        <p:spPr>
          <a:xfrm>
            <a:off x="5503603" y="3885446"/>
            <a:ext cx="6858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D89CC26-55B4-2C39-B9B7-B3DF568544EF}"/>
              </a:ext>
            </a:extLst>
          </p:cNvPr>
          <p:cNvSpPr/>
          <p:nvPr/>
        </p:nvSpPr>
        <p:spPr>
          <a:xfrm>
            <a:off x="6934200" y="3885446"/>
            <a:ext cx="6858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B7295FEA-EEA6-3ED9-20AE-9559BDEDD876}"/>
              </a:ext>
            </a:extLst>
          </p:cNvPr>
          <p:cNvSpPr/>
          <p:nvPr/>
        </p:nvSpPr>
        <p:spPr>
          <a:xfrm>
            <a:off x="1905000" y="4038600"/>
            <a:ext cx="457200" cy="22860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5700D303-0BA2-3673-7D53-E5D5FB7524C9}"/>
              </a:ext>
            </a:extLst>
          </p:cNvPr>
          <p:cNvSpPr/>
          <p:nvPr/>
        </p:nvSpPr>
        <p:spPr>
          <a:xfrm>
            <a:off x="6362748" y="4023827"/>
            <a:ext cx="457200" cy="22860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5852117-4130-29AA-93D1-453AC4E971E7}"/>
              </a:ext>
            </a:extLst>
          </p:cNvPr>
          <p:cNvSpPr/>
          <p:nvPr/>
        </p:nvSpPr>
        <p:spPr>
          <a:xfrm>
            <a:off x="4917354" y="4008276"/>
            <a:ext cx="457200" cy="22860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F088EAF-8B90-D436-CFBA-C607081E255C}"/>
              </a:ext>
            </a:extLst>
          </p:cNvPr>
          <p:cNvSpPr/>
          <p:nvPr/>
        </p:nvSpPr>
        <p:spPr>
          <a:xfrm>
            <a:off x="3429000" y="4029269"/>
            <a:ext cx="457200" cy="22860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04CD9A-7672-FE3E-3412-868F07E1B9C5}"/>
              </a:ext>
            </a:extLst>
          </p:cNvPr>
          <p:cNvSpPr txBox="1"/>
          <p:nvPr/>
        </p:nvSpPr>
        <p:spPr>
          <a:xfrm>
            <a:off x="1143000" y="3942546"/>
            <a:ext cx="3810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Nunito Sans" pitchFamily="2" charset="0"/>
              </a:rPr>
              <a:t>1</a:t>
            </a:r>
            <a:endParaRPr lang="en-IN" sz="2500" b="1" dirty="0">
              <a:latin typeface="Nunito Sans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9116CE-DAF6-6BE1-EF97-3BF91C9FAE10}"/>
              </a:ext>
            </a:extLst>
          </p:cNvPr>
          <p:cNvSpPr txBox="1"/>
          <p:nvPr/>
        </p:nvSpPr>
        <p:spPr>
          <a:xfrm>
            <a:off x="7081060" y="3923155"/>
            <a:ext cx="3810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Nunito Sans" pitchFamily="2" charset="0"/>
              </a:rPr>
              <a:t>5</a:t>
            </a:r>
            <a:endParaRPr lang="en-IN" sz="2500" b="1" dirty="0">
              <a:latin typeface="Nunito Sans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99EB92-498E-A027-B0C6-1E5F80DBF1B2}"/>
              </a:ext>
            </a:extLst>
          </p:cNvPr>
          <p:cNvSpPr txBox="1"/>
          <p:nvPr/>
        </p:nvSpPr>
        <p:spPr>
          <a:xfrm>
            <a:off x="5609350" y="3931527"/>
            <a:ext cx="3810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Nunito Sans" pitchFamily="2" charset="0"/>
              </a:rPr>
              <a:t>4</a:t>
            </a:r>
            <a:endParaRPr lang="en-IN" sz="2500" b="1" dirty="0">
              <a:latin typeface="Nunito Sans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94A8ED-E6C7-A7CE-E7E8-EA6F46F70651}"/>
              </a:ext>
            </a:extLst>
          </p:cNvPr>
          <p:cNvSpPr txBox="1"/>
          <p:nvPr/>
        </p:nvSpPr>
        <p:spPr>
          <a:xfrm>
            <a:off x="4163956" y="3921380"/>
            <a:ext cx="3810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Nunito Sans" pitchFamily="2" charset="0"/>
              </a:rPr>
              <a:t>3</a:t>
            </a:r>
            <a:endParaRPr lang="en-IN" sz="2500" b="1" dirty="0">
              <a:latin typeface="Nunito Sans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534B00-4688-B84D-959D-AB949509C48A}"/>
              </a:ext>
            </a:extLst>
          </p:cNvPr>
          <p:cNvSpPr txBox="1"/>
          <p:nvPr/>
        </p:nvSpPr>
        <p:spPr>
          <a:xfrm>
            <a:off x="2658399" y="3885446"/>
            <a:ext cx="3810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Nunito Sans" pitchFamily="2" charset="0"/>
              </a:rPr>
              <a:t>2</a:t>
            </a:r>
            <a:endParaRPr lang="en-IN" sz="2500" b="1" dirty="0">
              <a:latin typeface="Nunito Sans" pitchFamily="2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97DA1BE-9F2B-0F54-A880-7FFAF3A82DF5}"/>
              </a:ext>
            </a:extLst>
          </p:cNvPr>
          <p:cNvCxnSpPr/>
          <p:nvPr/>
        </p:nvCxnSpPr>
        <p:spPr>
          <a:xfrm>
            <a:off x="7365638" y="4495800"/>
            <a:ext cx="0" cy="6858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55BBAB3-E0DE-8856-5926-31BE27B3629A}"/>
              </a:ext>
            </a:extLst>
          </p:cNvPr>
          <p:cNvCxnSpPr/>
          <p:nvPr/>
        </p:nvCxnSpPr>
        <p:spPr>
          <a:xfrm flipH="1">
            <a:off x="1345838" y="5181600"/>
            <a:ext cx="60198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74EDCB1-277F-F1C8-BE95-F9CF15C53435}"/>
              </a:ext>
            </a:extLst>
          </p:cNvPr>
          <p:cNvCxnSpPr/>
          <p:nvPr/>
        </p:nvCxnSpPr>
        <p:spPr>
          <a:xfrm flipV="1">
            <a:off x="1295400" y="4495800"/>
            <a:ext cx="0" cy="685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2660AEEC-27C3-C297-BC87-D9970563861A}"/>
              </a:ext>
            </a:extLst>
          </p:cNvPr>
          <p:cNvSpPr/>
          <p:nvPr/>
        </p:nvSpPr>
        <p:spPr>
          <a:xfrm>
            <a:off x="8763000" y="3276600"/>
            <a:ext cx="1801752" cy="2666994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18AF80-4552-079A-00BA-BC272DD068B5}"/>
              </a:ext>
            </a:extLst>
          </p:cNvPr>
          <p:cNvSpPr txBox="1"/>
          <p:nvPr/>
        </p:nvSpPr>
        <p:spPr>
          <a:xfrm>
            <a:off x="1176846" y="3535114"/>
            <a:ext cx="296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N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BDBE8D-9037-B1D4-D3E5-B1AF4AF3EEFF}"/>
              </a:ext>
            </a:extLst>
          </p:cNvPr>
          <p:cNvSpPr txBox="1"/>
          <p:nvPr/>
        </p:nvSpPr>
        <p:spPr>
          <a:xfrm>
            <a:off x="2746481" y="3408138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en-I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A513BE-22F3-BF52-14E3-7FE3BEA4B8C4}"/>
              </a:ext>
            </a:extLst>
          </p:cNvPr>
          <p:cNvSpPr txBox="1"/>
          <p:nvPr/>
        </p:nvSpPr>
        <p:spPr>
          <a:xfrm>
            <a:off x="4240156" y="3364253"/>
            <a:ext cx="296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en-I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F59D4C4-67FB-B537-3090-DD0BB177D2AF}"/>
              </a:ext>
            </a:extLst>
          </p:cNvPr>
          <p:cNvSpPr txBox="1"/>
          <p:nvPr/>
        </p:nvSpPr>
        <p:spPr>
          <a:xfrm>
            <a:off x="5694151" y="3386273"/>
            <a:ext cx="296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9CD382F-29AE-217B-7348-7A0029DD943A}"/>
              </a:ext>
            </a:extLst>
          </p:cNvPr>
          <p:cNvSpPr txBox="1"/>
          <p:nvPr/>
        </p:nvSpPr>
        <p:spPr>
          <a:xfrm>
            <a:off x="7134759" y="3386273"/>
            <a:ext cx="296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  <a:endParaRPr lang="en-IN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A1C66A1-B3A7-5914-4124-CB2D517987C1}"/>
              </a:ext>
            </a:extLst>
          </p:cNvPr>
          <p:cNvSpPr/>
          <p:nvPr/>
        </p:nvSpPr>
        <p:spPr>
          <a:xfrm>
            <a:off x="8763000" y="5410200"/>
            <a:ext cx="1801752" cy="5333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62A9EA3-6B74-FEBE-FA92-DBA52EB53BCD}"/>
              </a:ext>
            </a:extLst>
          </p:cNvPr>
          <p:cNvSpPr/>
          <p:nvPr/>
        </p:nvSpPr>
        <p:spPr>
          <a:xfrm>
            <a:off x="8752524" y="4865042"/>
            <a:ext cx="1801752" cy="5333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556F110-7E4F-5372-B58F-A5FE451C52F6}"/>
              </a:ext>
            </a:extLst>
          </p:cNvPr>
          <p:cNvSpPr/>
          <p:nvPr/>
        </p:nvSpPr>
        <p:spPr>
          <a:xfrm>
            <a:off x="8771601" y="4318834"/>
            <a:ext cx="1801752" cy="5333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A473A10-9AED-1B8D-FF0C-181A1EEC8B7A}"/>
              </a:ext>
            </a:extLst>
          </p:cNvPr>
          <p:cNvSpPr/>
          <p:nvPr/>
        </p:nvSpPr>
        <p:spPr>
          <a:xfrm>
            <a:off x="8763000" y="3788494"/>
            <a:ext cx="1801752" cy="5333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6CC9417-6F5F-4DFF-0CB8-BA4E872F2B0A}"/>
              </a:ext>
            </a:extLst>
          </p:cNvPr>
          <p:cNvSpPr/>
          <p:nvPr/>
        </p:nvSpPr>
        <p:spPr>
          <a:xfrm>
            <a:off x="8773476" y="3273546"/>
            <a:ext cx="1801752" cy="5333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63EE07-7790-6749-EF59-729B12F1A11F}"/>
              </a:ext>
            </a:extLst>
          </p:cNvPr>
          <p:cNvSpPr txBox="1"/>
          <p:nvPr/>
        </p:nvSpPr>
        <p:spPr>
          <a:xfrm>
            <a:off x="8915400" y="5486400"/>
            <a:ext cx="1447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Nunito Sans" pitchFamily="2" charset="0"/>
              </a:rPr>
              <a:t>Node 1</a:t>
            </a:r>
            <a:endParaRPr lang="en-IN" sz="2000" b="1" dirty="0">
              <a:latin typeface="Nunito Sans" pitchFamily="2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C84C2F3-FF90-2022-79CF-9CB504218693}"/>
              </a:ext>
            </a:extLst>
          </p:cNvPr>
          <p:cNvSpPr txBox="1"/>
          <p:nvPr/>
        </p:nvSpPr>
        <p:spPr>
          <a:xfrm>
            <a:off x="8877299" y="4949674"/>
            <a:ext cx="1447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Nunito Sans" pitchFamily="2" charset="0"/>
              </a:rPr>
              <a:t>Node 2</a:t>
            </a:r>
            <a:endParaRPr lang="en-IN" sz="2000" b="1" dirty="0">
              <a:latin typeface="Nunito Sans" pitchFamily="2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857BB1F-019A-B9F1-8347-0584232CD83A}"/>
              </a:ext>
            </a:extLst>
          </p:cNvPr>
          <p:cNvSpPr txBox="1"/>
          <p:nvPr/>
        </p:nvSpPr>
        <p:spPr>
          <a:xfrm>
            <a:off x="8908460" y="4440453"/>
            <a:ext cx="1447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Nunito Sans" pitchFamily="2" charset="0"/>
              </a:rPr>
              <a:t>Node 3</a:t>
            </a:r>
            <a:endParaRPr lang="en-IN" sz="2000" b="1" dirty="0">
              <a:latin typeface="Nunito Sans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C47E8B3-EF5D-0D50-7EEF-AE74D2EC3545}"/>
              </a:ext>
            </a:extLst>
          </p:cNvPr>
          <p:cNvSpPr txBox="1"/>
          <p:nvPr/>
        </p:nvSpPr>
        <p:spPr>
          <a:xfrm>
            <a:off x="8913431" y="3870766"/>
            <a:ext cx="1447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Nunito Sans" pitchFamily="2" charset="0"/>
              </a:rPr>
              <a:t>Node 4</a:t>
            </a:r>
            <a:endParaRPr lang="en-IN" sz="2000" b="1" dirty="0">
              <a:latin typeface="Nunito Sans" pitchFamily="2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D8652A6-EB19-8D22-319D-AAB91758D9B4}"/>
              </a:ext>
            </a:extLst>
          </p:cNvPr>
          <p:cNvSpPr txBox="1"/>
          <p:nvPr/>
        </p:nvSpPr>
        <p:spPr>
          <a:xfrm>
            <a:off x="8913431" y="3298894"/>
            <a:ext cx="1447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Nunito Sans" pitchFamily="2" charset="0"/>
              </a:rPr>
              <a:t>Node 5</a:t>
            </a:r>
            <a:endParaRPr lang="en-IN" sz="2000" b="1" dirty="0">
              <a:latin typeface="Nunito Sans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EE3C60-2CD9-91E7-863F-BD13CEE185A9}"/>
              </a:ext>
            </a:extLst>
          </p:cNvPr>
          <p:cNvSpPr txBox="1"/>
          <p:nvPr/>
        </p:nvSpPr>
        <p:spPr>
          <a:xfrm>
            <a:off x="10896600" y="3699004"/>
            <a:ext cx="10001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Nunito Sans" pitchFamily="2" charset="0"/>
              </a:rPr>
              <a:t>Hash </a:t>
            </a:r>
          </a:p>
          <a:p>
            <a:r>
              <a:rPr lang="en-US" sz="2000" b="1" dirty="0">
                <a:latin typeface="Nunito Sans" pitchFamily="2" charset="0"/>
              </a:rPr>
              <a:t>Table</a:t>
            </a:r>
            <a:endParaRPr lang="en-IN" sz="2000" b="1" dirty="0">
              <a:latin typeface="Nunito Sans" pitchFamily="2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3F779E2-616B-BE26-E9D8-8F0154CE22BC}"/>
              </a:ext>
            </a:extLst>
          </p:cNvPr>
          <p:cNvSpPr/>
          <p:nvPr/>
        </p:nvSpPr>
        <p:spPr>
          <a:xfrm>
            <a:off x="762000" y="5715000"/>
            <a:ext cx="1088315" cy="5516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CB976C-5FE8-09EB-D1B4-9C497A4BAE61}"/>
              </a:ext>
            </a:extLst>
          </p:cNvPr>
          <p:cNvSpPr txBox="1"/>
          <p:nvPr/>
        </p:nvSpPr>
        <p:spPr>
          <a:xfrm>
            <a:off x="781034" y="5798671"/>
            <a:ext cx="99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Nunito Sans" pitchFamily="2" charset="0"/>
              </a:rPr>
              <a:t>Head</a:t>
            </a:r>
            <a:endParaRPr lang="en-IN" sz="2000" b="1" dirty="0">
              <a:latin typeface="Nunito Sans" pitchFamily="2" charset="0"/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8286E70-2F4F-B21C-AD00-4B871BE95B1E}"/>
              </a:ext>
            </a:extLst>
          </p:cNvPr>
          <p:cNvCxnSpPr>
            <a:cxnSpLocks/>
          </p:cNvCxnSpPr>
          <p:nvPr/>
        </p:nvCxnSpPr>
        <p:spPr>
          <a:xfrm flipV="1">
            <a:off x="996139" y="4495800"/>
            <a:ext cx="146861" cy="1219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00FE9F7-947A-4EE8-A408-4416F0465474}"/>
              </a:ext>
            </a:extLst>
          </p:cNvPr>
          <p:cNvCxnSpPr>
            <a:cxnSpLocks/>
            <a:stCxn id="67" idx="0"/>
          </p:cNvCxnSpPr>
          <p:nvPr/>
        </p:nvCxnSpPr>
        <p:spPr>
          <a:xfrm flipH="1" flipV="1">
            <a:off x="2839210" y="4468966"/>
            <a:ext cx="5049" cy="12539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E67F161-0282-88C2-D954-84439780304C}"/>
              </a:ext>
            </a:extLst>
          </p:cNvPr>
          <p:cNvCxnSpPr>
            <a:cxnSpLocks/>
            <a:stCxn id="68" idx="0"/>
          </p:cNvCxnSpPr>
          <p:nvPr/>
        </p:nvCxnSpPr>
        <p:spPr>
          <a:xfrm flipH="1" flipV="1">
            <a:off x="4369323" y="4447306"/>
            <a:ext cx="16746" cy="12824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7776C07-C7AC-C896-DDAA-CB9D1CB859FE}"/>
              </a:ext>
            </a:extLst>
          </p:cNvPr>
          <p:cNvCxnSpPr>
            <a:cxnSpLocks/>
          </p:cNvCxnSpPr>
          <p:nvPr/>
        </p:nvCxnSpPr>
        <p:spPr>
          <a:xfrm flipV="1">
            <a:off x="5789745" y="4419600"/>
            <a:ext cx="0" cy="1258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B5E88DF-956D-0EFC-9446-AE74A7E324A8}"/>
              </a:ext>
            </a:extLst>
          </p:cNvPr>
          <p:cNvCxnSpPr>
            <a:cxnSpLocks/>
            <a:stCxn id="70" idx="0"/>
          </p:cNvCxnSpPr>
          <p:nvPr/>
        </p:nvCxnSpPr>
        <p:spPr>
          <a:xfrm flipH="1" flipV="1">
            <a:off x="7462060" y="4418846"/>
            <a:ext cx="324974" cy="12822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AFD2B47C-11D9-EF26-3A12-F749C389CF81}"/>
              </a:ext>
            </a:extLst>
          </p:cNvPr>
          <p:cNvSpPr/>
          <p:nvPr/>
        </p:nvSpPr>
        <p:spPr>
          <a:xfrm>
            <a:off x="2300101" y="5722903"/>
            <a:ext cx="1088315" cy="5516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35C8231-EE27-8961-A9AA-F0B48C2C0919}"/>
              </a:ext>
            </a:extLst>
          </p:cNvPr>
          <p:cNvSpPr/>
          <p:nvPr/>
        </p:nvSpPr>
        <p:spPr>
          <a:xfrm>
            <a:off x="3903227" y="5729733"/>
            <a:ext cx="965684" cy="5516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D361E92-EA74-84CD-9EF4-F5767EBF9FD9}"/>
              </a:ext>
            </a:extLst>
          </p:cNvPr>
          <p:cNvSpPr/>
          <p:nvPr/>
        </p:nvSpPr>
        <p:spPr>
          <a:xfrm>
            <a:off x="5410200" y="5715000"/>
            <a:ext cx="1012070" cy="5516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6795E44-6B57-10FF-E66F-38F591F60D11}"/>
              </a:ext>
            </a:extLst>
          </p:cNvPr>
          <p:cNvSpPr/>
          <p:nvPr/>
        </p:nvSpPr>
        <p:spPr>
          <a:xfrm>
            <a:off x="7237852" y="5701121"/>
            <a:ext cx="1098363" cy="5516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1F1BA45-7118-5CD2-9391-58D6D2D9016C}"/>
              </a:ext>
            </a:extLst>
          </p:cNvPr>
          <p:cNvSpPr txBox="1"/>
          <p:nvPr/>
        </p:nvSpPr>
        <p:spPr>
          <a:xfrm>
            <a:off x="2362200" y="5805501"/>
            <a:ext cx="99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Nunito Sans" pitchFamily="2" charset="0"/>
              </a:rPr>
              <a:t>Head</a:t>
            </a:r>
            <a:endParaRPr lang="en-IN" sz="2000" b="1" dirty="0">
              <a:latin typeface="Nunito Sans" pitchFamily="2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5484A4D-08C2-FB81-E617-879D8DEB4290}"/>
              </a:ext>
            </a:extLst>
          </p:cNvPr>
          <p:cNvSpPr txBox="1"/>
          <p:nvPr/>
        </p:nvSpPr>
        <p:spPr>
          <a:xfrm>
            <a:off x="3849931" y="5801777"/>
            <a:ext cx="99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Nunito Sans" pitchFamily="2" charset="0"/>
              </a:rPr>
              <a:t>Head</a:t>
            </a:r>
            <a:endParaRPr lang="en-IN" sz="2000" b="1" dirty="0">
              <a:latin typeface="Nunito Sans" pitchFamily="2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C31AC66-1AC3-2A92-B78F-30F31786B74B}"/>
              </a:ext>
            </a:extLst>
          </p:cNvPr>
          <p:cNvSpPr txBox="1"/>
          <p:nvPr/>
        </p:nvSpPr>
        <p:spPr>
          <a:xfrm>
            <a:off x="5437230" y="5805501"/>
            <a:ext cx="99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Nunito Sans" pitchFamily="2" charset="0"/>
              </a:rPr>
              <a:t>Head</a:t>
            </a:r>
            <a:endParaRPr lang="en-IN" sz="2000" b="1" dirty="0">
              <a:latin typeface="Nunito Sans" pitchFamily="2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C837C48-D876-6F28-2A70-E95135489CA8}"/>
              </a:ext>
            </a:extLst>
          </p:cNvPr>
          <p:cNvSpPr txBox="1"/>
          <p:nvPr/>
        </p:nvSpPr>
        <p:spPr>
          <a:xfrm>
            <a:off x="7337079" y="5848290"/>
            <a:ext cx="99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Nunito Sans" pitchFamily="2" charset="0"/>
              </a:rPr>
              <a:t>Head</a:t>
            </a:r>
            <a:endParaRPr lang="en-IN" sz="2000" b="1" dirty="0">
              <a:latin typeface="Nunito Sans" pitchFamily="2" charset="0"/>
            </a:endParaRP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2866B294-90CE-7E4E-EC8F-4060861F4E7D}"/>
              </a:ext>
            </a:extLst>
          </p:cNvPr>
          <p:cNvCxnSpPr/>
          <p:nvPr/>
        </p:nvCxnSpPr>
        <p:spPr>
          <a:xfrm>
            <a:off x="10668000" y="5677732"/>
            <a:ext cx="533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039F7227-26A6-915C-2539-50863ECCDF39}"/>
              </a:ext>
            </a:extLst>
          </p:cNvPr>
          <p:cNvSpPr txBox="1"/>
          <p:nvPr/>
        </p:nvSpPr>
        <p:spPr>
          <a:xfrm>
            <a:off x="11277600" y="5398436"/>
            <a:ext cx="93258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Already </a:t>
            </a:r>
            <a:r>
              <a:rPr lang="en-US" sz="2000" b="1" dirty="0"/>
              <a:t>stored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00D2D9-E358-5C60-AE7F-D20A26AF24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637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45" grpId="0" animBg="1"/>
      <p:bldP spid="46" grpId="0" animBg="1"/>
      <p:bldP spid="47" grpId="0"/>
      <p:bldP spid="48" grpId="0"/>
      <p:bldP spid="49" grpId="0"/>
      <p:bldP spid="50" grpId="0"/>
      <p:bldP spid="51" grpId="0"/>
      <p:bldP spid="53" grpId="0" animBg="1"/>
      <p:bldP spid="54" grpId="0"/>
      <p:bldP spid="67" grpId="0" animBg="1"/>
      <p:bldP spid="68" grpId="0" animBg="1"/>
      <p:bldP spid="69" grpId="0" animBg="1"/>
      <p:bldP spid="70" grpId="0" animBg="1"/>
      <p:bldP spid="71" grpId="0"/>
      <p:bldP spid="74" grpId="0"/>
      <p:bldP spid="75" grpId="0"/>
      <p:bldP spid="80" grpId="0"/>
      <p:bldP spid="8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526224" y="769163"/>
            <a:ext cx="111363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Nunito Sans" pitchFamily="2" charset="0"/>
              </a:rPr>
              <a:t>Floyd’s cycle finding(Using two pointer variables)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C05343-3760-085B-E101-CFAC89480C18}"/>
              </a:ext>
            </a:extLst>
          </p:cNvPr>
          <p:cNvSpPr txBox="1"/>
          <p:nvPr/>
        </p:nvSpPr>
        <p:spPr>
          <a:xfrm>
            <a:off x="598714" y="2207070"/>
            <a:ext cx="1135380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Nunito Sans" pitchFamily="2" charset="0"/>
              </a:rPr>
              <a:t>This algorithm used to find the loop in the given list.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500" b="0" i="0" dirty="0">
              <a:solidFill>
                <a:srgbClr val="303030"/>
              </a:solidFill>
              <a:effectLst/>
              <a:latin typeface="Nunito Sans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b="0" i="0" dirty="0">
                <a:solidFill>
                  <a:srgbClr val="303030"/>
                </a:solidFill>
                <a:effectLst/>
                <a:latin typeface="Nunito Sans" pitchFamily="2" charset="0"/>
              </a:rPr>
              <a:t>We will take two pointers, namely fast and slow. Fast pointer takes 2 steps ahead and slow pointer takes 1 step ahead.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303030"/>
              </a:solidFill>
              <a:latin typeface="Nunito Sans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b="0" i="0" dirty="0">
                <a:solidFill>
                  <a:srgbClr val="303030"/>
                </a:solidFill>
                <a:effectLst/>
                <a:latin typeface="Nunito Sans" pitchFamily="2" charset="0"/>
              </a:rPr>
              <a:t>Iterate through the list until the fast pointer is equal to NULL. If the fast pointer is NULL, then there is no cycle present in the given list.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303030"/>
              </a:solidFill>
              <a:latin typeface="Nunito Sans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b="0" i="0" dirty="0">
                <a:solidFill>
                  <a:srgbClr val="303030"/>
                </a:solidFill>
                <a:effectLst/>
                <a:latin typeface="Nunito Sans" pitchFamily="2" charset="0"/>
              </a:rPr>
              <a:t>During iteration</a:t>
            </a:r>
            <a:r>
              <a:rPr lang="en-US" sz="2500" dirty="0">
                <a:solidFill>
                  <a:srgbClr val="303030"/>
                </a:solidFill>
                <a:latin typeface="Nunito Sans" pitchFamily="2" charset="0"/>
              </a:rPr>
              <a:t>, if fast pointer and slow pointer pointing same node then cycle is present in the given list.</a:t>
            </a:r>
            <a:endParaRPr lang="en-IN" sz="2500" dirty="0">
              <a:latin typeface="Nunito Sans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FAE9D2-AF5D-5B84-3AEC-4716CFA2D3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528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526224" y="769163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latin typeface="Nunito Sans" panose="00000500000000000000" pitchFamily="2" charset="0"/>
              </a:rPr>
              <a:t>Using two pointer variables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42044B-55EE-1D24-1014-9EE199F40A61}"/>
              </a:ext>
            </a:extLst>
          </p:cNvPr>
          <p:cNvSpPr/>
          <p:nvPr/>
        </p:nvSpPr>
        <p:spPr>
          <a:xfrm>
            <a:off x="1219200" y="2286000"/>
            <a:ext cx="9906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66C115-76DE-DCEF-9775-1DFB3DDA7BD1}"/>
              </a:ext>
            </a:extLst>
          </p:cNvPr>
          <p:cNvSpPr/>
          <p:nvPr/>
        </p:nvSpPr>
        <p:spPr>
          <a:xfrm>
            <a:off x="3422361" y="2286000"/>
            <a:ext cx="9906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61740A-9BA8-F98E-F954-457A115FB229}"/>
              </a:ext>
            </a:extLst>
          </p:cNvPr>
          <p:cNvSpPr/>
          <p:nvPr/>
        </p:nvSpPr>
        <p:spPr>
          <a:xfrm>
            <a:off x="5638800" y="2286000"/>
            <a:ext cx="9906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472747-19F8-E508-E96F-9EBDE1D108E6}"/>
              </a:ext>
            </a:extLst>
          </p:cNvPr>
          <p:cNvSpPr/>
          <p:nvPr/>
        </p:nvSpPr>
        <p:spPr>
          <a:xfrm>
            <a:off x="7924800" y="2286000"/>
            <a:ext cx="9906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696E0A9-DED4-8EAE-7B70-A06CEC9CD05C}"/>
              </a:ext>
            </a:extLst>
          </p:cNvPr>
          <p:cNvSpPr/>
          <p:nvPr/>
        </p:nvSpPr>
        <p:spPr>
          <a:xfrm>
            <a:off x="2438400" y="2438400"/>
            <a:ext cx="685800" cy="2286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33F64AE-FB32-57BB-073D-C54521C9A574}"/>
              </a:ext>
            </a:extLst>
          </p:cNvPr>
          <p:cNvSpPr/>
          <p:nvPr/>
        </p:nvSpPr>
        <p:spPr>
          <a:xfrm>
            <a:off x="6934200" y="2438400"/>
            <a:ext cx="685800" cy="2286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CF2E2E83-93E3-032B-15E8-2196B28F4DEF}"/>
              </a:ext>
            </a:extLst>
          </p:cNvPr>
          <p:cNvSpPr/>
          <p:nvPr/>
        </p:nvSpPr>
        <p:spPr>
          <a:xfrm>
            <a:off x="4718269" y="2438400"/>
            <a:ext cx="685800" cy="2286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872DD4-E600-5022-201A-62E6BCEFAA9D}"/>
              </a:ext>
            </a:extLst>
          </p:cNvPr>
          <p:cNvSpPr txBox="1"/>
          <p:nvPr/>
        </p:nvSpPr>
        <p:spPr>
          <a:xfrm>
            <a:off x="1476405" y="2342346"/>
            <a:ext cx="4285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Nunito Sans" pitchFamily="2" charset="0"/>
              </a:rPr>
              <a:t>1</a:t>
            </a:r>
            <a:endParaRPr lang="en-IN" sz="2500" b="1" dirty="0">
              <a:latin typeface="Nunito Sans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FD7261-3D94-8B25-F76C-5AB3ABE73A5F}"/>
              </a:ext>
            </a:extLst>
          </p:cNvPr>
          <p:cNvSpPr txBox="1"/>
          <p:nvPr/>
        </p:nvSpPr>
        <p:spPr>
          <a:xfrm>
            <a:off x="3703363" y="2342346"/>
            <a:ext cx="4285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Nunito Sans" pitchFamily="2" charset="0"/>
              </a:rPr>
              <a:t>2</a:t>
            </a:r>
            <a:endParaRPr lang="en-IN" sz="2500" b="1" dirty="0">
              <a:latin typeface="Nunito Sans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764E57-47FB-1B69-9270-FBF7F102019C}"/>
              </a:ext>
            </a:extLst>
          </p:cNvPr>
          <p:cNvSpPr txBox="1"/>
          <p:nvPr/>
        </p:nvSpPr>
        <p:spPr>
          <a:xfrm>
            <a:off x="5919802" y="2342346"/>
            <a:ext cx="4285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Nunito Sans" pitchFamily="2" charset="0"/>
              </a:rPr>
              <a:t>3</a:t>
            </a:r>
            <a:endParaRPr lang="en-IN" sz="2500" b="1" dirty="0">
              <a:latin typeface="Nunito Sans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2FA493-2E0F-35E2-D4BA-353CFA09B38A}"/>
              </a:ext>
            </a:extLst>
          </p:cNvPr>
          <p:cNvSpPr txBox="1"/>
          <p:nvPr/>
        </p:nvSpPr>
        <p:spPr>
          <a:xfrm>
            <a:off x="8205802" y="2342346"/>
            <a:ext cx="4285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Nunito Sans" pitchFamily="2" charset="0"/>
              </a:rPr>
              <a:t>4</a:t>
            </a:r>
            <a:endParaRPr lang="en-IN" sz="2500" b="1" dirty="0">
              <a:latin typeface="Nunito Sans" pitchFamily="2" charset="0"/>
            </a:endParaRPr>
          </a:p>
        </p:txBody>
      </p:sp>
      <p:sp>
        <p:nvSpPr>
          <p:cNvPr id="19" name="Arrow: U-Turn 18">
            <a:extLst>
              <a:ext uri="{FF2B5EF4-FFF2-40B4-BE49-F238E27FC236}">
                <a16:creationId xmlns:a16="http://schemas.microsoft.com/office/drawing/2014/main" id="{01101378-B1B9-F33D-8A78-BF164DBB1B8B}"/>
              </a:ext>
            </a:extLst>
          </p:cNvPr>
          <p:cNvSpPr/>
          <p:nvPr/>
        </p:nvSpPr>
        <p:spPr>
          <a:xfrm rot="10800000">
            <a:off x="3703362" y="2862631"/>
            <a:ext cx="5023243" cy="688776"/>
          </a:xfrm>
          <a:prstGeom prst="utur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AE1F69-D321-C493-3606-0EF8AE13AE20}"/>
              </a:ext>
            </a:extLst>
          </p:cNvPr>
          <p:cNvSpPr txBox="1"/>
          <p:nvPr/>
        </p:nvSpPr>
        <p:spPr>
          <a:xfrm>
            <a:off x="319806" y="2344993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Nunito Sans" pitchFamily="2" charset="0"/>
              </a:rPr>
              <a:t>Head</a:t>
            </a:r>
            <a:endParaRPr lang="en-IN" sz="2000" b="1" dirty="0">
              <a:latin typeface="Nunito Sans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44D817-DA34-A952-9BF4-D929C3452A66}"/>
              </a:ext>
            </a:extLst>
          </p:cNvPr>
          <p:cNvSpPr txBox="1"/>
          <p:nvPr/>
        </p:nvSpPr>
        <p:spPr>
          <a:xfrm>
            <a:off x="838200" y="1553993"/>
            <a:ext cx="63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Nunito Sans" pitchFamily="2" charset="0"/>
              </a:rPr>
              <a:t>fast</a:t>
            </a:r>
            <a:endParaRPr lang="en-IN" sz="1600" dirty="0">
              <a:latin typeface="Nunito Sans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CE0B48-A686-9513-9588-D57785F62D31}"/>
              </a:ext>
            </a:extLst>
          </p:cNvPr>
          <p:cNvSpPr txBox="1"/>
          <p:nvPr/>
        </p:nvSpPr>
        <p:spPr>
          <a:xfrm>
            <a:off x="1600200" y="1566446"/>
            <a:ext cx="685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Nunito Sans" pitchFamily="2" charset="0"/>
              </a:rPr>
              <a:t>slow</a:t>
            </a:r>
            <a:endParaRPr lang="en-IN" sz="1600" dirty="0">
              <a:latin typeface="Nunito Sans" pitchFamily="2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CB472DD-3A93-1512-5913-BB5718441C3A}"/>
              </a:ext>
            </a:extLst>
          </p:cNvPr>
          <p:cNvCxnSpPr>
            <a:cxnSpLocks/>
          </p:cNvCxnSpPr>
          <p:nvPr/>
        </p:nvCxnSpPr>
        <p:spPr>
          <a:xfrm>
            <a:off x="1178948" y="1892547"/>
            <a:ext cx="319102" cy="317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E79C321-35D2-398A-C711-CAF92B26AD40}"/>
              </a:ext>
            </a:extLst>
          </p:cNvPr>
          <p:cNvCxnSpPr>
            <a:cxnSpLocks/>
          </p:cNvCxnSpPr>
          <p:nvPr/>
        </p:nvCxnSpPr>
        <p:spPr>
          <a:xfrm flipH="1">
            <a:off x="1795508" y="1854676"/>
            <a:ext cx="254741" cy="3551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82635A4-F3F0-E7B4-CD5D-79792507C816}"/>
              </a:ext>
            </a:extLst>
          </p:cNvPr>
          <p:cNvSpPr txBox="1"/>
          <p:nvPr/>
        </p:nvSpPr>
        <p:spPr>
          <a:xfrm>
            <a:off x="1143000" y="4038600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Slow and fast pointers starts from the first node.</a:t>
            </a:r>
            <a:endParaRPr lang="en-IN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0D0289-2E7F-B442-521A-E10950E442EF}"/>
              </a:ext>
            </a:extLst>
          </p:cNvPr>
          <p:cNvSpPr txBox="1"/>
          <p:nvPr/>
        </p:nvSpPr>
        <p:spPr>
          <a:xfrm>
            <a:off x="6097555" y="1524000"/>
            <a:ext cx="608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fast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B6CB6B-BAF4-B243-B93A-6AAF274921EB}"/>
              </a:ext>
            </a:extLst>
          </p:cNvPr>
          <p:cNvSpPr txBox="1"/>
          <p:nvPr/>
        </p:nvSpPr>
        <p:spPr>
          <a:xfrm>
            <a:off x="3580621" y="1523215"/>
            <a:ext cx="708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slow</a:t>
            </a:r>
            <a:endParaRPr lang="en-IN" dirty="0">
              <a:solidFill>
                <a:srgbClr val="FF0000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B0D6474-0C1D-9EF3-A826-1D7627FC87FB}"/>
              </a:ext>
            </a:extLst>
          </p:cNvPr>
          <p:cNvCxnSpPr>
            <a:stCxn id="31" idx="2"/>
          </p:cNvCxnSpPr>
          <p:nvPr/>
        </p:nvCxnSpPr>
        <p:spPr>
          <a:xfrm>
            <a:off x="3934642" y="1892547"/>
            <a:ext cx="0" cy="317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E6CFA95-852E-495C-5FE8-18D8A8595EC3}"/>
              </a:ext>
            </a:extLst>
          </p:cNvPr>
          <p:cNvCxnSpPr>
            <a:stCxn id="30" idx="2"/>
          </p:cNvCxnSpPr>
          <p:nvPr/>
        </p:nvCxnSpPr>
        <p:spPr>
          <a:xfrm flipH="1">
            <a:off x="6401577" y="1893332"/>
            <a:ext cx="1" cy="316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09DECA0-9702-D21F-3404-1233C2C7FE4F}"/>
              </a:ext>
            </a:extLst>
          </p:cNvPr>
          <p:cNvSpPr txBox="1"/>
          <p:nvPr/>
        </p:nvSpPr>
        <p:spPr>
          <a:xfrm>
            <a:off x="5334000" y="3906559"/>
            <a:ext cx="43403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dirty="0">
                <a:solidFill>
                  <a:srgbClr val="FF0000"/>
                </a:solidFill>
                <a:effectLst/>
                <a:latin typeface="Nunito Sans" pitchFamily="2" charset="0"/>
              </a:rPr>
              <a:t>slow pointer takes 1 step ahead  and fast pointer taker 2 steps ahead.</a:t>
            </a:r>
          </a:p>
          <a:p>
            <a:endParaRPr lang="en-US" dirty="0">
              <a:solidFill>
                <a:srgbClr val="FF0000"/>
              </a:solidFill>
              <a:latin typeface="Nunito Sans" pitchFamily="2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Nunito Sans" pitchFamily="2" charset="0"/>
              </a:rPr>
              <a:t>s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Nunito Sans" pitchFamily="2" charset="0"/>
              </a:rPr>
              <a:t>low !=fast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9C64C1-A21A-F632-551A-D7C36D1A4BDC}"/>
              </a:ext>
            </a:extLst>
          </p:cNvPr>
          <p:cNvSpPr txBox="1"/>
          <p:nvPr/>
        </p:nvSpPr>
        <p:spPr>
          <a:xfrm>
            <a:off x="5540358" y="1535668"/>
            <a:ext cx="708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slow</a:t>
            </a:r>
            <a:endParaRPr lang="en-IN" dirty="0">
              <a:solidFill>
                <a:srgbClr val="00B0F0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06492E4-9EFA-6170-A2A6-8BCA3DC17084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5894379" y="1905000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1B9F3ED-EFEA-C12D-47AB-199300F17643}"/>
              </a:ext>
            </a:extLst>
          </p:cNvPr>
          <p:cNvSpPr txBox="1"/>
          <p:nvPr/>
        </p:nvSpPr>
        <p:spPr>
          <a:xfrm>
            <a:off x="3188624" y="1544752"/>
            <a:ext cx="608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fast</a:t>
            </a:r>
            <a:endParaRPr lang="en-IN" dirty="0">
              <a:solidFill>
                <a:srgbClr val="00B0F0"/>
              </a:solidFill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452C6F1-B783-6FE2-7DFC-11C253DA7BF5}"/>
              </a:ext>
            </a:extLst>
          </p:cNvPr>
          <p:cNvCxnSpPr>
            <a:stCxn id="44" idx="2"/>
          </p:cNvCxnSpPr>
          <p:nvPr/>
        </p:nvCxnSpPr>
        <p:spPr>
          <a:xfrm flipH="1">
            <a:off x="3492646" y="1914084"/>
            <a:ext cx="1" cy="2957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478E016-7E61-E738-B5F2-AE0335FEC7DC}"/>
              </a:ext>
            </a:extLst>
          </p:cNvPr>
          <p:cNvSpPr txBox="1"/>
          <p:nvPr/>
        </p:nvSpPr>
        <p:spPr>
          <a:xfrm>
            <a:off x="1178111" y="4829889"/>
            <a:ext cx="36689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slow ! = fast, then continue the process</a:t>
            </a:r>
          </a:p>
          <a:p>
            <a:endParaRPr lang="en-IN" dirty="0">
              <a:solidFill>
                <a:srgbClr val="00B0F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2DF2988-A18E-68F7-E192-1FA7B93BDA1A}"/>
              </a:ext>
            </a:extLst>
          </p:cNvPr>
          <p:cNvSpPr txBox="1"/>
          <p:nvPr/>
        </p:nvSpPr>
        <p:spPr>
          <a:xfrm>
            <a:off x="7726339" y="1566446"/>
            <a:ext cx="862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slow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D0BEF21-0911-8010-77B3-8CFB7180122B}"/>
              </a:ext>
            </a:extLst>
          </p:cNvPr>
          <p:cNvSpPr txBox="1"/>
          <p:nvPr/>
        </p:nvSpPr>
        <p:spPr>
          <a:xfrm>
            <a:off x="8535955" y="1600200"/>
            <a:ext cx="608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fast</a:t>
            </a:r>
            <a:endParaRPr lang="en-IN" dirty="0">
              <a:solidFill>
                <a:srgbClr val="00B050"/>
              </a:solidFill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BF927C5-1915-F51D-78F7-1A01F398DE72}"/>
              </a:ext>
            </a:extLst>
          </p:cNvPr>
          <p:cNvCxnSpPr>
            <a:cxnSpLocks/>
          </p:cNvCxnSpPr>
          <p:nvPr/>
        </p:nvCxnSpPr>
        <p:spPr>
          <a:xfrm>
            <a:off x="8127349" y="1905000"/>
            <a:ext cx="1" cy="369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09A44D3-48BE-B01C-4E2A-701B6C255341}"/>
              </a:ext>
            </a:extLst>
          </p:cNvPr>
          <p:cNvCxnSpPr>
            <a:cxnSpLocks/>
          </p:cNvCxnSpPr>
          <p:nvPr/>
        </p:nvCxnSpPr>
        <p:spPr>
          <a:xfrm flipH="1">
            <a:off x="8839201" y="1905000"/>
            <a:ext cx="777" cy="381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EEE04735-8622-E667-01BE-419C98A33DBD}"/>
              </a:ext>
            </a:extLst>
          </p:cNvPr>
          <p:cNvSpPr txBox="1"/>
          <p:nvPr/>
        </p:nvSpPr>
        <p:spPr>
          <a:xfrm>
            <a:off x="5540358" y="5334000"/>
            <a:ext cx="28416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slow==fast, then  the loop is detected</a:t>
            </a:r>
            <a:endParaRPr lang="en-IN" dirty="0">
              <a:solidFill>
                <a:srgbClr val="00B05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79F5A6-C416-D5F1-D551-B372102D47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729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 animBg="1"/>
      <p:bldP spid="9" grpId="0" animBg="1"/>
      <p:bldP spid="12" grpId="0" animBg="1"/>
      <p:bldP spid="14" grpId="0"/>
      <p:bldP spid="15" grpId="0"/>
      <p:bldP spid="16" grpId="0"/>
      <p:bldP spid="17" grpId="0"/>
      <p:bldP spid="19" grpId="0" animBg="1"/>
      <p:bldP spid="20" grpId="0"/>
      <p:bldP spid="22" grpId="0"/>
      <p:bldP spid="23" grpId="0"/>
      <p:bldP spid="28" grpId="0"/>
      <p:bldP spid="30" grpId="0"/>
      <p:bldP spid="31" grpId="0"/>
      <p:bldP spid="36" grpId="0"/>
      <p:bldP spid="37" grpId="0"/>
      <p:bldP spid="44" grpId="0"/>
      <p:bldP spid="47" grpId="0"/>
      <p:bldP spid="48" grpId="0"/>
      <p:bldP spid="49" grpId="0"/>
      <p:bldP spid="6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.*;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Node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int num;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Node next;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Node(int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num=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next=NULL;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 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Main {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 Node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insertNode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(Node head, 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Node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newNode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Node(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if(head==null) {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head=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newNode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return head;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Node temp=head;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while(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temp.next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!=null)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temp=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temp.next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temp.next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newNode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head;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A1C733-6ADD-54D5-6C27-FF6E062B36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121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pPr lvl="1">
              <a:spcAft>
                <a:spcPts val="600"/>
              </a:spcAft>
            </a:pP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tatic void display(Node head)</a:t>
            </a: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</a:p>
          <a:p>
            <a:pPr lvl="1">
              <a:spcAft>
                <a:spcPts val="6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Node temp = head;</a:t>
            </a:r>
          </a:p>
          <a:p>
            <a:pPr lvl="1">
              <a:spcAft>
                <a:spcPts val="6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while(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temp.next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!=null)</a:t>
            </a: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</a:p>
          <a:p>
            <a:pPr lvl="1">
              <a:spcAft>
                <a:spcPts val="6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System.out.print(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temp.num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+"-&gt;");</a:t>
            </a:r>
          </a:p>
          <a:p>
            <a:pPr lvl="1">
              <a:spcAft>
                <a:spcPts val="6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temp=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temp.next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;}</a:t>
            </a:r>
          </a:p>
          <a:p>
            <a:pPr lvl="1">
              <a:spcAft>
                <a:spcPts val="6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System.out.println(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temp.num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+"-&gt;"+"NULL");</a:t>
            </a:r>
          </a:p>
          <a:p>
            <a:pPr lvl="1">
              <a:spcAft>
                <a:spcPts val="6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</a:p>
          <a:p>
            <a:pPr lvl="1">
              <a:spcAft>
                <a:spcPts val="6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static void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createCycle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(Node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head,int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a,int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b) {</a:t>
            </a:r>
          </a:p>
          <a:p>
            <a:pPr lvl="1">
              <a:spcAft>
                <a:spcPts val="6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int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cnta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0,cntb = 0;</a:t>
            </a:r>
          </a:p>
          <a:p>
            <a:pPr lvl="1">
              <a:spcAft>
                <a:spcPts val="6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Node p1 = head;</a:t>
            </a:r>
          </a:p>
          <a:p>
            <a:pPr lvl="1">
              <a:spcAft>
                <a:spcPts val="6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Node p2 = head;</a:t>
            </a:r>
          </a:p>
          <a:p>
            <a:pPr lvl="1">
              <a:spcAft>
                <a:spcPts val="6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while(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cnta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!= a ||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cntb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!= b) {</a:t>
            </a:r>
          </a:p>
          <a:p>
            <a:pPr lvl="1">
              <a:spcAft>
                <a:spcPts val="6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if(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cnta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!= a) </a:t>
            </a:r>
          </a:p>
          <a:p>
            <a:pPr lvl="1">
              <a:lnSpc>
                <a:spcPct val="107000"/>
              </a:lnSpc>
              <a:spcAft>
                <a:spcPts val="6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p1 = p1.next; ++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cnta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lvl="1">
              <a:lnSpc>
                <a:spcPct val="107000"/>
              </a:lnSpc>
              <a:spcAft>
                <a:spcPts val="6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if(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cntb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!= b) </a:t>
            </a:r>
          </a:p>
          <a:p>
            <a:pPr lvl="1">
              <a:lnSpc>
                <a:spcPct val="107000"/>
              </a:lnSpc>
              <a:spcAft>
                <a:spcPts val="6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	p2 = p2.next; ++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cntb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p2.next = p1;</a:t>
            </a: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B729A2-B63B-66D4-4C98-E02775BD8C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70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pPr lvl="1"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static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boolean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cycleDetect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(Node head) {</a:t>
            </a:r>
          </a:p>
          <a:p>
            <a:pPr lvl="1"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if(head == null) return false;</a:t>
            </a:r>
          </a:p>
          <a:p>
            <a:pPr lvl="1"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Node fast = head;</a:t>
            </a:r>
          </a:p>
          <a:p>
            <a:pPr lvl="1"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Node slow = head;</a:t>
            </a:r>
          </a:p>
          <a:p>
            <a:pPr lvl="1"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while(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fast.next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!= null &amp;&amp;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fast.next.next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!= null) {</a:t>
            </a:r>
          </a:p>
          <a:p>
            <a:pPr lvl="1"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fast =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fast.next.next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lvl="1"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slow =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slow.next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lvl="1"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if(fast == slow) return true;</a:t>
            </a:r>
          </a:p>
          <a:p>
            <a:pPr lvl="1"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}</a:t>
            </a:r>
          </a:p>
          <a:p>
            <a:pPr lvl="1"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return false;</a:t>
            </a:r>
          </a:p>
          <a:p>
            <a:pPr lvl="1"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</a:p>
          <a:p>
            <a:pPr lvl="1"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public static void main(String args[]) {</a:t>
            </a:r>
          </a:p>
          <a:p>
            <a:pPr lvl="1"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Scanner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sc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new Scanner(System.in);</a:t>
            </a:r>
          </a:p>
          <a:p>
            <a:pPr lvl="1"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int n=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sc.nextInt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();</a:t>
            </a:r>
          </a:p>
          <a:p>
            <a:pPr lvl="1"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Node head = null;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F69351-1E2B-852B-F7EA-9C948648E0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180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pPr lvl="2"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for(int i=0;i&lt;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n;i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++)</a:t>
            </a: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</a:p>
          <a:p>
            <a:pPr lvl="3"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int m=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sc.nextInt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(); </a:t>
            </a:r>
          </a:p>
          <a:p>
            <a:pPr lvl="3"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head=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insertNode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head,m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</a:p>
          <a:p>
            <a:pPr lvl="2"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</a:p>
          <a:p>
            <a:pPr lvl="2"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display(head);</a:t>
            </a:r>
          </a:p>
          <a:p>
            <a:pPr lvl="2"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int a=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sc.nextInt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();</a:t>
            </a:r>
          </a:p>
          <a:p>
            <a:pPr lvl="2">
              <a:spcAft>
                <a:spcPts val="800"/>
              </a:spcAft>
            </a:pP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createCycle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(head,1,a);//creating cycle in the list</a:t>
            </a:r>
          </a:p>
          <a:p>
            <a:pPr lvl="2"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if(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cycleDetect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(head) == true)</a:t>
            </a:r>
          </a:p>
          <a:p>
            <a:pPr lvl="2"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System.out.println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("Cycle detected");</a:t>
            </a:r>
          </a:p>
          <a:p>
            <a:pPr lvl="2"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else</a:t>
            </a:r>
          </a:p>
          <a:p>
            <a:pPr lvl="2">
              <a:spcAft>
                <a:spcPts val="800"/>
              </a:spcAft>
            </a:pP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System.out.println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("Cycle not detected");</a:t>
            </a:r>
          </a:p>
          <a:p>
            <a:pPr lvl="1"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</a:p>
          <a:p>
            <a:pPr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F0E90B-00FA-D8A0-675B-6DB0E34BE1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706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" b="849"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FE8C06-5FAA-98C8-EE97-980DCC131B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1177</Words>
  <Application>Microsoft Office PowerPoint</Application>
  <PresentationFormat>Widescreen</PresentationFormat>
  <Paragraphs>275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Nunito Sans</vt:lpstr>
      <vt:lpstr>Titillium Web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UMAIYALAKSHMI UMAKANTH</dc:creator>
  <cp:lastModifiedBy>UMAIYALAKSHMI UMAKANTH</cp:lastModifiedBy>
  <cp:revision>2</cp:revision>
  <dcterms:created xsi:type="dcterms:W3CDTF">2023-12-29T11:43:47Z</dcterms:created>
  <dcterms:modified xsi:type="dcterms:W3CDTF">2023-12-30T06:44:49Z</dcterms:modified>
</cp:coreProperties>
</file>