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744" r:id="rId2"/>
    <p:sldId id="260" r:id="rId3"/>
    <p:sldId id="317" r:id="rId4"/>
    <p:sldId id="747" r:id="rId5"/>
    <p:sldId id="418" r:id="rId6"/>
    <p:sldId id="419" r:id="rId7"/>
    <p:sldId id="748" r:id="rId8"/>
    <p:sldId id="358" r:id="rId9"/>
    <p:sldId id="745" r:id="rId10"/>
    <p:sldId id="746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51220-FCD1-45E5-8EA3-7AE38C64F308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A6A1C-0C3F-4C3F-9941-634A4336A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61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tx1"/>
                </a:solidFill>
                <a:latin typeface="Nunito Sans" pitchFamily="2" charset="0"/>
              </a:rPr>
              <a:t>Biotonic</a:t>
            </a:r>
            <a:r>
              <a:rPr lang="en-US" sz="1200" b="1" dirty="0">
                <a:solidFill>
                  <a:schemeClr val="tx1"/>
                </a:solidFill>
                <a:latin typeface="Nunito Sans" pitchFamily="2" charset="0"/>
              </a:rPr>
              <a:t> doubly linked list:</a:t>
            </a: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 is </a:t>
            </a:r>
            <a:r>
              <a:rPr lang="en-US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a doubly-linked list which is first increasing and then decreasing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. A strictly increasing or a strictly decreasing list is also 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list.</a:t>
            </a:r>
            <a:endParaRPr lang="en-US" b="0" i="0" dirty="0">
              <a:solidFill>
                <a:srgbClr val="202124"/>
              </a:solidFill>
              <a:effectLst/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tx1"/>
                </a:solidFill>
                <a:latin typeface="Nunito Sans" pitchFamily="2" charset="0"/>
              </a:rPr>
              <a:t>Biotonic</a:t>
            </a:r>
            <a:r>
              <a:rPr lang="en-US" sz="1200" b="1" dirty="0">
                <a:solidFill>
                  <a:schemeClr val="tx1"/>
                </a:solidFill>
                <a:latin typeface="Nunito Sans" pitchFamily="2" charset="0"/>
              </a:rPr>
              <a:t> doubly linked list:</a:t>
            </a: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 is </a:t>
            </a:r>
            <a:r>
              <a:rPr lang="en-US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a doubly-linked list which is first increasing and then decreasing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. A strictly increasing or a strictly decreasing list is also 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list.</a:t>
            </a:r>
            <a:endParaRPr lang="en-US" b="0" i="0" dirty="0">
              <a:solidFill>
                <a:srgbClr val="202124"/>
              </a:solidFill>
              <a:effectLst/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899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Bullets</a:t>
            </a:r>
          </a:p>
          <a:p>
            <a:r>
              <a:rPr lang="en-US" dirty="0"/>
              <a:t>No more than 4 points. Please use another similar slide incase you have more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49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Bullets</a:t>
            </a:r>
          </a:p>
          <a:p>
            <a:r>
              <a:rPr lang="en-US" dirty="0"/>
              <a:t>No more than 4 points. Please use another similar slide incase you have more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36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Bullets</a:t>
            </a:r>
          </a:p>
          <a:p>
            <a:r>
              <a:rPr lang="en-US" dirty="0"/>
              <a:t>No more than 4 points. Please use another similar slide incase you have more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23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56FB-462E-3D7B-5CE0-2E2B28261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6DEEC-09C1-53F4-5569-6CEC5C4C1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CA13A-814D-FC8C-3488-2440C186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260D-6C67-6DDA-33F1-1851222A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3D317-D3B4-B464-F250-97355D37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89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DE8A-42B7-8DC0-68E2-2A36F5BE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DE2A8-B1EC-8F90-D1B4-C3B475418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C317E-59D3-E235-6B0C-FA1B7E2E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35D54-EA93-E79B-4897-D561DA0B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B93AD-E8AD-8293-2C80-F79FCE75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8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F7E7-0873-475C-9B61-AF4D0CE3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1DD0A-1FA9-D253-68E8-1E990BA0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F885-ECC2-64C4-6385-43FC8817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0C3A3-F294-4C82-658A-CA62670E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24B41-56F9-8B3F-2B22-D057CD4A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53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50D8-EE94-4683-CDA5-D924F98F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65F0C-17B5-A6AA-7DE2-BF06C13FD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6055D-BA2B-2400-E8DC-E2C37EE27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65D75-35A3-56C2-3774-64546700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6B5FA-5889-0A6F-AA54-8775AE52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3E401-7BEA-4DF3-A12F-B242147B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64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BCED-E6A9-A2A5-943B-321AB0A1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335D5-0CBC-78BC-19DA-A237F2A86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0C203-1E07-F76A-0455-BDD0F752B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7F65B-7504-EECB-7D27-90F0BB18E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956BD-6E06-5BDC-FCA2-596B3CDBA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FEF768-DA8B-BE69-DD88-D3101EE1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C8BE8-6209-3D54-9445-BAC53A32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8CA042-B52C-CAA3-2443-B51DCB15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40D6-84E2-99E8-6EAA-030001D4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CC44B-0381-B067-8A83-4F2CC350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E7F88-949E-B8D4-48AC-790B9EA4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C300C-7673-6D1A-94C7-63D66DBB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03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DBDD1-FC28-B658-96C9-596A122E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C9EA6-EE0B-97C5-F9DD-F25ECEB4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121CF-F46D-71CF-8818-569830B1B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01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3A5A-B4F7-E078-430A-778AB0EC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51C42-D0C3-81FE-E282-90FB6C89B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946A9-436C-2203-49B2-70BB74555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99E1F-82FE-6FA5-FDC6-002B35E2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8668A-7851-D193-B7F9-8BABBFC4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36A9F-651E-4EB3-4D0F-1431DC6A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390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197C-1D07-D3A0-C0B6-83D58507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E720A-FC2D-D9DA-6837-5C4F1402A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484E3-FA07-3327-27EA-001E25095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E00F5-E09D-7856-CE3D-55CCBE63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42606-DD59-82BF-86AC-2082CFF8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718D3-1E1A-1F4F-23B8-5EA19EDE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27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FCBF-D523-E2D2-57BC-ED9E8DB6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7F844-5C17-8202-7D43-9B1C83AE8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52B0B-BB16-6694-D466-5C7067F4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40D7-B5DC-5369-750F-070EFE5F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01AF8-19EB-3571-22C4-FF0D78D7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83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22822-E6D2-7B8B-9C8E-DAD49CEA8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1F963-381D-4E97-CA4C-F2C2DEB98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56FEA-B414-8B71-8602-EA748CED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48FA1-ED19-9763-4646-D8A9E024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A4E7-1520-B53F-ED99-11D34C49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07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C79B9-4989-6335-9756-B3732079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CB503-CF73-7B06-2F63-F04F29FD0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C488C-A501-5F3F-C5A0-5E2E458A7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2EF2B-9C11-4427-9FD7-8CCF38D9DEED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E23F3-A634-6BE1-B86F-91E7F3E2A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131D4-9F79-CF57-B4A8-86F0456F2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AB2A4-C975-4D7C-BF3C-DD4239AFE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60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Sort without extra space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8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Sort the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598714" y="1579455"/>
            <a:ext cx="11104481" cy="3699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b="1" dirty="0">
              <a:latin typeface="Nunito Sans" pitchFamily="2" charset="0"/>
            </a:endParaRPr>
          </a:p>
          <a:p>
            <a:r>
              <a:rPr lang="en-US" sz="2500" b="1" dirty="0">
                <a:latin typeface="Nunito Sans" pitchFamily="2" charset="0"/>
              </a:rPr>
              <a:t>Problem: </a:t>
            </a:r>
          </a:p>
          <a:p>
            <a:r>
              <a:rPr lang="en-US" sz="2500" b="1" dirty="0">
                <a:latin typeface="Nunito Sans" pitchFamily="2" charset="0"/>
              </a:rPr>
              <a:t>	</a:t>
            </a:r>
          </a:p>
          <a:p>
            <a:r>
              <a:rPr lang="en-US" sz="2500" b="1" dirty="0">
                <a:latin typeface="Nunito Sans" pitchFamily="2" charset="0"/>
              </a:rPr>
              <a:t>	</a:t>
            </a:r>
            <a:r>
              <a:rPr lang="en-US" sz="2500" dirty="0">
                <a:latin typeface="Nunito Sans" pitchFamily="2" charset="0"/>
              </a:rPr>
              <a:t>Sort the given queue without using any extra space</a:t>
            </a:r>
          </a:p>
          <a:p>
            <a:endParaRPr lang="en-US" sz="2500" dirty="0">
              <a:latin typeface="Nunito Sans" pitchFamily="2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itchFamily="2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9BD579-EAF9-24E8-9F2D-CCBAA4889F93}"/>
              </a:ext>
            </a:extLst>
          </p:cNvPr>
          <p:cNvSpPr/>
          <p:nvPr/>
        </p:nvSpPr>
        <p:spPr>
          <a:xfrm>
            <a:off x="1546827" y="3526867"/>
            <a:ext cx="99427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DD0C21-4D29-02E7-7D2A-F18289812685}"/>
              </a:ext>
            </a:extLst>
          </p:cNvPr>
          <p:cNvSpPr/>
          <p:nvPr/>
        </p:nvSpPr>
        <p:spPr>
          <a:xfrm>
            <a:off x="3363010" y="3541769"/>
            <a:ext cx="100689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2F26B5-2CA6-5289-061B-45CA4CDA5496}"/>
              </a:ext>
            </a:extLst>
          </p:cNvPr>
          <p:cNvSpPr/>
          <p:nvPr/>
        </p:nvSpPr>
        <p:spPr>
          <a:xfrm>
            <a:off x="5210081" y="3525851"/>
            <a:ext cx="100689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95C32D-08D9-388F-2EBA-AC84AD492B91}"/>
              </a:ext>
            </a:extLst>
          </p:cNvPr>
          <p:cNvSpPr/>
          <p:nvPr/>
        </p:nvSpPr>
        <p:spPr>
          <a:xfrm>
            <a:off x="7036904" y="3544591"/>
            <a:ext cx="115233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8026D1-3DF6-B94B-39AE-9CE070827F4C}"/>
              </a:ext>
            </a:extLst>
          </p:cNvPr>
          <p:cNvSpPr/>
          <p:nvPr/>
        </p:nvSpPr>
        <p:spPr>
          <a:xfrm>
            <a:off x="9042774" y="3544591"/>
            <a:ext cx="81623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EAE186-DCEC-F52E-19AF-16BC1144138A}"/>
              </a:ext>
            </a:extLst>
          </p:cNvPr>
          <p:cNvSpPr txBox="1"/>
          <p:nvPr/>
        </p:nvSpPr>
        <p:spPr>
          <a:xfrm>
            <a:off x="1617508" y="3585662"/>
            <a:ext cx="83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10</a:t>
            </a:r>
            <a:endParaRPr lang="en-IN" sz="28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79F034-665B-BFEF-174D-D79B8BD3ABD5}"/>
              </a:ext>
            </a:extLst>
          </p:cNvPr>
          <p:cNvCxnSpPr/>
          <p:nvPr/>
        </p:nvCxnSpPr>
        <p:spPr>
          <a:xfrm>
            <a:off x="2559554" y="3860469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012564-30D7-AF66-291C-97B2B5A6BE92}"/>
              </a:ext>
            </a:extLst>
          </p:cNvPr>
          <p:cNvCxnSpPr/>
          <p:nvPr/>
        </p:nvCxnSpPr>
        <p:spPr>
          <a:xfrm>
            <a:off x="4369904" y="3840841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FA9ED4-38B5-D948-B981-B82C8374E67C}"/>
              </a:ext>
            </a:extLst>
          </p:cNvPr>
          <p:cNvCxnSpPr/>
          <p:nvPr/>
        </p:nvCxnSpPr>
        <p:spPr>
          <a:xfrm>
            <a:off x="6233448" y="3860469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CC1C82-9FC7-F06A-E093-EA11852AB496}"/>
              </a:ext>
            </a:extLst>
          </p:cNvPr>
          <p:cNvCxnSpPr>
            <a:cxnSpLocks/>
          </p:cNvCxnSpPr>
          <p:nvPr/>
        </p:nvCxnSpPr>
        <p:spPr>
          <a:xfrm>
            <a:off x="8213904" y="3857140"/>
            <a:ext cx="828870" cy="6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E28C220-81B1-5A62-B07F-63DF6B5DB331}"/>
              </a:ext>
            </a:extLst>
          </p:cNvPr>
          <p:cNvSpPr txBox="1"/>
          <p:nvPr/>
        </p:nvSpPr>
        <p:spPr>
          <a:xfrm>
            <a:off x="3463800" y="3571840"/>
            <a:ext cx="825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</a:t>
            </a:r>
            <a:endParaRPr lang="en-IN" sz="2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DA9B75-5AAE-59D8-4BE5-0C1D9075696A}"/>
              </a:ext>
            </a:extLst>
          </p:cNvPr>
          <p:cNvSpPr txBox="1"/>
          <p:nvPr/>
        </p:nvSpPr>
        <p:spPr>
          <a:xfrm>
            <a:off x="5248054" y="3591909"/>
            <a:ext cx="824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90</a:t>
            </a:r>
            <a:endParaRPr lang="en-IN" sz="2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7BE735-1466-8D1E-6DF0-EFC3F4634A7B}"/>
              </a:ext>
            </a:extLst>
          </p:cNvPr>
          <p:cNvSpPr txBox="1"/>
          <p:nvPr/>
        </p:nvSpPr>
        <p:spPr>
          <a:xfrm>
            <a:off x="7198185" y="3551949"/>
            <a:ext cx="838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107</a:t>
            </a:r>
            <a:endParaRPr lang="en-IN" sz="2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B88F5F-B4BD-9B19-6D6C-1D3EFBBC3BA9}"/>
              </a:ext>
            </a:extLst>
          </p:cNvPr>
          <p:cNvSpPr txBox="1"/>
          <p:nvPr/>
        </p:nvSpPr>
        <p:spPr>
          <a:xfrm>
            <a:off x="9200457" y="3598859"/>
            <a:ext cx="50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5</a:t>
            </a:r>
            <a:endParaRPr lang="en-IN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FCF534-6C69-DE88-1822-33C9100147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16868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8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598714" y="1686781"/>
            <a:ext cx="11104481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Nunito Sans" pitchFamily="2" charset="0"/>
              </a:rPr>
              <a:t>Queue follows FIFO </a:t>
            </a:r>
            <a:r>
              <a:rPr lang="en-US" sz="2500" dirty="0" err="1">
                <a:latin typeface="Nunito Sans" pitchFamily="2" charset="0"/>
              </a:rPr>
              <a:t>i.e</a:t>
            </a:r>
            <a:r>
              <a:rPr lang="en-US" sz="2500" dirty="0">
                <a:latin typeface="Nunito Sans" pitchFamily="2" charset="0"/>
              </a:rPr>
              <a:t>) First In First Out</a:t>
            </a:r>
          </a:p>
          <a:p>
            <a:endParaRPr lang="en-US" sz="2500" dirty="0">
              <a:latin typeface="Nunito Sans" pitchFamily="2" charset="0"/>
            </a:endParaRPr>
          </a:p>
          <a:p>
            <a:r>
              <a:rPr lang="en-US" sz="2500" dirty="0">
                <a:latin typeface="Nunito Sans" pitchFamily="2" charset="0"/>
              </a:rPr>
              <a:t>Insertion is said to be enqueue, which can be done in rear end</a:t>
            </a:r>
          </a:p>
          <a:p>
            <a:endParaRPr lang="en-US" sz="2500" dirty="0">
              <a:latin typeface="Nunito Sans" pitchFamily="2" charset="0"/>
            </a:endParaRPr>
          </a:p>
          <a:p>
            <a:r>
              <a:rPr lang="en-US" sz="2500" dirty="0">
                <a:latin typeface="Nunito Sans" pitchFamily="2" charset="0"/>
              </a:rPr>
              <a:t>Deletion is said to be dequeue, which can be done in front end</a:t>
            </a:r>
          </a:p>
          <a:p>
            <a:endParaRPr lang="en-US" sz="2500" dirty="0">
              <a:latin typeface="Nunito Sans" pitchFamily="2" charset="0"/>
            </a:endParaRPr>
          </a:p>
          <a:p>
            <a:endParaRPr lang="en-US" sz="2500" dirty="0">
              <a:latin typeface="Nunito San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FCF534-6C69-DE88-1822-33C9100147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16868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8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2F8620D-ACA5-4154-9CD4-FEE085EEB036}"/>
              </a:ext>
            </a:extLst>
          </p:cNvPr>
          <p:cNvSpPr txBox="1"/>
          <p:nvPr/>
        </p:nvSpPr>
        <p:spPr>
          <a:xfrm>
            <a:off x="526224" y="769163"/>
            <a:ext cx="112855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Queue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A7B499-1801-4959-9783-261750DF0FA9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7543800" y="2667000"/>
            <a:ext cx="0" cy="2209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915400" y="2667000"/>
            <a:ext cx="0" cy="2209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7543800" y="4876800"/>
            <a:ext cx="1371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0" y="5334000"/>
            <a:ext cx="1828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467600" y="5410200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Nunito Sans" panose="020B0604020202020204" charset="0"/>
              </a:rPr>
              <a:t>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4528" y="2948696"/>
            <a:ext cx="1187709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 Sans" panose="020B0604020202020204" charset="0"/>
              </a:rPr>
              <a:t>5</a:t>
            </a:r>
          </a:p>
        </p:txBody>
      </p:sp>
      <p:sp>
        <p:nvSpPr>
          <p:cNvPr id="15" name="Circular Arrow 14"/>
          <p:cNvSpPr/>
          <p:nvPr/>
        </p:nvSpPr>
        <p:spPr>
          <a:xfrm>
            <a:off x="6019800" y="1570208"/>
            <a:ext cx="2384554" cy="2277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1669805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65392" y="3581401"/>
            <a:ext cx="1187709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 Sans" panose="020B0604020202020204" charset="0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4528" y="4304593"/>
            <a:ext cx="1187709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 Sans" panose="020B0604020202020204" charset="0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252478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Nunito Sans" panose="020B0604020202020204" charset="0"/>
              </a:rPr>
              <a:t>Enqueue – First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845" y="2373868"/>
            <a:ext cx="10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Enqueue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282632-0F65-1D39-EE6C-CA140CE8EF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2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85185E-6 L 0.06732 -0.10185 C 0.08164 -0.12477 0.10286 -0.1382 0.125 -0.1382 C 0.15013 -0.1382 0.17018 -0.12477 0.18437 -0.10185 L 0.25208 1.85185E-6 " pathEditMode="relative" rAng="16200000" ptsTypes="AAAAA">
                                      <p:cBhvr>
                                        <p:cTn id="3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-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33333E-6 L 0.06718 -0.14514 C 0.08151 -0.17801 0.10273 -0.19676 0.12474 -0.19676 C 0.15 -0.19676 0.17005 -0.17801 0.18437 -0.14514 L 0.25195 -3.33333E-6 " pathEditMode="relative" rAng="16200000" ptsTypes="AAAAA">
                                      <p:cBhvr>
                                        <p:cTn id="4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91" y="-9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1111 L 0.06706 -0.22361 C 0.08125 -0.2713 0.10247 -0.29861 0.12448 -0.29861 C 0.14961 -0.29861 0.16966 -0.2713 0.18385 -0.22361 L 0.25104 -0.01111 " pathEditMode="relative" rAng="16200000" ptsTypes="AAAAA">
                                      <p:cBhvr>
                                        <p:cTn id="5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1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7" grpId="0" animBg="1"/>
      <p:bldP spid="17" grpId="1" animBg="1"/>
      <p:bldP spid="15" grpId="0" animBg="1"/>
      <p:bldP spid="20" grpId="0" animBg="1"/>
      <p:bldP spid="20" grpId="1" animBg="1"/>
      <p:bldP spid="23" grpId="0" animBg="1"/>
      <p:bldP spid="23" grpId="1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2F8620D-ACA5-4154-9CD4-FEE085EEB036}"/>
              </a:ext>
            </a:extLst>
          </p:cNvPr>
          <p:cNvSpPr txBox="1"/>
          <p:nvPr/>
        </p:nvSpPr>
        <p:spPr>
          <a:xfrm>
            <a:off x="526224" y="769163"/>
            <a:ext cx="112855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Queue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A7B499-1801-4959-9783-261750DF0FA9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5029200" y="2667000"/>
            <a:ext cx="0" cy="2209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400800" y="2667000"/>
            <a:ext cx="0" cy="2209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029200" y="4876800"/>
            <a:ext cx="1371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800600" y="5334000"/>
            <a:ext cx="1828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 Sans" panose="020B0604020202020204" charset="0"/>
              </a:rPr>
              <a:t>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6891" y="2971800"/>
            <a:ext cx="1187709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 Sans" panose="020B0604020202020204" charset="0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1179" y="3586926"/>
            <a:ext cx="1187709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 Sans" panose="020B0604020202020204" charset="0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1179" y="4224992"/>
            <a:ext cx="1187709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Nunito Sans" panose="020B0604020202020204" charset="0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2524780"/>
            <a:ext cx="361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Nunito Sans" panose="020B0604020202020204" charset="0"/>
              </a:rPr>
              <a:t>Dequeue – First Out</a:t>
            </a:r>
          </a:p>
        </p:txBody>
      </p:sp>
      <p:sp>
        <p:nvSpPr>
          <p:cNvPr id="2" name="Curved Down Arrow 1"/>
          <p:cNvSpPr/>
          <p:nvPr/>
        </p:nvSpPr>
        <p:spPr>
          <a:xfrm>
            <a:off x="5791200" y="1600200"/>
            <a:ext cx="2514600" cy="117299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24600" y="2124670"/>
            <a:ext cx="1333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Nunito Sans" panose="020B0604020202020204" charset="0"/>
              </a:rPr>
              <a:t>Dequeue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507288"/>
            <a:ext cx="2057400" cy="683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81C9C1-5986-7EBA-FC8B-516464EDDE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07 L 0.05274 -0.17037 C 0.06393 -0.20903 0.08073 -0.23102 0.09818 -0.23102 C 0.11797 -0.23102 0.13386 -0.20903 0.14505 -0.17037 L 0.19831 0.0007 " pathEditMode="relative" rAng="16200000" ptsTypes="AAAAA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35" y="-1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05287 -0.24723 C 0.06394 -0.30348 0.08073 -0.33473 0.09818 -0.33473 C 0.11797 -0.33473 0.13373 -0.30348 0.1448 -0.24723 L 0.19805 4.44444E-6 " pathEditMode="relative" rAng="16200000" ptsTypes="AAAAA">
                                      <p:cBhvr>
                                        <p:cTn id="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96" y="-1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05378 -0.29653 C 0.06524 -0.3632 0.0823 -0.40186 0.10027 -0.40186 C 0.12032 -0.40186 0.13646 -0.3632 0.14805 -0.29653 L 0.20287 4.44444E-6 " pathEditMode="relative" rAng="16200000" ptsTypes="AAAAA">
                                      <p:cBhvr>
                                        <p:cTn id="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43" y="-2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1" grpId="1" animBg="1"/>
      <p:bldP spid="22" grpId="0" animBg="1"/>
      <p:bldP spid="22" grpId="1" animBg="1"/>
      <p:bldP spid="24" grpId="0" animBg="1"/>
      <p:bldP spid="24" grpId="1" animBg="1"/>
      <p:bldP spid="2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9A7B499-1801-4959-9783-261750DF0FA9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81C9C1-5986-7EBA-FC8B-516464EDDE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Main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public static 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minIndex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(Queue&lt;Integer&gt; list, 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sortIndex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min_index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-1;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int s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list.size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for (int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s;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int current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list.peek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list.poll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if (current &lt;=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sortIndex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{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min_index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(current);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min_index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insertMinToRear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(Queue&lt;Integer&gt; list, int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min_index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int s =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list.size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s;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{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int current =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list.peek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list.poll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min_index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(current);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public static void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sortQueue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(Queue&lt;Integer&gt; list) {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list.size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{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int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min_index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minIndex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list,list.size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-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insertMinToRear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(list,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min_index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5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 (String[] args)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Queue&lt;Integer&gt; list = new LinkedList&lt;Integer&gt;();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US" sz="20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(6); </a:t>
            </a:r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(11);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sortQueue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list.isEmpty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()== false)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list.peek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" ");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list.poll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F4228-0B65-5600-210B-761B6A05EC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PresentationFormat>Widescreen</PresentationFormat>
  <Paragraphs>181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2023-12-30T10:10:50Z</dcterms:created>
  <dcterms:modified xsi:type="dcterms:W3CDTF">2023-12-30T10:11:29Z</dcterms:modified>
</cp:coreProperties>
</file>