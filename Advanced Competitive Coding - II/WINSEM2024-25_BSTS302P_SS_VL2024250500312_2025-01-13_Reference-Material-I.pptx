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72" r:id="rId2"/>
    <p:sldId id="260" r:id="rId3"/>
    <p:sldId id="317" r:id="rId4"/>
    <p:sldId id="340" r:id="rId5"/>
    <p:sldId id="320" r:id="rId6"/>
    <p:sldId id="321" r:id="rId7"/>
    <p:sldId id="28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1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6774D-3342-49A4-835C-F382A7C34EAE}" type="datetimeFigureOut">
              <a:rPr lang="en-IN" smtClean="0"/>
              <a:t>30-12-2023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42232-274F-42E3-A6C2-CCFF2958FDFE}" type="slidenum">
              <a:rPr lang="en-IN" smtClean="0"/>
              <a:t>‹#›</a:t>
            </a:fld>
            <a:endParaRPr lang="en-IN"/>
          </a:p>
        </p:txBody>
      </p:sp>
    </p:spTree>
    <p:extLst>
      <p:ext uri="{BB962C8B-B14F-4D97-AF65-F5344CB8AC3E}">
        <p14:creationId xmlns:p14="http://schemas.microsoft.com/office/powerpoint/2010/main" val="4089094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a:t>
            </a:r>
            <a:r>
              <a:rPr lang="en-US" b="1" baseline="30000" dirty="0"/>
              <a:t>st</a:t>
            </a:r>
            <a:r>
              <a:rPr lang="en-US" b="1" dirty="0"/>
              <a:t> slide (Mandatory)</a:t>
            </a:r>
          </a:p>
        </p:txBody>
      </p:sp>
      <p:sp>
        <p:nvSpPr>
          <p:cNvPr id="4" name="Slide Number Placeholder 3"/>
          <p:cNvSpPr>
            <a:spLocks noGrp="1"/>
          </p:cNvSpPr>
          <p:nvPr>
            <p:ph type="sldNum" sz="quarter" idx="5"/>
          </p:nvPr>
        </p:nvSpPr>
        <p:spPr/>
        <p:txBody>
          <a:bodyPr/>
          <a:lstStyle/>
          <a:p>
            <a:fld id="{0AAB6876-1BF1-4B88-890A-0B4E46201506}" type="slidenum">
              <a:rPr lang="en-US" smtClean="0"/>
              <a:pPr/>
              <a:t>1</a:t>
            </a:fld>
            <a:endParaRPr lang="en-US" dirty="0"/>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Section End/Start</a:t>
            </a:r>
            <a:endParaRPr/>
          </a:p>
          <a:p>
            <a:pPr marL="0" lvl="0" indent="0" algn="l" rtl="0">
              <a:spcBef>
                <a:spcPts val="0"/>
              </a:spcBef>
              <a:spcAft>
                <a:spcPts val="0"/>
              </a:spcAft>
              <a:buNone/>
            </a:pPr>
            <a:r>
              <a:rPr lang="en-US" b="0"/>
              <a:t>Use this at section’s start or end. For example: “Questions” or “Time for Practice”. To be used for Impacts (get the student’s attention). </a:t>
            </a:r>
            <a:endParaRPr/>
          </a:p>
        </p:txBody>
      </p:sp>
      <p:sp>
        <p:nvSpPr>
          <p:cNvPr id="123" name="Google Shape;12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Nunito Sans" panose="020B0604020202020204"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3</a:t>
            </a:fld>
            <a:endParaRPr lang="en-US" dirty="0"/>
          </a:p>
        </p:txBody>
      </p:sp>
    </p:spTree>
    <p:extLst>
      <p:ext uri="{BB962C8B-B14F-4D97-AF65-F5344CB8AC3E}">
        <p14:creationId xmlns:p14="http://schemas.microsoft.com/office/powerpoint/2010/main" val="781976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Nunito Sans" panose="020B0604020202020204"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4</a:t>
            </a:fld>
            <a:endParaRPr lang="en-US" dirty="0"/>
          </a:p>
        </p:txBody>
      </p:sp>
    </p:spTree>
    <p:extLst>
      <p:ext uri="{BB962C8B-B14F-4D97-AF65-F5344CB8AC3E}">
        <p14:creationId xmlns:p14="http://schemas.microsoft.com/office/powerpoint/2010/main" val="2717137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5</a:t>
            </a:fld>
            <a:endParaRPr lang="en-US"/>
          </a:p>
        </p:txBody>
      </p:sp>
    </p:spTree>
    <p:extLst>
      <p:ext uri="{BB962C8B-B14F-4D97-AF65-F5344CB8AC3E}">
        <p14:creationId xmlns:p14="http://schemas.microsoft.com/office/powerpoint/2010/main" val="2825576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6</a:t>
            </a:fld>
            <a:endParaRPr lang="en-US"/>
          </a:p>
        </p:txBody>
      </p:sp>
    </p:spTree>
    <p:extLst>
      <p:ext uri="{BB962C8B-B14F-4D97-AF65-F5344CB8AC3E}">
        <p14:creationId xmlns:p14="http://schemas.microsoft.com/office/powerpoint/2010/main" val="4287559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Thank you slide</a:t>
            </a:r>
          </a:p>
        </p:txBody>
      </p:sp>
      <p:sp>
        <p:nvSpPr>
          <p:cNvPr id="4" name="Slide Number Placeholder 3"/>
          <p:cNvSpPr>
            <a:spLocks noGrp="1"/>
          </p:cNvSpPr>
          <p:nvPr>
            <p:ph type="sldNum" sz="quarter" idx="5"/>
          </p:nvPr>
        </p:nvSpPr>
        <p:spPr/>
        <p:txBody>
          <a:bodyPr/>
          <a:lstStyle/>
          <a:p>
            <a:fld id="{0AAB6876-1BF1-4B88-890A-0B4E46201506}" type="slidenum">
              <a:rPr lang="en-US" smtClean="0"/>
              <a:pPr/>
              <a:t>7</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15D0-B203-DA2C-48C7-3A47E6A626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CD9DDD-F024-86DF-B341-EA9136BC29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5CF02C-F101-DE0F-4DE4-605E31DF0AF0}"/>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5" name="Footer Placeholder 4">
            <a:extLst>
              <a:ext uri="{FF2B5EF4-FFF2-40B4-BE49-F238E27FC236}">
                <a16:creationId xmlns:a16="http://schemas.microsoft.com/office/drawing/2014/main" id="{F9B649C6-C07A-FEA6-8060-D5650CE52E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895404-14D8-DE9C-7F15-6E7FE0A0032F}"/>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3414917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CCDDE-F0FC-356F-2F87-1E8C4AB9DF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536682-6511-A3B0-BE08-3CE30B8D5D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DEA8BD-DDCD-3D0A-9F47-F94BA6778456}"/>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5" name="Footer Placeholder 4">
            <a:extLst>
              <a:ext uri="{FF2B5EF4-FFF2-40B4-BE49-F238E27FC236}">
                <a16:creationId xmlns:a16="http://schemas.microsoft.com/office/drawing/2014/main" id="{F7B6CB6A-85C2-60C4-EA0F-3C741AC16E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FA0199-6D84-B0CD-3C2B-C8C0076910D5}"/>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2629243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6B548-CEA1-E1CF-3DE1-3B1808BF11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ED7E42-0012-725F-260C-1DE2B66913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5CE1EF-03E9-E991-86C4-B24609FA8CEE}"/>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5" name="Footer Placeholder 4">
            <a:extLst>
              <a:ext uri="{FF2B5EF4-FFF2-40B4-BE49-F238E27FC236}">
                <a16:creationId xmlns:a16="http://schemas.microsoft.com/office/drawing/2014/main" id="{213CAF9C-AF87-B478-DAA4-74C5E71C6C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B0931A-2586-C068-7807-61BB22457316}"/>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224416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A4BB-9F91-C784-8713-501295A4D7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2AF728-2924-A1E1-F069-426933DF57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23B69D-8589-53EC-37A0-21669A4025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1AA483-5E0D-09C6-EEE4-17799164D30D}"/>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6" name="Footer Placeholder 5">
            <a:extLst>
              <a:ext uri="{FF2B5EF4-FFF2-40B4-BE49-F238E27FC236}">
                <a16:creationId xmlns:a16="http://schemas.microsoft.com/office/drawing/2014/main" id="{52B172B9-04B8-9308-E602-6171B24824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53EB2E-7817-2878-4B53-55FC0A8D79EE}"/>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1487943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8B650-9E23-8109-8485-5ACA180A2B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ACCEED-0632-2E16-3608-B69F60B92F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8921DA-5BF2-3278-77B0-602CE44B06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6D064B-106D-4806-D04E-140279017F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B7FAF9-9BB0-F3A8-AF33-1628C7C09A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476069-20A0-AF6D-4EA1-02C05FB2D0A1}"/>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8" name="Footer Placeholder 7">
            <a:extLst>
              <a:ext uri="{FF2B5EF4-FFF2-40B4-BE49-F238E27FC236}">
                <a16:creationId xmlns:a16="http://schemas.microsoft.com/office/drawing/2014/main" id="{55D14D15-D4C3-6140-4A91-5B0190818C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6172A3-6836-9D40-837F-B53C59E3689A}"/>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1548258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5B21-90EA-7A51-8105-615B71918D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80F5C3-E019-11C8-867B-1BDB9D851E34}"/>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4" name="Footer Placeholder 3">
            <a:extLst>
              <a:ext uri="{FF2B5EF4-FFF2-40B4-BE49-F238E27FC236}">
                <a16:creationId xmlns:a16="http://schemas.microsoft.com/office/drawing/2014/main" id="{57A535EB-C268-3D54-39F6-19457C8C73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C1FA7C-05E2-E5D5-32D4-1E3E2D7B180D}"/>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1483125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08B074-DCE3-1445-E7A6-E77CC00F89A8}"/>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3" name="Footer Placeholder 2">
            <a:extLst>
              <a:ext uri="{FF2B5EF4-FFF2-40B4-BE49-F238E27FC236}">
                <a16:creationId xmlns:a16="http://schemas.microsoft.com/office/drawing/2014/main" id="{5A2BE10B-3FB9-BB18-70A7-3E05E9C3E6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566B66-0E31-F827-CE00-D4AE96FAF325}"/>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3466742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21F58-D4DE-4259-9A08-663E07A52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B4292A-A671-26D2-D471-AD96EBACC5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90B939-C0DA-BA1F-7BD1-BF041BC44D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0196B-3865-44EE-E962-51E70BE7C037}"/>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6" name="Footer Placeholder 5">
            <a:extLst>
              <a:ext uri="{FF2B5EF4-FFF2-40B4-BE49-F238E27FC236}">
                <a16:creationId xmlns:a16="http://schemas.microsoft.com/office/drawing/2014/main" id="{4BBA140E-64D6-843F-5536-0A4085C467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1723AE-4EBD-4E70-FDC8-FFA0FDF24A1A}"/>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3737973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2910-020A-C360-89E8-E32495F61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27FF61-4A35-B22A-F381-A1BC16B379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CFDB48-30CD-00B9-970E-86A75C029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AB8A1-55E0-E349-3858-FC4436A7A63C}"/>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6" name="Footer Placeholder 5">
            <a:extLst>
              <a:ext uri="{FF2B5EF4-FFF2-40B4-BE49-F238E27FC236}">
                <a16:creationId xmlns:a16="http://schemas.microsoft.com/office/drawing/2014/main" id="{B62EF36B-B83D-984E-42D4-5F55AF2D84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0393E7-1B45-6E22-08B8-A04D895152E5}"/>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159540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8086-2E97-F32F-EEC9-E74E4D9308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99196E-48B0-44EB-2241-24BC8ED050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E03807-6F98-B827-DB26-E9ABBA523C6F}"/>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5" name="Footer Placeholder 4">
            <a:extLst>
              <a:ext uri="{FF2B5EF4-FFF2-40B4-BE49-F238E27FC236}">
                <a16:creationId xmlns:a16="http://schemas.microsoft.com/office/drawing/2014/main" id="{35478C7B-920F-5EFD-12F3-E1DAE4605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2030D-6B39-FC4A-EBBB-B6AB4DED3B52}"/>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3967028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E5EFB8-3CCE-01E1-81F9-E3A7AB4649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2A65B5-B721-AC08-B35C-7EE2D0D8CE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C73D4F-B612-2A08-89EF-6290032864E8}"/>
              </a:ext>
            </a:extLst>
          </p:cNvPr>
          <p:cNvSpPr>
            <a:spLocks noGrp="1"/>
          </p:cNvSpPr>
          <p:nvPr>
            <p:ph type="dt" sz="half" idx="10"/>
          </p:nvPr>
        </p:nvSpPr>
        <p:spPr/>
        <p:txBody>
          <a:bodyPr/>
          <a:lstStyle/>
          <a:p>
            <a:fld id="{88163EA6-70B7-4E46-BBFF-D564AC6AD5E3}" type="datetimeFigureOut">
              <a:rPr lang="en-IN" smtClean="0"/>
              <a:t>30-12-2023</a:t>
            </a:fld>
            <a:endParaRPr lang="en-IN"/>
          </a:p>
        </p:txBody>
      </p:sp>
      <p:sp>
        <p:nvSpPr>
          <p:cNvPr id="5" name="Footer Placeholder 4">
            <a:extLst>
              <a:ext uri="{FF2B5EF4-FFF2-40B4-BE49-F238E27FC236}">
                <a16:creationId xmlns:a16="http://schemas.microsoft.com/office/drawing/2014/main" id="{DD31252D-EC7F-942A-DA0E-4FFE3A2B34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414156-2204-B0E3-3000-1A30DB3B19CC}"/>
              </a:ext>
            </a:extLst>
          </p:cNvPr>
          <p:cNvSpPr>
            <a:spLocks noGrp="1"/>
          </p:cNvSpPr>
          <p:nvPr>
            <p:ph type="sldNum" sz="quarter" idx="12"/>
          </p:nvPr>
        </p:nvSpPr>
        <p:spPr/>
        <p:txBody>
          <a:bodyPr/>
          <a:lstStyle/>
          <a:p>
            <a:fld id="{4E2EA667-B4F9-44FA-8EA6-E75317C11DD5}" type="slidenum">
              <a:rPr lang="en-IN" smtClean="0"/>
              <a:t>‹#›</a:t>
            </a:fld>
            <a:endParaRPr lang="en-IN"/>
          </a:p>
        </p:txBody>
      </p:sp>
    </p:spTree>
    <p:extLst>
      <p:ext uri="{BB962C8B-B14F-4D97-AF65-F5344CB8AC3E}">
        <p14:creationId xmlns:p14="http://schemas.microsoft.com/office/powerpoint/2010/main" val="2349519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06C654-B67B-6A42-F297-95D2EAE35A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3C40D9-F179-02EF-3C00-E071284D2C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BE6752-C300-C5BF-CFDA-A734ABFB1A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163EA6-70B7-4E46-BBFF-D564AC6AD5E3}" type="datetimeFigureOut">
              <a:rPr lang="en-IN" smtClean="0"/>
              <a:t>30-12-2023</a:t>
            </a:fld>
            <a:endParaRPr lang="en-IN"/>
          </a:p>
        </p:txBody>
      </p:sp>
      <p:sp>
        <p:nvSpPr>
          <p:cNvPr id="5" name="Footer Placeholder 4">
            <a:extLst>
              <a:ext uri="{FF2B5EF4-FFF2-40B4-BE49-F238E27FC236}">
                <a16:creationId xmlns:a16="http://schemas.microsoft.com/office/drawing/2014/main" id="{433126E4-734E-AC08-FEF3-E8C6C6C3F3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2A4A17-C122-BBE5-8EC6-EF1C038292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2EA667-B4F9-44FA-8EA6-E75317C11DD5}" type="slidenum">
              <a:rPr lang="en-IN" smtClean="0"/>
              <a:t>‹#›</a:t>
            </a:fld>
            <a:endParaRPr lang="en-IN"/>
          </a:p>
        </p:txBody>
      </p:sp>
    </p:spTree>
    <p:extLst>
      <p:ext uri="{BB962C8B-B14F-4D97-AF65-F5344CB8AC3E}">
        <p14:creationId xmlns:p14="http://schemas.microsoft.com/office/powerpoint/2010/main" val="680894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192FD2-167D-148F-3CFD-A39C05040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00" y="3067050"/>
            <a:ext cx="5715000" cy="7239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Shape 124"/>
        <p:cNvGrpSpPr/>
        <p:nvPr/>
      </p:nvGrpSpPr>
      <p:grpSpPr>
        <a:xfrm>
          <a:off x="0" y="0"/>
          <a:ext cx="0" cy="0"/>
          <a:chOff x="0" y="0"/>
          <a:chExt cx="0" cy="0"/>
        </a:xfrm>
      </p:grpSpPr>
      <p:sp>
        <p:nvSpPr>
          <p:cNvPr id="125" name="Google Shape;125;p5"/>
          <p:cNvSpPr txBox="1"/>
          <p:nvPr/>
        </p:nvSpPr>
        <p:spPr>
          <a:xfrm>
            <a:off x="0" y="3055701"/>
            <a:ext cx="12192000" cy="885098"/>
          </a:xfrm>
          <a:prstGeom prst="rect">
            <a:avLst/>
          </a:prstGeom>
          <a:noFill/>
          <a:ln>
            <a:noFill/>
          </a:ln>
        </p:spPr>
        <p:txBody>
          <a:bodyPr spcFirstLastPara="1" wrap="square" lIns="26775" tIns="26775" rIns="26775" bIns="26775" anchor="t" anchorCtr="0">
            <a:spAutoFit/>
          </a:bodyPr>
          <a:lstStyle/>
          <a:p>
            <a:pPr marL="0" marR="0" lvl="0" indent="0" algn="ctr" rtl="0">
              <a:lnSpc>
                <a:spcPct val="100000"/>
              </a:lnSpc>
              <a:spcBef>
                <a:spcPts val="0"/>
              </a:spcBef>
              <a:spcAft>
                <a:spcPts val="0"/>
              </a:spcAft>
              <a:buClr>
                <a:srgbClr val="FFFFFF"/>
              </a:buClr>
              <a:buSzPts val="5400"/>
              <a:buFont typeface="Nunito Sans"/>
              <a:buNone/>
            </a:pPr>
            <a:r>
              <a:rPr lang="en-US" sz="5400" b="1" i="0" u="none" strike="noStrike" cap="none" dirty="0">
                <a:solidFill>
                  <a:srgbClr val="FFFFFF"/>
                </a:solidFill>
                <a:latin typeface="Nunito Sans"/>
                <a:ea typeface="Nunito Sans"/>
                <a:cs typeface="Nunito Sans"/>
                <a:sym typeface="Nunito Sans"/>
              </a:rPr>
              <a:t>Stack Permutation</a:t>
            </a:r>
            <a:endParaRPr sz="5400" b="1" i="0" u="none" strike="noStrike" cap="none" dirty="0">
              <a:solidFill>
                <a:srgbClr val="FFFFFF"/>
              </a:solidFill>
              <a:latin typeface="Nunito Sans"/>
              <a:ea typeface="Nunito Sans"/>
              <a:cs typeface="Nunito Sans"/>
              <a:sym typeface="Nunito Sans"/>
            </a:endParaRPr>
          </a:p>
        </p:txBody>
      </p:sp>
      <p:pic>
        <p:nvPicPr>
          <p:cNvPr id="126" name="Google Shape;126;p5"/>
          <p:cNvPicPr preferRelativeResize="0"/>
          <p:nvPr/>
        </p:nvPicPr>
        <p:blipFill rotWithShape="1">
          <a:blip r:embed="rId3">
            <a:alphaModFix/>
          </a:blip>
          <a:srcRect/>
          <a:stretch/>
        </p:blipFill>
        <p:spPr>
          <a:xfrm>
            <a:off x="9525600" y="6202800"/>
            <a:ext cx="2356664" cy="29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6224" y="769163"/>
            <a:ext cx="11136326" cy="784830"/>
          </a:xfrm>
          <a:prstGeom prst="rect">
            <a:avLst/>
          </a:prstGeom>
          <a:noFill/>
        </p:spPr>
        <p:txBody>
          <a:bodyPr wrap="square" rtlCol="0">
            <a:spAutoFit/>
          </a:bodyPr>
          <a:lstStyle/>
          <a:p>
            <a:pPr algn="l" fontAlgn="base"/>
            <a:r>
              <a:rPr lang="en-US" sz="4500" b="1" i="0" u="none" strike="noStrike" dirty="0">
                <a:solidFill>
                  <a:srgbClr val="000000"/>
                </a:solidFill>
                <a:effectLst/>
                <a:latin typeface="Nunito Sans" pitchFamily="2" charset="0"/>
              </a:rPr>
              <a:t>Stack permutations</a:t>
            </a: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373F422-781C-4385-84E3-34EDBC7AB3E7}"/>
              </a:ext>
            </a:extLst>
          </p:cNvPr>
          <p:cNvSpPr txBox="1"/>
          <p:nvPr/>
        </p:nvSpPr>
        <p:spPr>
          <a:xfrm>
            <a:off x="558069" y="1524000"/>
            <a:ext cx="11104481" cy="2816156"/>
          </a:xfrm>
          <a:prstGeom prst="rect">
            <a:avLst/>
          </a:prstGeom>
          <a:noFill/>
        </p:spPr>
        <p:txBody>
          <a:bodyPr wrap="square" rtlCol="0">
            <a:spAutoFit/>
          </a:bodyPr>
          <a:lstStyle/>
          <a:p>
            <a:pPr algn="just">
              <a:lnSpc>
                <a:spcPct val="150000"/>
              </a:lnSpc>
            </a:pPr>
            <a:r>
              <a:rPr lang="en-US" sz="2400" b="0" i="0" dirty="0">
                <a:effectLst/>
                <a:latin typeface="Nunito Sans" pitchFamily="2" charset="0"/>
              </a:rPr>
              <a:t>You have been given two arrays having an equal number of elements. You have to find whether one array is the valid stack permutation of the other. An array is said to be a valid stack permutation of the other if and only if after applying some push and pop operations onto the sequence of elements in that array, will result in the other array.</a:t>
            </a:r>
            <a:endParaRPr lang="en-US" sz="2400" b="1" dirty="0">
              <a:latin typeface="Nunito Sans" pitchFamily="2" charset="0"/>
            </a:endParaRPr>
          </a:p>
        </p:txBody>
      </p:sp>
      <p:pic>
        <p:nvPicPr>
          <p:cNvPr id="2" name="Picture 1">
            <a:extLst>
              <a:ext uri="{FF2B5EF4-FFF2-40B4-BE49-F238E27FC236}">
                <a16:creationId xmlns:a16="http://schemas.microsoft.com/office/drawing/2014/main" id="{8D850CBB-E295-A1AD-DC76-BDB4F36B4A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8771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6224" y="769163"/>
            <a:ext cx="11136326" cy="784830"/>
          </a:xfrm>
          <a:prstGeom prst="rect">
            <a:avLst/>
          </a:prstGeom>
          <a:noFill/>
        </p:spPr>
        <p:txBody>
          <a:bodyPr wrap="square" rtlCol="0">
            <a:spAutoFit/>
          </a:bodyPr>
          <a:lstStyle/>
          <a:p>
            <a:pPr algn="l" fontAlgn="base"/>
            <a:r>
              <a:rPr lang="en-US" sz="4500" b="1" i="0" u="none" strike="noStrike" dirty="0">
                <a:solidFill>
                  <a:srgbClr val="000000"/>
                </a:solidFill>
                <a:effectLst/>
                <a:latin typeface="Nunito Sans" pitchFamily="2" charset="0"/>
              </a:rPr>
              <a:t>Stack permutations</a:t>
            </a: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373F422-781C-4385-84E3-34EDBC7AB3E7}"/>
              </a:ext>
            </a:extLst>
          </p:cNvPr>
          <p:cNvSpPr txBox="1"/>
          <p:nvPr/>
        </p:nvSpPr>
        <p:spPr>
          <a:xfrm>
            <a:off x="532991" y="1521726"/>
            <a:ext cx="11104481" cy="3416320"/>
          </a:xfrm>
          <a:prstGeom prst="rect">
            <a:avLst/>
          </a:prstGeom>
          <a:noFill/>
        </p:spPr>
        <p:txBody>
          <a:bodyPr wrap="square" rtlCol="0">
            <a:spAutoFit/>
          </a:bodyPr>
          <a:lstStyle/>
          <a:p>
            <a:pPr algn="just"/>
            <a:r>
              <a:rPr lang="en-US" sz="2400" b="1" dirty="0">
                <a:effectLst/>
                <a:latin typeface="Nunito Sans" pitchFamily="2" charset="0"/>
                <a:cs typeface="Heebo" panose="020B0604020202020204" pitchFamily="2" charset="-79"/>
              </a:rPr>
              <a:t>Example:</a:t>
            </a:r>
          </a:p>
          <a:p>
            <a:pPr algn="just"/>
            <a:endParaRPr lang="en-US" sz="2400" b="1" dirty="0">
              <a:latin typeface="Nunito Sans" pitchFamily="2" charset="0"/>
              <a:cs typeface="Heebo" panose="020B0604020202020204" pitchFamily="2" charset="-79"/>
            </a:endParaRPr>
          </a:p>
          <a:p>
            <a:pPr algn="l" rtl="0" fontAlgn="base"/>
            <a:r>
              <a:rPr lang="en-US" sz="2400" b="1" dirty="0">
                <a:effectLst/>
                <a:latin typeface="Nunito Sans" pitchFamily="2" charset="0"/>
              </a:rPr>
              <a:t>Input:</a:t>
            </a:r>
            <a:r>
              <a:rPr lang="en-US" sz="2400" b="0" dirty="0">
                <a:effectLst/>
                <a:latin typeface="Nunito Sans" pitchFamily="2" charset="0"/>
              </a:rPr>
              <a:t> </a:t>
            </a:r>
          </a:p>
          <a:p>
            <a:pPr algn="l" rtl="0" fontAlgn="base"/>
            <a:r>
              <a:rPr lang="en-US" sz="2400" b="0" dirty="0">
                <a:effectLst/>
                <a:latin typeface="Nunito Sans" pitchFamily="2" charset="0"/>
              </a:rPr>
              <a:t>arr1[] = [ 1, 2, 3 ] </a:t>
            </a:r>
          </a:p>
          <a:p>
            <a:pPr algn="l" rtl="0" fontAlgn="base"/>
            <a:r>
              <a:rPr lang="en-US" sz="2400" b="0" dirty="0">
                <a:effectLst/>
                <a:latin typeface="Nunito Sans" pitchFamily="2" charset="0"/>
              </a:rPr>
              <a:t>arr2[] = [ 2, 1, 3 ]</a:t>
            </a:r>
          </a:p>
          <a:p>
            <a:pPr algn="l" rtl="0" fontAlgn="base"/>
            <a:br>
              <a:rPr lang="en-US" sz="2400" b="0" dirty="0">
                <a:effectLst/>
                <a:latin typeface="Nunito Sans" pitchFamily="2" charset="0"/>
              </a:rPr>
            </a:br>
            <a:r>
              <a:rPr lang="en-US" sz="2400" b="1" dirty="0">
                <a:effectLst/>
                <a:latin typeface="Nunito Sans" pitchFamily="2" charset="0"/>
              </a:rPr>
              <a:t>Output:</a:t>
            </a:r>
          </a:p>
          <a:p>
            <a:pPr algn="l" rtl="0" fontAlgn="base"/>
            <a:r>
              <a:rPr lang="en-US" sz="2400" b="0" dirty="0">
                <a:effectLst/>
                <a:latin typeface="Nunito Sans" pitchFamily="2" charset="0"/>
              </a:rPr>
              <a:t> YES</a:t>
            </a:r>
            <a:br>
              <a:rPr lang="en-US" sz="2400" b="0" dirty="0">
                <a:effectLst/>
                <a:latin typeface="Nunito Sans" pitchFamily="2" charset="0"/>
              </a:rPr>
            </a:br>
            <a:endParaRPr lang="en-US" sz="2400" b="0" dirty="0">
              <a:effectLst/>
              <a:latin typeface="Nunito Sans" pitchFamily="2" charset="0"/>
            </a:endParaRPr>
          </a:p>
        </p:txBody>
      </p:sp>
      <p:pic>
        <p:nvPicPr>
          <p:cNvPr id="2" name="Picture 1">
            <a:extLst>
              <a:ext uri="{FF2B5EF4-FFF2-40B4-BE49-F238E27FC236}">
                <a16:creationId xmlns:a16="http://schemas.microsoft.com/office/drawing/2014/main" id="{2570869F-B957-8AEE-B9C3-337C841F2F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74662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import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java.util</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class Main {</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static Boolean check(int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ip</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op[], int n){</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Stack&lt;Integer&gt; s = new Stack&lt;Integer&gt;();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j = 0;</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for (int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0;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&lt; n;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s.push</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ip</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while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s.isEmpty</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&amp;&amp;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s.peek</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op[j]) {</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s.pop</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j++</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IN" sz="2000" b="1" dirty="0">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if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s.isEmpty</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return true;</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return false;</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382B2FA1-A52D-5DCB-E726-E93E4F1A5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17121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public static void main(String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args</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IN" sz="2000" b="1" dirty="0">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Scanner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a:t>
            </a:r>
            <a:r>
              <a:rPr lang="en-IN" sz="2000" b="1" dirty="0">
                <a:effectLst/>
                <a:latin typeface="Courier New" panose="02070309020205020404" pitchFamily="49" charset="0"/>
                <a:ea typeface="Calibri" panose="020F0502020204030204" pitchFamily="34" charset="0"/>
                <a:cs typeface="Courier New" panose="02070309020205020404" pitchFamily="49" charset="0"/>
              </a:rPr>
              <a:t>=new Scanner (System.in);</a:t>
            </a:r>
          </a:p>
          <a:p>
            <a:pPr marL="0" marR="0">
              <a:lnSpc>
                <a:spcPct val="107000"/>
              </a:lnSpc>
              <a:spcBef>
                <a:spcPts val="0"/>
              </a:spcBef>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int n=</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sc.nextInt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int input[]=new int[n];</a:t>
            </a:r>
          </a:p>
          <a:p>
            <a:pPr marL="0" marR="0">
              <a:lnSpc>
                <a:spcPct val="107000"/>
              </a:lnSpc>
              <a:spcBef>
                <a:spcPts val="0"/>
              </a:spcBef>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int output[]=new int[n];</a:t>
            </a:r>
          </a:p>
          <a:p>
            <a:pPr marL="0" marR="0">
              <a:lnSpc>
                <a:spcPct val="107000"/>
              </a:lnSpc>
              <a:spcBef>
                <a:spcPts val="0"/>
              </a:spcBef>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for(int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=0;i&lt;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input[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sc.nextInt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for(int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=0;i&lt;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output[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sc.nextInt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if (check(input, output, n))</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System.out.println</a:t>
            </a:r>
            <a:r>
              <a:rPr lang="en-IN" sz="2000" b="1" dirty="0">
                <a:effectLst/>
                <a:latin typeface="Courier New" panose="02070309020205020404" pitchFamily="49" charset="0"/>
                <a:ea typeface="Calibri" panose="020F0502020204030204" pitchFamily="34" charset="0"/>
                <a:cs typeface="Courier New" panose="02070309020205020404" pitchFamily="49" charset="0"/>
              </a:rPr>
              <a:t>("Yes");</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else</a:t>
            </a:r>
          </a:p>
          <a:p>
            <a:pPr marL="0" marR="0">
              <a:lnSpc>
                <a:spcPct val="107000"/>
              </a:lnSpc>
              <a:spcBef>
                <a:spcPts val="0"/>
              </a:spcBef>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System.out.println</a:t>
            </a:r>
            <a:r>
              <a:rPr lang="en-IN" sz="2000" b="1" dirty="0">
                <a:effectLst/>
                <a:latin typeface="Courier New" panose="02070309020205020404" pitchFamily="49" charset="0"/>
                <a:ea typeface="Calibri" panose="020F0502020204030204" pitchFamily="34" charset="0"/>
                <a:cs typeface="Courier New" panose="02070309020205020404" pitchFamily="49" charset="0"/>
              </a:rPr>
              <a:t>("Not Possible");</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6A384FC4-EDAE-B3E1-DC7B-A7D9E101BD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8670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a:extLst>
              <a:ext uri="{28A0092B-C50C-407E-A947-70E740481C1C}">
                <a14:useLocalDpi xmlns:a14="http://schemas.microsoft.com/office/drawing/2010/main" val="0"/>
              </a:ext>
            </a:extLst>
          </a:blip>
          <a:srcRect l="1110" b="849"/>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3" name="Picture 2">
            <a:extLst>
              <a:ext uri="{FF2B5EF4-FFF2-40B4-BE49-F238E27FC236}">
                <a16:creationId xmlns:a16="http://schemas.microsoft.com/office/drawing/2014/main" id="{997C6AC9-48F2-33B0-2726-A3187007EC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475</Words>
  <Application>Microsoft Office PowerPoint</Application>
  <PresentationFormat>Widescreen</PresentationFormat>
  <Paragraphs>99</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Courier New</vt:lpstr>
      <vt:lpstr>Nunito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UMAIYALAKSHMI UMAKANTH</dc:creator>
  <cp:lastModifiedBy>UMAIYALAKSHMI UMAKANTH</cp:lastModifiedBy>
  <cp:revision>1</cp:revision>
  <dcterms:created xsi:type="dcterms:W3CDTF">2023-12-30T10:07:08Z</dcterms:created>
  <dcterms:modified xsi:type="dcterms:W3CDTF">2023-12-30T10:07:50Z</dcterms:modified>
</cp:coreProperties>
</file>