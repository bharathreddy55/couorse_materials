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28"/>
  </p:notesMasterIdLst>
  <p:sldIdLst>
    <p:sldId id="272" r:id="rId2"/>
    <p:sldId id="347" r:id="rId3"/>
    <p:sldId id="349" r:id="rId4"/>
    <p:sldId id="350" r:id="rId5"/>
    <p:sldId id="361" r:id="rId6"/>
    <p:sldId id="351" r:id="rId7"/>
    <p:sldId id="352" r:id="rId8"/>
    <p:sldId id="364" r:id="rId9"/>
    <p:sldId id="365" r:id="rId10"/>
    <p:sldId id="366" r:id="rId11"/>
    <p:sldId id="353" r:id="rId12"/>
    <p:sldId id="368" r:id="rId13"/>
    <p:sldId id="354" r:id="rId14"/>
    <p:sldId id="369" r:id="rId15"/>
    <p:sldId id="370" r:id="rId16"/>
    <p:sldId id="367" r:id="rId17"/>
    <p:sldId id="355" r:id="rId18"/>
    <p:sldId id="356" r:id="rId19"/>
    <p:sldId id="357" r:id="rId20"/>
    <p:sldId id="358" r:id="rId21"/>
    <p:sldId id="363" r:id="rId22"/>
    <p:sldId id="371" r:id="rId23"/>
    <p:sldId id="372" r:id="rId24"/>
    <p:sldId id="373" r:id="rId25"/>
    <p:sldId id="374" r:id="rId26"/>
    <p:sldId id="289" r:id="rId27"/>
  </p:sldIdLst>
  <p:sldSz cx="12192000" cy="6858000"/>
  <p:notesSz cx="6858000" cy="9144000"/>
  <p:embeddedFontLst>
    <p:embeddedFont>
      <p:font typeface="Nunito Sans" panose="020B0604020202020204" charset="0"/>
      <p:regular r:id="rId29"/>
      <p:bold r:id="rId30"/>
      <p:italic r:id="rId31"/>
      <p:boldItalic r:id="rId32"/>
    </p:embeddedFont>
    <p:embeddedFont>
      <p:font typeface="Calibri" panose="020F0502020204030204" pitchFamily="34" charset="0"/>
      <p:regular r:id="rId33"/>
      <p:bold r:id="rId34"/>
      <p:italic r:id="rId35"/>
      <p:boldItalic r:id="rId3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840" userDrawn="1">
          <p15:clr>
            <a:srgbClr val="A4A3A4"/>
          </p15:clr>
        </p15:guide>
        <p15:guide id="2" pos="600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05136"/>
    <a:srgbClr val="000000"/>
    <a:srgbClr val="E5E5E5"/>
    <a:srgbClr val="525252"/>
    <a:srgbClr val="1A1A1A"/>
    <a:srgbClr val="4A4A4A"/>
    <a:srgbClr val="131313"/>
    <a:srgbClr val="212121"/>
    <a:srgbClr val="303030"/>
    <a:srgbClr val="3D3D3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00" autoAdjust="0"/>
    <p:restoredTop sz="64649" autoAdjust="0"/>
  </p:normalViewPr>
  <p:slideViewPr>
    <p:cSldViewPr>
      <p:cViewPr varScale="1">
        <p:scale>
          <a:sx n="57" d="100"/>
          <a:sy n="57" d="100"/>
        </p:scale>
        <p:origin x="1450" y="58"/>
      </p:cViewPr>
      <p:guideLst>
        <p:guide orient="horz" pos="3840"/>
        <p:guide pos="600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font" Target="fonts/font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499A3E1-D0AF-40CA-9CA4-BE00645EFE64}" type="datetimeFigureOut">
              <a:rPr lang="en-US" smtClean="0"/>
              <a:pPr/>
              <a:t>1/9/2020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AB6876-1BF1-4B88-890A-0B4E46201506}" type="slidenum">
              <a:rPr lang="en-US" smtClean="0"/>
              <a:pPr/>
              <a:t>‹#›</a:t>
            </a:fld>
            <a:endParaRPr lang="en-US"/>
          </a:p>
        </p:txBody>
      </p:sp>
    </p:spTree>
    <p:extLst>
      <p:ext uri="{BB962C8B-B14F-4D97-AF65-F5344CB8AC3E}">
        <p14:creationId xmlns:p14="http://schemas.microsoft.com/office/powerpoint/2010/main" val="22064915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1</a:t>
            </a:r>
            <a:r>
              <a:rPr lang="en-US" b="1" baseline="30000" dirty="0"/>
              <a:t>st</a:t>
            </a:r>
            <a:r>
              <a:rPr lang="en-US" b="1" dirty="0"/>
              <a:t> slide (Mandatory)</a:t>
            </a:r>
          </a:p>
        </p:txBody>
      </p:sp>
      <p:sp>
        <p:nvSpPr>
          <p:cNvPr id="4" name="Slide Number Placeholder 3"/>
          <p:cNvSpPr>
            <a:spLocks noGrp="1"/>
          </p:cNvSpPr>
          <p:nvPr>
            <p:ph type="sldNum" sz="quarter" idx="5"/>
          </p:nvPr>
        </p:nvSpPr>
        <p:spPr/>
        <p:txBody>
          <a:bodyPr/>
          <a:lstStyle/>
          <a:p>
            <a:fld id="{0AAB6876-1BF1-4B88-890A-0B4E46201506}" type="slidenum">
              <a:rPr lang="en-US" smtClean="0"/>
              <a:pPr/>
              <a:t>1</a:t>
            </a:fld>
            <a:endParaRPr lang="en-US"/>
          </a:p>
        </p:txBody>
      </p:sp>
    </p:spTree>
    <p:extLst>
      <p:ext uri="{BB962C8B-B14F-4D97-AF65-F5344CB8AC3E}">
        <p14:creationId xmlns:p14="http://schemas.microsoft.com/office/powerpoint/2010/main" val="6308949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smtClean="0"/>
          </a:p>
        </p:txBody>
      </p:sp>
      <p:sp>
        <p:nvSpPr>
          <p:cNvPr id="4" name="Slide Number Placeholder 3"/>
          <p:cNvSpPr>
            <a:spLocks noGrp="1"/>
          </p:cNvSpPr>
          <p:nvPr>
            <p:ph type="sldNum" sz="quarter" idx="5"/>
          </p:nvPr>
        </p:nvSpPr>
        <p:spPr/>
        <p:txBody>
          <a:bodyPr/>
          <a:lstStyle/>
          <a:p>
            <a:fld id="{0AAB6876-1BF1-4B88-890A-0B4E46201506}" type="slidenum">
              <a:rPr lang="en-US" smtClean="0"/>
              <a:pPr/>
              <a:t>2</a:t>
            </a:fld>
            <a:endParaRPr lang="en-US"/>
          </a:p>
        </p:txBody>
      </p:sp>
    </p:spTree>
    <p:extLst>
      <p:ext uri="{BB962C8B-B14F-4D97-AF65-F5344CB8AC3E}">
        <p14:creationId xmlns:p14="http://schemas.microsoft.com/office/powerpoint/2010/main" val="24741580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Description:</a:t>
            </a:r>
          </a:p>
          <a:p>
            <a:pPr lvl="1" algn="just">
              <a:buFont typeface="Wingdings" pitchFamily="2" charset="2"/>
              <a:buChar char="Ø"/>
            </a:pPr>
            <a:r>
              <a:rPr lang="en-US" sz="2500" dirty="0" smtClean="0">
                <a:latin typeface="Nunito Sans" charset="0"/>
              </a:rPr>
              <a:t>QL is a database language, it is used for database creation, deletion, fetching rows, and modifying rows, etc.</a:t>
            </a:r>
          </a:p>
          <a:p>
            <a:pPr lvl="1" algn="just">
              <a:buFont typeface="Wingdings" pitchFamily="2" charset="2"/>
              <a:buChar char="Ø"/>
            </a:pPr>
            <a:r>
              <a:rPr lang="en-US" sz="2500" dirty="0" smtClean="0">
                <a:latin typeface="Nunito Sans" charset="0"/>
              </a:rPr>
              <a:t>SQL is based on relational algebra and tuple relational calculus.</a:t>
            </a:r>
          </a:p>
          <a:p>
            <a:pPr lvl="1" algn="just">
              <a:buFont typeface="Wingdings" pitchFamily="2" charset="2"/>
              <a:buNone/>
            </a:pPr>
            <a:endParaRPr lang="en-US" sz="2500" dirty="0" smtClean="0">
              <a:latin typeface="Nunito Sans" charset="0"/>
            </a:endParaRPr>
          </a:p>
          <a:p>
            <a:endParaRPr lang="en-US" b="1" dirty="0" smtClean="0"/>
          </a:p>
        </p:txBody>
      </p:sp>
      <p:sp>
        <p:nvSpPr>
          <p:cNvPr id="4" name="Slide Number Placeholder 3"/>
          <p:cNvSpPr>
            <a:spLocks noGrp="1"/>
          </p:cNvSpPr>
          <p:nvPr>
            <p:ph type="sldNum" sz="quarter" idx="5"/>
          </p:nvPr>
        </p:nvSpPr>
        <p:spPr/>
        <p:txBody>
          <a:bodyPr/>
          <a:lstStyle/>
          <a:p>
            <a:fld id="{0AAB6876-1BF1-4B88-890A-0B4E46201506}" type="slidenum">
              <a:rPr lang="en-US" smtClean="0"/>
              <a:pPr/>
              <a:t>3</a:t>
            </a:fld>
            <a:endParaRPr lang="en-US"/>
          </a:p>
        </p:txBody>
      </p:sp>
    </p:spTree>
    <p:extLst>
      <p:ext uri="{BB962C8B-B14F-4D97-AF65-F5344CB8AC3E}">
        <p14:creationId xmlns:p14="http://schemas.microsoft.com/office/powerpoint/2010/main" val="24741580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Description:</a:t>
            </a:r>
          </a:p>
          <a:p>
            <a:pPr lvl="1" algn="just">
              <a:buFont typeface="Wingdings" pitchFamily="2" charset="2"/>
              <a:buChar char="Ø"/>
            </a:pPr>
            <a:r>
              <a:rPr lang="en-US" sz="2500" dirty="0" smtClean="0">
                <a:latin typeface="Nunito Sans" charset="0"/>
              </a:rPr>
              <a:t>It allows the user to create and drop database and table.</a:t>
            </a:r>
          </a:p>
          <a:p>
            <a:pPr lvl="1" algn="just">
              <a:buFont typeface="Wingdings" pitchFamily="2" charset="2"/>
              <a:buChar char="Ø"/>
            </a:pPr>
            <a:r>
              <a:rPr lang="en-US" sz="2500" dirty="0" smtClean="0">
                <a:latin typeface="Nunito Sans" charset="0"/>
              </a:rPr>
              <a:t>It allows the user to create a view, stored procedure, function in a database.</a:t>
            </a:r>
          </a:p>
          <a:p>
            <a:pPr lvl="1" algn="just">
              <a:buFont typeface="Wingdings" pitchFamily="2" charset="2"/>
              <a:buChar char="Ø"/>
            </a:pPr>
            <a:r>
              <a:rPr lang="en-US" sz="2500" dirty="0" smtClean="0">
                <a:latin typeface="Nunito Sans" charset="0"/>
              </a:rPr>
              <a:t>It allows the user to set permission on tables, procedures, and views.</a:t>
            </a:r>
          </a:p>
          <a:p>
            <a:endParaRPr lang="en-US" b="1" dirty="0" smtClean="0"/>
          </a:p>
        </p:txBody>
      </p:sp>
      <p:sp>
        <p:nvSpPr>
          <p:cNvPr id="4" name="Slide Number Placeholder 3"/>
          <p:cNvSpPr>
            <a:spLocks noGrp="1"/>
          </p:cNvSpPr>
          <p:nvPr>
            <p:ph type="sldNum" sz="quarter" idx="5"/>
          </p:nvPr>
        </p:nvSpPr>
        <p:spPr/>
        <p:txBody>
          <a:bodyPr/>
          <a:lstStyle/>
          <a:p>
            <a:fld id="{0AAB6876-1BF1-4B88-890A-0B4E46201506}" type="slidenum">
              <a:rPr lang="en-US" smtClean="0"/>
              <a:pPr/>
              <a:t>4</a:t>
            </a:fld>
            <a:endParaRPr lang="en-US"/>
          </a:p>
        </p:txBody>
      </p:sp>
    </p:spTree>
    <p:extLst>
      <p:ext uri="{BB962C8B-B14F-4D97-AF65-F5344CB8AC3E}">
        <p14:creationId xmlns:p14="http://schemas.microsoft.com/office/powerpoint/2010/main" val="24741580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smtClean="0"/>
          </a:p>
        </p:txBody>
      </p:sp>
      <p:sp>
        <p:nvSpPr>
          <p:cNvPr id="4" name="Slide Number Placeholder 3"/>
          <p:cNvSpPr>
            <a:spLocks noGrp="1"/>
          </p:cNvSpPr>
          <p:nvPr>
            <p:ph type="sldNum" sz="quarter" idx="5"/>
          </p:nvPr>
        </p:nvSpPr>
        <p:spPr/>
        <p:txBody>
          <a:bodyPr/>
          <a:lstStyle/>
          <a:p>
            <a:fld id="{0AAB6876-1BF1-4B88-890A-0B4E46201506}" type="slidenum">
              <a:rPr lang="en-US" smtClean="0"/>
              <a:pPr/>
              <a:t>5</a:t>
            </a:fld>
            <a:endParaRPr lang="en-US"/>
          </a:p>
        </p:txBody>
      </p:sp>
    </p:spTree>
    <p:extLst>
      <p:ext uri="{BB962C8B-B14F-4D97-AF65-F5344CB8AC3E}">
        <p14:creationId xmlns:p14="http://schemas.microsoft.com/office/powerpoint/2010/main" val="799631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Description:</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latin typeface="Nunito Sans" charset="0"/>
              </a:rPr>
              <a:t>SQL follows some unique set of rules and guidelines called syntax. Here, we are providing all the basic SQL syntax.</a:t>
            </a:r>
          </a:p>
          <a:p>
            <a:r>
              <a:rPr lang="en-US" sz="1200" dirty="0" smtClean="0">
                <a:latin typeface="Nunito Sans" charset="0"/>
              </a:rPr>
              <a:t>You can perform most of the action in a database with SQL statements.</a:t>
            </a:r>
          </a:p>
          <a:p>
            <a:r>
              <a:rPr lang="en-US" sz="1200" dirty="0" smtClean="0">
                <a:latin typeface="Nunito Sans" charset="0"/>
              </a:rPr>
              <a:t>SQL depends on relational algebra and tuple relational calculus.</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dirty="0" smtClean="0">
              <a:latin typeface="Nunito Sans" charset="0"/>
            </a:endParaRPr>
          </a:p>
          <a:p>
            <a:endParaRPr lang="en-US" b="1" dirty="0" smtClean="0"/>
          </a:p>
        </p:txBody>
      </p:sp>
      <p:sp>
        <p:nvSpPr>
          <p:cNvPr id="4" name="Slide Number Placeholder 3"/>
          <p:cNvSpPr>
            <a:spLocks noGrp="1"/>
          </p:cNvSpPr>
          <p:nvPr>
            <p:ph type="sldNum" sz="quarter" idx="5"/>
          </p:nvPr>
        </p:nvSpPr>
        <p:spPr/>
        <p:txBody>
          <a:bodyPr/>
          <a:lstStyle/>
          <a:p>
            <a:fld id="{0AAB6876-1BF1-4B88-890A-0B4E46201506}" type="slidenum">
              <a:rPr lang="en-US" smtClean="0"/>
              <a:pPr/>
              <a:t>6</a:t>
            </a:fld>
            <a:endParaRPr lang="en-US"/>
          </a:p>
        </p:txBody>
      </p:sp>
    </p:spTree>
    <p:extLst>
      <p:ext uri="{BB962C8B-B14F-4D97-AF65-F5344CB8AC3E}">
        <p14:creationId xmlns:p14="http://schemas.microsoft.com/office/powerpoint/2010/main" val="24741580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Description:</a:t>
            </a:r>
          </a:p>
          <a:p>
            <a:endParaRPr lang="en-US" sz="1200" b="0" i="0" kern="1200" dirty="0" smtClean="0">
              <a:solidFill>
                <a:schemeClr val="tx1"/>
              </a:solidFill>
              <a:latin typeface="+mn-lt"/>
              <a:ea typeface="+mn-ea"/>
              <a:cs typeface="+mn-cs"/>
            </a:endParaRPr>
          </a:p>
          <a:p>
            <a:r>
              <a:rPr lang="en-US" sz="1200" b="0" i="0" kern="1200" dirty="0" smtClean="0">
                <a:solidFill>
                  <a:schemeClr val="tx1"/>
                </a:solidFill>
                <a:latin typeface="+mn-lt"/>
                <a:ea typeface="+mn-ea"/>
                <a:cs typeface="+mn-cs"/>
              </a:rPr>
              <a:t>Why semicolon is used after SQL statements:</a:t>
            </a:r>
          </a:p>
          <a:p>
            <a:endParaRPr lang="en-US" sz="1200" b="0" i="0" kern="1200" dirty="0" smtClean="0">
              <a:solidFill>
                <a:schemeClr val="tx1"/>
              </a:solidFill>
              <a:latin typeface="+mn-lt"/>
              <a:ea typeface="+mn-ea"/>
              <a:cs typeface="+mn-cs"/>
            </a:endParaRPr>
          </a:p>
          <a:p>
            <a:r>
              <a:rPr lang="en-US" sz="1200" b="0" i="0" kern="1200" dirty="0" smtClean="0">
                <a:solidFill>
                  <a:schemeClr val="tx1"/>
                </a:solidFill>
                <a:latin typeface="+mn-lt"/>
                <a:ea typeface="+mn-ea"/>
                <a:cs typeface="+mn-cs"/>
              </a:rPr>
              <a:t>Semicolon is used to separate SQL statements. It is a standard way to separate SQL statements in a database system in which more than one SQL statements are used in the same call.</a:t>
            </a:r>
          </a:p>
          <a:p>
            <a:endParaRPr lang="en-US" b="1" dirty="0" smtClean="0"/>
          </a:p>
        </p:txBody>
      </p:sp>
      <p:sp>
        <p:nvSpPr>
          <p:cNvPr id="4" name="Slide Number Placeholder 3"/>
          <p:cNvSpPr>
            <a:spLocks noGrp="1"/>
          </p:cNvSpPr>
          <p:nvPr>
            <p:ph type="sldNum" sz="quarter" idx="5"/>
          </p:nvPr>
        </p:nvSpPr>
        <p:spPr/>
        <p:txBody>
          <a:bodyPr/>
          <a:lstStyle/>
          <a:p>
            <a:fld id="{0AAB6876-1BF1-4B88-890A-0B4E46201506}" type="slidenum">
              <a:rPr lang="en-US" smtClean="0"/>
              <a:pPr/>
              <a:t>7</a:t>
            </a:fld>
            <a:endParaRPr lang="en-US"/>
          </a:p>
        </p:txBody>
      </p:sp>
    </p:spTree>
    <p:extLst>
      <p:ext uri="{BB962C8B-B14F-4D97-AF65-F5344CB8AC3E}">
        <p14:creationId xmlns:p14="http://schemas.microsoft.com/office/powerpoint/2010/main" val="24741580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Title </a:t>
            </a:r>
            <a:r>
              <a:rPr lang="en-US" b="1" dirty="0" smtClean="0"/>
              <a:t>+ </a:t>
            </a:r>
            <a:r>
              <a:rPr lang="en-US" b="1" dirty="0"/>
              <a:t>Text</a:t>
            </a:r>
          </a:p>
        </p:txBody>
      </p:sp>
      <p:sp>
        <p:nvSpPr>
          <p:cNvPr id="4" name="Slide Number Placeholder 3"/>
          <p:cNvSpPr>
            <a:spLocks noGrp="1"/>
          </p:cNvSpPr>
          <p:nvPr>
            <p:ph type="sldNum" sz="quarter" idx="5"/>
          </p:nvPr>
        </p:nvSpPr>
        <p:spPr/>
        <p:txBody>
          <a:bodyPr/>
          <a:lstStyle/>
          <a:p>
            <a:fld id="{0AAB6876-1BF1-4B88-890A-0B4E46201506}" type="slidenum">
              <a:rPr lang="en-US" smtClean="0"/>
              <a:t>8</a:t>
            </a:fld>
            <a:endParaRPr lang="en-US"/>
          </a:p>
        </p:txBody>
      </p:sp>
    </p:spTree>
    <p:extLst>
      <p:ext uri="{BB962C8B-B14F-4D97-AF65-F5344CB8AC3E}">
        <p14:creationId xmlns:p14="http://schemas.microsoft.com/office/powerpoint/2010/main" val="23976185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Title </a:t>
            </a:r>
            <a:r>
              <a:rPr lang="en-US" b="1" dirty="0" smtClean="0"/>
              <a:t>+ </a:t>
            </a:r>
            <a:r>
              <a:rPr lang="en-US" b="1" dirty="0"/>
              <a:t>Text</a:t>
            </a:r>
          </a:p>
        </p:txBody>
      </p:sp>
      <p:sp>
        <p:nvSpPr>
          <p:cNvPr id="4" name="Slide Number Placeholder 3"/>
          <p:cNvSpPr>
            <a:spLocks noGrp="1"/>
          </p:cNvSpPr>
          <p:nvPr>
            <p:ph type="sldNum" sz="quarter" idx="5"/>
          </p:nvPr>
        </p:nvSpPr>
        <p:spPr/>
        <p:txBody>
          <a:bodyPr/>
          <a:lstStyle/>
          <a:p>
            <a:fld id="{0AAB6876-1BF1-4B88-890A-0B4E46201506}" type="slidenum">
              <a:rPr lang="en-US" smtClean="0"/>
              <a:t>9</a:t>
            </a:fld>
            <a:endParaRPr lang="en-US"/>
          </a:p>
        </p:txBody>
      </p:sp>
    </p:spTree>
    <p:extLst>
      <p:ext uri="{BB962C8B-B14F-4D97-AF65-F5344CB8AC3E}">
        <p14:creationId xmlns:p14="http://schemas.microsoft.com/office/powerpoint/2010/main" val="30235180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Title </a:t>
            </a:r>
            <a:r>
              <a:rPr lang="en-US" b="1" dirty="0" smtClean="0"/>
              <a:t>+ </a:t>
            </a:r>
            <a:r>
              <a:rPr lang="en-US" b="1" dirty="0"/>
              <a:t>Text</a:t>
            </a:r>
          </a:p>
        </p:txBody>
      </p:sp>
      <p:sp>
        <p:nvSpPr>
          <p:cNvPr id="4" name="Slide Number Placeholder 3"/>
          <p:cNvSpPr>
            <a:spLocks noGrp="1"/>
          </p:cNvSpPr>
          <p:nvPr>
            <p:ph type="sldNum" sz="quarter" idx="5"/>
          </p:nvPr>
        </p:nvSpPr>
        <p:spPr/>
        <p:txBody>
          <a:bodyPr/>
          <a:lstStyle/>
          <a:p>
            <a:fld id="{0AAB6876-1BF1-4B88-890A-0B4E46201506}" type="slidenum">
              <a:rPr lang="en-US" smtClean="0"/>
              <a:t>10</a:t>
            </a:fld>
            <a:endParaRPr lang="en-US"/>
          </a:p>
        </p:txBody>
      </p:sp>
    </p:spTree>
    <p:extLst>
      <p:ext uri="{BB962C8B-B14F-4D97-AF65-F5344CB8AC3E}">
        <p14:creationId xmlns:p14="http://schemas.microsoft.com/office/powerpoint/2010/main" val="32105834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Description:</a:t>
            </a:r>
          </a:p>
          <a:p>
            <a:r>
              <a:rPr lang="en-US" sz="1200" b="0" i="0" kern="1200" dirty="0" smtClean="0">
                <a:solidFill>
                  <a:schemeClr val="tx1"/>
                </a:solidFill>
                <a:latin typeface="+mn-lt"/>
                <a:ea typeface="+mn-ea"/>
                <a:cs typeface="+mn-cs"/>
              </a:rPr>
              <a:t>These are the some important SQL command:</a:t>
            </a:r>
          </a:p>
          <a:p>
            <a:r>
              <a:rPr lang="en-US" sz="1200" b="1" i="0" kern="1200" dirty="0" smtClean="0">
                <a:solidFill>
                  <a:schemeClr val="tx1"/>
                </a:solidFill>
                <a:latin typeface="+mn-lt"/>
                <a:ea typeface="+mn-ea"/>
                <a:cs typeface="+mn-cs"/>
              </a:rPr>
              <a:t>SELECT</a:t>
            </a:r>
            <a:r>
              <a:rPr lang="en-US" sz="1200" b="0" i="0" kern="1200" dirty="0" smtClean="0">
                <a:solidFill>
                  <a:schemeClr val="tx1"/>
                </a:solidFill>
                <a:latin typeface="+mn-lt"/>
                <a:ea typeface="+mn-ea"/>
                <a:cs typeface="+mn-cs"/>
              </a:rPr>
              <a:t>: it extracts data from a database.</a:t>
            </a:r>
          </a:p>
          <a:p>
            <a:r>
              <a:rPr lang="en-US" sz="1200" b="1" i="0" kern="1200" dirty="0" smtClean="0">
                <a:solidFill>
                  <a:schemeClr val="tx1"/>
                </a:solidFill>
                <a:latin typeface="+mn-lt"/>
                <a:ea typeface="+mn-ea"/>
                <a:cs typeface="+mn-cs"/>
              </a:rPr>
              <a:t>UPDATE</a:t>
            </a:r>
            <a:r>
              <a:rPr lang="en-US" sz="1200" b="0" i="0" kern="1200" dirty="0" smtClean="0">
                <a:solidFill>
                  <a:schemeClr val="tx1"/>
                </a:solidFill>
                <a:latin typeface="+mn-lt"/>
                <a:ea typeface="+mn-ea"/>
                <a:cs typeface="+mn-cs"/>
              </a:rPr>
              <a:t>: it updates data in database.</a:t>
            </a:r>
          </a:p>
          <a:p>
            <a:r>
              <a:rPr lang="en-US" sz="1200" b="1" i="0" kern="1200" dirty="0" smtClean="0">
                <a:solidFill>
                  <a:schemeClr val="tx1"/>
                </a:solidFill>
                <a:latin typeface="+mn-lt"/>
                <a:ea typeface="+mn-ea"/>
                <a:cs typeface="+mn-cs"/>
              </a:rPr>
              <a:t>DELETE</a:t>
            </a:r>
            <a:r>
              <a:rPr lang="en-US" sz="1200" b="0" i="0" kern="1200" dirty="0" smtClean="0">
                <a:solidFill>
                  <a:schemeClr val="tx1"/>
                </a:solidFill>
                <a:latin typeface="+mn-lt"/>
                <a:ea typeface="+mn-ea"/>
                <a:cs typeface="+mn-cs"/>
              </a:rPr>
              <a:t>: it deletes data from database.</a:t>
            </a:r>
          </a:p>
          <a:p>
            <a:r>
              <a:rPr lang="en-US" sz="1200" b="1" i="0" kern="1200" dirty="0" smtClean="0">
                <a:solidFill>
                  <a:schemeClr val="tx1"/>
                </a:solidFill>
                <a:latin typeface="+mn-lt"/>
                <a:ea typeface="+mn-ea"/>
                <a:cs typeface="+mn-cs"/>
              </a:rPr>
              <a:t>CREATE TABLE</a:t>
            </a:r>
            <a:r>
              <a:rPr lang="en-US" sz="1200" b="0" i="0" kern="1200" dirty="0" smtClean="0">
                <a:solidFill>
                  <a:schemeClr val="tx1"/>
                </a:solidFill>
                <a:latin typeface="+mn-lt"/>
                <a:ea typeface="+mn-ea"/>
                <a:cs typeface="+mn-cs"/>
              </a:rPr>
              <a:t>: it creates a new table.</a:t>
            </a:r>
          </a:p>
          <a:p>
            <a:r>
              <a:rPr lang="en-US" sz="1200" b="1" i="0" kern="1200" dirty="0" smtClean="0">
                <a:solidFill>
                  <a:schemeClr val="tx1"/>
                </a:solidFill>
                <a:latin typeface="+mn-lt"/>
                <a:ea typeface="+mn-ea"/>
                <a:cs typeface="+mn-cs"/>
              </a:rPr>
              <a:t>ALTER TABLE</a:t>
            </a:r>
            <a:r>
              <a:rPr lang="en-US" sz="1200" b="0" i="0" kern="1200" dirty="0" smtClean="0">
                <a:solidFill>
                  <a:schemeClr val="tx1"/>
                </a:solidFill>
                <a:latin typeface="+mn-lt"/>
                <a:ea typeface="+mn-ea"/>
                <a:cs typeface="+mn-cs"/>
              </a:rPr>
              <a:t>: it is used to modify the table.</a:t>
            </a:r>
          </a:p>
          <a:p>
            <a:r>
              <a:rPr lang="en-US" sz="1200" b="1" i="0" kern="1200" dirty="0" smtClean="0">
                <a:solidFill>
                  <a:schemeClr val="tx1"/>
                </a:solidFill>
                <a:latin typeface="+mn-lt"/>
                <a:ea typeface="+mn-ea"/>
                <a:cs typeface="+mn-cs"/>
              </a:rPr>
              <a:t>DROP TABLE</a:t>
            </a:r>
            <a:r>
              <a:rPr lang="en-US" sz="1200" b="0" i="0" kern="1200" dirty="0" smtClean="0">
                <a:solidFill>
                  <a:schemeClr val="tx1"/>
                </a:solidFill>
                <a:latin typeface="+mn-lt"/>
                <a:ea typeface="+mn-ea"/>
                <a:cs typeface="+mn-cs"/>
              </a:rPr>
              <a:t>: it deletes a table.</a:t>
            </a:r>
          </a:p>
          <a:p>
            <a:r>
              <a:rPr lang="en-US" sz="1200" b="1" i="0" kern="1200" dirty="0" smtClean="0">
                <a:solidFill>
                  <a:schemeClr val="tx1"/>
                </a:solidFill>
                <a:latin typeface="+mn-lt"/>
                <a:ea typeface="+mn-ea"/>
                <a:cs typeface="+mn-cs"/>
              </a:rPr>
              <a:t>CREATE DATABASE</a:t>
            </a:r>
            <a:r>
              <a:rPr lang="en-US" sz="1200" b="0" i="0" kern="1200" dirty="0" smtClean="0">
                <a:solidFill>
                  <a:schemeClr val="tx1"/>
                </a:solidFill>
                <a:latin typeface="+mn-lt"/>
                <a:ea typeface="+mn-ea"/>
                <a:cs typeface="+mn-cs"/>
              </a:rPr>
              <a:t>: it creates a new database.</a:t>
            </a:r>
          </a:p>
          <a:p>
            <a:r>
              <a:rPr lang="en-US" sz="1200" b="1" i="0" kern="1200" dirty="0" smtClean="0">
                <a:solidFill>
                  <a:schemeClr val="tx1"/>
                </a:solidFill>
                <a:latin typeface="+mn-lt"/>
                <a:ea typeface="+mn-ea"/>
                <a:cs typeface="+mn-cs"/>
              </a:rPr>
              <a:t>ALTER DATABASE</a:t>
            </a:r>
            <a:r>
              <a:rPr lang="en-US" sz="1200" b="0" i="0" kern="1200" dirty="0" smtClean="0">
                <a:solidFill>
                  <a:schemeClr val="tx1"/>
                </a:solidFill>
                <a:latin typeface="+mn-lt"/>
                <a:ea typeface="+mn-ea"/>
                <a:cs typeface="+mn-cs"/>
              </a:rPr>
              <a:t>: It is used to modify a database.</a:t>
            </a:r>
          </a:p>
          <a:p>
            <a:r>
              <a:rPr lang="en-US" sz="1200" b="1" i="0" kern="1200" dirty="0" smtClean="0">
                <a:solidFill>
                  <a:schemeClr val="tx1"/>
                </a:solidFill>
                <a:latin typeface="+mn-lt"/>
                <a:ea typeface="+mn-ea"/>
                <a:cs typeface="+mn-cs"/>
              </a:rPr>
              <a:t>INSERT INTO</a:t>
            </a:r>
            <a:r>
              <a:rPr lang="en-US" sz="1200" b="0" i="0" kern="1200" dirty="0" smtClean="0">
                <a:solidFill>
                  <a:schemeClr val="tx1"/>
                </a:solidFill>
                <a:latin typeface="+mn-lt"/>
                <a:ea typeface="+mn-ea"/>
                <a:cs typeface="+mn-cs"/>
              </a:rPr>
              <a:t>: it inserts new data into a database.</a:t>
            </a:r>
          </a:p>
          <a:p>
            <a:r>
              <a:rPr lang="en-US" sz="1200" b="1" i="0" kern="1200" dirty="0" smtClean="0">
                <a:solidFill>
                  <a:schemeClr val="tx1"/>
                </a:solidFill>
                <a:latin typeface="+mn-lt"/>
                <a:ea typeface="+mn-ea"/>
                <a:cs typeface="+mn-cs"/>
              </a:rPr>
              <a:t>CREATE INDEX</a:t>
            </a:r>
            <a:r>
              <a:rPr lang="en-US" sz="1200" b="0" i="0" kern="1200" dirty="0" smtClean="0">
                <a:solidFill>
                  <a:schemeClr val="tx1"/>
                </a:solidFill>
                <a:latin typeface="+mn-lt"/>
                <a:ea typeface="+mn-ea"/>
                <a:cs typeface="+mn-cs"/>
              </a:rPr>
              <a:t>: it is used to create an index (search key).</a:t>
            </a:r>
          </a:p>
          <a:p>
            <a:r>
              <a:rPr lang="en-US" sz="1200" b="1" i="0" kern="1200" dirty="0" smtClean="0">
                <a:solidFill>
                  <a:schemeClr val="tx1"/>
                </a:solidFill>
                <a:latin typeface="+mn-lt"/>
                <a:ea typeface="+mn-ea"/>
                <a:cs typeface="+mn-cs"/>
              </a:rPr>
              <a:t>DROP INDEX</a:t>
            </a:r>
            <a:r>
              <a:rPr lang="en-US" sz="1200" b="0" i="0" kern="1200" dirty="0" smtClean="0">
                <a:solidFill>
                  <a:schemeClr val="tx1"/>
                </a:solidFill>
                <a:latin typeface="+mn-lt"/>
                <a:ea typeface="+mn-ea"/>
                <a:cs typeface="+mn-cs"/>
              </a:rPr>
              <a:t>: it deletes an index.</a:t>
            </a:r>
          </a:p>
          <a:p>
            <a:endParaRPr lang="en-US" b="1" dirty="0" smtClean="0"/>
          </a:p>
        </p:txBody>
      </p:sp>
      <p:sp>
        <p:nvSpPr>
          <p:cNvPr id="4" name="Slide Number Placeholder 3"/>
          <p:cNvSpPr>
            <a:spLocks noGrp="1"/>
          </p:cNvSpPr>
          <p:nvPr>
            <p:ph type="sldNum" sz="quarter" idx="5"/>
          </p:nvPr>
        </p:nvSpPr>
        <p:spPr/>
        <p:txBody>
          <a:bodyPr/>
          <a:lstStyle/>
          <a:p>
            <a:fld id="{0AAB6876-1BF1-4B88-890A-0B4E46201506}" type="slidenum">
              <a:rPr lang="en-US" smtClean="0"/>
              <a:pPr/>
              <a:t>11</a:t>
            </a:fld>
            <a:endParaRPr lang="en-US"/>
          </a:p>
        </p:txBody>
      </p:sp>
    </p:spTree>
    <p:extLst>
      <p:ext uri="{BB962C8B-B14F-4D97-AF65-F5344CB8AC3E}">
        <p14:creationId xmlns:p14="http://schemas.microsoft.com/office/powerpoint/2010/main" val="24741580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Description:</a:t>
            </a:r>
          </a:p>
          <a:p>
            <a:pPr algn="just"/>
            <a:r>
              <a:rPr lang="en-US" dirty="0" smtClean="0"/>
              <a:t>CREATE : to create objects in database </a:t>
            </a:r>
          </a:p>
          <a:p>
            <a:pPr algn="just"/>
            <a:r>
              <a:rPr lang="en-US" dirty="0" smtClean="0"/>
              <a:t>ALTER : alters the structure of database </a:t>
            </a:r>
          </a:p>
          <a:p>
            <a:pPr algn="just"/>
            <a:r>
              <a:rPr lang="en-US" dirty="0" smtClean="0"/>
              <a:t>DROP : delete objects from database </a:t>
            </a:r>
          </a:p>
          <a:p>
            <a:pPr algn="just"/>
            <a:r>
              <a:rPr lang="en-US" dirty="0" smtClean="0"/>
              <a:t>RENAME : rename an objects</a:t>
            </a:r>
            <a:endParaRPr lang="en-US" b="1" dirty="0" smtClean="0"/>
          </a:p>
        </p:txBody>
      </p:sp>
      <p:sp>
        <p:nvSpPr>
          <p:cNvPr id="4" name="Slide Number Placeholder 3"/>
          <p:cNvSpPr>
            <a:spLocks noGrp="1"/>
          </p:cNvSpPr>
          <p:nvPr>
            <p:ph type="sldNum" sz="quarter" idx="5"/>
          </p:nvPr>
        </p:nvSpPr>
        <p:spPr/>
        <p:txBody>
          <a:bodyPr/>
          <a:lstStyle/>
          <a:p>
            <a:fld id="{0AAB6876-1BF1-4B88-890A-0B4E46201506}" type="slidenum">
              <a:rPr lang="en-US" smtClean="0"/>
              <a:pPr/>
              <a:t>12</a:t>
            </a:fld>
            <a:endParaRPr lang="en-US"/>
          </a:p>
        </p:txBody>
      </p:sp>
    </p:spTree>
    <p:extLst>
      <p:ext uri="{BB962C8B-B14F-4D97-AF65-F5344CB8AC3E}">
        <p14:creationId xmlns:p14="http://schemas.microsoft.com/office/powerpoint/2010/main" val="252925149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Description</a:t>
            </a:r>
            <a:r>
              <a:rPr lang="en-US" b="1" dirty="0" smtClean="0"/>
              <a:t>:</a:t>
            </a:r>
          </a:p>
          <a:p>
            <a:endParaRPr lang="en-US" b="1" dirty="0" smtClean="0"/>
          </a:p>
          <a:p>
            <a:pPr fontAlgn="base"/>
            <a:r>
              <a:rPr lang="en-US" sz="1200" b="1" i="0" kern="1200" dirty="0" smtClean="0">
                <a:solidFill>
                  <a:schemeClr val="tx1"/>
                </a:solidFill>
                <a:effectLst/>
                <a:latin typeface="+mn-lt"/>
                <a:ea typeface="+mn-ea"/>
                <a:cs typeface="+mn-cs"/>
              </a:rPr>
              <a:t>Procedural DML’s</a:t>
            </a:r>
            <a:r>
              <a:rPr lang="en-US" sz="1200" b="0" i="0" kern="1200" dirty="0" smtClean="0">
                <a:solidFill>
                  <a:schemeClr val="tx1"/>
                </a:solidFill>
                <a:effectLst/>
                <a:latin typeface="+mn-lt"/>
                <a:ea typeface="+mn-ea"/>
                <a:cs typeface="+mn-cs"/>
              </a:rPr>
              <a:t>: require a user to specify what data are needed and how to get those data.</a:t>
            </a:r>
          </a:p>
          <a:p>
            <a:pPr fontAlgn="base"/>
            <a:endParaRPr lang="en-US" sz="1200" b="0" i="0" kern="1200" dirty="0" smtClean="0">
              <a:solidFill>
                <a:schemeClr val="tx1"/>
              </a:solidFill>
              <a:effectLst/>
              <a:latin typeface="+mn-lt"/>
              <a:ea typeface="+mn-ea"/>
              <a:cs typeface="+mn-cs"/>
            </a:endParaRPr>
          </a:p>
          <a:p>
            <a:pPr fontAlgn="base"/>
            <a:r>
              <a:rPr lang="en-US" sz="1200" b="1" i="0" kern="1200" dirty="0" err="1" smtClean="0">
                <a:solidFill>
                  <a:schemeClr val="tx1"/>
                </a:solidFill>
                <a:effectLst/>
                <a:latin typeface="+mn-lt"/>
                <a:ea typeface="+mn-ea"/>
                <a:cs typeface="+mn-cs"/>
              </a:rPr>
              <a:t>Declerative</a:t>
            </a:r>
            <a:r>
              <a:rPr lang="en-US" sz="1200" b="1" i="0" kern="1200" dirty="0" smtClean="0">
                <a:solidFill>
                  <a:schemeClr val="tx1"/>
                </a:solidFill>
                <a:effectLst/>
                <a:latin typeface="+mn-lt"/>
                <a:ea typeface="+mn-ea"/>
                <a:cs typeface="+mn-cs"/>
              </a:rPr>
              <a:t> DMLs</a:t>
            </a:r>
            <a:r>
              <a:rPr lang="en-US" sz="1200" b="0" i="0" kern="1200" dirty="0" smtClean="0">
                <a:solidFill>
                  <a:schemeClr val="tx1"/>
                </a:solidFill>
                <a:effectLst/>
                <a:latin typeface="+mn-lt"/>
                <a:ea typeface="+mn-ea"/>
                <a:cs typeface="+mn-cs"/>
              </a:rPr>
              <a:t> (also referred as </a:t>
            </a:r>
            <a:r>
              <a:rPr lang="en-US" sz="1200" b="1" i="0" kern="1200" dirty="0" smtClean="0">
                <a:solidFill>
                  <a:schemeClr val="tx1"/>
                </a:solidFill>
                <a:effectLst/>
                <a:latin typeface="+mn-lt"/>
                <a:ea typeface="+mn-ea"/>
                <a:cs typeface="+mn-cs"/>
              </a:rPr>
              <a:t>Non-procedural DMLs</a:t>
            </a:r>
            <a:r>
              <a:rPr lang="en-US" sz="1200" b="0" i="0" kern="1200" dirty="0" smtClean="0">
                <a:solidFill>
                  <a:schemeClr val="tx1"/>
                </a:solidFill>
                <a:effectLst/>
                <a:latin typeface="+mn-lt"/>
                <a:ea typeface="+mn-ea"/>
                <a:cs typeface="+mn-cs"/>
              </a:rPr>
              <a:t>) : require a user to specify what data are needed without specifying how to get those </a:t>
            </a:r>
            <a:r>
              <a:rPr lang="en-US" sz="1200" b="0" i="0" kern="1200" dirty="0" err="1" smtClean="0">
                <a:solidFill>
                  <a:schemeClr val="tx1"/>
                </a:solidFill>
                <a:effectLst/>
                <a:latin typeface="+mn-lt"/>
                <a:ea typeface="+mn-ea"/>
                <a:cs typeface="+mn-cs"/>
              </a:rPr>
              <a:t>data.Declarative</a:t>
            </a:r>
            <a:r>
              <a:rPr lang="en-US" sz="1200" b="0" i="0" kern="1200" dirty="0" smtClean="0">
                <a:solidFill>
                  <a:schemeClr val="tx1"/>
                </a:solidFill>
                <a:effectLst/>
                <a:latin typeface="+mn-lt"/>
                <a:ea typeface="+mn-ea"/>
                <a:cs typeface="+mn-cs"/>
              </a:rPr>
              <a:t> DMLs are usually easier to learn and use than procedural DMLs. However, since a user does not have to specify how to get the data, the database system has to figure out an efficient means of accessing data.</a:t>
            </a:r>
          </a:p>
          <a:p>
            <a:pPr fontAlgn="base"/>
            <a:endParaRPr lang="en-US" sz="1200" b="0" i="0" kern="1200" dirty="0" smtClean="0">
              <a:solidFill>
                <a:schemeClr val="tx1"/>
              </a:solidFill>
              <a:effectLst/>
              <a:latin typeface="+mn-lt"/>
              <a:ea typeface="+mn-ea"/>
              <a:cs typeface="+mn-cs"/>
            </a:endParaRPr>
          </a:p>
          <a:p>
            <a:pPr fontAlgn="base"/>
            <a:r>
              <a:rPr lang="en-US" dirty="0" smtClean="0"/>
              <a:t>SELECT: retrieve data from the database </a:t>
            </a:r>
          </a:p>
          <a:p>
            <a:pPr fontAlgn="base"/>
            <a:r>
              <a:rPr lang="en-US" dirty="0" smtClean="0"/>
              <a:t>INSERT: insert data into a table</a:t>
            </a:r>
          </a:p>
          <a:p>
            <a:pPr fontAlgn="base"/>
            <a:r>
              <a:rPr lang="en-US" dirty="0" smtClean="0"/>
              <a:t>UPDATE: update existing data within a table</a:t>
            </a:r>
          </a:p>
          <a:p>
            <a:pPr fontAlgn="base"/>
            <a:r>
              <a:rPr lang="en-US" dirty="0" smtClean="0"/>
              <a:t>DELETE: deletes all records from a table, space for the records remain</a:t>
            </a:r>
            <a:endParaRPr lang="en-US"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pPr/>
              <a:t>13</a:t>
            </a:fld>
            <a:endParaRPr lang="en-US"/>
          </a:p>
        </p:txBody>
      </p:sp>
    </p:spTree>
    <p:extLst>
      <p:ext uri="{BB962C8B-B14F-4D97-AF65-F5344CB8AC3E}">
        <p14:creationId xmlns:p14="http://schemas.microsoft.com/office/powerpoint/2010/main" val="24741580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smtClean="0">
                <a:solidFill>
                  <a:schemeClr val="tx1"/>
                </a:solidFill>
                <a:effectLst/>
                <a:latin typeface="+mn-lt"/>
                <a:ea typeface="+mn-ea"/>
                <a:cs typeface="+mn-cs"/>
              </a:rPr>
              <a:t>Description:</a:t>
            </a:r>
          </a:p>
          <a:p>
            <a:r>
              <a:rPr lang="en-US" dirty="0" smtClean="0"/>
              <a:t>COMMIT: Commit command is used to permanently save any transaction into the database. </a:t>
            </a:r>
          </a:p>
          <a:p>
            <a:r>
              <a:rPr lang="en-US" dirty="0" smtClean="0"/>
              <a:t>ROLLBACK: This command restores the database to last committed state. It is also used with </a:t>
            </a:r>
            <a:r>
              <a:rPr lang="en-US" dirty="0" err="1" smtClean="0"/>
              <a:t>savepoint</a:t>
            </a:r>
            <a:r>
              <a:rPr lang="en-US" dirty="0" smtClean="0"/>
              <a:t> command to jump to a </a:t>
            </a:r>
            <a:r>
              <a:rPr lang="en-US" dirty="0" err="1" smtClean="0"/>
              <a:t>savepoint</a:t>
            </a:r>
            <a:r>
              <a:rPr lang="en-US" dirty="0" smtClean="0"/>
              <a:t> in a transaction.</a:t>
            </a:r>
          </a:p>
          <a:p>
            <a:r>
              <a:rPr lang="en-US" dirty="0" smtClean="0"/>
              <a:t>SAVEPOINT: </a:t>
            </a:r>
            <a:r>
              <a:rPr lang="en-US" dirty="0" err="1" smtClean="0"/>
              <a:t>Savepoint</a:t>
            </a:r>
            <a:r>
              <a:rPr lang="en-US" dirty="0" smtClean="0"/>
              <a:t> command is used to temporarily save a transaction so that you can rollback to that point whenever necessary.</a:t>
            </a:r>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pPr/>
              <a:t>14</a:t>
            </a:fld>
            <a:endParaRPr lang="en-US"/>
          </a:p>
        </p:txBody>
      </p:sp>
    </p:spTree>
    <p:extLst>
      <p:ext uri="{BB962C8B-B14F-4D97-AF65-F5344CB8AC3E}">
        <p14:creationId xmlns:p14="http://schemas.microsoft.com/office/powerpoint/2010/main" val="17792775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smtClean="0">
                <a:solidFill>
                  <a:schemeClr val="tx1"/>
                </a:solidFill>
                <a:effectLst/>
                <a:latin typeface="+mn-lt"/>
                <a:ea typeface="+mn-ea"/>
                <a:cs typeface="+mn-cs"/>
              </a:rPr>
              <a:t>Description:</a:t>
            </a:r>
          </a:p>
          <a:p>
            <a:endParaRPr lang="en-US" sz="1200" b="1" i="0" kern="1200" dirty="0" smtClean="0">
              <a:solidFill>
                <a:schemeClr val="tx1"/>
              </a:solidFill>
              <a:effectLst/>
              <a:latin typeface="+mn-lt"/>
              <a:ea typeface="+mn-ea"/>
              <a:cs typeface="+mn-cs"/>
            </a:endParaRPr>
          </a:p>
          <a:p>
            <a:r>
              <a:rPr lang="en-US" dirty="0" smtClean="0"/>
              <a:t>GRANT: allow specified users to perform specified tasks. </a:t>
            </a:r>
          </a:p>
          <a:p>
            <a:r>
              <a:rPr lang="en-US" dirty="0" smtClean="0"/>
              <a:t>REVOKE: cancel previously granted or denied permissions.</a:t>
            </a:r>
            <a:endParaRPr lang="en-US" sz="1200" b="1" i="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pPr/>
              <a:t>15</a:t>
            </a:fld>
            <a:endParaRPr lang="en-US"/>
          </a:p>
        </p:txBody>
      </p:sp>
    </p:spTree>
    <p:extLst>
      <p:ext uri="{BB962C8B-B14F-4D97-AF65-F5344CB8AC3E}">
        <p14:creationId xmlns:p14="http://schemas.microsoft.com/office/powerpoint/2010/main" val="107102195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Description:</a:t>
            </a:r>
          </a:p>
          <a:p>
            <a:pPr algn="just"/>
            <a:r>
              <a:rPr lang="en-US" sz="1200" dirty="0" smtClean="0">
                <a:latin typeface="Nunito Sans" charset="0"/>
              </a:rPr>
              <a:t>Data types are used to represent the nature of the data that can be stored in the database table.</a:t>
            </a:r>
          </a:p>
          <a:p>
            <a:pPr algn="just"/>
            <a:r>
              <a:rPr lang="en-US" sz="1200" dirty="0" smtClean="0">
                <a:latin typeface="Nunito Sans" charset="0"/>
              </a:rPr>
              <a:t>For example, in a particular column of a table, if we want to store a string type of data then we will have to declare a string data type of this column.</a:t>
            </a:r>
          </a:p>
          <a:p>
            <a:pPr algn="just"/>
            <a:r>
              <a:rPr lang="en-US" sz="1200" b="0" i="0" kern="1200" dirty="0" smtClean="0">
                <a:solidFill>
                  <a:schemeClr val="tx1"/>
                </a:solidFill>
                <a:latin typeface="+mn-lt"/>
                <a:ea typeface="+mn-ea"/>
                <a:cs typeface="+mn-cs"/>
              </a:rPr>
              <a:t>Data types mainly classified into three categories for every database.</a:t>
            </a:r>
            <a:endParaRPr lang="en-US" b="1" dirty="0" smtClean="0"/>
          </a:p>
        </p:txBody>
      </p:sp>
      <p:sp>
        <p:nvSpPr>
          <p:cNvPr id="4" name="Slide Number Placeholder 3"/>
          <p:cNvSpPr>
            <a:spLocks noGrp="1"/>
          </p:cNvSpPr>
          <p:nvPr>
            <p:ph type="sldNum" sz="quarter" idx="5"/>
          </p:nvPr>
        </p:nvSpPr>
        <p:spPr/>
        <p:txBody>
          <a:bodyPr/>
          <a:lstStyle/>
          <a:p>
            <a:fld id="{0AAB6876-1BF1-4B88-890A-0B4E46201506}" type="slidenum">
              <a:rPr lang="en-US" smtClean="0"/>
              <a:pPr/>
              <a:t>16</a:t>
            </a:fld>
            <a:endParaRPr lang="en-US"/>
          </a:p>
        </p:txBody>
      </p:sp>
    </p:spTree>
    <p:extLst>
      <p:ext uri="{BB962C8B-B14F-4D97-AF65-F5344CB8AC3E}">
        <p14:creationId xmlns:p14="http://schemas.microsoft.com/office/powerpoint/2010/main" val="242227408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Description:</a:t>
            </a:r>
          </a:p>
          <a:p>
            <a:r>
              <a:rPr lang="en-US" sz="1200" b="1" kern="1200" dirty="0" smtClean="0">
                <a:solidFill>
                  <a:schemeClr val="tx1"/>
                </a:solidFill>
                <a:latin typeface="+mn-lt"/>
                <a:ea typeface="+mn-ea"/>
                <a:cs typeface="+mn-cs"/>
              </a:rPr>
              <a:t>CHAR(Size):</a:t>
            </a:r>
            <a:r>
              <a:rPr lang="en-US" sz="1200" kern="1200" dirty="0" smtClean="0">
                <a:solidFill>
                  <a:schemeClr val="tx1"/>
                </a:solidFill>
                <a:latin typeface="+mn-lt"/>
                <a:ea typeface="+mn-ea"/>
                <a:cs typeface="+mn-cs"/>
              </a:rPr>
              <a:t>It is used to specify a fixed length string that can contain numbers, letters, and special characters. Its size can be 0 to 255 characters. Default is 1.</a:t>
            </a:r>
          </a:p>
          <a:p>
            <a:r>
              <a:rPr lang="en-US" sz="1200" b="1" kern="1200" dirty="0" smtClean="0">
                <a:solidFill>
                  <a:schemeClr val="tx1"/>
                </a:solidFill>
                <a:latin typeface="+mn-lt"/>
                <a:ea typeface="+mn-ea"/>
                <a:cs typeface="+mn-cs"/>
              </a:rPr>
              <a:t>VARCHAR(Size):</a:t>
            </a:r>
            <a:r>
              <a:rPr lang="en-US" sz="1200" kern="1200" dirty="0" smtClean="0">
                <a:solidFill>
                  <a:schemeClr val="tx1"/>
                </a:solidFill>
                <a:latin typeface="+mn-lt"/>
                <a:ea typeface="+mn-ea"/>
                <a:cs typeface="+mn-cs"/>
              </a:rPr>
              <a:t>It is used to specify a variable length string that can contain numbers, letters, and special characters. Its size can be from 0 to 65535 characters.</a:t>
            </a:r>
          </a:p>
          <a:p>
            <a:r>
              <a:rPr lang="en-US" sz="1200" b="1" kern="1200" dirty="0" smtClean="0">
                <a:solidFill>
                  <a:schemeClr val="tx1"/>
                </a:solidFill>
                <a:latin typeface="+mn-lt"/>
                <a:ea typeface="+mn-ea"/>
                <a:cs typeface="+mn-cs"/>
              </a:rPr>
              <a:t>BINARY(Size):</a:t>
            </a:r>
            <a:r>
              <a:rPr lang="en-US" sz="1200" kern="1200" dirty="0" smtClean="0">
                <a:solidFill>
                  <a:schemeClr val="tx1"/>
                </a:solidFill>
                <a:latin typeface="+mn-lt"/>
                <a:ea typeface="+mn-ea"/>
                <a:cs typeface="+mn-cs"/>
              </a:rPr>
              <a:t>It is equal to CHAR() but stores binary byte strings. Its size parameter specifies the column length in the bytes. Default is 1.</a:t>
            </a:r>
          </a:p>
          <a:p>
            <a:r>
              <a:rPr lang="en-US" sz="1200" b="1" kern="1200" dirty="0" smtClean="0">
                <a:solidFill>
                  <a:schemeClr val="tx1"/>
                </a:solidFill>
                <a:latin typeface="+mn-lt"/>
                <a:ea typeface="+mn-ea"/>
                <a:cs typeface="+mn-cs"/>
              </a:rPr>
              <a:t>VARBINARY(Size):</a:t>
            </a:r>
            <a:r>
              <a:rPr lang="en-US" sz="1200" kern="1200" dirty="0" smtClean="0">
                <a:solidFill>
                  <a:schemeClr val="tx1"/>
                </a:solidFill>
                <a:latin typeface="+mn-lt"/>
                <a:ea typeface="+mn-ea"/>
                <a:cs typeface="+mn-cs"/>
              </a:rPr>
              <a:t>It is equal to VARCHAR() but stores binary byte strings. Its size parameter specifies the maximum column length in bytes.</a:t>
            </a:r>
          </a:p>
          <a:p>
            <a:r>
              <a:rPr lang="en-US" sz="1200" b="1" kern="1200" dirty="0" smtClean="0">
                <a:solidFill>
                  <a:schemeClr val="tx1"/>
                </a:solidFill>
                <a:latin typeface="+mn-lt"/>
                <a:ea typeface="+mn-ea"/>
                <a:cs typeface="+mn-cs"/>
              </a:rPr>
              <a:t>TEXT(Size): </a:t>
            </a:r>
            <a:r>
              <a:rPr lang="en-US" sz="1200" kern="1200" dirty="0" smtClean="0">
                <a:solidFill>
                  <a:schemeClr val="tx1"/>
                </a:solidFill>
                <a:latin typeface="+mn-lt"/>
                <a:ea typeface="+mn-ea"/>
                <a:cs typeface="+mn-cs"/>
              </a:rPr>
              <a:t>It holds a string that can contain a maximum length of 255 characters.</a:t>
            </a:r>
          </a:p>
          <a:p>
            <a:r>
              <a:rPr lang="en-US" sz="1200" b="1" kern="1200" dirty="0" smtClean="0">
                <a:solidFill>
                  <a:schemeClr val="tx1"/>
                </a:solidFill>
                <a:latin typeface="+mn-lt"/>
                <a:ea typeface="+mn-ea"/>
                <a:cs typeface="+mn-cs"/>
              </a:rPr>
              <a:t>TINYTEXT: </a:t>
            </a:r>
            <a:r>
              <a:rPr lang="en-US" sz="1200" kern="1200" dirty="0" smtClean="0">
                <a:solidFill>
                  <a:schemeClr val="tx1"/>
                </a:solidFill>
                <a:latin typeface="+mn-lt"/>
                <a:ea typeface="+mn-ea"/>
                <a:cs typeface="+mn-cs"/>
              </a:rPr>
              <a:t>It holds a string with a maximum length of 255 characters.</a:t>
            </a:r>
          </a:p>
          <a:p>
            <a:r>
              <a:rPr lang="en-US" sz="1200" b="1" kern="1200" dirty="0" smtClean="0">
                <a:solidFill>
                  <a:schemeClr val="tx1"/>
                </a:solidFill>
                <a:latin typeface="+mn-lt"/>
                <a:ea typeface="+mn-ea"/>
                <a:cs typeface="+mn-cs"/>
              </a:rPr>
              <a:t>MEDIUMTEXT: </a:t>
            </a:r>
            <a:r>
              <a:rPr lang="en-US" sz="1200" kern="1200" dirty="0" smtClean="0">
                <a:solidFill>
                  <a:schemeClr val="tx1"/>
                </a:solidFill>
                <a:latin typeface="+mn-lt"/>
                <a:ea typeface="+mn-ea"/>
                <a:cs typeface="+mn-cs"/>
              </a:rPr>
              <a:t>It holds a string with a maximum length of 16,777,215.</a:t>
            </a:r>
          </a:p>
          <a:p>
            <a:r>
              <a:rPr lang="en-US" sz="1200" b="1" kern="1200" dirty="0" smtClean="0">
                <a:solidFill>
                  <a:schemeClr val="tx1"/>
                </a:solidFill>
                <a:latin typeface="+mn-lt"/>
                <a:ea typeface="+mn-ea"/>
                <a:cs typeface="+mn-cs"/>
              </a:rPr>
              <a:t>LONGTEXT:</a:t>
            </a:r>
            <a:r>
              <a:rPr lang="en-US" sz="1200" b="1" kern="1200" baseline="0" dirty="0" smtClean="0">
                <a:solidFill>
                  <a:schemeClr val="tx1"/>
                </a:solidFill>
                <a:latin typeface="+mn-lt"/>
                <a:ea typeface="+mn-ea"/>
                <a:cs typeface="+mn-cs"/>
              </a:rPr>
              <a:t> </a:t>
            </a:r>
            <a:r>
              <a:rPr lang="en-US" sz="1200" kern="1200" dirty="0" smtClean="0">
                <a:solidFill>
                  <a:schemeClr val="tx1"/>
                </a:solidFill>
                <a:latin typeface="+mn-lt"/>
                <a:ea typeface="+mn-ea"/>
                <a:cs typeface="+mn-cs"/>
              </a:rPr>
              <a:t>It holds a string with a maximum length of 4,294,967,295 characters.</a:t>
            </a:r>
            <a:endParaRPr lang="en-US" b="1" dirty="0" smtClean="0"/>
          </a:p>
        </p:txBody>
      </p:sp>
      <p:sp>
        <p:nvSpPr>
          <p:cNvPr id="4" name="Slide Number Placeholder 3"/>
          <p:cNvSpPr>
            <a:spLocks noGrp="1"/>
          </p:cNvSpPr>
          <p:nvPr>
            <p:ph type="sldNum" sz="quarter" idx="5"/>
          </p:nvPr>
        </p:nvSpPr>
        <p:spPr/>
        <p:txBody>
          <a:bodyPr/>
          <a:lstStyle/>
          <a:p>
            <a:fld id="{0AAB6876-1BF1-4B88-890A-0B4E46201506}" type="slidenum">
              <a:rPr lang="en-US" smtClean="0"/>
              <a:pPr/>
              <a:t>17</a:t>
            </a:fld>
            <a:endParaRPr lang="en-US"/>
          </a:p>
        </p:txBody>
      </p:sp>
    </p:spTree>
    <p:extLst>
      <p:ext uri="{BB962C8B-B14F-4D97-AF65-F5344CB8AC3E}">
        <p14:creationId xmlns:p14="http://schemas.microsoft.com/office/powerpoint/2010/main" val="247415803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smtClean="0">
                <a:solidFill>
                  <a:schemeClr val="tx1"/>
                </a:solidFill>
                <a:latin typeface="+mn-lt"/>
                <a:ea typeface="+mn-ea"/>
                <a:cs typeface="+mn-cs"/>
              </a:rPr>
              <a:t>Description:</a:t>
            </a:r>
          </a:p>
          <a:p>
            <a:r>
              <a:rPr lang="en-US" sz="1200" b="1" kern="1200" dirty="0" smtClean="0">
                <a:solidFill>
                  <a:schemeClr val="tx1"/>
                </a:solidFill>
                <a:latin typeface="+mn-lt"/>
                <a:ea typeface="+mn-ea"/>
                <a:cs typeface="+mn-cs"/>
              </a:rPr>
              <a:t>BIT(Size):</a:t>
            </a:r>
            <a:r>
              <a:rPr lang="en-US" sz="1200" kern="1200" dirty="0" smtClean="0">
                <a:solidFill>
                  <a:schemeClr val="tx1"/>
                </a:solidFill>
                <a:latin typeface="+mn-lt"/>
                <a:ea typeface="+mn-ea"/>
                <a:cs typeface="+mn-cs"/>
              </a:rPr>
              <a:t>It is used for a bit-value type. The number of bits per value is specified in size. Its size can be 1 to 64. The default value is 1.</a:t>
            </a:r>
          </a:p>
          <a:p>
            <a:r>
              <a:rPr lang="en-US" sz="1200" b="1" kern="1200" dirty="0" smtClean="0">
                <a:solidFill>
                  <a:schemeClr val="tx1"/>
                </a:solidFill>
                <a:latin typeface="+mn-lt"/>
                <a:ea typeface="+mn-ea"/>
                <a:cs typeface="+mn-cs"/>
              </a:rPr>
              <a:t>INT(size):</a:t>
            </a:r>
            <a:r>
              <a:rPr lang="en-US" sz="1200" kern="1200" dirty="0" smtClean="0">
                <a:solidFill>
                  <a:schemeClr val="tx1"/>
                </a:solidFill>
                <a:latin typeface="+mn-lt"/>
                <a:ea typeface="+mn-ea"/>
                <a:cs typeface="+mn-cs"/>
              </a:rPr>
              <a:t>It is used for the integer value. Its signed range varies from -2147483648 to 2147483647 and unsigned range varies from 0 to 4294967295. The size parameter specifies the max display width that is 255.</a:t>
            </a:r>
          </a:p>
          <a:p>
            <a:r>
              <a:rPr lang="en-US" sz="1200" b="1" kern="1200" dirty="0" smtClean="0">
                <a:solidFill>
                  <a:schemeClr val="tx1"/>
                </a:solidFill>
                <a:latin typeface="+mn-lt"/>
                <a:ea typeface="+mn-ea"/>
                <a:cs typeface="+mn-cs"/>
              </a:rPr>
              <a:t>INTEGER(size):</a:t>
            </a:r>
            <a:r>
              <a:rPr lang="en-US" sz="1200" kern="1200" dirty="0" smtClean="0">
                <a:solidFill>
                  <a:schemeClr val="tx1"/>
                </a:solidFill>
                <a:latin typeface="+mn-lt"/>
                <a:ea typeface="+mn-ea"/>
                <a:cs typeface="+mn-cs"/>
              </a:rPr>
              <a:t>It is equal to INT(size).</a:t>
            </a:r>
          </a:p>
          <a:p>
            <a:r>
              <a:rPr lang="en-US" sz="1200" b="1" kern="1200" dirty="0" smtClean="0">
                <a:solidFill>
                  <a:schemeClr val="tx1"/>
                </a:solidFill>
                <a:latin typeface="+mn-lt"/>
                <a:ea typeface="+mn-ea"/>
                <a:cs typeface="+mn-cs"/>
              </a:rPr>
              <a:t>FLOAT(size, d):</a:t>
            </a:r>
            <a:r>
              <a:rPr lang="en-US" sz="1200" kern="1200" dirty="0" smtClean="0">
                <a:solidFill>
                  <a:schemeClr val="tx1"/>
                </a:solidFill>
                <a:latin typeface="+mn-lt"/>
                <a:ea typeface="+mn-ea"/>
                <a:cs typeface="+mn-cs"/>
              </a:rPr>
              <a:t>It is used to specify a floating point number. Its size parameter specifies the total number of digits. The number of digits after the decimal point is specified by </a:t>
            </a:r>
            <a:r>
              <a:rPr lang="en-US" sz="1200" b="1" kern="1200" dirty="0" smtClean="0">
                <a:solidFill>
                  <a:schemeClr val="tx1"/>
                </a:solidFill>
                <a:latin typeface="+mn-lt"/>
                <a:ea typeface="+mn-ea"/>
                <a:cs typeface="+mn-cs"/>
              </a:rPr>
              <a:t>d</a:t>
            </a:r>
            <a:r>
              <a:rPr lang="en-US" sz="1200" kern="1200" dirty="0" smtClean="0">
                <a:solidFill>
                  <a:schemeClr val="tx1"/>
                </a:solidFill>
                <a:latin typeface="+mn-lt"/>
                <a:ea typeface="+mn-ea"/>
                <a:cs typeface="+mn-cs"/>
              </a:rPr>
              <a:t> parameter.</a:t>
            </a:r>
          </a:p>
          <a:p>
            <a:r>
              <a:rPr lang="en-US" sz="1200" b="1" kern="1200" dirty="0" smtClean="0">
                <a:solidFill>
                  <a:schemeClr val="tx1"/>
                </a:solidFill>
                <a:latin typeface="+mn-lt"/>
                <a:ea typeface="+mn-ea"/>
                <a:cs typeface="+mn-cs"/>
              </a:rPr>
              <a:t>FLOAT(p):</a:t>
            </a:r>
            <a:r>
              <a:rPr lang="en-US" sz="1200" kern="1200" dirty="0" smtClean="0">
                <a:solidFill>
                  <a:schemeClr val="tx1"/>
                </a:solidFill>
                <a:latin typeface="+mn-lt"/>
                <a:ea typeface="+mn-ea"/>
                <a:cs typeface="+mn-cs"/>
              </a:rPr>
              <a:t>It is used to specify a floating point number. </a:t>
            </a:r>
            <a:r>
              <a:rPr lang="en-US" sz="1200" kern="1200" dirty="0" err="1" smtClean="0">
                <a:solidFill>
                  <a:schemeClr val="tx1"/>
                </a:solidFill>
                <a:latin typeface="+mn-lt"/>
                <a:ea typeface="+mn-ea"/>
                <a:cs typeface="+mn-cs"/>
              </a:rPr>
              <a:t>MySQL</a:t>
            </a:r>
            <a:r>
              <a:rPr lang="en-US" sz="1200" kern="1200" dirty="0" smtClean="0">
                <a:solidFill>
                  <a:schemeClr val="tx1"/>
                </a:solidFill>
                <a:latin typeface="+mn-lt"/>
                <a:ea typeface="+mn-ea"/>
                <a:cs typeface="+mn-cs"/>
              </a:rPr>
              <a:t> used p parameter to determine whether to use FLOAT or DOUBLE. If p is between 0 to24, the data type becomes FLOAT (). If p is from 25 to 53, the data type becomes DOUBLE().</a:t>
            </a:r>
          </a:p>
          <a:p>
            <a:r>
              <a:rPr lang="en-US" sz="1200" b="1" kern="1200" dirty="0" smtClean="0">
                <a:solidFill>
                  <a:schemeClr val="tx1"/>
                </a:solidFill>
                <a:latin typeface="+mn-lt"/>
                <a:ea typeface="+mn-ea"/>
                <a:cs typeface="+mn-cs"/>
              </a:rPr>
              <a:t>DOUBLE(size, d):</a:t>
            </a:r>
            <a:r>
              <a:rPr lang="en-US" sz="1200" kern="1200" dirty="0" smtClean="0">
                <a:solidFill>
                  <a:schemeClr val="tx1"/>
                </a:solidFill>
                <a:latin typeface="+mn-lt"/>
                <a:ea typeface="+mn-ea"/>
                <a:cs typeface="+mn-cs"/>
              </a:rPr>
              <a:t>It is a normal size floating point number. Its size parameter specifies the total number of digits. The number of digits after the decimal is specified by d parameter.</a:t>
            </a:r>
            <a:endParaRPr lang="en-US" b="1" dirty="0" smtClean="0"/>
          </a:p>
        </p:txBody>
      </p:sp>
      <p:sp>
        <p:nvSpPr>
          <p:cNvPr id="4" name="Slide Number Placeholder 3"/>
          <p:cNvSpPr>
            <a:spLocks noGrp="1"/>
          </p:cNvSpPr>
          <p:nvPr>
            <p:ph type="sldNum" sz="quarter" idx="5"/>
          </p:nvPr>
        </p:nvSpPr>
        <p:spPr/>
        <p:txBody>
          <a:bodyPr/>
          <a:lstStyle/>
          <a:p>
            <a:fld id="{0AAB6876-1BF1-4B88-890A-0B4E46201506}" type="slidenum">
              <a:rPr lang="en-US" smtClean="0"/>
              <a:pPr/>
              <a:t>18</a:t>
            </a:fld>
            <a:endParaRPr lang="en-US"/>
          </a:p>
        </p:txBody>
      </p:sp>
    </p:spTree>
    <p:extLst>
      <p:ext uri="{BB962C8B-B14F-4D97-AF65-F5344CB8AC3E}">
        <p14:creationId xmlns:p14="http://schemas.microsoft.com/office/powerpoint/2010/main" val="247415803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smtClean="0">
                <a:solidFill>
                  <a:schemeClr val="tx1"/>
                </a:solidFill>
                <a:latin typeface="+mn-lt"/>
                <a:ea typeface="+mn-ea"/>
                <a:cs typeface="+mn-cs"/>
              </a:rPr>
              <a:t>Description:</a:t>
            </a:r>
          </a:p>
          <a:p>
            <a:r>
              <a:rPr lang="en-US" sz="1200" b="1" kern="1200" dirty="0" err="1" smtClean="0">
                <a:solidFill>
                  <a:schemeClr val="tx1"/>
                </a:solidFill>
                <a:latin typeface="+mn-lt"/>
                <a:ea typeface="+mn-ea"/>
                <a:cs typeface="+mn-cs"/>
              </a:rPr>
              <a:t>DATE:</a:t>
            </a:r>
            <a:r>
              <a:rPr lang="en-US" sz="1200" kern="1200" dirty="0" err="1" smtClean="0">
                <a:solidFill>
                  <a:schemeClr val="tx1"/>
                </a:solidFill>
                <a:latin typeface="+mn-lt"/>
                <a:ea typeface="+mn-ea"/>
                <a:cs typeface="+mn-cs"/>
              </a:rPr>
              <a:t>It</a:t>
            </a:r>
            <a:r>
              <a:rPr lang="en-US" sz="1200" kern="1200" dirty="0" smtClean="0">
                <a:solidFill>
                  <a:schemeClr val="tx1"/>
                </a:solidFill>
                <a:latin typeface="+mn-lt"/>
                <a:ea typeface="+mn-ea"/>
                <a:cs typeface="+mn-cs"/>
              </a:rPr>
              <a:t> is used to specify date format YYYY-MM-DD. Its supported range is from '1000-01-01' to '9999-12-31'.</a:t>
            </a:r>
          </a:p>
          <a:p>
            <a:r>
              <a:rPr lang="en-US" sz="1200" b="1" kern="1200" dirty="0" smtClean="0">
                <a:solidFill>
                  <a:schemeClr val="tx1"/>
                </a:solidFill>
                <a:latin typeface="+mn-lt"/>
                <a:ea typeface="+mn-ea"/>
                <a:cs typeface="+mn-cs"/>
              </a:rPr>
              <a:t>DATETIME(</a:t>
            </a:r>
            <a:r>
              <a:rPr lang="en-US" sz="1200" b="1" kern="1200" dirty="0" err="1" smtClean="0">
                <a:solidFill>
                  <a:schemeClr val="tx1"/>
                </a:solidFill>
                <a:latin typeface="+mn-lt"/>
                <a:ea typeface="+mn-ea"/>
                <a:cs typeface="+mn-cs"/>
              </a:rPr>
              <a:t>fsp</a:t>
            </a:r>
            <a:r>
              <a:rPr lang="en-US" sz="1200" b="1" kern="1200" dirty="0" smtClean="0">
                <a:solidFill>
                  <a:schemeClr val="tx1"/>
                </a:solidFill>
                <a:latin typeface="+mn-lt"/>
                <a:ea typeface="+mn-ea"/>
                <a:cs typeface="+mn-cs"/>
              </a:rPr>
              <a:t>):</a:t>
            </a:r>
            <a:r>
              <a:rPr lang="en-US" sz="1200" kern="1200" dirty="0" smtClean="0">
                <a:solidFill>
                  <a:schemeClr val="tx1"/>
                </a:solidFill>
                <a:latin typeface="+mn-lt"/>
                <a:ea typeface="+mn-ea"/>
                <a:cs typeface="+mn-cs"/>
              </a:rPr>
              <a:t>It is used to specify date and time combination. Its format is YYYY-MM-DD </a:t>
            </a:r>
            <a:r>
              <a:rPr lang="en-US" sz="1200" kern="1200" dirty="0" err="1" smtClean="0">
                <a:solidFill>
                  <a:schemeClr val="tx1"/>
                </a:solidFill>
                <a:latin typeface="+mn-lt"/>
                <a:ea typeface="+mn-ea"/>
                <a:cs typeface="+mn-cs"/>
              </a:rPr>
              <a:t>hh:mm:ss</a:t>
            </a:r>
            <a:r>
              <a:rPr lang="en-US" sz="1200" kern="1200" dirty="0" smtClean="0">
                <a:solidFill>
                  <a:schemeClr val="tx1"/>
                </a:solidFill>
                <a:latin typeface="+mn-lt"/>
                <a:ea typeface="+mn-ea"/>
                <a:cs typeface="+mn-cs"/>
              </a:rPr>
              <a:t>. Its supported range is from '1000-01-01 00:00:00' to 9999-12-31 23:59:59'.</a:t>
            </a:r>
          </a:p>
          <a:p>
            <a:r>
              <a:rPr lang="en-US" sz="1200" b="1" kern="1200" dirty="0" smtClean="0">
                <a:solidFill>
                  <a:schemeClr val="tx1"/>
                </a:solidFill>
                <a:latin typeface="+mn-lt"/>
                <a:ea typeface="+mn-ea"/>
                <a:cs typeface="+mn-cs"/>
              </a:rPr>
              <a:t>TIMESTAMP(</a:t>
            </a:r>
            <a:r>
              <a:rPr lang="en-US" sz="1200" b="1" kern="1200" dirty="0" err="1" smtClean="0">
                <a:solidFill>
                  <a:schemeClr val="tx1"/>
                </a:solidFill>
                <a:latin typeface="+mn-lt"/>
                <a:ea typeface="+mn-ea"/>
                <a:cs typeface="+mn-cs"/>
              </a:rPr>
              <a:t>fsp</a:t>
            </a:r>
            <a:r>
              <a:rPr lang="en-US" sz="1200" b="1" kern="1200" dirty="0" smtClean="0">
                <a:solidFill>
                  <a:schemeClr val="tx1"/>
                </a:solidFill>
                <a:latin typeface="+mn-lt"/>
                <a:ea typeface="+mn-ea"/>
                <a:cs typeface="+mn-cs"/>
              </a:rPr>
              <a:t>):</a:t>
            </a:r>
            <a:r>
              <a:rPr lang="en-US" sz="1200" kern="1200" dirty="0" smtClean="0">
                <a:solidFill>
                  <a:schemeClr val="tx1"/>
                </a:solidFill>
                <a:latin typeface="+mn-lt"/>
                <a:ea typeface="+mn-ea"/>
                <a:cs typeface="+mn-cs"/>
              </a:rPr>
              <a:t>It is used to specify the timestamp. Its value is stored as the number of seconds since the Unix epoch('1970-01-01 00:00:00' UTC). Its format is YYYY-MM-DD </a:t>
            </a:r>
            <a:r>
              <a:rPr lang="en-US" sz="1200" kern="1200" dirty="0" err="1" smtClean="0">
                <a:solidFill>
                  <a:schemeClr val="tx1"/>
                </a:solidFill>
                <a:latin typeface="+mn-lt"/>
                <a:ea typeface="+mn-ea"/>
                <a:cs typeface="+mn-cs"/>
              </a:rPr>
              <a:t>hh:mm:ss</a:t>
            </a:r>
            <a:r>
              <a:rPr lang="en-US" sz="1200" kern="1200" dirty="0" smtClean="0">
                <a:solidFill>
                  <a:schemeClr val="tx1"/>
                </a:solidFill>
                <a:latin typeface="+mn-lt"/>
                <a:ea typeface="+mn-ea"/>
                <a:cs typeface="+mn-cs"/>
              </a:rPr>
              <a:t>. Its supported range is from '1970-01-01 00:00:01' UTC to '2038-01-09 03:14:07' UTC.</a:t>
            </a:r>
          </a:p>
          <a:p>
            <a:r>
              <a:rPr lang="en-US" sz="1200" b="1" kern="1200" dirty="0" smtClean="0">
                <a:solidFill>
                  <a:schemeClr val="tx1"/>
                </a:solidFill>
                <a:latin typeface="+mn-lt"/>
                <a:ea typeface="+mn-ea"/>
                <a:cs typeface="+mn-cs"/>
              </a:rPr>
              <a:t>TIME(</a:t>
            </a:r>
            <a:r>
              <a:rPr lang="en-US" sz="1200" b="1" kern="1200" dirty="0" err="1" smtClean="0">
                <a:solidFill>
                  <a:schemeClr val="tx1"/>
                </a:solidFill>
                <a:latin typeface="+mn-lt"/>
                <a:ea typeface="+mn-ea"/>
                <a:cs typeface="+mn-cs"/>
              </a:rPr>
              <a:t>fsp</a:t>
            </a:r>
            <a:r>
              <a:rPr lang="en-US" sz="1200" b="1" kern="1200" dirty="0" smtClean="0">
                <a:solidFill>
                  <a:schemeClr val="tx1"/>
                </a:solidFill>
                <a:latin typeface="+mn-lt"/>
                <a:ea typeface="+mn-ea"/>
                <a:cs typeface="+mn-cs"/>
              </a:rPr>
              <a:t>):</a:t>
            </a:r>
            <a:r>
              <a:rPr lang="en-US" sz="1200" kern="1200" dirty="0" smtClean="0">
                <a:solidFill>
                  <a:schemeClr val="tx1"/>
                </a:solidFill>
                <a:latin typeface="+mn-lt"/>
                <a:ea typeface="+mn-ea"/>
                <a:cs typeface="+mn-cs"/>
              </a:rPr>
              <a:t>It is used to specify the time format. Its format is </a:t>
            </a:r>
            <a:r>
              <a:rPr lang="en-US" sz="1200" kern="1200" dirty="0" err="1" smtClean="0">
                <a:solidFill>
                  <a:schemeClr val="tx1"/>
                </a:solidFill>
                <a:latin typeface="+mn-lt"/>
                <a:ea typeface="+mn-ea"/>
                <a:cs typeface="+mn-cs"/>
              </a:rPr>
              <a:t>hh:mm:ss</a:t>
            </a:r>
            <a:r>
              <a:rPr lang="en-US" sz="1200" kern="1200" dirty="0" smtClean="0">
                <a:solidFill>
                  <a:schemeClr val="tx1"/>
                </a:solidFill>
                <a:latin typeface="+mn-lt"/>
                <a:ea typeface="+mn-ea"/>
                <a:cs typeface="+mn-cs"/>
              </a:rPr>
              <a:t>. Its supported range is from '-838:59:59' to '838:59:59‘</a:t>
            </a:r>
          </a:p>
          <a:p>
            <a:r>
              <a:rPr lang="en-US" sz="1200" b="1" kern="1200" dirty="0" err="1" smtClean="0">
                <a:solidFill>
                  <a:schemeClr val="tx1"/>
                </a:solidFill>
                <a:latin typeface="+mn-lt"/>
                <a:ea typeface="+mn-ea"/>
                <a:cs typeface="+mn-cs"/>
              </a:rPr>
              <a:t>YEAR:</a:t>
            </a:r>
            <a:r>
              <a:rPr lang="en-US" sz="1200" kern="1200" dirty="0" err="1" smtClean="0">
                <a:solidFill>
                  <a:schemeClr val="tx1"/>
                </a:solidFill>
                <a:latin typeface="+mn-lt"/>
                <a:ea typeface="+mn-ea"/>
                <a:cs typeface="+mn-cs"/>
              </a:rPr>
              <a:t>It</a:t>
            </a:r>
            <a:r>
              <a:rPr lang="en-US" sz="1200" kern="1200" dirty="0" smtClean="0">
                <a:solidFill>
                  <a:schemeClr val="tx1"/>
                </a:solidFill>
                <a:latin typeface="+mn-lt"/>
                <a:ea typeface="+mn-ea"/>
                <a:cs typeface="+mn-cs"/>
              </a:rPr>
              <a:t> is used to specify a year in four-digit format. Values allowed in four digit format from 1901 to 2155, and 0000.</a:t>
            </a:r>
            <a:endParaRPr lang="en-US" b="1" dirty="0" smtClean="0"/>
          </a:p>
        </p:txBody>
      </p:sp>
      <p:sp>
        <p:nvSpPr>
          <p:cNvPr id="4" name="Slide Number Placeholder 3"/>
          <p:cNvSpPr>
            <a:spLocks noGrp="1"/>
          </p:cNvSpPr>
          <p:nvPr>
            <p:ph type="sldNum" sz="quarter" idx="5"/>
          </p:nvPr>
        </p:nvSpPr>
        <p:spPr/>
        <p:txBody>
          <a:bodyPr/>
          <a:lstStyle/>
          <a:p>
            <a:fld id="{0AAB6876-1BF1-4B88-890A-0B4E46201506}" type="slidenum">
              <a:rPr lang="en-US" smtClean="0"/>
              <a:pPr/>
              <a:t>19</a:t>
            </a:fld>
            <a:endParaRPr lang="en-US"/>
          </a:p>
        </p:txBody>
      </p:sp>
    </p:spTree>
    <p:extLst>
      <p:ext uri="{BB962C8B-B14F-4D97-AF65-F5344CB8AC3E}">
        <p14:creationId xmlns:p14="http://schemas.microsoft.com/office/powerpoint/2010/main" val="247415803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latin typeface="+mn-lt"/>
                <a:ea typeface="+mn-ea"/>
                <a:cs typeface="+mn-cs"/>
              </a:rPr>
              <a:t>SQL statements generally contain some reserved words or characters that are used to perform operations such as comparison and arithmetical operations etc. These reserved words or characters are known as operators</a:t>
            </a:r>
            <a:r>
              <a:rPr lang="en-US" sz="1200" b="0" i="0" kern="1200" dirty="0" smtClean="0">
                <a:solidFill>
                  <a:schemeClr val="tx1"/>
                </a:solidFill>
                <a:latin typeface="+mn-lt"/>
                <a:ea typeface="+mn-ea"/>
                <a:cs typeface="+mn-cs"/>
              </a:rPr>
              <a:t>.</a:t>
            </a:r>
            <a:endParaRPr lang="en-US" sz="1200" b="0" i="0" kern="1200" dirty="0" smtClean="0">
              <a:solidFill>
                <a:schemeClr val="tx1"/>
              </a:solidFill>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pPr/>
              <a:t>20</a:t>
            </a:fld>
            <a:endParaRPr lang="en-US"/>
          </a:p>
        </p:txBody>
      </p:sp>
    </p:spTree>
    <p:extLst>
      <p:ext uri="{BB962C8B-B14F-4D97-AF65-F5344CB8AC3E}">
        <p14:creationId xmlns:p14="http://schemas.microsoft.com/office/powerpoint/2010/main" val="247415803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smtClean="0"/>
          </a:p>
        </p:txBody>
      </p:sp>
      <p:sp>
        <p:nvSpPr>
          <p:cNvPr id="4" name="Slide Number Placeholder 3"/>
          <p:cNvSpPr>
            <a:spLocks noGrp="1"/>
          </p:cNvSpPr>
          <p:nvPr>
            <p:ph type="sldNum" sz="quarter" idx="5"/>
          </p:nvPr>
        </p:nvSpPr>
        <p:spPr/>
        <p:txBody>
          <a:bodyPr/>
          <a:lstStyle/>
          <a:p>
            <a:fld id="{0AAB6876-1BF1-4B88-890A-0B4E46201506}" type="slidenum">
              <a:rPr lang="en-US" smtClean="0"/>
              <a:pPr/>
              <a:t>21</a:t>
            </a:fld>
            <a:endParaRPr lang="en-US"/>
          </a:p>
        </p:txBody>
      </p:sp>
    </p:spTree>
    <p:extLst>
      <p:ext uri="{BB962C8B-B14F-4D97-AF65-F5344CB8AC3E}">
        <p14:creationId xmlns:p14="http://schemas.microsoft.com/office/powerpoint/2010/main" val="411309896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smtClean="0"/>
          </a:p>
        </p:txBody>
      </p:sp>
      <p:sp>
        <p:nvSpPr>
          <p:cNvPr id="4" name="Slide Number Placeholder 3"/>
          <p:cNvSpPr>
            <a:spLocks noGrp="1"/>
          </p:cNvSpPr>
          <p:nvPr>
            <p:ph type="sldNum" sz="quarter" idx="5"/>
          </p:nvPr>
        </p:nvSpPr>
        <p:spPr/>
        <p:txBody>
          <a:bodyPr/>
          <a:lstStyle/>
          <a:p>
            <a:fld id="{0AAB6876-1BF1-4B88-890A-0B4E46201506}" type="slidenum">
              <a:rPr lang="en-US" smtClean="0"/>
              <a:pPr/>
              <a:t>22</a:t>
            </a:fld>
            <a:endParaRPr lang="en-US"/>
          </a:p>
        </p:txBody>
      </p:sp>
    </p:spTree>
    <p:extLst>
      <p:ext uri="{BB962C8B-B14F-4D97-AF65-F5344CB8AC3E}">
        <p14:creationId xmlns:p14="http://schemas.microsoft.com/office/powerpoint/2010/main" val="279915820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smtClean="0"/>
          </a:p>
        </p:txBody>
      </p:sp>
      <p:sp>
        <p:nvSpPr>
          <p:cNvPr id="4" name="Slide Number Placeholder 3"/>
          <p:cNvSpPr>
            <a:spLocks noGrp="1"/>
          </p:cNvSpPr>
          <p:nvPr>
            <p:ph type="sldNum" sz="quarter" idx="5"/>
          </p:nvPr>
        </p:nvSpPr>
        <p:spPr/>
        <p:txBody>
          <a:bodyPr/>
          <a:lstStyle/>
          <a:p>
            <a:fld id="{0AAB6876-1BF1-4B88-890A-0B4E46201506}" type="slidenum">
              <a:rPr lang="en-US" smtClean="0"/>
              <a:pPr/>
              <a:t>23</a:t>
            </a:fld>
            <a:endParaRPr lang="en-US"/>
          </a:p>
        </p:txBody>
      </p:sp>
    </p:spTree>
    <p:extLst>
      <p:ext uri="{BB962C8B-B14F-4D97-AF65-F5344CB8AC3E}">
        <p14:creationId xmlns:p14="http://schemas.microsoft.com/office/powerpoint/2010/main" val="284030989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smtClean="0"/>
          </a:p>
        </p:txBody>
      </p:sp>
      <p:sp>
        <p:nvSpPr>
          <p:cNvPr id="4" name="Slide Number Placeholder 3"/>
          <p:cNvSpPr>
            <a:spLocks noGrp="1"/>
          </p:cNvSpPr>
          <p:nvPr>
            <p:ph type="sldNum" sz="quarter" idx="5"/>
          </p:nvPr>
        </p:nvSpPr>
        <p:spPr/>
        <p:txBody>
          <a:bodyPr/>
          <a:lstStyle/>
          <a:p>
            <a:fld id="{0AAB6876-1BF1-4B88-890A-0B4E46201506}" type="slidenum">
              <a:rPr lang="en-US" smtClean="0"/>
              <a:pPr/>
              <a:t>24</a:t>
            </a:fld>
            <a:endParaRPr lang="en-US"/>
          </a:p>
        </p:txBody>
      </p:sp>
    </p:spTree>
    <p:extLst>
      <p:ext uri="{BB962C8B-B14F-4D97-AF65-F5344CB8AC3E}">
        <p14:creationId xmlns:p14="http://schemas.microsoft.com/office/powerpoint/2010/main" val="53492666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smtClean="0"/>
          </a:p>
        </p:txBody>
      </p:sp>
      <p:sp>
        <p:nvSpPr>
          <p:cNvPr id="4" name="Slide Number Placeholder 3"/>
          <p:cNvSpPr>
            <a:spLocks noGrp="1"/>
          </p:cNvSpPr>
          <p:nvPr>
            <p:ph type="sldNum" sz="quarter" idx="5"/>
          </p:nvPr>
        </p:nvSpPr>
        <p:spPr/>
        <p:txBody>
          <a:bodyPr/>
          <a:lstStyle/>
          <a:p>
            <a:fld id="{0AAB6876-1BF1-4B88-890A-0B4E46201506}" type="slidenum">
              <a:rPr lang="en-US" smtClean="0"/>
              <a:pPr/>
              <a:t>25</a:t>
            </a:fld>
            <a:endParaRPr lang="en-US"/>
          </a:p>
        </p:txBody>
      </p:sp>
    </p:spTree>
    <p:extLst>
      <p:ext uri="{BB962C8B-B14F-4D97-AF65-F5344CB8AC3E}">
        <p14:creationId xmlns:p14="http://schemas.microsoft.com/office/powerpoint/2010/main" val="134326093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Thank you slide</a:t>
            </a:r>
          </a:p>
        </p:txBody>
      </p:sp>
      <p:sp>
        <p:nvSpPr>
          <p:cNvPr id="4" name="Slide Number Placeholder 3"/>
          <p:cNvSpPr>
            <a:spLocks noGrp="1"/>
          </p:cNvSpPr>
          <p:nvPr>
            <p:ph type="sldNum" sz="quarter" idx="5"/>
          </p:nvPr>
        </p:nvSpPr>
        <p:spPr/>
        <p:txBody>
          <a:bodyPr/>
          <a:lstStyle/>
          <a:p>
            <a:fld id="{0AAB6876-1BF1-4B88-890A-0B4E46201506}" type="slidenum">
              <a:rPr lang="en-US" smtClean="0"/>
              <a:pPr/>
              <a:t>26</a:t>
            </a:fld>
            <a:endParaRPr lang="en-US"/>
          </a:p>
        </p:txBody>
      </p:sp>
    </p:spTree>
    <p:extLst>
      <p:ext uri="{BB962C8B-B14F-4D97-AF65-F5344CB8AC3E}">
        <p14:creationId xmlns:p14="http://schemas.microsoft.com/office/powerpoint/2010/main" val="41901331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1/9/2020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1/9/2020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1/9/2020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1/9/2020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1/9/2020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1/9/2020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1/9/2020</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6.xml"/><Relationship Id="rId1" Type="http://schemas.openxmlformats.org/officeDocument/2006/relationships/slideLayout" Target="../slideLayouts/slideLayout7.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xmlns="" id="{2F4ED726-F685-44A1-B8DD-C121D1926DB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312966" y="2952750"/>
            <a:ext cx="3566067" cy="952500"/>
          </a:xfrm>
          <a:prstGeom prst="rect">
            <a:avLst/>
          </a:prstGeom>
        </p:spPr>
      </p:pic>
    </p:spTree>
    <p:extLst>
      <p:ext uri="{BB962C8B-B14F-4D97-AF65-F5344CB8AC3E}">
        <p14:creationId xmlns:p14="http://schemas.microsoft.com/office/powerpoint/2010/main" val="159688491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xmlns="" id="{3A73E930-58B4-4FEC-8303-01C4F888F30D}"/>
              </a:ext>
            </a:extLst>
          </p:cNvPr>
          <p:cNvSpPr txBox="1"/>
          <p:nvPr/>
        </p:nvSpPr>
        <p:spPr>
          <a:xfrm>
            <a:off x="533400" y="914400"/>
            <a:ext cx="11052517" cy="3285515"/>
          </a:xfrm>
          <a:prstGeom prst="rect">
            <a:avLst/>
          </a:prstGeom>
          <a:noFill/>
        </p:spPr>
        <p:txBody>
          <a:bodyPr wrap="square" rtlCol="0">
            <a:spAutoFit/>
          </a:bodyPr>
          <a:lstStyle/>
          <a:p>
            <a:r>
              <a:rPr lang="en-US" sz="2500" b="1" dirty="0" smtClean="0">
                <a:latin typeface="Nunito Sans" panose="00000500000000000000" pitchFamily="2" charset="0"/>
              </a:rPr>
              <a:t>SQL:</a:t>
            </a:r>
          </a:p>
          <a:p>
            <a:endParaRPr lang="en-US" sz="2500" b="1" dirty="0" smtClean="0">
              <a:latin typeface="Nunito Sans" panose="00000500000000000000" pitchFamily="2" charset="0"/>
            </a:endParaRPr>
          </a:p>
          <a:p>
            <a:pPr marL="342900" indent="-342900">
              <a:lnSpc>
                <a:spcPct val="90000"/>
              </a:lnSpc>
              <a:buFont typeface="Wingdings" panose="05000000000000000000" pitchFamily="2" charset="2"/>
              <a:buChar char="Ø"/>
            </a:pPr>
            <a:r>
              <a:rPr lang="en-US" sz="2500" dirty="0" smtClean="0">
                <a:latin typeface="Nunito Sans" panose="020B0604020202020204" charset="0"/>
              </a:rPr>
              <a:t>Structured </a:t>
            </a:r>
            <a:r>
              <a:rPr lang="en-US" sz="2500" dirty="0">
                <a:latin typeface="Nunito Sans" panose="020B0604020202020204" charset="0"/>
              </a:rPr>
              <a:t>Query Language</a:t>
            </a:r>
          </a:p>
          <a:p>
            <a:pPr marL="342900" indent="-342900">
              <a:lnSpc>
                <a:spcPct val="90000"/>
              </a:lnSpc>
              <a:buFont typeface="Wingdings" panose="05000000000000000000" pitchFamily="2" charset="2"/>
              <a:buChar char="Ø"/>
            </a:pPr>
            <a:endParaRPr lang="en-US" sz="2500" dirty="0">
              <a:latin typeface="Nunito Sans" panose="020B0604020202020204" charset="0"/>
            </a:endParaRPr>
          </a:p>
          <a:p>
            <a:pPr marL="342900" indent="-342900">
              <a:lnSpc>
                <a:spcPct val="90000"/>
              </a:lnSpc>
              <a:buFont typeface="Wingdings" panose="05000000000000000000" pitchFamily="2" charset="2"/>
              <a:buChar char="Ø"/>
            </a:pPr>
            <a:r>
              <a:rPr lang="en-US" sz="2500" dirty="0">
                <a:latin typeface="Nunito Sans" panose="020B0604020202020204" charset="0"/>
              </a:rPr>
              <a:t>The standard for relational database management systems (RDBMS) </a:t>
            </a:r>
          </a:p>
          <a:p>
            <a:pPr marL="342900" indent="-342900">
              <a:lnSpc>
                <a:spcPct val="90000"/>
              </a:lnSpc>
              <a:buFont typeface="Wingdings" panose="05000000000000000000" pitchFamily="2" charset="2"/>
              <a:buChar char="Ø"/>
            </a:pPr>
            <a:endParaRPr lang="en-US" sz="2500" dirty="0">
              <a:latin typeface="Nunito Sans" panose="020B0604020202020204" charset="0"/>
            </a:endParaRPr>
          </a:p>
          <a:p>
            <a:pPr marL="342900" indent="-342900">
              <a:lnSpc>
                <a:spcPct val="90000"/>
              </a:lnSpc>
              <a:buFont typeface="Wingdings" panose="05000000000000000000" pitchFamily="2" charset="2"/>
              <a:buChar char="Ø"/>
            </a:pPr>
            <a:r>
              <a:rPr lang="en-US" sz="2500" dirty="0">
                <a:latin typeface="Nunito Sans" panose="020B0604020202020204" charset="0"/>
              </a:rPr>
              <a:t>RDBMS: A database management system that manages data as a collection of tables in which all relationships are represented by common values in related </a:t>
            </a:r>
            <a:r>
              <a:rPr lang="en-US" sz="2500" dirty="0" smtClean="0">
                <a:latin typeface="Nunito Sans" panose="020B0604020202020204" charset="0"/>
              </a:rPr>
              <a:t>tables</a:t>
            </a:r>
            <a:endParaRPr lang="en-US" sz="2500" dirty="0">
              <a:latin typeface="Nunito Sans" panose="020B0604020202020204" charset="0"/>
            </a:endParaRPr>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74352" y="6099048"/>
            <a:ext cx="1993392" cy="430628"/>
          </a:xfrm>
          <a:prstGeom prst="rect">
            <a:avLst/>
          </a:prstGeom>
        </p:spPr>
      </p:pic>
      <p:sp>
        <p:nvSpPr>
          <p:cNvPr id="5" name="Rectangle 4">
            <a:extLst>
              <a:ext uri="{FF2B5EF4-FFF2-40B4-BE49-F238E27FC236}">
                <a16:creationId xmlns:a16="http://schemas.microsoft.com/office/drawing/2014/main" xmlns="" id="{79A7B499-1801-4959-9783-261750DF0FA9}"/>
              </a:ext>
            </a:extLst>
          </p:cNvPr>
          <p:cNvSpPr/>
          <p:nvPr/>
        </p:nvSpPr>
        <p:spPr>
          <a:xfrm>
            <a:off x="598714" y="711390"/>
            <a:ext cx="794852" cy="57773"/>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5746439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xmlns="" id="{3A73E930-58B4-4FEC-8303-01C4F888F30D}"/>
              </a:ext>
            </a:extLst>
          </p:cNvPr>
          <p:cNvSpPr txBox="1"/>
          <p:nvPr/>
        </p:nvSpPr>
        <p:spPr>
          <a:xfrm>
            <a:off x="533400" y="914400"/>
            <a:ext cx="11052517" cy="3362459"/>
          </a:xfrm>
          <a:prstGeom prst="rect">
            <a:avLst/>
          </a:prstGeom>
          <a:noFill/>
        </p:spPr>
        <p:txBody>
          <a:bodyPr wrap="square" rtlCol="0">
            <a:spAutoFit/>
          </a:bodyPr>
          <a:lstStyle/>
          <a:p>
            <a:r>
              <a:rPr lang="en-US" sz="2500" b="1" dirty="0" smtClean="0">
                <a:latin typeface="Nunito Sans" charset="0"/>
              </a:rPr>
              <a:t>What is </a:t>
            </a:r>
            <a:r>
              <a:rPr lang="en-US" sz="2500" b="1" dirty="0" smtClean="0">
                <a:latin typeface="Nunito Sans" charset="0"/>
              </a:rPr>
              <a:t>SQL:</a:t>
            </a:r>
          </a:p>
          <a:p>
            <a:endParaRPr lang="en-US" sz="2500" b="1" dirty="0" smtClean="0">
              <a:latin typeface="Nunito Sans" charset="0"/>
            </a:endParaRPr>
          </a:p>
          <a:p>
            <a:pPr marL="342900" indent="-342900">
              <a:lnSpc>
                <a:spcPct val="150000"/>
              </a:lnSpc>
              <a:buFont typeface="Wingdings" panose="05000000000000000000" pitchFamily="2" charset="2"/>
              <a:buChar char="Ø"/>
            </a:pPr>
            <a:r>
              <a:rPr lang="en-US" sz="2500" dirty="0" smtClean="0">
                <a:latin typeface="Nunito Sans" charset="0"/>
              </a:rPr>
              <a:t>It </a:t>
            </a:r>
            <a:r>
              <a:rPr lang="en-US" sz="2500" dirty="0" smtClean="0">
                <a:latin typeface="Nunito Sans" charset="0"/>
              </a:rPr>
              <a:t>is designed for managing data in a relational database management system (RDBMS</a:t>
            </a:r>
            <a:r>
              <a:rPr lang="en-US" sz="2500" dirty="0" smtClean="0">
                <a:latin typeface="Nunito Sans" charset="0"/>
              </a:rPr>
              <a:t>).</a:t>
            </a:r>
          </a:p>
          <a:p>
            <a:pPr marL="342900" indent="-342900">
              <a:lnSpc>
                <a:spcPct val="150000"/>
              </a:lnSpc>
              <a:buFont typeface="Wingdings" panose="05000000000000000000" pitchFamily="2" charset="2"/>
              <a:buChar char="Ø"/>
            </a:pPr>
            <a:r>
              <a:rPr lang="en-US" sz="2500" dirty="0" smtClean="0">
                <a:latin typeface="Nunito Sans" charset="0"/>
              </a:rPr>
              <a:t>It </a:t>
            </a:r>
            <a:r>
              <a:rPr lang="en-US" sz="2500" dirty="0" smtClean="0">
                <a:latin typeface="Nunito Sans" charset="0"/>
              </a:rPr>
              <a:t>is pronounced as S-Q-L or sometime </a:t>
            </a:r>
            <a:r>
              <a:rPr lang="en-US" sz="2500" b="1" dirty="0" smtClean="0">
                <a:latin typeface="Nunito Sans" charset="0"/>
              </a:rPr>
              <a:t>See-</a:t>
            </a:r>
            <a:r>
              <a:rPr lang="en-US" sz="2500" b="1" dirty="0" err="1" smtClean="0">
                <a:latin typeface="Nunito Sans" charset="0"/>
              </a:rPr>
              <a:t>Qwell</a:t>
            </a:r>
            <a:r>
              <a:rPr lang="en-US" sz="2500" dirty="0" smtClean="0">
                <a:latin typeface="Nunito Sans" charset="0"/>
              </a:rPr>
              <a:t>.</a:t>
            </a:r>
          </a:p>
          <a:p>
            <a:endParaRPr lang="en-US" sz="2500" b="1" dirty="0" smtClean="0">
              <a:latin typeface="Nunito Sans" charset="0"/>
            </a:endParaRPr>
          </a:p>
          <a:p>
            <a:endParaRPr lang="en-US" sz="2500" b="1" dirty="0">
              <a:latin typeface="Nunito Sans" charset="0"/>
            </a:endParaRPr>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74352" y="6099048"/>
            <a:ext cx="1993392" cy="430628"/>
          </a:xfrm>
          <a:prstGeom prst="rect">
            <a:avLst/>
          </a:prstGeom>
        </p:spPr>
      </p:pic>
      <p:sp>
        <p:nvSpPr>
          <p:cNvPr id="5" name="Rectangle 4">
            <a:extLst>
              <a:ext uri="{FF2B5EF4-FFF2-40B4-BE49-F238E27FC236}">
                <a16:creationId xmlns:a16="http://schemas.microsoft.com/office/drawing/2014/main" xmlns="" id="{79A7B499-1801-4959-9783-261750DF0FA9}"/>
              </a:ext>
            </a:extLst>
          </p:cNvPr>
          <p:cNvSpPr/>
          <p:nvPr/>
        </p:nvSpPr>
        <p:spPr>
          <a:xfrm>
            <a:off x="598714" y="711390"/>
            <a:ext cx="794852" cy="57773"/>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5746439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xmlns="" id="{3A73E930-58B4-4FEC-8303-01C4F888F30D}"/>
              </a:ext>
            </a:extLst>
          </p:cNvPr>
          <p:cNvSpPr txBox="1"/>
          <p:nvPr/>
        </p:nvSpPr>
        <p:spPr>
          <a:xfrm>
            <a:off x="533400" y="914400"/>
            <a:ext cx="11052517" cy="3747180"/>
          </a:xfrm>
          <a:prstGeom prst="rect">
            <a:avLst/>
          </a:prstGeom>
          <a:noFill/>
        </p:spPr>
        <p:txBody>
          <a:bodyPr wrap="square" rtlCol="0">
            <a:spAutoFit/>
          </a:bodyPr>
          <a:lstStyle/>
          <a:p>
            <a:r>
              <a:rPr lang="en-US" sz="2500" b="1" dirty="0" smtClean="0">
                <a:latin typeface="Nunito Sans" charset="0"/>
              </a:rPr>
              <a:t>What SQL </a:t>
            </a:r>
            <a:r>
              <a:rPr lang="en-US" sz="2500" b="1" dirty="0" smtClean="0">
                <a:latin typeface="Nunito Sans" charset="0"/>
              </a:rPr>
              <a:t>does?</a:t>
            </a:r>
          </a:p>
          <a:p>
            <a:endParaRPr lang="en-US" sz="2500" dirty="0" smtClean="0">
              <a:latin typeface="Nunito Sans" charset="0"/>
            </a:endParaRPr>
          </a:p>
          <a:p>
            <a:pPr marL="342900" indent="-342900">
              <a:lnSpc>
                <a:spcPct val="150000"/>
              </a:lnSpc>
              <a:buFont typeface="Wingdings" panose="05000000000000000000" pitchFamily="2" charset="2"/>
              <a:buChar char="Ø"/>
            </a:pPr>
            <a:r>
              <a:rPr lang="en-US" sz="2500" dirty="0" smtClean="0">
                <a:latin typeface="Nunito Sans" charset="0"/>
              </a:rPr>
              <a:t>With </a:t>
            </a:r>
            <a:r>
              <a:rPr lang="en-US" sz="2500" dirty="0" smtClean="0">
                <a:latin typeface="Nunito Sans" charset="0"/>
              </a:rPr>
              <a:t>SQL, a user can access data from a relational database management system</a:t>
            </a:r>
            <a:r>
              <a:rPr lang="en-US" sz="2500" dirty="0" smtClean="0">
                <a:latin typeface="Nunito Sans" charset="0"/>
              </a:rPr>
              <a:t>.</a:t>
            </a:r>
          </a:p>
          <a:p>
            <a:pPr marL="342900" indent="-342900">
              <a:lnSpc>
                <a:spcPct val="150000"/>
              </a:lnSpc>
              <a:buFont typeface="Wingdings" panose="05000000000000000000" pitchFamily="2" charset="2"/>
              <a:buChar char="Ø"/>
            </a:pPr>
            <a:r>
              <a:rPr lang="en-US" sz="2500" dirty="0" smtClean="0">
                <a:latin typeface="Nunito Sans" charset="0"/>
              </a:rPr>
              <a:t>It </a:t>
            </a:r>
            <a:r>
              <a:rPr lang="en-US" sz="2500" dirty="0" smtClean="0">
                <a:latin typeface="Nunito Sans" charset="0"/>
              </a:rPr>
              <a:t>allows the user to describe the data</a:t>
            </a:r>
            <a:r>
              <a:rPr lang="en-US" sz="2500" dirty="0" smtClean="0">
                <a:latin typeface="Nunito Sans" charset="0"/>
              </a:rPr>
              <a:t>.</a:t>
            </a:r>
          </a:p>
          <a:p>
            <a:pPr marL="342900" indent="-342900">
              <a:lnSpc>
                <a:spcPct val="150000"/>
              </a:lnSpc>
              <a:buFont typeface="Wingdings" panose="05000000000000000000" pitchFamily="2" charset="2"/>
              <a:buChar char="Ø"/>
            </a:pPr>
            <a:r>
              <a:rPr lang="en-US" sz="2500" dirty="0" smtClean="0">
                <a:latin typeface="Nunito Sans" charset="0"/>
              </a:rPr>
              <a:t>It </a:t>
            </a:r>
            <a:r>
              <a:rPr lang="en-US" sz="2500" dirty="0" smtClean="0">
                <a:latin typeface="Nunito Sans" charset="0"/>
              </a:rPr>
              <a:t>allows the user to define the data in the database and manipulate it when needed.</a:t>
            </a:r>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74352" y="6099048"/>
            <a:ext cx="1993392" cy="430628"/>
          </a:xfrm>
          <a:prstGeom prst="rect">
            <a:avLst/>
          </a:prstGeom>
        </p:spPr>
      </p:pic>
      <p:sp>
        <p:nvSpPr>
          <p:cNvPr id="5" name="Rectangle 4">
            <a:extLst>
              <a:ext uri="{FF2B5EF4-FFF2-40B4-BE49-F238E27FC236}">
                <a16:creationId xmlns:a16="http://schemas.microsoft.com/office/drawing/2014/main" xmlns="" id="{79A7B499-1801-4959-9783-261750DF0FA9}"/>
              </a:ext>
            </a:extLst>
          </p:cNvPr>
          <p:cNvSpPr/>
          <p:nvPr/>
        </p:nvSpPr>
        <p:spPr>
          <a:xfrm>
            <a:off x="598714" y="711390"/>
            <a:ext cx="794852" cy="57773"/>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5746439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xmlns="" id="{3A73E930-58B4-4FEC-8303-01C4F888F30D}"/>
              </a:ext>
            </a:extLst>
          </p:cNvPr>
          <p:cNvSpPr txBox="1"/>
          <p:nvPr/>
        </p:nvSpPr>
        <p:spPr>
          <a:xfrm>
            <a:off x="533400" y="914400"/>
            <a:ext cx="11052517" cy="477054"/>
          </a:xfrm>
          <a:prstGeom prst="rect">
            <a:avLst/>
          </a:prstGeom>
          <a:noFill/>
        </p:spPr>
        <p:txBody>
          <a:bodyPr wrap="square" rtlCol="0">
            <a:spAutoFit/>
          </a:bodyPr>
          <a:lstStyle/>
          <a:p>
            <a:r>
              <a:rPr lang="en-US" sz="2500" b="1" dirty="0" smtClean="0">
                <a:latin typeface="Nunito Sans" charset="0"/>
              </a:rPr>
              <a:t>SQL Environment</a:t>
            </a:r>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74352" y="6099048"/>
            <a:ext cx="1993392" cy="430628"/>
          </a:xfrm>
          <a:prstGeom prst="rect">
            <a:avLst/>
          </a:prstGeom>
        </p:spPr>
      </p:pic>
      <p:sp>
        <p:nvSpPr>
          <p:cNvPr id="5" name="Rectangle 4">
            <a:extLst>
              <a:ext uri="{FF2B5EF4-FFF2-40B4-BE49-F238E27FC236}">
                <a16:creationId xmlns:a16="http://schemas.microsoft.com/office/drawing/2014/main" xmlns="" id="{79A7B499-1801-4959-9783-261750DF0FA9}"/>
              </a:ext>
            </a:extLst>
          </p:cNvPr>
          <p:cNvSpPr/>
          <p:nvPr/>
        </p:nvSpPr>
        <p:spPr>
          <a:xfrm>
            <a:off x="598714" y="711390"/>
            <a:ext cx="794852" cy="57773"/>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7" descr="Noname.jp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954508" y="1555623"/>
            <a:ext cx="6210300" cy="454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6140173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xmlns="" id="{3A73E930-58B4-4FEC-8303-01C4F888F30D}"/>
              </a:ext>
            </a:extLst>
          </p:cNvPr>
          <p:cNvSpPr txBox="1"/>
          <p:nvPr/>
        </p:nvSpPr>
        <p:spPr>
          <a:xfrm>
            <a:off x="533400" y="914400"/>
            <a:ext cx="11052517" cy="3554819"/>
          </a:xfrm>
          <a:prstGeom prst="rect">
            <a:avLst/>
          </a:prstGeom>
          <a:noFill/>
        </p:spPr>
        <p:txBody>
          <a:bodyPr wrap="square" rtlCol="0">
            <a:spAutoFit/>
          </a:bodyPr>
          <a:lstStyle/>
          <a:p>
            <a:pPr algn="just"/>
            <a:r>
              <a:rPr lang="en-US" sz="2500" b="1" dirty="0" smtClean="0">
                <a:latin typeface="Nunito Sans" charset="0"/>
              </a:rPr>
              <a:t>SQL Syntax</a:t>
            </a:r>
            <a:r>
              <a:rPr lang="en-US" sz="2500" b="1" dirty="0" smtClean="0">
                <a:latin typeface="Nunito Sans" charset="0"/>
              </a:rPr>
              <a:t>:</a:t>
            </a:r>
          </a:p>
          <a:p>
            <a:pPr algn="just"/>
            <a:endParaRPr lang="en-US" sz="2500" dirty="0" smtClean="0">
              <a:latin typeface="Nunito Sans" charset="0"/>
            </a:endParaRPr>
          </a:p>
          <a:p>
            <a:pPr marL="342900" indent="-342900" algn="just">
              <a:lnSpc>
                <a:spcPct val="150000"/>
              </a:lnSpc>
              <a:buFont typeface="Wingdings" panose="05000000000000000000" pitchFamily="2" charset="2"/>
              <a:buChar char="Ø"/>
            </a:pPr>
            <a:r>
              <a:rPr lang="en-US" sz="2500" dirty="0" smtClean="0">
                <a:latin typeface="Nunito Sans" charset="0"/>
              </a:rPr>
              <a:t>SQL</a:t>
            </a:r>
            <a:r>
              <a:rPr lang="en-US" sz="2500" dirty="0" smtClean="0">
                <a:latin typeface="Nunito Sans" charset="0"/>
              </a:rPr>
              <a:t> is not case sensitive. Generally SQL keywords are written in uppercase</a:t>
            </a:r>
            <a:r>
              <a:rPr lang="en-US" sz="2500" dirty="0" smtClean="0">
                <a:latin typeface="Nunito Sans" charset="0"/>
              </a:rPr>
              <a:t>. </a:t>
            </a:r>
          </a:p>
          <a:p>
            <a:pPr marL="342900" indent="-342900" algn="just">
              <a:lnSpc>
                <a:spcPct val="150000"/>
              </a:lnSpc>
              <a:buFont typeface="Wingdings" panose="05000000000000000000" pitchFamily="2" charset="2"/>
              <a:buChar char="Ø"/>
            </a:pPr>
            <a:r>
              <a:rPr lang="en-US" sz="2500" dirty="0" smtClean="0">
                <a:latin typeface="Nunito Sans" charset="0"/>
              </a:rPr>
              <a:t>SQL </a:t>
            </a:r>
            <a:r>
              <a:rPr lang="en-US" sz="2500" dirty="0" smtClean="0">
                <a:latin typeface="Nunito Sans" charset="0"/>
              </a:rPr>
              <a:t>statements are dependent on text lines. We can place a single SQL statement on one or multiple text lines.</a:t>
            </a:r>
          </a:p>
          <a:p>
            <a:pPr algn="just"/>
            <a:endParaRPr lang="en-US" sz="2500" b="1" dirty="0" smtClean="0">
              <a:latin typeface="Nunito Sans" charset="0"/>
            </a:endParaRPr>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74352" y="6099048"/>
            <a:ext cx="1993392" cy="430628"/>
          </a:xfrm>
          <a:prstGeom prst="rect">
            <a:avLst/>
          </a:prstGeom>
        </p:spPr>
      </p:pic>
      <p:sp>
        <p:nvSpPr>
          <p:cNvPr id="5" name="Rectangle 4">
            <a:extLst>
              <a:ext uri="{FF2B5EF4-FFF2-40B4-BE49-F238E27FC236}">
                <a16:creationId xmlns:a16="http://schemas.microsoft.com/office/drawing/2014/main" xmlns="" id="{79A7B499-1801-4959-9783-261750DF0FA9}"/>
              </a:ext>
            </a:extLst>
          </p:cNvPr>
          <p:cNvSpPr/>
          <p:nvPr/>
        </p:nvSpPr>
        <p:spPr>
          <a:xfrm>
            <a:off x="598714" y="711390"/>
            <a:ext cx="794852" cy="57773"/>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5746439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xmlns="" id="{3A73E930-58B4-4FEC-8303-01C4F888F30D}"/>
              </a:ext>
            </a:extLst>
          </p:cNvPr>
          <p:cNvSpPr txBox="1"/>
          <p:nvPr/>
        </p:nvSpPr>
        <p:spPr>
          <a:xfrm>
            <a:off x="533400" y="914400"/>
            <a:ext cx="11052517" cy="3747180"/>
          </a:xfrm>
          <a:prstGeom prst="rect">
            <a:avLst/>
          </a:prstGeom>
          <a:noFill/>
        </p:spPr>
        <p:txBody>
          <a:bodyPr wrap="square" rtlCol="0">
            <a:spAutoFit/>
          </a:bodyPr>
          <a:lstStyle/>
          <a:p>
            <a:pPr algn="just"/>
            <a:r>
              <a:rPr lang="en-US" sz="2500" b="1" dirty="0" smtClean="0">
                <a:latin typeface="Nunito Sans" charset="0"/>
              </a:rPr>
              <a:t>SQL Statement</a:t>
            </a:r>
            <a:r>
              <a:rPr lang="en-US" sz="2500" b="1" dirty="0" smtClean="0">
                <a:latin typeface="Nunito Sans" charset="0"/>
              </a:rPr>
              <a:t>:</a:t>
            </a:r>
          </a:p>
          <a:p>
            <a:pPr algn="just"/>
            <a:endParaRPr lang="en-US" sz="2500" dirty="0" smtClean="0">
              <a:latin typeface="Nunito Sans" charset="0"/>
            </a:endParaRPr>
          </a:p>
          <a:p>
            <a:pPr algn="just">
              <a:lnSpc>
                <a:spcPct val="150000"/>
              </a:lnSpc>
            </a:pPr>
            <a:r>
              <a:rPr lang="en-US" sz="2500" dirty="0" smtClean="0">
                <a:latin typeface="Nunito Sans" charset="0"/>
              </a:rPr>
              <a:t>SQL </a:t>
            </a:r>
            <a:r>
              <a:rPr lang="en-US" sz="2500" dirty="0" smtClean="0">
                <a:latin typeface="Nunito Sans" charset="0"/>
              </a:rPr>
              <a:t>statements are started with any of the SQL commands/keywords like SELECT, INSERT, UPDATE, DELETE, ALTER, DROP etc. and the statement ends with a semicolon (;).</a:t>
            </a:r>
          </a:p>
          <a:p>
            <a:pPr lvl="1" algn="just"/>
            <a:endParaRPr lang="en-US" sz="2500" dirty="0" smtClean="0">
              <a:latin typeface="Nunito Sans" charset="0"/>
            </a:endParaRPr>
          </a:p>
          <a:p>
            <a:pPr lvl="1" algn="just"/>
            <a:r>
              <a:rPr lang="en-US" sz="2500" dirty="0" smtClean="0">
                <a:latin typeface="Nunito Sans" charset="0"/>
              </a:rPr>
              <a:t>SQL statement:</a:t>
            </a:r>
            <a:endParaRPr lang="en-US" sz="2500" dirty="0" smtClean="0">
              <a:solidFill>
                <a:srgbClr val="000000"/>
              </a:solidFill>
              <a:latin typeface="Nunito Sans" charset="0"/>
            </a:endParaRPr>
          </a:p>
          <a:p>
            <a:pPr lvl="1" algn="just"/>
            <a:r>
              <a:rPr lang="en-US" sz="2500" dirty="0" smtClean="0">
                <a:solidFill>
                  <a:srgbClr val="000000"/>
                </a:solidFill>
                <a:latin typeface="Nunito Sans" charset="0"/>
              </a:rPr>
              <a:t>		SELECT "column_name" FROM "table_name";  </a:t>
            </a:r>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74352" y="6099048"/>
            <a:ext cx="1993392" cy="430628"/>
          </a:xfrm>
          <a:prstGeom prst="rect">
            <a:avLst/>
          </a:prstGeom>
        </p:spPr>
      </p:pic>
      <p:sp>
        <p:nvSpPr>
          <p:cNvPr id="5" name="Rectangle 4">
            <a:extLst>
              <a:ext uri="{FF2B5EF4-FFF2-40B4-BE49-F238E27FC236}">
                <a16:creationId xmlns:a16="http://schemas.microsoft.com/office/drawing/2014/main" xmlns="" id="{79A7B499-1801-4959-9783-261750DF0FA9}"/>
              </a:ext>
            </a:extLst>
          </p:cNvPr>
          <p:cNvSpPr/>
          <p:nvPr/>
        </p:nvSpPr>
        <p:spPr>
          <a:xfrm>
            <a:off x="598714" y="711390"/>
            <a:ext cx="794852" cy="57773"/>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5"/>
          <p:cNvSpPr/>
          <p:nvPr/>
        </p:nvSpPr>
        <p:spPr>
          <a:xfrm>
            <a:off x="2286000" y="4191000"/>
            <a:ext cx="6858000" cy="381000"/>
          </a:xfrm>
          <a:prstGeom prst="roundRect">
            <a:avLst/>
          </a:prstGeom>
          <a:noFill/>
          <a:ln>
            <a:solidFill>
              <a:srgbClr val="F051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5746439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xmlns="" id="{3E767CAB-1FA5-494A-96EC-9E612067A695}"/>
              </a:ext>
            </a:extLst>
          </p:cNvPr>
          <p:cNvSpPr/>
          <p:nvPr/>
        </p:nvSpPr>
        <p:spPr>
          <a:xfrm>
            <a:off x="598714" y="711390"/>
            <a:ext cx="794852" cy="57773"/>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xmlns="" id="{6373F422-781C-4385-84E3-34EDBC7AB3E7}"/>
              </a:ext>
            </a:extLst>
          </p:cNvPr>
          <p:cNvSpPr txBox="1"/>
          <p:nvPr/>
        </p:nvSpPr>
        <p:spPr>
          <a:xfrm>
            <a:off x="598714" y="769163"/>
            <a:ext cx="11104481" cy="2400657"/>
          </a:xfrm>
          <a:prstGeom prst="rect">
            <a:avLst/>
          </a:prstGeom>
          <a:noFill/>
        </p:spPr>
        <p:txBody>
          <a:bodyPr wrap="square" rtlCol="0">
            <a:spAutoFit/>
          </a:bodyPr>
          <a:lstStyle/>
          <a:p>
            <a:pPr>
              <a:lnSpc>
                <a:spcPct val="150000"/>
              </a:lnSpc>
            </a:pPr>
            <a:r>
              <a:rPr lang="en-US" sz="2500" b="1" dirty="0" smtClean="0">
                <a:latin typeface="Nunito Sans" panose="00000500000000000000" pitchFamily="2" charset="0"/>
              </a:rPr>
              <a:t>RDBMS</a:t>
            </a:r>
          </a:p>
          <a:p>
            <a:pPr marL="342900" indent="-342900">
              <a:lnSpc>
                <a:spcPct val="150000"/>
              </a:lnSpc>
              <a:buFont typeface="Wingdings" panose="05000000000000000000" pitchFamily="2" charset="2"/>
              <a:buChar char="Ø"/>
            </a:pPr>
            <a:r>
              <a:rPr lang="en-US" sz="2500" dirty="0" smtClean="0">
                <a:latin typeface="Nunito Sans" panose="00000500000000000000" pitchFamily="2" charset="0"/>
              </a:rPr>
              <a:t>RDBMS </a:t>
            </a:r>
            <a:r>
              <a:rPr lang="en-US" sz="2500" dirty="0">
                <a:latin typeface="Nunito Sans" panose="00000500000000000000" pitchFamily="2" charset="0"/>
              </a:rPr>
              <a:t>stands for Relational Database Management System. </a:t>
            </a:r>
            <a:endParaRPr lang="en-US" sz="2500" dirty="0" smtClean="0">
              <a:latin typeface="Nunito Sans" panose="00000500000000000000" pitchFamily="2" charset="0"/>
            </a:endParaRPr>
          </a:p>
          <a:p>
            <a:pPr marL="342900" indent="-342900">
              <a:lnSpc>
                <a:spcPct val="150000"/>
              </a:lnSpc>
              <a:buFont typeface="Wingdings" panose="05000000000000000000" pitchFamily="2" charset="2"/>
              <a:buChar char="Ø"/>
            </a:pPr>
            <a:r>
              <a:rPr lang="en-US" sz="2500" dirty="0" smtClean="0">
                <a:latin typeface="Nunito Sans" panose="00000500000000000000" pitchFamily="2" charset="0"/>
              </a:rPr>
              <a:t>RDBMS </a:t>
            </a:r>
            <a:r>
              <a:rPr lang="en-US" sz="2500" dirty="0">
                <a:latin typeface="Nunito Sans" panose="00000500000000000000" pitchFamily="2" charset="0"/>
              </a:rPr>
              <a:t>is the basis for SQL, and for all modern database systems like MS SQL Server, IBM DB2, Oracle, MySQL, and Microsoft Access.</a:t>
            </a:r>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74352" y="6099048"/>
            <a:ext cx="1993392" cy="430628"/>
          </a:xfrm>
          <a:prstGeom prst="rect">
            <a:avLst/>
          </a:prstGeom>
        </p:spPr>
      </p:pic>
    </p:spTree>
    <p:extLst>
      <p:ext uri="{BB962C8B-B14F-4D97-AF65-F5344CB8AC3E}">
        <p14:creationId xmlns:p14="http://schemas.microsoft.com/office/powerpoint/2010/main" val="19603781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xmlns="" id="{AA635DAA-35C4-4438-9D75-515C2C193139}"/>
              </a:ext>
            </a:extLst>
          </p:cNvPr>
          <p:cNvSpPr txBox="1"/>
          <p:nvPr/>
        </p:nvSpPr>
        <p:spPr>
          <a:xfrm>
            <a:off x="526224" y="769163"/>
            <a:ext cx="11136326" cy="477054"/>
          </a:xfrm>
          <a:prstGeom prst="rect">
            <a:avLst/>
          </a:prstGeom>
          <a:noFill/>
        </p:spPr>
        <p:txBody>
          <a:bodyPr wrap="square" rtlCol="0">
            <a:spAutoFit/>
          </a:bodyPr>
          <a:lstStyle/>
          <a:p>
            <a:r>
              <a:rPr lang="en-US" sz="2500" b="1" dirty="0" smtClean="0">
                <a:latin typeface="Nunito Sans" panose="00000500000000000000" pitchFamily="2" charset="0"/>
              </a:rPr>
              <a:t>Table</a:t>
            </a:r>
            <a:endParaRPr lang="en-US" sz="2500" b="1" dirty="0">
              <a:latin typeface="Nunito Sans" panose="00000500000000000000" pitchFamily="2" charset="0"/>
            </a:endParaRPr>
          </a:p>
        </p:txBody>
      </p:sp>
      <p:sp>
        <p:nvSpPr>
          <p:cNvPr id="10" name="Rectangle 9">
            <a:extLst>
              <a:ext uri="{FF2B5EF4-FFF2-40B4-BE49-F238E27FC236}">
                <a16:creationId xmlns:a16="http://schemas.microsoft.com/office/drawing/2014/main" xmlns="" id="{3E767CAB-1FA5-494A-96EC-9E612067A695}"/>
              </a:ext>
            </a:extLst>
          </p:cNvPr>
          <p:cNvSpPr/>
          <p:nvPr/>
        </p:nvSpPr>
        <p:spPr>
          <a:xfrm>
            <a:off x="598714" y="711390"/>
            <a:ext cx="794852" cy="57773"/>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74352" y="6099048"/>
            <a:ext cx="1993392" cy="430628"/>
          </a:xfrm>
          <a:prstGeom prst="rect">
            <a:avLst/>
          </a:prstGeom>
        </p:spPr>
      </p:pic>
      <p:graphicFrame>
        <p:nvGraphicFramePr>
          <p:cNvPr id="2" name="Table 1"/>
          <p:cNvGraphicFramePr>
            <a:graphicFrameLocks noGrp="1"/>
          </p:cNvGraphicFramePr>
          <p:nvPr>
            <p:extLst/>
          </p:nvPr>
        </p:nvGraphicFramePr>
        <p:xfrm>
          <a:off x="1676400" y="2209798"/>
          <a:ext cx="8534400" cy="1718312"/>
        </p:xfrm>
        <a:graphic>
          <a:graphicData uri="http://schemas.openxmlformats.org/drawingml/2006/table">
            <a:tbl>
              <a:tblPr firstRow="1" bandRow="1"/>
              <a:tblGrid>
                <a:gridCol w="2133600"/>
                <a:gridCol w="2133600"/>
                <a:gridCol w="2133600"/>
                <a:gridCol w="2133600"/>
              </a:tblGrid>
              <a:tr h="429578">
                <a:tc>
                  <a:txBody>
                    <a:bodyPr/>
                    <a:lstStyle/>
                    <a:p>
                      <a:r>
                        <a:rPr lang="en-US" sz="2000" dirty="0" smtClean="0"/>
                        <a:t>Roll No</a:t>
                      </a:r>
                      <a:endParaRPr lang="en-IN" sz="2000" dirty="0">
                        <a:solidFill>
                          <a:schemeClr val="tx1"/>
                        </a:solidFill>
                        <a:latin typeface="Nunito Sans" panose="020B0604020202020204" charset="0"/>
                      </a:endParaRPr>
                    </a:p>
                  </a:txBody>
                  <a:tcPr>
                    <a:solidFill>
                      <a:schemeClr val="accent1">
                        <a:lumMod val="60000"/>
                        <a:lumOff val="40000"/>
                      </a:schemeClr>
                    </a:solidFill>
                  </a:tcPr>
                </a:tc>
                <a:tc>
                  <a:txBody>
                    <a:bodyPr/>
                    <a:lstStyle/>
                    <a:p>
                      <a:r>
                        <a:rPr lang="en-US" sz="2000" dirty="0" smtClean="0"/>
                        <a:t>Name</a:t>
                      </a:r>
                      <a:endParaRPr lang="en-IN" sz="2000" dirty="0">
                        <a:solidFill>
                          <a:schemeClr val="tx1"/>
                        </a:solidFill>
                        <a:latin typeface="Nunito Sans" panose="020B0604020202020204" charset="0"/>
                      </a:endParaRPr>
                    </a:p>
                  </a:txBody>
                  <a:tcPr>
                    <a:solidFill>
                      <a:schemeClr val="accent1">
                        <a:lumMod val="60000"/>
                        <a:lumOff val="40000"/>
                      </a:schemeClr>
                    </a:solidFill>
                  </a:tcPr>
                </a:tc>
                <a:tc>
                  <a:txBody>
                    <a:bodyPr/>
                    <a:lstStyle/>
                    <a:p>
                      <a:r>
                        <a:rPr lang="en-US" sz="2000" dirty="0" smtClean="0"/>
                        <a:t>Address</a:t>
                      </a:r>
                      <a:endParaRPr lang="en-IN" sz="2000" dirty="0">
                        <a:solidFill>
                          <a:schemeClr val="tx1"/>
                        </a:solidFill>
                        <a:latin typeface="Nunito Sans" panose="020B0604020202020204" charset="0"/>
                      </a:endParaRPr>
                    </a:p>
                  </a:txBody>
                  <a:tcPr>
                    <a:solidFill>
                      <a:schemeClr val="accent1">
                        <a:lumMod val="60000"/>
                        <a:lumOff val="40000"/>
                      </a:schemeClr>
                    </a:solidFill>
                  </a:tcPr>
                </a:tc>
                <a:tc>
                  <a:txBody>
                    <a:bodyPr/>
                    <a:lstStyle/>
                    <a:p>
                      <a:r>
                        <a:rPr lang="en-US" sz="2000" dirty="0" smtClean="0"/>
                        <a:t>Mobile</a:t>
                      </a:r>
                      <a:r>
                        <a:rPr lang="en-US" sz="2000" baseline="0" dirty="0" smtClean="0"/>
                        <a:t> Number</a:t>
                      </a:r>
                      <a:endParaRPr lang="en-IN" sz="2000" dirty="0">
                        <a:solidFill>
                          <a:schemeClr val="tx1"/>
                        </a:solidFill>
                        <a:latin typeface="Nunito Sans" panose="020B0604020202020204" charset="0"/>
                      </a:endParaRPr>
                    </a:p>
                  </a:txBody>
                  <a:tcPr>
                    <a:solidFill>
                      <a:schemeClr val="accent1">
                        <a:lumMod val="60000"/>
                        <a:lumOff val="40000"/>
                      </a:schemeClr>
                    </a:solidFill>
                  </a:tcPr>
                </a:tc>
              </a:tr>
              <a:tr h="429578">
                <a:tc>
                  <a:txBody>
                    <a:bodyPr/>
                    <a:lstStyle/>
                    <a:p>
                      <a:r>
                        <a:rPr lang="en-US" sz="2000" dirty="0" smtClean="0"/>
                        <a:t>15BEE2024</a:t>
                      </a:r>
                      <a:endParaRPr lang="en-IN" sz="2000" dirty="0">
                        <a:latin typeface="Nunito Sans" panose="020B0604020202020204" charset="0"/>
                      </a:endParaRPr>
                    </a:p>
                  </a:txBody>
                  <a:tcPr/>
                </a:tc>
                <a:tc>
                  <a:txBody>
                    <a:bodyPr/>
                    <a:lstStyle/>
                    <a:p>
                      <a:r>
                        <a:rPr lang="en-US" sz="2000" dirty="0" smtClean="0"/>
                        <a:t>Dharma</a:t>
                      </a:r>
                      <a:endParaRPr lang="en-IN" sz="2000" dirty="0">
                        <a:latin typeface="Nunito Sans" panose="020B0604020202020204" charset="0"/>
                      </a:endParaRPr>
                    </a:p>
                  </a:txBody>
                  <a:tcPr/>
                </a:tc>
                <a:tc>
                  <a:txBody>
                    <a:bodyPr/>
                    <a:lstStyle/>
                    <a:p>
                      <a:r>
                        <a:rPr lang="en-US" sz="2000" dirty="0" err="1" smtClean="0"/>
                        <a:t>Karur</a:t>
                      </a:r>
                      <a:endParaRPr lang="en-IN" sz="2000" dirty="0">
                        <a:latin typeface="Nunito Sans" panose="020B0604020202020204" charset="0"/>
                      </a:endParaRPr>
                    </a:p>
                  </a:txBody>
                  <a:tcPr/>
                </a:tc>
                <a:tc>
                  <a:txBody>
                    <a:bodyPr/>
                    <a:lstStyle/>
                    <a:p>
                      <a:r>
                        <a:rPr lang="en-US" sz="2000" dirty="0" smtClean="0"/>
                        <a:t>9058236956</a:t>
                      </a:r>
                      <a:endParaRPr lang="en-IN" sz="2000" dirty="0">
                        <a:latin typeface="Nunito Sans" panose="020B0604020202020204" charset="0"/>
                      </a:endParaRPr>
                    </a:p>
                  </a:txBody>
                  <a:tcPr/>
                </a:tc>
              </a:tr>
              <a:tr h="429578">
                <a:tc>
                  <a:txBody>
                    <a:bodyPr/>
                    <a:lstStyle/>
                    <a:p>
                      <a:r>
                        <a:rPr lang="en-US" sz="2000" dirty="0" smtClean="0"/>
                        <a:t>15BEE2025</a:t>
                      </a:r>
                      <a:endParaRPr lang="en-IN" sz="2000" dirty="0">
                        <a:latin typeface="Nunito Sans" panose="020B0604020202020204" charset="0"/>
                      </a:endParaRPr>
                    </a:p>
                  </a:txBody>
                  <a:tcPr/>
                </a:tc>
                <a:tc>
                  <a:txBody>
                    <a:bodyPr/>
                    <a:lstStyle/>
                    <a:p>
                      <a:r>
                        <a:rPr lang="en-US" sz="2000" dirty="0" err="1" smtClean="0"/>
                        <a:t>Eniyan</a:t>
                      </a:r>
                      <a:endParaRPr lang="en-IN" sz="2000" dirty="0">
                        <a:latin typeface="Nunito Sans" panose="020B0604020202020204" charset="0"/>
                      </a:endParaRPr>
                    </a:p>
                  </a:txBody>
                  <a:tcPr/>
                </a:tc>
                <a:tc>
                  <a:txBody>
                    <a:bodyPr/>
                    <a:lstStyle/>
                    <a:p>
                      <a:r>
                        <a:rPr lang="en-US" sz="2000" dirty="0" smtClean="0"/>
                        <a:t>Chennai</a:t>
                      </a:r>
                      <a:endParaRPr lang="en-IN" sz="2000" dirty="0">
                        <a:latin typeface="Nunito Sans" panose="020B0604020202020204" charset="0"/>
                      </a:endParaRPr>
                    </a:p>
                  </a:txBody>
                  <a:tcPr/>
                </a:tc>
                <a:tc>
                  <a:txBody>
                    <a:bodyPr/>
                    <a:lstStyle/>
                    <a:p>
                      <a:r>
                        <a:rPr lang="en-US" sz="2000" dirty="0" smtClean="0"/>
                        <a:t>9885695666</a:t>
                      </a:r>
                      <a:endParaRPr lang="en-IN" sz="2000" dirty="0">
                        <a:latin typeface="Nunito Sans" panose="020B0604020202020204" charset="0"/>
                      </a:endParaRPr>
                    </a:p>
                  </a:txBody>
                  <a:tcPr/>
                </a:tc>
              </a:tr>
              <a:tr h="429578">
                <a:tc>
                  <a:txBody>
                    <a:bodyPr/>
                    <a:lstStyle/>
                    <a:p>
                      <a:r>
                        <a:rPr lang="en-US" sz="2000" dirty="0" smtClean="0"/>
                        <a:t>15BEE2026</a:t>
                      </a:r>
                      <a:endParaRPr lang="en-IN" sz="2000" dirty="0">
                        <a:latin typeface="Nunito Sans" panose="020B0604020202020204" charset="0"/>
                      </a:endParaRPr>
                    </a:p>
                  </a:txBody>
                  <a:tcPr/>
                </a:tc>
                <a:tc>
                  <a:txBody>
                    <a:bodyPr/>
                    <a:lstStyle/>
                    <a:p>
                      <a:r>
                        <a:rPr lang="en-US" sz="2000" dirty="0" err="1" smtClean="0"/>
                        <a:t>Gayathiri</a:t>
                      </a:r>
                      <a:endParaRPr lang="en-IN" sz="2000" dirty="0">
                        <a:latin typeface="Nunito Sans" panose="020B0604020202020204" charset="0"/>
                      </a:endParaRPr>
                    </a:p>
                  </a:txBody>
                  <a:tcPr/>
                </a:tc>
                <a:tc>
                  <a:txBody>
                    <a:bodyPr/>
                    <a:lstStyle/>
                    <a:p>
                      <a:r>
                        <a:rPr lang="en-US" sz="2000" dirty="0" err="1" smtClean="0"/>
                        <a:t>Trichy</a:t>
                      </a:r>
                      <a:endParaRPr lang="en-IN" sz="2000" dirty="0">
                        <a:latin typeface="Nunito Sans" panose="020B0604020202020204" charset="0"/>
                      </a:endParaRPr>
                    </a:p>
                  </a:txBody>
                  <a:tcPr/>
                </a:tc>
                <a:tc>
                  <a:txBody>
                    <a:bodyPr/>
                    <a:lstStyle/>
                    <a:p>
                      <a:r>
                        <a:rPr lang="en-US" sz="2000" dirty="0" smtClean="0"/>
                        <a:t>7894689465</a:t>
                      </a:r>
                      <a:endParaRPr lang="en-IN" sz="2000" dirty="0">
                        <a:latin typeface="Nunito Sans" panose="020B0604020202020204" charset="0"/>
                      </a:endParaRPr>
                    </a:p>
                  </a:txBody>
                  <a:tcPr/>
                </a:tc>
              </a:tr>
            </a:tbl>
          </a:graphicData>
        </a:graphic>
      </p:graphicFrame>
      <p:sp>
        <p:nvSpPr>
          <p:cNvPr id="3" name="Rounded Rectangle 2"/>
          <p:cNvSpPr/>
          <p:nvPr/>
        </p:nvSpPr>
        <p:spPr>
          <a:xfrm>
            <a:off x="1676400" y="2228693"/>
            <a:ext cx="1143000" cy="377851"/>
          </a:xfrm>
          <a:prstGeom prst="roundRect">
            <a:avLst/>
          </a:prstGeom>
          <a:noFill/>
          <a:ln>
            <a:solidFill>
              <a:srgbClr val="F051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ounded Rectangle 7"/>
          <p:cNvSpPr/>
          <p:nvPr/>
        </p:nvSpPr>
        <p:spPr>
          <a:xfrm>
            <a:off x="3799031" y="2228850"/>
            <a:ext cx="1230169" cy="377851"/>
          </a:xfrm>
          <a:prstGeom prst="roundRect">
            <a:avLst/>
          </a:prstGeom>
          <a:noFill/>
          <a:ln>
            <a:solidFill>
              <a:srgbClr val="F051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ounded Rectangle 8"/>
          <p:cNvSpPr/>
          <p:nvPr/>
        </p:nvSpPr>
        <p:spPr>
          <a:xfrm>
            <a:off x="5943600" y="2230425"/>
            <a:ext cx="1230169" cy="377851"/>
          </a:xfrm>
          <a:prstGeom prst="roundRect">
            <a:avLst/>
          </a:prstGeom>
          <a:noFill/>
          <a:ln>
            <a:solidFill>
              <a:srgbClr val="F051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ounded Rectangle 11"/>
          <p:cNvSpPr/>
          <p:nvPr/>
        </p:nvSpPr>
        <p:spPr>
          <a:xfrm>
            <a:off x="8077200" y="2228850"/>
            <a:ext cx="1981200" cy="377851"/>
          </a:xfrm>
          <a:prstGeom prst="roundRect">
            <a:avLst/>
          </a:prstGeom>
          <a:noFill/>
          <a:ln>
            <a:solidFill>
              <a:srgbClr val="F051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p:cNvSpPr txBox="1"/>
          <p:nvPr/>
        </p:nvSpPr>
        <p:spPr>
          <a:xfrm>
            <a:off x="8610600" y="1640341"/>
            <a:ext cx="1295400" cy="400110"/>
          </a:xfrm>
          <a:prstGeom prst="rect">
            <a:avLst/>
          </a:prstGeom>
          <a:noFill/>
        </p:spPr>
        <p:txBody>
          <a:bodyPr wrap="square" rtlCol="0">
            <a:spAutoFit/>
          </a:bodyPr>
          <a:lstStyle/>
          <a:p>
            <a:r>
              <a:rPr lang="en-US" sz="2000" dirty="0" smtClean="0">
                <a:latin typeface="Nunito Sans" panose="020B0604020202020204" charset="0"/>
              </a:rPr>
              <a:t>Fields</a:t>
            </a:r>
            <a:endParaRPr lang="en-IN" sz="2000" dirty="0">
              <a:latin typeface="Nunito Sans" panose="020B0604020202020204" charset="0"/>
            </a:endParaRPr>
          </a:p>
        </p:txBody>
      </p:sp>
      <p:sp>
        <p:nvSpPr>
          <p:cNvPr id="5" name="Rounded Rectangle 4"/>
          <p:cNvSpPr/>
          <p:nvPr/>
        </p:nvSpPr>
        <p:spPr>
          <a:xfrm>
            <a:off x="1676400" y="2680486"/>
            <a:ext cx="7848600" cy="331673"/>
          </a:xfrm>
          <a:prstGeom prst="roundRect">
            <a:avLst/>
          </a:prstGeom>
          <a:noFill/>
          <a:ln>
            <a:solidFill>
              <a:srgbClr val="F051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2"/>
          <p:cNvSpPr txBox="1"/>
          <p:nvPr/>
        </p:nvSpPr>
        <p:spPr>
          <a:xfrm>
            <a:off x="8613648" y="1626203"/>
            <a:ext cx="2057400" cy="400110"/>
          </a:xfrm>
          <a:prstGeom prst="rect">
            <a:avLst/>
          </a:prstGeom>
          <a:noFill/>
        </p:spPr>
        <p:txBody>
          <a:bodyPr wrap="square" rtlCol="0">
            <a:spAutoFit/>
          </a:bodyPr>
          <a:lstStyle/>
          <a:p>
            <a:r>
              <a:rPr lang="en-US" sz="2000" dirty="0" smtClean="0">
                <a:latin typeface="Nunito Sans" panose="020B0604020202020204" charset="0"/>
              </a:rPr>
              <a:t>Record or row</a:t>
            </a:r>
            <a:endParaRPr lang="en-IN" sz="2000" dirty="0">
              <a:latin typeface="Nunito Sans" panose="020B0604020202020204" charset="0"/>
            </a:endParaRPr>
          </a:p>
        </p:txBody>
      </p:sp>
      <p:sp>
        <p:nvSpPr>
          <p:cNvPr id="14" name="TextBox 13"/>
          <p:cNvSpPr txBox="1"/>
          <p:nvPr/>
        </p:nvSpPr>
        <p:spPr>
          <a:xfrm>
            <a:off x="8609397" y="1642897"/>
            <a:ext cx="2057400" cy="400110"/>
          </a:xfrm>
          <a:prstGeom prst="rect">
            <a:avLst/>
          </a:prstGeom>
          <a:noFill/>
        </p:spPr>
        <p:txBody>
          <a:bodyPr wrap="square" rtlCol="0">
            <a:spAutoFit/>
          </a:bodyPr>
          <a:lstStyle/>
          <a:p>
            <a:r>
              <a:rPr lang="en-US" sz="2000" dirty="0" smtClean="0">
                <a:latin typeface="Nunito Sans" panose="020B0604020202020204" charset="0"/>
              </a:rPr>
              <a:t>Column</a:t>
            </a:r>
            <a:endParaRPr lang="en-IN" sz="2000" dirty="0">
              <a:latin typeface="Nunito Sans" panose="020B0604020202020204" charset="0"/>
            </a:endParaRPr>
          </a:p>
        </p:txBody>
      </p:sp>
      <p:sp>
        <p:nvSpPr>
          <p:cNvPr id="16" name="Rounded Rectangle 15"/>
          <p:cNvSpPr/>
          <p:nvPr/>
        </p:nvSpPr>
        <p:spPr>
          <a:xfrm>
            <a:off x="1676400" y="2040451"/>
            <a:ext cx="1295400" cy="1998149"/>
          </a:xfrm>
          <a:prstGeom prst="roundRect">
            <a:avLst/>
          </a:prstGeom>
          <a:noFill/>
          <a:ln>
            <a:solidFill>
              <a:srgbClr val="F051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7622068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grpId="1" nodeType="clickEffect">
                                  <p:stCondLst>
                                    <p:cond delay="0"/>
                                  </p:stCondLst>
                                  <p:childTnLst>
                                    <p:set>
                                      <p:cBhvr>
                                        <p:cTn id="16" dur="1" fill="hold">
                                          <p:stCondLst>
                                            <p:cond delay="0"/>
                                          </p:stCondLst>
                                        </p:cTn>
                                        <p:tgtEl>
                                          <p:spTgt spid="3"/>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wipe(left)">
                                      <p:cBhvr>
                                        <p:cTn id="21" dur="500"/>
                                        <p:tgtEl>
                                          <p:spTgt spid="8"/>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xit" presetSubtype="0" fill="hold" grpId="1" nodeType="clickEffect">
                                  <p:stCondLst>
                                    <p:cond delay="0"/>
                                  </p:stCondLst>
                                  <p:childTnLst>
                                    <p:set>
                                      <p:cBhvr>
                                        <p:cTn id="25" dur="1" fill="hold">
                                          <p:stCondLst>
                                            <p:cond delay="0"/>
                                          </p:stCondLst>
                                        </p:cTn>
                                        <p:tgtEl>
                                          <p:spTgt spid="8"/>
                                        </p:tgtEl>
                                        <p:attrNameLst>
                                          <p:attrName>style.visibility</p:attrName>
                                        </p:attrNameLst>
                                      </p:cBhvr>
                                      <p:to>
                                        <p:strVal val="hidden"/>
                                      </p:to>
                                    </p:se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wipe(left)">
                                      <p:cBhvr>
                                        <p:cTn id="30" dur="500"/>
                                        <p:tgtEl>
                                          <p:spTgt spid="9"/>
                                        </p:tgtEl>
                                      </p:cBhvr>
                                    </p:animEffec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grpId="1" nodeType="clickEffect">
                                  <p:stCondLst>
                                    <p:cond delay="0"/>
                                  </p:stCondLst>
                                  <p:childTnLst>
                                    <p:set>
                                      <p:cBhvr>
                                        <p:cTn id="34" dur="1" fill="hold">
                                          <p:stCondLst>
                                            <p:cond delay="0"/>
                                          </p:stCondLst>
                                        </p:cTn>
                                        <p:tgtEl>
                                          <p:spTgt spid="9"/>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wipe(left)">
                                      <p:cBhvr>
                                        <p:cTn id="39" dur="500"/>
                                        <p:tgtEl>
                                          <p:spTgt spid="12"/>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xit" presetSubtype="0" fill="hold" grpId="1" nodeType="clickEffect">
                                  <p:stCondLst>
                                    <p:cond delay="0"/>
                                  </p:stCondLst>
                                  <p:childTnLst>
                                    <p:set>
                                      <p:cBhvr>
                                        <p:cTn id="43" dur="1" fill="hold">
                                          <p:stCondLst>
                                            <p:cond delay="0"/>
                                          </p:stCondLst>
                                        </p:cTn>
                                        <p:tgtEl>
                                          <p:spTgt spid="12"/>
                                        </p:tgtEl>
                                        <p:attrNameLst>
                                          <p:attrName>style.visibility</p:attrName>
                                        </p:attrNameLst>
                                      </p:cBhvr>
                                      <p:to>
                                        <p:strVal val="hidden"/>
                                      </p:to>
                                    </p:set>
                                  </p:childTnLst>
                                </p:cTn>
                              </p:par>
                            </p:childTnLst>
                          </p:cTn>
                        </p:par>
                      </p:childTnLst>
                    </p:cTn>
                  </p:par>
                  <p:par>
                    <p:cTn id="44" fill="hold">
                      <p:stCondLst>
                        <p:cond delay="indefinite"/>
                      </p:stCondLst>
                      <p:childTnLst>
                        <p:par>
                          <p:cTn id="45" fill="hold">
                            <p:stCondLst>
                              <p:cond delay="0"/>
                            </p:stCondLst>
                            <p:childTnLst>
                              <p:par>
                                <p:cTn id="46" presetID="1" presetClass="exit" presetSubtype="0" fill="hold" grpId="1" nodeType="clickEffect">
                                  <p:stCondLst>
                                    <p:cond delay="0"/>
                                  </p:stCondLst>
                                  <p:childTnLst>
                                    <p:set>
                                      <p:cBhvr>
                                        <p:cTn id="47" dur="1" fill="hold">
                                          <p:stCondLst>
                                            <p:cond delay="0"/>
                                          </p:stCondLst>
                                        </p:cTn>
                                        <p:tgtEl>
                                          <p:spTgt spid="4"/>
                                        </p:tgtEl>
                                        <p:attrNameLst>
                                          <p:attrName>style.visibility</p:attrName>
                                        </p:attrNameLst>
                                      </p:cBhvr>
                                      <p:to>
                                        <p:strVal val="hidden"/>
                                      </p:to>
                                    </p:se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3"/>
                                        </p:tgtEl>
                                        <p:attrNameLst>
                                          <p:attrName>style.visibility</p:attrName>
                                        </p:attrNameLst>
                                      </p:cBhvr>
                                      <p:to>
                                        <p:strVal val="visible"/>
                                      </p:to>
                                    </p:set>
                                    <p:animEffect transition="in" filter="wipe(left)">
                                      <p:cBhvr>
                                        <p:cTn id="52" dur="500"/>
                                        <p:tgtEl>
                                          <p:spTgt spid="13"/>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5"/>
                                        </p:tgtEl>
                                        <p:attrNameLst>
                                          <p:attrName>style.visibility</p:attrName>
                                        </p:attrNameLst>
                                      </p:cBhvr>
                                      <p:to>
                                        <p:strVal val="visible"/>
                                      </p:to>
                                    </p:set>
                                    <p:animEffect transition="in" filter="wipe(left)">
                                      <p:cBhvr>
                                        <p:cTn id="57" dur="500"/>
                                        <p:tgtEl>
                                          <p:spTgt spid="5"/>
                                        </p:tgtEl>
                                      </p:cBhvr>
                                    </p:animEffect>
                                  </p:childTnLst>
                                </p:cTn>
                              </p:par>
                            </p:childTnLst>
                          </p:cTn>
                        </p:par>
                      </p:childTnLst>
                    </p:cTn>
                  </p:par>
                  <p:par>
                    <p:cTn id="58" fill="hold">
                      <p:stCondLst>
                        <p:cond delay="indefinite"/>
                      </p:stCondLst>
                      <p:childTnLst>
                        <p:par>
                          <p:cTn id="59" fill="hold">
                            <p:stCondLst>
                              <p:cond delay="0"/>
                            </p:stCondLst>
                            <p:childTnLst>
                              <p:par>
                                <p:cTn id="60" presetID="1" presetClass="exit" presetSubtype="0" fill="hold" grpId="1" nodeType="clickEffect">
                                  <p:stCondLst>
                                    <p:cond delay="0"/>
                                  </p:stCondLst>
                                  <p:childTnLst>
                                    <p:set>
                                      <p:cBhvr>
                                        <p:cTn id="61" dur="1" fill="hold">
                                          <p:stCondLst>
                                            <p:cond delay="0"/>
                                          </p:stCondLst>
                                        </p:cTn>
                                        <p:tgtEl>
                                          <p:spTgt spid="5"/>
                                        </p:tgtEl>
                                        <p:attrNameLst>
                                          <p:attrName>style.visibility</p:attrName>
                                        </p:attrNameLst>
                                      </p:cBhvr>
                                      <p:to>
                                        <p:strVal val="hidden"/>
                                      </p:to>
                                    </p:set>
                                  </p:childTnLst>
                                </p:cTn>
                              </p:par>
                            </p:childTnLst>
                          </p:cTn>
                        </p:par>
                      </p:childTnLst>
                    </p:cTn>
                  </p:par>
                  <p:par>
                    <p:cTn id="62" fill="hold">
                      <p:stCondLst>
                        <p:cond delay="indefinite"/>
                      </p:stCondLst>
                      <p:childTnLst>
                        <p:par>
                          <p:cTn id="63" fill="hold">
                            <p:stCondLst>
                              <p:cond delay="0"/>
                            </p:stCondLst>
                            <p:childTnLst>
                              <p:par>
                                <p:cTn id="64" presetID="1" presetClass="exit" presetSubtype="0" fill="hold" grpId="1" nodeType="clickEffect">
                                  <p:stCondLst>
                                    <p:cond delay="0"/>
                                  </p:stCondLst>
                                  <p:childTnLst>
                                    <p:set>
                                      <p:cBhvr>
                                        <p:cTn id="65" dur="1" fill="hold">
                                          <p:stCondLst>
                                            <p:cond delay="0"/>
                                          </p:stCondLst>
                                        </p:cTn>
                                        <p:tgtEl>
                                          <p:spTgt spid="13"/>
                                        </p:tgtEl>
                                        <p:attrNameLst>
                                          <p:attrName>style.visibility</p:attrName>
                                        </p:attrNameLst>
                                      </p:cBhvr>
                                      <p:to>
                                        <p:strVal val="hidden"/>
                                      </p:to>
                                    </p:se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grpId="0" nodeType="clickEffect">
                                  <p:stCondLst>
                                    <p:cond delay="0"/>
                                  </p:stCondLst>
                                  <p:childTnLst>
                                    <p:set>
                                      <p:cBhvr>
                                        <p:cTn id="69" dur="1" fill="hold">
                                          <p:stCondLst>
                                            <p:cond delay="0"/>
                                          </p:stCondLst>
                                        </p:cTn>
                                        <p:tgtEl>
                                          <p:spTgt spid="14"/>
                                        </p:tgtEl>
                                        <p:attrNameLst>
                                          <p:attrName>style.visibility</p:attrName>
                                        </p:attrNameLst>
                                      </p:cBhvr>
                                      <p:to>
                                        <p:strVal val="visible"/>
                                      </p:to>
                                    </p:set>
                                    <p:animEffect transition="in" filter="wipe(left)">
                                      <p:cBhvr>
                                        <p:cTn id="70" dur="500"/>
                                        <p:tgtEl>
                                          <p:spTgt spid="14"/>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1" fill="hold" grpId="0" nodeType="clickEffect">
                                  <p:stCondLst>
                                    <p:cond delay="0"/>
                                  </p:stCondLst>
                                  <p:childTnLst>
                                    <p:set>
                                      <p:cBhvr>
                                        <p:cTn id="74" dur="1" fill="hold">
                                          <p:stCondLst>
                                            <p:cond delay="0"/>
                                          </p:stCondLst>
                                        </p:cTn>
                                        <p:tgtEl>
                                          <p:spTgt spid="16"/>
                                        </p:tgtEl>
                                        <p:attrNameLst>
                                          <p:attrName>style.visibility</p:attrName>
                                        </p:attrNameLst>
                                      </p:cBhvr>
                                      <p:to>
                                        <p:strVal val="visible"/>
                                      </p:to>
                                    </p:set>
                                    <p:animEffect transition="in" filter="wipe(up)">
                                      <p:cBhvr>
                                        <p:cTn id="75"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P spid="8" grpId="0" animBg="1"/>
      <p:bldP spid="8" grpId="1" animBg="1"/>
      <p:bldP spid="9" grpId="0" animBg="1"/>
      <p:bldP spid="9" grpId="1" animBg="1"/>
      <p:bldP spid="12" grpId="0" animBg="1"/>
      <p:bldP spid="12" grpId="1" animBg="1"/>
      <p:bldP spid="4" grpId="0"/>
      <p:bldP spid="4" grpId="1"/>
      <p:bldP spid="5" grpId="0" animBg="1"/>
      <p:bldP spid="5" grpId="1" animBg="1"/>
      <p:bldP spid="13" grpId="0"/>
      <p:bldP spid="13" grpId="1"/>
      <p:bldP spid="14" grpId="0"/>
      <p:bldP spid="1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xmlns="" id="{AA635DAA-35C4-4438-9D75-515C2C193139}"/>
              </a:ext>
            </a:extLst>
          </p:cNvPr>
          <p:cNvSpPr txBox="1"/>
          <p:nvPr/>
        </p:nvSpPr>
        <p:spPr>
          <a:xfrm>
            <a:off x="526224" y="769163"/>
            <a:ext cx="11136326" cy="477054"/>
          </a:xfrm>
          <a:prstGeom prst="rect">
            <a:avLst/>
          </a:prstGeom>
          <a:noFill/>
        </p:spPr>
        <p:txBody>
          <a:bodyPr wrap="square" rtlCol="0">
            <a:spAutoFit/>
          </a:bodyPr>
          <a:lstStyle/>
          <a:p>
            <a:r>
              <a:rPr lang="en-US" sz="2500" b="1" dirty="0" smtClean="0">
                <a:latin typeface="Nunito Sans" panose="00000500000000000000" pitchFamily="2" charset="0"/>
              </a:rPr>
              <a:t>RDBMS</a:t>
            </a:r>
            <a:endParaRPr lang="en-US" sz="2500" b="1" dirty="0">
              <a:latin typeface="Nunito Sans" panose="00000500000000000000" pitchFamily="2" charset="0"/>
            </a:endParaRPr>
          </a:p>
        </p:txBody>
      </p:sp>
      <p:sp>
        <p:nvSpPr>
          <p:cNvPr id="10" name="Rectangle 9">
            <a:extLst>
              <a:ext uri="{FF2B5EF4-FFF2-40B4-BE49-F238E27FC236}">
                <a16:creationId xmlns:a16="http://schemas.microsoft.com/office/drawing/2014/main" xmlns="" id="{3E767CAB-1FA5-494A-96EC-9E612067A695}"/>
              </a:ext>
            </a:extLst>
          </p:cNvPr>
          <p:cNvSpPr/>
          <p:nvPr/>
        </p:nvSpPr>
        <p:spPr>
          <a:xfrm>
            <a:off x="598714" y="711390"/>
            <a:ext cx="794852" cy="57773"/>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xmlns="" id="{6373F422-781C-4385-84E3-34EDBC7AB3E7}"/>
              </a:ext>
            </a:extLst>
          </p:cNvPr>
          <p:cNvSpPr txBox="1"/>
          <p:nvPr/>
        </p:nvSpPr>
        <p:spPr>
          <a:xfrm>
            <a:off x="558069" y="1611766"/>
            <a:ext cx="11104481" cy="1775486"/>
          </a:xfrm>
          <a:prstGeom prst="rect">
            <a:avLst/>
          </a:prstGeom>
          <a:noFill/>
        </p:spPr>
        <p:txBody>
          <a:bodyPr wrap="square" rtlCol="0">
            <a:spAutoFit/>
          </a:bodyPr>
          <a:lstStyle/>
          <a:p>
            <a:pPr marL="342900" indent="-342900">
              <a:lnSpc>
                <a:spcPct val="150000"/>
              </a:lnSpc>
              <a:buFont typeface="Wingdings" panose="05000000000000000000" pitchFamily="2" charset="2"/>
              <a:buChar char="Ø"/>
            </a:pPr>
            <a:r>
              <a:rPr lang="en-US" sz="2500" dirty="0">
                <a:latin typeface="Nunito Sans" panose="00000500000000000000" pitchFamily="2" charset="0"/>
              </a:rPr>
              <a:t>RDBMS stands for Relational Database Management System. </a:t>
            </a:r>
            <a:endParaRPr lang="en-US" sz="2500" dirty="0" smtClean="0">
              <a:latin typeface="Nunito Sans" panose="00000500000000000000" pitchFamily="2" charset="0"/>
            </a:endParaRPr>
          </a:p>
          <a:p>
            <a:pPr marL="342900" indent="-342900">
              <a:lnSpc>
                <a:spcPct val="150000"/>
              </a:lnSpc>
              <a:buFont typeface="Wingdings" panose="05000000000000000000" pitchFamily="2" charset="2"/>
              <a:buChar char="Ø"/>
            </a:pPr>
            <a:r>
              <a:rPr lang="en-US" sz="2500" dirty="0" smtClean="0">
                <a:latin typeface="Nunito Sans" panose="00000500000000000000" pitchFamily="2" charset="0"/>
              </a:rPr>
              <a:t>RDBMS </a:t>
            </a:r>
            <a:r>
              <a:rPr lang="en-US" sz="2500" dirty="0">
                <a:latin typeface="Nunito Sans" panose="00000500000000000000" pitchFamily="2" charset="0"/>
              </a:rPr>
              <a:t>is the basis for SQL, and for all modern database systems like MS SQL Server, IBM DB2, Oracle, MySQL, and Microsoft Access.</a:t>
            </a:r>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74352" y="6099048"/>
            <a:ext cx="1993392" cy="430628"/>
          </a:xfrm>
          <a:prstGeom prst="rect">
            <a:avLst/>
          </a:prstGeom>
        </p:spPr>
      </p:pic>
    </p:spTree>
    <p:extLst>
      <p:ext uri="{BB962C8B-B14F-4D97-AF65-F5344CB8AC3E}">
        <p14:creationId xmlns:p14="http://schemas.microsoft.com/office/powerpoint/2010/main" val="197446034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xmlns="" id="{3A73E930-58B4-4FEC-8303-01C4F888F30D}"/>
              </a:ext>
            </a:extLst>
          </p:cNvPr>
          <p:cNvSpPr txBox="1"/>
          <p:nvPr/>
        </p:nvSpPr>
        <p:spPr>
          <a:xfrm>
            <a:off x="533400" y="914400"/>
            <a:ext cx="11052517" cy="477054"/>
          </a:xfrm>
          <a:prstGeom prst="rect">
            <a:avLst/>
          </a:prstGeom>
          <a:noFill/>
        </p:spPr>
        <p:txBody>
          <a:bodyPr wrap="square" rtlCol="0">
            <a:spAutoFit/>
          </a:bodyPr>
          <a:lstStyle/>
          <a:p>
            <a:pPr algn="just"/>
            <a:r>
              <a:rPr lang="en-US" sz="2500" b="1" dirty="0" smtClean="0">
                <a:solidFill>
                  <a:srgbClr val="000000"/>
                </a:solidFill>
                <a:latin typeface="Nunito Sans" charset="0"/>
              </a:rPr>
              <a:t>SQL Commands</a:t>
            </a:r>
            <a:r>
              <a:rPr lang="en-US" sz="2500" b="1" dirty="0" smtClean="0">
                <a:solidFill>
                  <a:srgbClr val="000000"/>
                </a:solidFill>
                <a:latin typeface="Nunito Sans" charset="0"/>
              </a:rPr>
              <a:t>:</a:t>
            </a:r>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74352" y="6099048"/>
            <a:ext cx="1993392" cy="430628"/>
          </a:xfrm>
          <a:prstGeom prst="rect">
            <a:avLst/>
          </a:prstGeom>
        </p:spPr>
      </p:pic>
      <p:sp>
        <p:nvSpPr>
          <p:cNvPr id="5" name="Rectangle 4">
            <a:extLst>
              <a:ext uri="{FF2B5EF4-FFF2-40B4-BE49-F238E27FC236}">
                <a16:creationId xmlns:a16="http://schemas.microsoft.com/office/drawing/2014/main" xmlns="" id="{79A7B499-1801-4959-9783-261750DF0FA9}"/>
              </a:ext>
            </a:extLst>
          </p:cNvPr>
          <p:cNvSpPr/>
          <p:nvPr/>
        </p:nvSpPr>
        <p:spPr>
          <a:xfrm>
            <a:off x="598714" y="711390"/>
            <a:ext cx="794852" cy="57773"/>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ounded Rectangle 1"/>
          <p:cNvSpPr/>
          <p:nvPr/>
        </p:nvSpPr>
        <p:spPr>
          <a:xfrm>
            <a:off x="4760742" y="1391454"/>
            <a:ext cx="2590800" cy="533400"/>
          </a:xfrm>
          <a:prstGeom prst="roundRect">
            <a:avLst/>
          </a:prstGeom>
          <a:ln/>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2500" dirty="0" smtClean="0">
                <a:solidFill>
                  <a:schemeClr val="tx1"/>
                </a:solidFill>
                <a:latin typeface="Nunito Sans" panose="020B0604020202020204" charset="0"/>
              </a:rPr>
              <a:t>SQL Command</a:t>
            </a:r>
            <a:endParaRPr lang="en-IN" sz="2500" dirty="0">
              <a:solidFill>
                <a:schemeClr val="tx1"/>
              </a:solidFill>
              <a:latin typeface="Nunito Sans" panose="020B0604020202020204" charset="0"/>
            </a:endParaRPr>
          </a:p>
        </p:txBody>
      </p:sp>
      <p:sp>
        <p:nvSpPr>
          <p:cNvPr id="3" name="Rectangle 2"/>
          <p:cNvSpPr/>
          <p:nvPr/>
        </p:nvSpPr>
        <p:spPr>
          <a:xfrm>
            <a:off x="1212168" y="2543176"/>
            <a:ext cx="1643574" cy="3400424"/>
          </a:xfrm>
          <a:prstGeom prst="rect">
            <a:avLst/>
          </a:prstGeom>
          <a:ln/>
        </p:spPr>
        <p:style>
          <a:lnRef idx="1">
            <a:schemeClr val="accent4"/>
          </a:lnRef>
          <a:fillRef idx="2">
            <a:schemeClr val="accent4"/>
          </a:fillRef>
          <a:effectRef idx="1">
            <a:schemeClr val="accent4"/>
          </a:effectRef>
          <a:fontRef idx="minor">
            <a:schemeClr val="dk1"/>
          </a:fontRef>
        </p:style>
        <p:txBody>
          <a:bodyPr rtlCol="0" anchor="t"/>
          <a:lstStyle/>
          <a:p>
            <a:r>
              <a:rPr lang="en-US" sz="2000" b="1" dirty="0" smtClean="0">
                <a:solidFill>
                  <a:schemeClr val="tx1"/>
                </a:solidFill>
                <a:latin typeface="Nunito Sans" panose="020B0604020202020204" charset="0"/>
              </a:rPr>
              <a:t>DDL</a:t>
            </a:r>
          </a:p>
          <a:p>
            <a:endParaRPr lang="en-US" sz="2000" dirty="0">
              <a:solidFill>
                <a:schemeClr val="tx1"/>
              </a:solidFill>
              <a:latin typeface="Nunito Sans" panose="020B0604020202020204" charset="0"/>
            </a:endParaRPr>
          </a:p>
          <a:p>
            <a:pPr>
              <a:lnSpc>
                <a:spcPct val="150000"/>
              </a:lnSpc>
            </a:pPr>
            <a:r>
              <a:rPr lang="en-US" sz="1500" dirty="0" smtClean="0">
                <a:solidFill>
                  <a:schemeClr val="tx1"/>
                </a:solidFill>
                <a:latin typeface="Nunito Sans" panose="020B0604020202020204" charset="0"/>
              </a:rPr>
              <a:t>CREATE</a:t>
            </a:r>
          </a:p>
          <a:p>
            <a:pPr>
              <a:lnSpc>
                <a:spcPct val="150000"/>
              </a:lnSpc>
            </a:pPr>
            <a:r>
              <a:rPr lang="en-US" sz="1500" dirty="0" smtClean="0">
                <a:solidFill>
                  <a:schemeClr val="tx1"/>
                </a:solidFill>
                <a:latin typeface="Nunito Sans" panose="020B0604020202020204" charset="0"/>
              </a:rPr>
              <a:t>ALTER</a:t>
            </a:r>
          </a:p>
          <a:p>
            <a:pPr>
              <a:lnSpc>
                <a:spcPct val="150000"/>
              </a:lnSpc>
            </a:pPr>
            <a:r>
              <a:rPr lang="en-US" sz="1500" dirty="0" smtClean="0">
                <a:solidFill>
                  <a:schemeClr val="tx1"/>
                </a:solidFill>
                <a:latin typeface="Nunito Sans" panose="020B0604020202020204" charset="0"/>
              </a:rPr>
              <a:t>DROP</a:t>
            </a:r>
          </a:p>
          <a:p>
            <a:pPr>
              <a:lnSpc>
                <a:spcPct val="150000"/>
              </a:lnSpc>
            </a:pPr>
            <a:r>
              <a:rPr lang="en-US" sz="1500" dirty="0" smtClean="0">
                <a:solidFill>
                  <a:schemeClr val="tx1"/>
                </a:solidFill>
                <a:latin typeface="Nunito Sans" panose="020B0604020202020204" charset="0"/>
              </a:rPr>
              <a:t>RENAME</a:t>
            </a:r>
          </a:p>
          <a:p>
            <a:pPr>
              <a:lnSpc>
                <a:spcPct val="150000"/>
              </a:lnSpc>
            </a:pPr>
            <a:r>
              <a:rPr lang="en-US" sz="1500" dirty="0" smtClean="0">
                <a:solidFill>
                  <a:schemeClr val="tx1"/>
                </a:solidFill>
                <a:latin typeface="Nunito Sans" panose="020B0604020202020204" charset="0"/>
              </a:rPr>
              <a:t>TRUNCATE</a:t>
            </a:r>
          </a:p>
          <a:p>
            <a:pPr>
              <a:lnSpc>
                <a:spcPct val="150000"/>
              </a:lnSpc>
            </a:pPr>
            <a:r>
              <a:rPr lang="en-US" sz="1500" dirty="0" smtClean="0">
                <a:solidFill>
                  <a:schemeClr val="tx1"/>
                </a:solidFill>
                <a:latin typeface="Nunito Sans" panose="020B0604020202020204" charset="0"/>
              </a:rPr>
              <a:t>COMMENT</a:t>
            </a:r>
            <a:endParaRPr lang="en-IN" sz="1500" dirty="0">
              <a:solidFill>
                <a:schemeClr val="tx1"/>
              </a:solidFill>
              <a:latin typeface="Nunito Sans" panose="020B0604020202020204" charset="0"/>
            </a:endParaRPr>
          </a:p>
        </p:txBody>
      </p:sp>
      <p:sp>
        <p:nvSpPr>
          <p:cNvPr id="11" name="Rectangle 10"/>
          <p:cNvSpPr/>
          <p:nvPr/>
        </p:nvSpPr>
        <p:spPr>
          <a:xfrm>
            <a:off x="3882684" y="2543176"/>
            <a:ext cx="1756116" cy="3400424"/>
          </a:xfrm>
          <a:prstGeom prst="rect">
            <a:avLst/>
          </a:prstGeom>
          <a:ln/>
        </p:spPr>
        <p:style>
          <a:lnRef idx="1">
            <a:schemeClr val="accent4"/>
          </a:lnRef>
          <a:fillRef idx="2">
            <a:schemeClr val="accent4"/>
          </a:fillRef>
          <a:effectRef idx="1">
            <a:schemeClr val="accent4"/>
          </a:effectRef>
          <a:fontRef idx="minor">
            <a:schemeClr val="dk1"/>
          </a:fontRef>
        </p:style>
        <p:txBody>
          <a:bodyPr rtlCol="0" anchor="t"/>
          <a:lstStyle/>
          <a:p>
            <a:r>
              <a:rPr lang="en-US" sz="2000" b="1" dirty="0" smtClean="0">
                <a:solidFill>
                  <a:schemeClr val="tx1"/>
                </a:solidFill>
                <a:latin typeface="Nunito Sans" panose="020B0604020202020204" charset="0"/>
              </a:rPr>
              <a:t>DML</a:t>
            </a:r>
          </a:p>
          <a:p>
            <a:endParaRPr lang="en-US" sz="2000" dirty="0">
              <a:solidFill>
                <a:schemeClr val="tx1"/>
              </a:solidFill>
              <a:latin typeface="Nunito Sans" panose="020B0604020202020204" charset="0"/>
            </a:endParaRPr>
          </a:p>
          <a:p>
            <a:pPr>
              <a:lnSpc>
                <a:spcPct val="150000"/>
              </a:lnSpc>
            </a:pPr>
            <a:r>
              <a:rPr lang="en-US" sz="1500" dirty="0" smtClean="0">
                <a:solidFill>
                  <a:schemeClr val="tx1"/>
                </a:solidFill>
                <a:latin typeface="Nunito Sans" panose="020B0604020202020204" charset="0"/>
              </a:rPr>
              <a:t>SELECT</a:t>
            </a:r>
          </a:p>
          <a:p>
            <a:pPr>
              <a:lnSpc>
                <a:spcPct val="150000"/>
              </a:lnSpc>
            </a:pPr>
            <a:r>
              <a:rPr lang="en-US" sz="1500" dirty="0" smtClean="0">
                <a:solidFill>
                  <a:schemeClr val="tx1"/>
                </a:solidFill>
                <a:latin typeface="Nunito Sans" panose="020B0604020202020204" charset="0"/>
              </a:rPr>
              <a:t>INSERT</a:t>
            </a:r>
          </a:p>
          <a:p>
            <a:pPr>
              <a:lnSpc>
                <a:spcPct val="150000"/>
              </a:lnSpc>
            </a:pPr>
            <a:r>
              <a:rPr lang="en-US" sz="1500" dirty="0" smtClean="0">
                <a:solidFill>
                  <a:schemeClr val="tx1"/>
                </a:solidFill>
                <a:latin typeface="Nunito Sans" panose="020B0604020202020204" charset="0"/>
              </a:rPr>
              <a:t>UPDATE</a:t>
            </a:r>
          </a:p>
          <a:p>
            <a:pPr>
              <a:lnSpc>
                <a:spcPct val="150000"/>
              </a:lnSpc>
            </a:pPr>
            <a:r>
              <a:rPr lang="en-US" sz="1500" dirty="0" smtClean="0">
                <a:solidFill>
                  <a:schemeClr val="tx1"/>
                </a:solidFill>
                <a:latin typeface="Nunito Sans" panose="020B0604020202020204" charset="0"/>
              </a:rPr>
              <a:t>DELETE</a:t>
            </a:r>
          </a:p>
          <a:p>
            <a:pPr>
              <a:lnSpc>
                <a:spcPct val="150000"/>
              </a:lnSpc>
            </a:pPr>
            <a:r>
              <a:rPr lang="en-US" sz="1500" dirty="0" smtClean="0">
                <a:solidFill>
                  <a:schemeClr val="tx1"/>
                </a:solidFill>
                <a:latin typeface="Nunito Sans" panose="020B0604020202020204" charset="0"/>
              </a:rPr>
              <a:t>MERGE</a:t>
            </a:r>
          </a:p>
          <a:p>
            <a:pPr>
              <a:lnSpc>
                <a:spcPct val="150000"/>
              </a:lnSpc>
            </a:pPr>
            <a:r>
              <a:rPr lang="en-US" sz="1500" dirty="0" smtClean="0">
                <a:solidFill>
                  <a:schemeClr val="tx1"/>
                </a:solidFill>
                <a:latin typeface="Nunito Sans" panose="020B0604020202020204" charset="0"/>
              </a:rPr>
              <a:t>CALL</a:t>
            </a:r>
          </a:p>
          <a:p>
            <a:pPr>
              <a:lnSpc>
                <a:spcPct val="150000"/>
              </a:lnSpc>
            </a:pPr>
            <a:r>
              <a:rPr lang="en-US" sz="1500" dirty="0" smtClean="0">
                <a:solidFill>
                  <a:schemeClr val="tx1"/>
                </a:solidFill>
                <a:latin typeface="Nunito Sans" panose="020B0604020202020204" charset="0"/>
              </a:rPr>
              <a:t>EXPLAIN PLAN</a:t>
            </a:r>
          </a:p>
          <a:p>
            <a:pPr>
              <a:lnSpc>
                <a:spcPct val="150000"/>
              </a:lnSpc>
            </a:pPr>
            <a:r>
              <a:rPr lang="en-US" sz="1500" dirty="0" smtClean="0">
                <a:solidFill>
                  <a:schemeClr val="tx1"/>
                </a:solidFill>
                <a:latin typeface="Nunito Sans" panose="020B0604020202020204" charset="0"/>
              </a:rPr>
              <a:t>LOCK TABLE</a:t>
            </a:r>
            <a:endParaRPr lang="en-IN" sz="1500" dirty="0">
              <a:solidFill>
                <a:schemeClr val="tx1"/>
              </a:solidFill>
              <a:latin typeface="Nunito Sans" panose="020B0604020202020204" charset="0"/>
            </a:endParaRPr>
          </a:p>
        </p:txBody>
      </p:sp>
      <p:sp>
        <p:nvSpPr>
          <p:cNvPr id="12" name="Rectangle 11"/>
          <p:cNvSpPr/>
          <p:nvPr/>
        </p:nvSpPr>
        <p:spPr>
          <a:xfrm>
            <a:off x="6665742" y="2543176"/>
            <a:ext cx="1603716" cy="3400424"/>
          </a:xfrm>
          <a:prstGeom prst="rect">
            <a:avLst/>
          </a:prstGeom>
          <a:ln/>
        </p:spPr>
        <p:style>
          <a:lnRef idx="1">
            <a:schemeClr val="accent4"/>
          </a:lnRef>
          <a:fillRef idx="2">
            <a:schemeClr val="accent4"/>
          </a:fillRef>
          <a:effectRef idx="1">
            <a:schemeClr val="accent4"/>
          </a:effectRef>
          <a:fontRef idx="minor">
            <a:schemeClr val="dk1"/>
          </a:fontRef>
        </p:style>
        <p:txBody>
          <a:bodyPr rtlCol="0" anchor="t"/>
          <a:lstStyle/>
          <a:p>
            <a:r>
              <a:rPr lang="en-US" sz="2000" b="1" dirty="0" smtClean="0">
                <a:solidFill>
                  <a:schemeClr val="tx1"/>
                </a:solidFill>
                <a:latin typeface="Nunito Sans" panose="020B0604020202020204" charset="0"/>
              </a:rPr>
              <a:t>DCL</a:t>
            </a:r>
          </a:p>
          <a:p>
            <a:endParaRPr lang="en-US" sz="2000" dirty="0">
              <a:solidFill>
                <a:schemeClr val="tx1"/>
              </a:solidFill>
              <a:latin typeface="Nunito Sans" panose="020B0604020202020204" charset="0"/>
            </a:endParaRPr>
          </a:p>
          <a:p>
            <a:pPr>
              <a:lnSpc>
                <a:spcPct val="150000"/>
              </a:lnSpc>
            </a:pPr>
            <a:r>
              <a:rPr lang="en-US" sz="1500" dirty="0" smtClean="0">
                <a:solidFill>
                  <a:schemeClr val="tx1"/>
                </a:solidFill>
                <a:latin typeface="Nunito Sans" panose="020B0604020202020204" charset="0"/>
              </a:rPr>
              <a:t>GRANT</a:t>
            </a:r>
          </a:p>
          <a:p>
            <a:pPr>
              <a:lnSpc>
                <a:spcPct val="150000"/>
              </a:lnSpc>
            </a:pPr>
            <a:r>
              <a:rPr lang="en-US" sz="1500" dirty="0" smtClean="0">
                <a:solidFill>
                  <a:schemeClr val="tx1"/>
                </a:solidFill>
                <a:latin typeface="Nunito Sans" panose="020B0604020202020204" charset="0"/>
              </a:rPr>
              <a:t>REVOKE</a:t>
            </a:r>
            <a:endParaRPr lang="en-IN" sz="1500" dirty="0">
              <a:solidFill>
                <a:schemeClr val="tx1"/>
              </a:solidFill>
              <a:latin typeface="Nunito Sans" panose="020B0604020202020204" charset="0"/>
            </a:endParaRPr>
          </a:p>
        </p:txBody>
      </p:sp>
      <p:sp>
        <p:nvSpPr>
          <p:cNvPr id="13" name="Rectangle 12"/>
          <p:cNvSpPr/>
          <p:nvPr/>
        </p:nvSpPr>
        <p:spPr>
          <a:xfrm>
            <a:off x="9296400" y="2543176"/>
            <a:ext cx="2057400" cy="3400424"/>
          </a:xfrm>
          <a:prstGeom prst="rect">
            <a:avLst/>
          </a:prstGeom>
          <a:ln/>
        </p:spPr>
        <p:style>
          <a:lnRef idx="1">
            <a:schemeClr val="accent4"/>
          </a:lnRef>
          <a:fillRef idx="2">
            <a:schemeClr val="accent4"/>
          </a:fillRef>
          <a:effectRef idx="1">
            <a:schemeClr val="accent4"/>
          </a:effectRef>
          <a:fontRef idx="minor">
            <a:schemeClr val="dk1"/>
          </a:fontRef>
        </p:style>
        <p:txBody>
          <a:bodyPr rtlCol="0" anchor="t"/>
          <a:lstStyle/>
          <a:p>
            <a:r>
              <a:rPr lang="en-US" sz="2000" b="1" dirty="0" smtClean="0">
                <a:solidFill>
                  <a:schemeClr val="tx1"/>
                </a:solidFill>
                <a:latin typeface="Nunito Sans" panose="020B0604020202020204" charset="0"/>
              </a:rPr>
              <a:t>DDL</a:t>
            </a:r>
          </a:p>
          <a:p>
            <a:endParaRPr lang="en-US" sz="2000" dirty="0">
              <a:solidFill>
                <a:schemeClr val="tx1"/>
              </a:solidFill>
              <a:latin typeface="Nunito Sans" panose="020B0604020202020204" charset="0"/>
            </a:endParaRPr>
          </a:p>
          <a:p>
            <a:pPr>
              <a:lnSpc>
                <a:spcPct val="150000"/>
              </a:lnSpc>
            </a:pPr>
            <a:r>
              <a:rPr lang="en-US" sz="1500" dirty="0" smtClean="0">
                <a:solidFill>
                  <a:schemeClr val="tx1"/>
                </a:solidFill>
                <a:latin typeface="Nunito Sans" panose="020B0604020202020204" charset="0"/>
              </a:rPr>
              <a:t>COMMIT</a:t>
            </a:r>
          </a:p>
          <a:p>
            <a:pPr>
              <a:lnSpc>
                <a:spcPct val="150000"/>
              </a:lnSpc>
            </a:pPr>
            <a:r>
              <a:rPr lang="en-US" sz="1500" dirty="0" smtClean="0">
                <a:solidFill>
                  <a:schemeClr val="tx1"/>
                </a:solidFill>
                <a:latin typeface="Nunito Sans" panose="020B0604020202020204" charset="0"/>
              </a:rPr>
              <a:t>ROLLBACK</a:t>
            </a:r>
          </a:p>
          <a:p>
            <a:pPr>
              <a:lnSpc>
                <a:spcPct val="150000"/>
              </a:lnSpc>
            </a:pPr>
            <a:r>
              <a:rPr lang="en-US" sz="1500" dirty="0" smtClean="0">
                <a:solidFill>
                  <a:schemeClr val="tx1"/>
                </a:solidFill>
                <a:latin typeface="Nunito Sans" panose="020B0604020202020204" charset="0"/>
              </a:rPr>
              <a:t>SAVEPOINT</a:t>
            </a:r>
          </a:p>
          <a:p>
            <a:pPr>
              <a:lnSpc>
                <a:spcPct val="150000"/>
              </a:lnSpc>
            </a:pPr>
            <a:r>
              <a:rPr lang="en-US" sz="1500" dirty="0" smtClean="0">
                <a:solidFill>
                  <a:schemeClr val="tx1"/>
                </a:solidFill>
                <a:latin typeface="Nunito Sans" panose="020B0604020202020204" charset="0"/>
              </a:rPr>
              <a:t>SET TRANSACTION</a:t>
            </a:r>
            <a:endParaRPr lang="en-IN" sz="1500" dirty="0">
              <a:solidFill>
                <a:schemeClr val="tx1"/>
              </a:solidFill>
              <a:latin typeface="Nunito Sans" panose="020B0604020202020204" charset="0"/>
            </a:endParaRPr>
          </a:p>
        </p:txBody>
      </p:sp>
      <p:cxnSp>
        <p:nvCxnSpPr>
          <p:cNvPr id="14" name="Elbow Connector 13"/>
          <p:cNvCxnSpPr>
            <a:stCxn id="2" idx="2"/>
            <a:endCxn id="13" idx="0"/>
          </p:cNvCxnSpPr>
          <p:nvPr/>
        </p:nvCxnSpPr>
        <p:spPr>
          <a:xfrm rot="16200000" flipH="1">
            <a:off x="7881460" y="99536"/>
            <a:ext cx="618322" cy="4268958"/>
          </a:xfrm>
          <a:prstGeom prst="bentConnector3">
            <a:avLst/>
          </a:prstGeom>
          <a:ln w="12700">
            <a:tailEnd type="triangle"/>
          </a:ln>
        </p:spPr>
        <p:style>
          <a:lnRef idx="2">
            <a:schemeClr val="dk1"/>
          </a:lnRef>
          <a:fillRef idx="0">
            <a:schemeClr val="dk1"/>
          </a:fillRef>
          <a:effectRef idx="1">
            <a:schemeClr val="dk1"/>
          </a:effectRef>
          <a:fontRef idx="minor">
            <a:schemeClr val="tx1"/>
          </a:fontRef>
        </p:style>
      </p:cxnSp>
      <p:cxnSp>
        <p:nvCxnSpPr>
          <p:cNvPr id="17" name="Elbow Connector 16"/>
          <p:cNvCxnSpPr>
            <a:stCxn id="2" idx="2"/>
            <a:endCxn id="3" idx="0"/>
          </p:cNvCxnSpPr>
          <p:nvPr/>
        </p:nvCxnSpPr>
        <p:spPr>
          <a:xfrm rot="5400000">
            <a:off x="3735888" y="222922"/>
            <a:ext cx="618322" cy="4022187"/>
          </a:xfrm>
          <a:prstGeom prst="bentConnector3">
            <a:avLst/>
          </a:prstGeom>
          <a:ln w="6350">
            <a:tailEnd type="triangle"/>
          </a:ln>
        </p:spPr>
        <p:style>
          <a:lnRef idx="2">
            <a:schemeClr val="dk1"/>
          </a:lnRef>
          <a:fillRef idx="0">
            <a:schemeClr val="dk1"/>
          </a:fillRef>
          <a:effectRef idx="1">
            <a:schemeClr val="dk1"/>
          </a:effectRef>
          <a:fontRef idx="minor">
            <a:schemeClr val="tx1"/>
          </a:fontRef>
        </p:style>
      </p:cxnSp>
      <p:cxnSp>
        <p:nvCxnSpPr>
          <p:cNvPr id="21" name="Elbow Connector 20"/>
          <p:cNvCxnSpPr>
            <a:stCxn id="2" idx="2"/>
            <a:endCxn id="11" idx="0"/>
          </p:cNvCxnSpPr>
          <p:nvPr/>
        </p:nvCxnSpPr>
        <p:spPr>
          <a:xfrm rot="5400000">
            <a:off x="5099281" y="1586315"/>
            <a:ext cx="618322" cy="1295400"/>
          </a:xfrm>
          <a:prstGeom prst="bentConnector3">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Elbow Connector 23"/>
          <p:cNvCxnSpPr>
            <a:stCxn id="2" idx="2"/>
            <a:endCxn id="12" idx="0"/>
          </p:cNvCxnSpPr>
          <p:nvPr/>
        </p:nvCxnSpPr>
        <p:spPr>
          <a:xfrm rot="16200000" flipH="1">
            <a:off x="6452710" y="1528286"/>
            <a:ext cx="618322" cy="1411458"/>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5746439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xmlns="" id="{3A73E930-58B4-4FEC-8303-01C4F888F30D}"/>
              </a:ext>
            </a:extLst>
          </p:cNvPr>
          <p:cNvSpPr txBox="1"/>
          <p:nvPr/>
        </p:nvSpPr>
        <p:spPr>
          <a:xfrm>
            <a:off x="533400" y="914400"/>
            <a:ext cx="11052517" cy="2593018"/>
          </a:xfrm>
          <a:prstGeom prst="rect">
            <a:avLst/>
          </a:prstGeom>
          <a:noFill/>
        </p:spPr>
        <p:txBody>
          <a:bodyPr wrap="square" rtlCol="0">
            <a:spAutoFit/>
          </a:bodyPr>
          <a:lstStyle/>
          <a:p>
            <a:pPr algn="just"/>
            <a:r>
              <a:rPr lang="en-US" sz="2500" b="1" dirty="0" smtClean="0">
                <a:solidFill>
                  <a:srgbClr val="000000"/>
                </a:solidFill>
                <a:latin typeface="Nunito Sans" charset="0"/>
              </a:rPr>
              <a:t>DDL </a:t>
            </a:r>
          </a:p>
          <a:p>
            <a:pPr algn="just"/>
            <a:endParaRPr lang="en-US" sz="2500" b="1" dirty="0">
              <a:solidFill>
                <a:srgbClr val="000000"/>
              </a:solidFill>
              <a:latin typeface="Nunito Sans" charset="0"/>
            </a:endParaRPr>
          </a:p>
          <a:p>
            <a:pPr marL="342900" indent="-342900" algn="just">
              <a:lnSpc>
                <a:spcPct val="150000"/>
              </a:lnSpc>
              <a:buFont typeface="Wingdings" panose="05000000000000000000" pitchFamily="2" charset="2"/>
              <a:buChar char="Ø"/>
            </a:pPr>
            <a:r>
              <a:rPr lang="en-US" sz="2500" dirty="0" smtClean="0">
                <a:solidFill>
                  <a:srgbClr val="000000"/>
                </a:solidFill>
                <a:latin typeface="Nunito Sans" panose="020B0604020202020204" charset="0"/>
              </a:rPr>
              <a:t>Data Definition Language.</a:t>
            </a:r>
          </a:p>
          <a:p>
            <a:pPr marL="342900" indent="-342900" algn="just">
              <a:lnSpc>
                <a:spcPct val="150000"/>
              </a:lnSpc>
              <a:buFont typeface="Wingdings" panose="05000000000000000000" pitchFamily="2" charset="2"/>
              <a:buChar char="Ø"/>
            </a:pPr>
            <a:r>
              <a:rPr lang="en-US" sz="2500" dirty="0" smtClean="0">
                <a:latin typeface="Nunito Sans" panose="020B0604020202020204" charset="0"/>
              </a:rPr>
              <a:t>It</a:t>
            </a:r>
            <a:r>
              <a:rPr lang="en-US" sz="2500" dirty="0">
                <a:latin typeface="Nunito Sans" panose="020B0604020202020204" charset="0"/>
              </a:rPr>
              <a:t> is used to define the database structure or schema</a:t>
            </a:r>
            <a:r>
              <a:rPr lang="en-US" sz="2500" dirty="0" smtClean="0">
                <a:latin typeface="Nunito Sans" panose="020B0604020202020204" charset="0"/>
              </a:rPr>
              <a:t>.</a:t>
            </a:r>
          </a:p>
          <a:p>
            <a:pPr marL="342900" indent="-342900" algn="just">
              <a:lnSpc>
                <a:spcPct val="150000"/>
              </a:lnSpc>
              <a:buFont typeface="Wingdings" panose="05000000000000000000" pitchFamily="2" charset="2"/>
              <a:buChar char="Ø"/>
            </a:pPr>
            <a:r>
              <a:rPr lang="en-US" sz="2500" dirty="0" smtClean="0">
                <a:latin typeface="Nunito Sans" panose="020B0604020202020204" charset="0"/>
              </a:rPr>
              <a:t>It is used to specify </a:t>
            </a:r>
            <a:r>
              <a:rPr lang="en-US" sz="2500" dirty="0">
                <a:latin typeface="Nunito Sans" panose="020B0604020202020204" charset="0"/>
              </a:rPr>
              <a:t>additional properties of the data</a:t>
            </a:r>
            <a:endParaRPr lang="en-US" sz="2500" b="1" dirty="0" smtClean="0">
              <a:solidFill>
                <a:srgbClr val="000000"/>
              </a:solidFill>
              <a:latin typeface="Nunito Sans" charset="0"/>
            </a:endParaRPr>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74352" y="6099048"/>
            <a:ext cx="1993392" cy="430628"/>
          </a:xfrm>
          <a:prstGeom prst="rect">
            <a:avLst/>
          </a:prstGeom>
        </p:spPr>
      </p:pic>
      <p:sp>
        <p:nvSpPr>
          <p:cNvPr id="5" name="Rectangle 4">
            <a:extLst>
              <a:ext uri="{FF2B5EF4-FFF2-40B4-BE49-F238E27FC236}">
                <a16:creationId xmlns:a16="http://schemas.microsoft.com/office/drawing/2014/main" xmlns="" id="{79A7B499-1801-4959-9783-261750DF0FA9}"/>
              </a:ext>
            </a:extLst>
          </p:cNvPr>
          <p:cNvSpPr/>
          <p:nvPr/>
        </p:nvSpPr>
        <p:spPr>
          <a:xfrm>
            <a:off x="598714" y="711390"/>
            <a:ext cx="794852" cy="57773"/>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4504593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xmlns="" id="{3A73E930-58B4-4FEC-8303-01C4F888F30D}"/>
              </a:ext>
            </a:extLst>
          </p:cNvPr>
          <p:cNvSpPr txBox="1"/>
          <p:nvPr/>
        </p:nvSpPr>
        <p:spPr>
          <a:xfrm>
            <a:off x="533400" y="914400"/>
            <a:ext cx="11052517" cy="2593018"/>
          </a:xfrm>
          <a:prstGeom prst="rect">
            <a:avLst/>
          </a:prstGeom>
          <a:noFill/>
        </p:spPr>
        <p:txBody>
          <a:bodyPr wrap="square" rtlCol="0">
            <a:spAutoFit/>
          </a:bodyPr>
          <a:lstStyle/>
          <a:p>
            <a:pPr algn="just"/>
            <a:r>
              <a:rPr lang="en-US" sz="2500" b="1" dirty="0" smtClean="0">
                <a:solidFill>
                  <a:srgbClr val="000000"/>
                </a:solidFill>
                <a:latin typeface="Nunito Sans" charset="0"/>
              </a:rPr>
              <a:t>DML </a:t>
            </a:r>
          </a:p>
          <a:p>
            <a:pPr algn="just"/>
            <a:endParaRPr lang="en-US" sz="2500" b="1" dirty="0">
              <a:solidFill>
                <a:srgbClr val="000000"/>
              </a:solidFill>
              <a:latin typeface="Nunito Sans" charset="0"/>
            </a:endParaRPr>
          </a:p>
          <a:p>
            <a:pPr marL="342900" indent="-342900" algn="just">
              <a:lnSpc>
                <a:spcPct val="150000"/>
              </a:lnSpc>
              <a:buFont typeface="Wingdings" panose="05000000000000000000" pitchFamily="2" charset="2"/>
              <a:buChar char="Ø"/>
            </a:pPr>
            <a:r>
              <a:rPr lang="en-US" sz="2500" dirty="0" smtClean="0">
                <a:latin typeface="Nunito Sans" panose="020B0604020202020204" charset="0"/>
              </a:rPr>
              <a:t>DML </a:t>
            </a:r>
            <a:r>
              <a:rPr lang="en-US" sz="2500" dirty="0">
                <a:latin typeface="Nunito Sans" panose="020B0604020202020204" charset="0"/>
              </a:rPr>
              <a:t>statements are used for managing data with in schema </a:t>
            </a:r>
            <a:r>
              <a:rPr lang="en-US" sz="2500" dirty="0" smtClean="0">
                <a:latin typeface="Nunito Sans" panose="020B0604020202020204" charset="0"/>
              </a:rPr>
              <a:t>objects</a:t>
            </a:r>
          </a:p>
          <a:p>
            <a:pPr lvl="3" algn="just">
              <a:lnSpc>
                <a:spcPct val="150000"/>
              </a:lnSpc>
            </a:pPr>
            <a:r>
              <a:rPr lang="en-US" sz="2500" dirty="0" smtClean="0">
                <a:solidFill>
                  <a:srgbClr val="000000"/>
                </a:solidFill>
                <a:latin typeface="Nunito Sans" panose="020B0604020202020204" charset="0"/>
              </a:rPr>
              <a:t>Procedural DML’s</a:t>
            </a:r>
          </a:p>
          <a:p>
            <a:pPr lvl="3" algn="just">
              <a:lnSpc>
                <a:spcPct val="150000"/>
              </a:lnSpc>
            </a:pPr>
            <a:r>
              <a:rPr lang="en-US" sz="2500" dirty="0" err="1" smtClean="0">
                <a:solidFill>
                  <a:srgbClr val="000000"/>
                </a:solidFill>
                <a:latin typeface="Nunito Sans" panose="020B0604020202020204" charset="0"/>
              </a:rPr>
              <a:t>Declerative</a:t>
            </a:r>
            <a:r>
              <a:rPr lang="en-US" sz="2500" dirty="0" smtClean="0">
                <a:solidFill>
                  <a:srgbClr val="000000"/>
                </a:solidFill>
                <a:latin typeface="Nunito Sans" panose="020B0604020202020204" charset="0"/>
              </a:rPr>
              <a:t> DML’s</a:t>
            </a:r>
            <a:endParaRPr lang="en-US" sz="2500" dirty="0" smtClean="0">
              <a:solidFill>
                <a:srgbClr val="000000"/>
              </a:solidFill>
              <a:latin typeface="Nunito Sans" charset="0"/>
            </a:endParaRPr>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74352" y="6099048"/>
            <a:ext cx="1993392" cy="430628"/>
          </a:xfrm>
          <a:prstGeom prst="rect">
            <a:avLst/>
          </a:prstGeom>
        </p:spPr>
      </p:pic>
      <p:sp>
        <p:nvSpPr>
          <p:cNvPr id="5" name="Rectangle 4">
            <a:extLst>
              <a:ext uri="{FF2B5EF4-FFF2-40B4-BE49-F238E27FC236}">
                <a16:creationId xmlns:a16="http://schemas.microsoft.com/office/drawing/2014/main" xmlns="" id="{79A7B499-1801-4959-9783-261750DF0FA9}"/>
              </a:ext>
            </a:extLst>
          </p:cNvPr>
          <p:cNvSpPr/>
          <p:nvPr/>
        </p:nvSpPr>
        <p:spPr>
          <a:xfrm>
            <a:off x="598714" y="711390"/>
            <a:ext cx="794852" cy="57773"/>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5746439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xmlns="" id="{3A73E930-58B4-4FEC-8303-01C4F888F30D}"/>
              </a:ext>
            </a:extLst>
          </p:cNvPr>
          <p:cNvSpPr txBox="1"/>
          <p:nvPr/>
        </p:nvSpPr>
        <p:spPr>
          <a:xfrm>
            <a:off x="533400" y="914400"/>
            <a:ext cx="11052517" cy="2785378"/>
          </a:xfrm>
          <a:prstGeom prst="rect">
            <a:avLst/>
          </a:prstGeom>
          <a:noFill/>
        </p:spPr>
        <p:txBody>
          <a:bodyPr wrap="square" rtlCol="0">
            <a:spAutoFit/>
          </a:bodyPr>
          <a:lstStyle/>
          <a:p>
            <a:pPr algn="just"/>
            <a:r>
              <a:rPr lang="en-US" sz="2500" b="1" dirty="0">
                <a:solidFill>
                  <a:srgbClr val="000000"/>
                </a:solidFill>
                <a:latin typeface="Nunito Sans" charset="0"/>
              </a:rPr>
              <a:t>T</a:t>
            </a:r>
            <a:r>
              <a:rPr lang="en-US" sz="2500" b="1" dirty="0" smtClean="0">
                <a:solidFill>
                  <a:srgbClr val="000000"/>
                </a:solidFill>
                <a:latin typeface="Nunito Sans" charset="0"/>
              </a:rPr>
              <a:t>CL </a:t>
            </a:r>
          </a:p>
          <a:p>
            <a:pPr algn="just">
              <a:lnSpc>
                <a:spcPct val="150000"/>
              </a:lnSpc>
            </a:pPr>
            <a:endParaRPr lang="en-US" sz="2500" dirty="0" smtClean="0">
              <a:solidFill>
                <a:srgbClr val="000000"/>
              </a:solidFill>
              <a:latin typeface="Nunito Sans" charset="0"/>
            </a:endParaRPr>
          </a:p>
          <a:p>
            <a:pPr marL="342900" indent="-342900" algn="just">
              <a:lnSpc>
                <a:spcPct val="150000"/>
              </a:lnSpc>
              <a:buFont typeface="Wingdings" panose="05000000000000000000" pitchFamily="2" charset="2"/>
              <a:buChar char="Ø"/>
            </a:pPr>
            <a:r>
              <a:rPr lang="en-US" sz="2500" dirty="0" smtClean="0">
                <a:solidFill>
                  <a:srgbClr val="000000"/>
                </a:solidFill>
                <a:latin typeface="Nunito Sans" charset="0"/>
              </a:rPr>
              <a:t>Transaction Control Language.</a:t>
            </a:r>
            <a:endParaRPr lang="en-US" sz="2500" dirty="0">
              <a:solidFill>
                <a:srgbClr val="000000"/>
              </a:solidFill>
              <a:latin typeface="Nunito Sans" charset="0"/>
            </a:endParaRPr>
          </a:p>
          <a:p>
            <a:pPr marL="342900" indent="-342900" algn="just">
              <a:lnSpc>
                <a:spcPct val="150000"/>
              </a:lnSpc>
              <a:buFont typeface="Wingdings" panose="05000000000000000000" pitchFamily="2" charset="2"/>
              <a:buChar char="Ø"/>
            </a:pPr>
            <a:r>
              <a:rPr lang="en-US" sz="2500" dirty="0">
                <a:latin typeface="Nunito Sans" panose="020B0604020202020204" charset="0"/>
              </a:rPr>
              <a:t>Transaction Control Language commands are used to manage transactions in the database</a:t>
            </a:r>
            <a:endParaRPr lang="en-US" sz="2500" dirty="0" smtClean="0">
              <a:solidFill>
                <a:srgbClr val="000000"/>
              </a:solidFill>
              <a:latin typeface="Nunito Sans" charset="0"/>
            </a:endParaRPr>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74352" y="6099048"/>
            <a:ext cx="1993392" cy="430628"/>
          </a:xfrm>
          <a:prstGeom prst="rect">
            <a:avLst/>
          </a:prstGeom>
        </p:spPr>
      </p:pic>
      <p:sp>
        <p:nvSpPr>
          <p:cNvPr id="5" name="Rectangle 4">
            <a:extLst>
              <a:ext uri="{FF2B5EF4-FFF2-40B4-BE49-F238E27FC236}">
                <a16:creationId xmlns:a16="http://schemas.microsoft.com/office/drawing/2014/main" xmlns="" id="{79A7B499-1801-4959-9783-261750DF0FA9}"/>
              </a:ext>
            </a:extLst>
          </p:cNvPr>
          <p:cNvSpPr/>
          <p:nvPr/>
        </p:nvSpPr>
        <p:spPr>
          <a:xfrm>
            <a:off x="598714" y="711390"/>
            <a:ext cx="794852" cy="57773"/>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8108795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xmlns="" id="{3A73E930-58B4-4FEC-8303-01C4F888F30D}"/>
              </a:ext>
            </a:extLst>
          </p:cNvPr>
          <p:cNvSpPr txBox="1"/>
          <p:nvPr/>
        </p:nvSpPr>
        <p:spPr>
          <a:xfrm>
            <a:off x="533400" y="914400"/>
            <a:ext cx="11052517" cy="3362459"/>
          </a:xfrm>
          <a:prstGeom prst="rect">
            <a:avLst/>
          </a:prstGeom>
          <a:noFill/>
        </p:spPr>
        <p:txBody>
          <a:bodyPr wrap="square" rtlCol="0">
            <a:spAutoFit/>
          </a:bodyPr>
          <a:lstStyle/>
          <a:p>
            <a:pPr fontAlgn="base"/>
            <a:r>
              <a:rPr lang="en-IN" sz="2500" b="1" dirty="0">
                <a:latin typeface="Nunito Sans" panose="020B0604020202020204" charset="0"/>
              </a:rPr>
              <a:t>DCL (Data Control Language)</a:t>
            </a:r>
          </a:p>
          <a:p>
            <a:pPr algn="just">
              <a:lnSpc>
                <a:spcPct val="150000"/>
              </a:lnSpc>
            </a:pPr>
            <a:endParaRPr lang="en-US" sz="2500" dirty="0" smtClean="0">
              <a:solidFill>
                <a:srgbClr val="000000"/>
              </a:solidFill>
              <a:latin typeface="Nunito Sans" charset="0"/>
            </a:endParaRPr>
          </a:p>
          <a:p>
            <a:pPr marL="342900" indent="-342900" algn="just">
              <a:lnSpc>
                <a:spcPct val="150000"/>
              </a:lnSpc>
              <a:buFont typeface="Wingdings" panose="05000000000000000000" pitchFamily="2" charset="2"/>
              <a:buChar char="Ø"/>
            </a:pPr>
            <a:r>
              <a:rPr lang="en-US" sz="2500" dirty="0">
                <a:solidFill>
                  <a:srgbClr val="000000"/>
                </a:solidFill>
                <a:latin typeface="Nunito Sans" charset="0"/>
              </a:rPr>
              <a:t>A Data Control Language is a syntax similar to a computer programming language used to control access to data stored in a database (Authorization). </a:t>
            </a:r>
            <a:endParaRPr lang="en-US" sz="2500" dirty="0" smtClean="0">
              <a:solidFill>
                <a:srgbClr val="000000"/>
              </a:solidFill>
              <a:latin typeface="Nunito Sans" charset="0"/>
            </a:endParaRPr>
          </a:p>
          <a:p>
            <a:pPr marL="342900" indent="-342900" algn="just">
              <a:lnSpc>
                <a:spcPct val="150000"/>
              </a:lnSpc>
              <a:buFont typeface="Wingdings" panose="05000000000000000000" pitchFamily="2" charset="2"/>
              <a:buChar char="Ø"/>
            </a:pPr>
            <a:r>
              <a:rPr lang="en-US" sz="2500" dirty="0" smtClean="0">
                <a:solidFill>
                  <a:srgbClr val="000000"/>
                </a:solidFill>
                <a:latin typeface="Nunito Sans" charset="0"/>
              </a:rPr>
              <a:t>In </a:t>
            </a:r>
            <a:r>
              <a:rPr lang="en-US" sz="2500" dirty="0">
                <a:solidFill>
                  <a:srgbClr val="000000"/>
                </a:solidFill>
                <a:latin typeface="Nunito Sans" charset="0"/>
              </a:rPr>
              <a:t>particular, it is a component of Structured Query Language (SQL).</a:t>
            </a:r>
            <a:endParaRPr lang="en-US" sz="2500" dirty="0" smtClean="0">
              <a:solidFill>
                <a:srgbClr val="000000"/>
              </a:solidFill>
              <a:latin typeface="Nunito Sans" charset="0"/>
            </a:endParaRPr>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74352" y="6099048"/>
            <a:ext cx="1993392" cy="430628"/>
          </a:xfrm>
          <a:prstGeom prst="rect">
            <a:avLst/>
          </a:prstGeom>
        </p:spPr>
      </p:pic>
      <p:sp>
        <p:nvSpPr>
          <p:cNvPr id="5" name="Rectangle 4">
            <a:extLst>
              <a:ext uri="{FF2B5EF4-FFF2-40B4-BE49-F238E27FC236}">
                <a16:creationId xmlns:a16="http://schemas.microsoft.com/office/drawing/2014/main" xmlns="" id="{79A7B499-1801-4959-9783-261750DF0FA9}"/>
              </a:ext>
            </a:extLst>
          </p:cNvPr>
          <p:cNvSpPr/>
          <p:nvPr/>
        </p:nvSpPr>
        <p:spPr>
          <a:xfrm>
            <a:off x="598714" y="711390"/>
            <a:ext cx="794852" cy="57773"/>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9179706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xmlns="" id="{3A73E930-58B4-4FEC-8303-01C4F888F30D}"/>
              </a:ext>
            </a:extLst>
          </p:cNvPr>
          <p:cNvSpPr txBox="1"/>
          <p:nvPr/>
        </p:nvSpPr>
        <p:spPr>
          <a:xfrm>
            <a:off x="533400" y="914400"/>
            <a:ext cx="11052517" cy="2977738"/>
          </a:xfrm>
          <a:prstGeom prst="rect">
            <a:avLst/>
          </a:prstGeom>
          <a:noFill/>
        </p:spPr>
        <p:txBody>
          <a:bodyPr wrap="square" rtlCol="0">
            <a:spAutoFit/>
          </a:bodyPr>
          <a:lstStyle/>
          <a:p>
            <a:pPr algn="just"/>
            <a:r>
              <a:rPr lang="en-US" sz="2500" b="1" dirty="0" smtClean="0">
                <a:solidFill>
                  <a:srgbClr val="000000"/>
                </a:solidFill>
                <a:latin typeface="Nunito Sans" charset="0"/>
              </a:rPr>
              <a:t>SQL Data Types:</a:t>
            </a:r>
          </a:p>
          <a:p>
            <a:pPr algn="just"/>
            <a:endParaRPr lang="en-US" sz="2500" b="1" dirty="0" smtClean="0">
              <a:solidFill>
                <a:srgbClr val="000000"/>
              </a:solidFill>
              <a:latin typeface="Nunito Sans" charset="0"/>
            </a:endParaRPr>
          </a:p>
          <a:p>
            <a:pPr marL="342900" indent="-342900" algn="just">
              <a:lnSpc>
                <a:spcPct val="150000"/>
              </a:lnSpc>
              <a:buFont typeface="Wingdings" panose="05000000000000000000" pitchFamily="2" charset="2"/>
              <a:buChar char="Ø"/>
            </a:pPr>
            <a:r>
              <a:rPr lang="en-US" sz="2500" dirty="0" smtClean="0">
                <a:latin typeface="Nunito Sans" charset="0"/>
              </a:rPr>
              <a:t>String </a:t>
            </a:r>
            <a:r>
              <a:rPr lang="en-US" sz="2500" dirty="0" smtClean="0">
                <a:latin typeface="Nunito Sans" charset="0"/>
              </a:rPr>
              <a:t>Data types</a:t>
            </a:r>
          </a:p>
          <a:p>
            <a:pPr marL="342900" indent="-342900" algn="just">
              <a:lnSpc>
                <a:spcPct val="150000"/>
              </a:lnSpc>
              <a:buFont typeface="Wingdings" panose="05000000000000000000" pitchFamily="2" charset="2"/>
              <a:buChar char="Ø"/>
            </a:pPr>
            <a:r>
              <a:rPr lang="en-US" sz="2500" dirty="0" smtClean="0">
                <a:latin typeface="Nunito Sans" charset="0"/>
              </a:rPr>
              <a:t>Numeric </a:t>
            </a:r>
            <a:r>
              <a:rPr lang="en-US" sz="2500" dirty="0" smtClean="0">
                <a:latin typeface="Nunito Sans" charset="0"/>
              </a:rPr>
              <a:t>Data </a:t>
            </a:r>
            <a:r>
              <a:rPr lang="en-US" sz="2500" dirty="0" smtClean="0">
                <a:latin typeface="Nunito Sans" charset="0"/>
              </a:rPr>
              <a:t>types</a:t>
            </a:r>
          </a:p>
          <a:p>
            <a:pPr marL="342900" indent="-342900" algn="just">
              <a:lnSpc>
                <a:spcPct val="150000"/>
              </a:lnSpc>
              <a:buFont typeface="Wingdings" panose="05000000000000000000" pitchFamily="2" charset="2"/>
              <a:buChar char="Ø"/>
            </a:pPr>
            <a:r>
              <a:rPr lang="en-US" sz="2500" dirty="0" smtClean="0">
                <a:latin typeface="Nunito Sans" charset="0"/>
              </a:rPr>
              <a:t>Date </a:t>
            </a:r>
            <a:r>
              <a:rPr lang="en-US" sz="2500" dirty="0" smtClean="0">
                <a:latin typeface="Nunito Sans" charset="0"/>
              </a:rPr>
              <a:t>and time Data types</a:t>
            </a:r>
          </a:p>
          <a:p>
            <a:pPr algn="just"/>
            <a:endParaRPr lang="en-US" sz="2500" b="1" dirty="0" smtClean="0">
              <a:solidFill>
                <a:srgbClr val="000000"/>
              </a:solidFill>
              <a:latin typeface="Nunito Sans" charset="0"/>
            </a:endParaRPr>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74352" y="6099048"/>
            <a:ext cx="1993392" cy="430628"/>
          </a:xfrm>
          <a:prstGeom prst="rect">
            <a:avLst/>
          </a:prstGeom>
        </p:spPr>
      </p:pic>
      <p:sp>
        <p:nvSpPr>
          <p:cNvPr id="5" name="Rectangle 4">
            <a:extLst>
              <a:ext uri="{FF2B5EF4-FFF2-40B4-BE49-F238E27FC236}">
                <a16:creationId xmlns:a16="http://schemas.microsoft.com/office/drawing/2014/main" xmlns="" id="{79A7B499-1801-4959-9783-261750DF0FA9}"/>
              </a:ext>
            </a:extLst>
          </p:cNvPr>
          <p:cNvSpPr/>
          <p:nvPr/>
        </p:nvSpPr>
        <p:spPr>
          <a:xfrm>
            <a:off x="598714" y="711390"/>
            <a:ext cx="794852" cy="57773"/>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0498510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xmlns="" id="{3A73E930-58B4-4FEC-8303-01C4F888F30D}"/>
              </a:ext>
            </a:extLst>
          </p:cNvPr>
          <p:cNvSpPr txBox="1"/>
          <p:nvPr/>
        </p:nvSpPr>
        <p:spPr>
          <a:xfrm>
            <a:off x="533400" y="762000"/>
            <a:ext cx="11052517" cy="5740033"/>
          </a:xfrm>
          <a:prstGeom prst="rect">
            <a:avLst/>
          </a:prstGeom>
          <a:noFill/>
        </p:spPr>
        <p:txBody>
          <a:bodyPr wrap="square" rtlCol="0">
            <a:spAutoFit/>
          </a:bodyPr>
          <a:lstStyle/>
          <a:p>
            <a:pPr algn="just"/>
            <a:r>
              <a:rPr lang="en-US" sz="2500" b="1" dirty="0" err="1" smtClean="0">
                <a:solidFill>
                  <a:srgbClr val="000000"/>
                </a:solidFill>
                <a:latin typeface="Nunito Sans" charset="0"/>
              </a:rPr>
              <a:t>MySQL</a:t>
            </a:r>
            <a:r>
              <a:rPr lang="en-US" sz="2500" b="1" dirty="0" smtClean="0">
                <a:solidFill>
                  <a:srgbClr val="000000"/>
                </a:solidFill>
                <a:latin typeface="Nunito Sans" charset="0"/>
              </a:rPr>
              <a:t> String Data Types:</a:t>
            </a:r>
          </a:p>
          <a:p>
            <a:pPr algn="just">
              <a:lnSpc>
                <a:spcPct val="150000"/>
              </a:lnSpc>
            </a:pPr>
            <a:endParaRPr lang="en-US" sz="2800" b="1" dirty="0" smtClean="0"/>
          </a:p>
          <a:p>
            <a:pPr algn="just">
              <a:lnSpc>
                <a:spcPct val="150000"/>
              </a:lnSpc>
              <a:buFont typeface="Wingdings" pitchFamily="2" charset="2"/>
              <a:buChar char="Ø"/>
            </a:pPr>
            <a:r>
              <a:rPr lang="en-US" sz="2500" dirty="0" smtClean="0">
                <a:latin typeface="Nunito Sans" charset="0"/>
              </a:rPr>
              <a:t>  CHAR(Size)</a:t>
            </a:r>
          </a:p>
          <a:p>
            <a:pPr algn="just">
              <a:lnSpc>
                <a:spcPct val="150000"/>
              </a:lnSpc>
              <a:buFont typeface="Wingdings" pitchFamily="2" charset="2"/>
              <a:buChar char="Ø"/>
            </a:pPr>
            <a:r>
              <a:rPr lang="en-US" sz="2500" dirty="0" smtClean="0">
                <a:latin typeface="Nunito Sans" charset="0"/>
              </a:rPr>
              <a:t>  VARCHAR(Size)</a:t>
            </a:r>
          </a:p>
          <a:p>
            <a:pPr algn="just">
              <a:lnSpc>
                <a:spcPct val="150000"/>
              </a:lnSpc>
              <a:buFont typeface="Wingdings" pitchFamily="2" charset="2"/>
              <a:buChar char="Ø"/>
            </a:pPr>
            <a:r>
              <a:rPr lang="en-US" sz="2500" dirty="0" smtClean="0">
                <a:latin typeface="Nunito Sans" charset="0"/>
              </a:rPr>
              <a:t>  BINARY(Size)</a:t>
            </a:r>
          </a:p>
          <a:p>
            <a:pPr algn="just">
              <a:lnSpc>
                <a:spcPct val="150000"/>
              </a:lnSpc>
              <a:buFont typeface="Wingdings" pitchFamily="2" charset="2"/>
              <a:buChar char="Ø"/>
            </a:pPr>
            <a:r>
              <a:rPr lang="en-US" sz="2500" dirty="0" smtClean="0">
                <a:latin typeface="Nunito Sans" charset="0"/>
              </a:rPr>
              <a:t>  VARBINARY(Size)</a:t>
            </a:r>
          </a:p>
          <a:p>
            <a:pPr algn="just">
              <a:lnSpc>
                <a:spcPct val="150000"/>
              </a:lnSpc>
              <a:buFont typeface="Wingdings" pitchFamily="2" charset="2"/>
              <a:buChar char="Ø"/>
            </a:pPr>
            <a:r>
              <a:rPr lang="en-US" sz="2500" dirty="0" smtClean="0">
                <a:latin typeface="Nunito Sans" charset="0"/>
              </a:rPr>
              <a:t>  TEXT(Size)</a:t>
            </a:r>
          </a:p>
          <a:p>
            <a:pPr algn="just">
              <a:lnSpc>
                <a:spcPct val="150000"/>
              </a:lnSpc>
              <a:buFont typeface="Wingdings" pitchFamily="2" charset="2"/>
              <a:buChar char="Ø"/>
            </a:pPr>
            <a:r>
              <a:rPr lang="en-US" sz="2500" dirty="0" smtClean="0">
                <a:latin typeface="Nunito Sans" charset="0"/>
              </a:rPr>
              <a:t>  TINYTEXT</a:t>
            </a:r>
          </a:p>
          <a:p>
            <a:pPr algn="just">
              <a:lnSpc>
                <a:spcPct val="150000"/>
              </a:lnSpc>
              <a:buFont typeface="Wingdings" pitchFamily="2" charset="2"/>
              <a:buChar char="Ø"/>
            </a:pPr>
            <a:r>
              <a:rPr lang="en-US" sz="2500" dirty="0" smtClean="0">
                <a:latin typeface="Nunito Sans" charset="0"/>
              </a:rPr>
              <a:t>  MEDIUMTEXT</a:t>
            </a:r>
          </a:p>
          <a:p>
            <a:pPr algn="just">
              <a:lnSpc>
                <a:spcPct val="150000"/>
              </a:lnSpc>
              <a:buFont typeface="Wingdings" pitchFamily="2" charset="2"/>
              <a:buChar char="Ø"/>
            </a:pPr>
            <a:r>
              <a:rPr lang="en-US" sz="2500" dirty="0" smtClean="0">
                <a:latin typeface="Nunito Sans" charset="0"/>
              </a:rPr>
              <a:t>  </a:t>
            </a:r>
            <a:r>
              <a:rPr lang="en-US" sz="2500" dirty="0" smtClean="0">
                <a:latin typeface="Nunito Sans" charset="0"/>
              </a:rPr>
              <a:t>LONGTEXT</a:t>
            </a:r>
            <a:endParaRPr lang="en-US" sz="2500" b="1" dirty="0" smtClean="0">
              <a:solidFill>
                <a:srgbClr val="000000"/>
              </a:solidFill>
              <a:latin typeface="Nunito Sans" charset="0"/>
            </a:endParaRPr>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74352" y="6099048"/>
            <a:ext cx="1993392" cy="430628"/>
          </a:xfrm>
          <a:prstGeom prst="rect">
            <a:avLst/>
          </a:prstGeom>
        </p:spPr>
      </p:pic>
      <p:sp>
        <p:nvSpPr>
          <p:cNvPr id="5" name="Rectangle 4">
            <a:extLst>
              <a:ext uri="{FF2B5EF4-FFF2-40B4-BE49-F238E27FC236}">
                <a16:creationId xmlns:a16="http://schemas.microsoft.com/office/drawing/2014/main" xmlns="" id="{79A7B499-1801-4959-9783-261750DF0FA9}"/>
              </a:ext>
            </a:extLst>
          </p:cNvPr>
          <p:cNvSpPr/>
          <p:nvPr/>
        </p:nvSpPr>
        <p:spPr>
          <a:xfrm>
            <a:off x="598714" y="711390"/>
            <a:ext cx="794852" cy="57773"/>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5746439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xmlns="" id="{3A73E930-58B4-4FEC-8303-01C4F888F30D}"/>
              </a:ext>
            </a:extLst>
          </p:cNvPr>
          <p:cNvSpPr txBox="1"/>
          <p:nvPr/>
        </p:nvSpPr>
        <p:spPr>
          <a:xfrm>
            <a:off x="533400" y="762000"/>
            <a:ext cx="11052517" cy="4708981"/>
          </a:xfrm>
          <a:prstGeom prst="rect">
            <a:avLst/>
          </a:prstGeom>
          <a:noFill/>
        </p:spPr>
        <p:txBody>
          <a:bodyPr wrap="square" rtlCol="0">
            <a:spAutoFit/>
          </a:bodyPr>
          <a:lstStyle/>
          <a:p>
            <a:pPr algn="just"/>
            <a:r>
              <a:rPr lang="en-US" sz="2500" b="1" dirty="0" err="1" smtClean="0">
                <a:solidFill>
                  <a:srgbClr val="000000"/>
                </a:solidFill>
                <a:latin typeface="Nunito Sans" charset="0"/>
              </a:rPr>
              <a:t>MySQL</a:t>
            </a:r>
            <a:r>
              <a:rPr lang="en-US" sz="2500" b="1" dirty="0" smtClean="0">
                <a:solidFill>
                  <a:srgbClr val="000000"/>
                </a:solidFill>
                <a:latin typeface="Nunito Sans" charset="0"/>
              </a:rPr>
              <a:t> Numeric Data Types:</a:t>
            </a:r>
          </a:p>
          <a:p>
            <a:pPr algn="just"/>
            <a:r>
              <a:rPr lang="en-US" sz="2500" b="1" dirty="0" smtClean="0">
                <a:solidFill>
                  <a:srgbClr val="000000"/>
                </a:solidFill>
                <a:latin typeface="Nunito Sans" charset="0"/>
              </a:rPr>
              <a:t> 	</a:t>
            </a:r>
          </a:p>
          <a:p>
            <a:pPr algn="just">
              <a:lnSpc>
                <a:spcPct val="150000"/>
              </a:lnSpc>
              <a:buFont typeface="Wingdings" pitchFamily="2" charset="2"/>
              <a:buChar char="Ø"/>
            </a:pPr>
            <a:r>
              <a:rPr lang="en-US" sz="2500" dirty="0" smtClean="0">
                <a:latin typeface="Nunito Sans" charset="0"/>
              </a:rPr>
              <a:t>BIT(Size)</a:t>
            </a:r>
          </a:p>
          <a:p>
            <a:pPr algn="just">
              <a:lnSpc>
                <a:spcPct val="150000"/>
              </a:lnSpc>
              <a:buFont typeface="Wingdings" pitchFamily="2" charset="2"/>
              <a:buChar char="Ø"/>
            </a:pPr>
            <a:r>
              <a:rPr lang="en-US" sz="2500" dirty="0" smtClean="0">
                <a:latin typeface="Nunito Sans" charset="0"/>
              </a:rPr>
              <a:t>INT(size)</a:t>
            </a:r>
          </a:p>
          <a:p>
            <a:pPr algn="just">
              <a:lnSpc>
                <a:spcPct val="150000"/>
              </a:lnSpc>
              <a:buFont typeface="Wingdings" pitchFamily="2" charset="2"/>
              <a:buChar char="Ø"/>
            </a:pPr>
            <a:r>
              <a:rPr lang="en-US" sz="2500" dirty="0" smtClean="0">
                <a:latin typeface="Nunito Sans" charset="0"/>
              </a:rPr>
              <a:t>INTEGER(size)</a:t>
            </a:r>
          </a:p>
          <a:p>
            <a:pPr algn="just">
              <a:lnSpc>
                <a:spcPct val="150000"/>
              </a:lnSpc>
              <a:buFont typeface="Wingdings" pitchFamily="2" charset="2"/>
              <a:buChar char="Ø"/>
            </a:pPr>
            <a:r>
              <a:rPr lang="en-US" sz="2500" dirty="0" smtClean="0">
                <a:latin typeface="Nunito Sans" charset="0"/>
              </a:rPr>
              <a:t>FLOAT(size, d)</a:t>
            </a:r>
          </a:p>
          <a:p>
            <a:pPr algn="just">
              <a:lnSpc>
                <a:spcPct val="150000"/>
              </a:lnSpc>
              <a:buFont typeface="Wingdings" pitchFamily="2" charset="2"/>
              <a:buChar char="Ø"/>
            </a:pPr>
            <a:r>
              <a:rPr lang="en-US" sz="2500" dirty="0" smtClean="0">
                <a:latin typeface="Nunito Sans" charset="0"/>
              </a:rPr>
              <a:t>FLOAT(p)</a:t>
            </a:r>
          </a:p>
          <a:p>
            <a:pPr algn="just">
              <a:lnSpc>
                <a:spcPct val="150000"/>
              </a:lnSpc>
              <a:buFont typeface="Wingdings" pitchFamily="2" charset="2"/>
              <a:buChar char="Ø"/>
            </a:pPr>
            <a:r>
              <a:rPr lang="en-US" sz="2500" dirty="0" smtClean="0">
                <a:latin typeface="Nunito Sans" charset="0"/>
              </a:rPr>
              <a:t>DOUBLE(size, d)</a:t>
            </a:r>
          </a:p>
          <a:p>
            <a:pPr algn="just"/>
            <a:endParaRPr lang="en-US" sz="2500" b="1" dirty="0" smtClean="0">
              <a:solidFill>
                <a:srgbClr val="000000"/>
              </a:solidFill>
              <a:latin typeface="Nunito Sans" charset="0"/>
            </a:endParaRPr>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74352" y="6099048"/>
            <a:ext cx="1993392" cy="430628"/>
          </a:xfrm>
          <a:prstGeom prst="rect">
            <a:avLst/>
          </a:prstGeom>
        </p:spPr>
      </p:pic>
      <p:sp>
        <p:nvSpPr>
          <p:cNvPr id="5" name="Rectangle 4">
            <a:extLst>
              <a:ext uri="{FF2B5EF4-FFF2-40B4-BE49-F238E27FC236}">
                <a16:creationId xmlns:a16="http://schemas.microsoft.com/office/drawing/2014/main" xmlns="" id="{79A7B499-1801-4959-9783-261750DF0FA9}"/>
              </a:ext>
            </a:extLst>
          </p:cNvPr>
          <p:cNvSpPr/>
          <p:nvPr/>
        </p:nvSpPr>
        <p:spPr>
          <a:xfrm>
            <a:off x="598714" y="711390"/>
            <a:ext cx="794852" cy="57773"/>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5746439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xmlns="" id="{3A73E930-58B4-4FEC-8303-01C4F888F30D}"/>
              </a:ext>
            </a:extLst>
          </p:cNvPr>
          <p:cNvSpPr txBox="1"/>
          <p:nvPr/>
        </p:nvSpPr>
        <p:spPr>
          <a:xfrm>
            <a:off x="533400" y="762000"/>
            <a:ext cx="11052517" cy="4131900"/>
          </a:xfrm>
          <a:prstGeom prst="rect">
            <a:avLst/>
          </a:prstGeom>
          <a:noFill/>
        </p:spPr>
        <p:txBody>
          <a:bodyPr wrap="square" rtlCol="0">
            <a:spAutoFit/>
          </a:bodyPr>
          <a:lstStyle/>
          <a:p>
            <a:pPr algn="just"/>
            <a:r>
              <a:rPr lang="en-US" sz="2500" b="1" dirty="0" err="1" smtClean="0">
                <a:solidFill>
                  <a:srgbClr val="000000"/>
                </a:solidFill>
                <a:latin typeface="Nunito Sans" charset="0"/>
              </a:rPr>
              <a:t>MySQL</a:t>
            </a:r>
            <a:r>
              <a:rPr lang="en-US" sz="2500" b="1" dirty="0" smtClean="0">
                <a:solidFill>
                  <a:srgbClr val="000000"/>
                </a:solidFill>
                <a:latin typeface="Nunito Sans" charset="0"/>
              </a:rPr>
              <a:t> Data and Time Date Types:</a:t>
            </a:r>
          </a:p>
          <a:p>
            <a:pPr algn="just"/>
            <a:endParaRPr lang="en-US" sz="2500" b="1" dirty="0" smtClean="0">
              <a:solidFill>
                <a:srgbClr val="000000"/>
              </a:solidFill>
              <a:latin typeface="Nunito Sans" charset="0"/>
            </a:endParaRPr>
          </a:p>
          <a:p>
            <a:pPr algn="just">
              <a:lnSpc>
                <a:spcPct val="150000"/>
              </a:lnSpc>
              <a:buFont typeface="Wingdings" pitchFamily="2" charset="2"/>
              <a:buChar char="Ø"/>
            </a:pPr>
            <a:r>
              <a:rPr lang="en-US" sz="2500" dirty="0" smtClean="0">
                <a:solidFill>
                  <a:srgbClr val="000000"/>
                </a:solidFill>
                <a:latin typeface="Nunito Sans" charset="0"/>
              </a:rPr>
              <a:t>  DATE</a:t>
            </a:r>
          </a:p>
          <a:p>
            <a:pPr algn="just">
              <a:lnSpc>
                <a:spcPct val="150000"/>
              </a:lnSpc>
              <a:buFont typeface="Wingdings" pitchFamily="2" charset="2"/>
              <a:buChar char="Ø"/>
            </a:pPr>
            <a:r>
              <a:rPr lang="en-US" sz="2500" dirty="0" smtClean="0">
                <a:solidFill>
                  <a:srgbClr val="000000"/>
                </a:solidFill>
                <a:latin typeface="Nunito Sans" charset="0"/>
              </a:rPr>
              <a:t>  DATETIME(</a:t>
            </a:r>
            <a:r>
              <a:rPr lang="en-US" sz="2500" dirty="0" err="1" smtClean="0">
                <a:solidFill>
                  <a:srgbClr val="000000"/>
                </a:solidFill>
                <a:latin typeface="Nunito Sans" charset="0"/>
              </a:rPr>
              <a:t>fsp</a:t>
            </a:r>
            <a:r>
              <a:rPr lang="en-US" sz="2500" dirty="0" smtClean="0">
                <a:solidFill>
                  <a:srgbClr val="000000"/>
                </a:solidFill>
                <a:latin typeface="Nunito Sans" charset="0"/>
              </a:rPr>
              <a:t>)</a:t>
            </a:r>
          </a:p>
          <a:p>
            <a:pPr algn="just">
              <a:lnSpc>
                <a:spcPct val="150000"/>
              </a:lnSpc>
              <a:buFont typeface="Wingdings" pitchFamily="2" charset="2"/>
              <a:buChar char="Ø"/>
            </a:pPr>
            <a:r>
              <a:rPr lang="en-US" sz="2500" dirty="0" smtClean="0">
                <a:solidFill>
                  <a:srgbClr val="000000"/>
                </a:solidFill>
                <a:latin typeface="Nunito Sans" charset="0"/>
              </a:rPr>
              <a:t>  TIMESTAMP(</a:t>
            </a:r>
            <a:r>
              <a:rPr lang="en-US" sz="2500" dirty="0" err="1" smtClean="0">
                <a:solidFill>
                  <a:srgbClr val="000000"/>
                </a:solidFill>
                <a:latin typeface="Nunito Sans" charset="0"/>
              </a:rPr>
              <a:t>fsp</a:t>
            </a:r>
            <a:r>
              <a:rPr lang="en-US" sz="2500" dirty="0" smtClean="0">
                <a:solidFill>
                  <a:srgbClr val="000000"/>
                </a:solidFill>
                <a:latin typeface="Nunito Sans" charset="0"/>
              </a:rPr>
              <a:t>)</a:t>
            </a:r>
          </a:p>
          <a:p>
            <a:pPr algn="just">
              <a:lnSpc>
                <a:spcPct val="150000"/>
              </a:lnSpc>
              <a:buFont typeface="Wingdings" pitchFamily="2" charset="2"/>
              <a:buChar char="Ø"/>
            </a:pPr>
            <a:r>
              <a:rPr lang="en-US" sz="2500" dirty="0" smtClean="0">
                <a:solidFill>
                  <a:srgbClr val="000000"/>
                </a:solidFill>
                <a:latin typeface="Nunito Sans" charset="0"/>
              </a:rPr>
              <a:t>  TIME(</a:t>
            </a:r>
            <a:r>
              <a:rPr lang="en-US" sz="2500" dirty="0" err="1" smtClean="0">
                <a:solidFill>
                  <a:srgbClr val="000000"/>
                </a:solidFill>
                <a:latin typeface="Nunito Sans" charset="0"/>
              </a:rPr>
              <a:t>fsp</a:t>
            </a:r>
            <a:r>
              <a:rPr lang="en-US" sz="2500" dirty="0" smtClean="0">
                <a:solidFill>
                  <a:srgbClr val="000000"/>
                </a:solidFill>
                <a:latin typeface="Nunito Sans" charset="0"/>
              </a:rPr>
              <a:t>)</a:t>
            </a:r>
          </a:p>
          <a:p>
            <a:pPr algn="just">
              <a:lnSpc>
                <a:spcPct val="150000"/>
              </a:lnSpc>
              <a:buFont typeface="Wingdings" pitchFamily="2" charset="2"/>
              <a:buChar char="Ø"/>
            </a:pPr>
            <a:r>
              <a:rPr lang="en-US" sz="2500" dirty="0" smtClean="0">
                <a:solidFill>
                  <a:srgbClr val="000000"/>
                </a:solidFill>
                <a:latin typeface="Nunito Sans" charset="0"/>
              </a:rPr>
              <a:t>  YEAR</a:t>
            </a:r>
          </a:p>
          <a:p>
            <a:pPr algn="just"/>
            <a:r>
              <a:rPr lang="en-US" sz="2500" b="1" dirty="0" smtClean="0">
                <a:solidFill>
                  <a:srgbClr val="000000"/>
                </a:solidFill>
                <a:latin typeface="Nunito Sans" charset="0"/>
              </a:rPr>
              <a:t> 	</a:t>
            </a:r>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74352" y="6099048"/>
            <a:ext cx="1993392" cy="430628"/>
          </a:xfrm>
          <a:prstGeom prst="rect">
            <a:avLst/>
          </a:prstGeom>
        </p:spPr>
      </p:pic>
      <p:sp>
        <p:nvSpPr>
          <p:cNvPr id="5" name="Rectangle 4">
            <a:extLst>
              <a:ext uri="{FF2B5EF4-FFF2-40B4-BE49-F238E27FC236}">
                <a16:creationId xmlns:a16="http://schemas.microsoft.com/office/drawing/2014/main" xmlns="" id="{79A7B499-1801-4959-9783-261750DF0FA9}"/>
              </a:ext>
            </a:extLst>
          </p:cNvPr>
          <p:cNvSpPr/>
          <p:nvPr/>
        </p:nvSpPr>
        <p:spPr>
          <a:xfrm>
            <a:off x="598714" y="711390"/>
            <a:ext cx="794852" cy="57773"/>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5746439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xmlns="" id="{3A73E930-58B4-4FEC-8303-01C4F888F30D}"/>
              </a:ext>
            </a:extLst>
          </p:cNvPr>
          <p:cNvSpPr txBox="1"/>
          <p:nvPr/>
        </p:nvSpPr>
        <p:spPr>
          <a:xfrm>
            <a:off x="533400" y="762000"/>
            <a:ext cx="11052517" cy="3408625"/>
          </a:xfrm>
          <a:prstGeom prst="rect">
            <a:avLst/>
          </a:prstGeom>
          <a:noFill/>
        </p:spPr>
        <p:txBody>
          <a:bodyPr wrap="square" rtlCol="0">
            <a:spAutoFit/>
          </a:bodyPr>
          <a:lstStyle/>
          <a:p>
            <a:pPr algn="just"/>
            <a:r>
              <a:rPr lang="en-US" sz="2500" b="1" dirty="0" smtClean="0">
                <a:latin typeface="Nunito Sans" charset="0"/>
              </a:rPr>
              <a:t>SQL Operators</a:t>
            </a:r>
          </a:p>
          <a:p>
            <a:pPr algn="just"/>
            <a:endParaRPr lang="en-US" sz="2500" b="1" dirty="0" smtClean="0">
              <a:solidFill>
                <a:srgbClr val="000000"/>
              </a:solidFill>
              <a:latin typeface="Nunito Sans" charset="0"/>
            </a:endParaRPr>
          </a:p>
          <a:p>
            <a:pPr>
              <a:lnSpc>
                <a:spcPct val="150000"/>
              </a:lnSpc>
              <a:buFont typeface="Wingdings" pitchFamily="2" charset="2"/>
              <a:buChar char="Ø"/>
            </a:pPr>
            <a:r>
              <a:rPr lang="en-US" sz="2500" dirty="0" smtClean="0">
                <a:latin typeface="Nunito Sans" charset="0"/>
              </a:rPr>
              <a:t>  SQL Arithmetic Operators</a:t>
            </a:r>
          </a:p>
          <a:p>
            <a:pPr>
              <a:lnSpc>
                <a:spcPct val="150000"/>
              </a:lnSpc>
              <a:buFont typeface="Wingdings" pitchFamily="2" charset="2"/>
              <a:buChar char="Ø"/>
            </a:pPr>
            <a:r>
              <a:rPr lang="en-US" sz="2500" dirty="0" smtClean="0">
                <a:latin typeface="Nunito Sans" charset="0"/>
              </a:rPr>
              <a:t>  SQL Comparison Operators</a:t>
            </a:r>
          </a:p>
          <a:p>
            <a:pPr>
              <a:lnSpc>
                <a:spcPct val="150000"/>
              </a:lnSpc>
              <a:buFont typeface="Wingdings" pitchFamily="2" charset="2"/>
              <a:buChar char="Ø"/>
            </a:pPr>
            <a:r>
              <a:rPr lang="en-US" sz="2500" dirty="0" smtClean="0">
                <a:latin typeface="Nunito Sans" charset="0"/>
              </a:rPr>
              <a:t>  SQL Logical Operators</a:t>
            </a:r>
          </a:p>
          <a:p>
            <a:r>
              <a:rPr lang="en-US" sz="2800" dirty="0" smtClean="0"/>
              <a:t/>
            </a:r>
            <a:br>
              <a:rPr lang="en-US" sz="2800" dirty="0" smtClean="0"/>
            </a:br>
            <a:endParaRPr lang="en-US" sz="2500" b="1" dirty="0" smtClean="0">
              <a:solidFill>
                <a:srgbClr val="000000"/>
              </a:solidFill>
              <a:latin typeface="Nunito Sans" charset="0"/>
            </a:endParaRPr>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74352" y="6099048"/>
            <a:ext cx="1993392" cy="430628"/>
          </a:xfrm>
          <a:prstGeom prst="rect">
            <a:avLst/>
          </a:prstGeom>
        </p:spPr>
      </p:pic>
      <p:sp>
        <p:nvSpPr>
          <p:cNvPr id="5" name="Rectangle 4">
            <a:extLst>
              <a:ext uri="{FF2B5EF4-FFF2-40B4-BE49-F238E27FC236}">
                <a16:creationId xmlns:a16="http://schemas.microsoft.com/office/drawing/2014/main" xmlns="" id="{79A7B499-1801-4959-9783-261750DF0FA9}"/>
              </a:ext>
            </a:extLst>
          </p:cNvPr>
          <p:cNvSpPr/>
          <p:nvPr/>
        </p:nvSpPr>
        <p:spPr>
          <a:xfrm>
            <a:off x="598714" y="711390"/>
            <a:ext cx="794852" cy="57773"/>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5746439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xmlns="" id="{3A73E930-58B4-4FEC-8303-01C4F888F30D}"/>
              </a:ext>
            </a:extLst>
          </p:cNvPr>
          <p:cNvSpPr txBox="1"/>
          <p:nvPr/>
        </p:nvSpPr>
        <p:spPr>
          <a:xfrm>
            <a:off x="533400" y="762000"/>
            <a:ext cx="11052517" cy="2785378"/>
          </a:xfrm>
          <a:prstGeom prst="rect">
            <a:avLst/>
          </a:prstGeom>
          <a:noFill/>
        </p:spPr>
        <p:txBody>
          <a:bodyPr wrap="square" rtlCol="0">
            <a:spAutoFit/>
          </a:bodyPr>
          <a:lstStyle/>
          <a:p>
            <a:pPr algn="just"/>
            <a:r>
              <a:rPr lang="en-US" sz="2500" b="1" dirty="0" smtClean="0">
                <a:solidFill>
                  <a:srgbClr val="000000"/>
                </a:solidFill>
                <a:latin typeface="Nunito Sans" charset="0"/>
              </a:rPr>
              <a:t>CREATE DATABASE:</a:t>
            </a:r>
          </a:p>
          <a:p>
            <a:pPr algn="just"/>
            <a:endParaRPr lang="en-US" sz="2500" dirty="0" smtClean="0">
              <a:solidFill>
                <a:srgbClr val="000000"/>
              </a:solidFill>
              <a:latin typeface="Nunito Sans" charset="0"/>
            </a:endParaRPr>
          </a:p>
          <a:p>
            <a:pPr algn="just"/>
            <a:r>
              <a:rPr lang="en-US" sz="2500" dirty="0">
                <a:solidFill>
                  <a:srgbClr val="000000"/>
                </a:solidFill>
                <a:latin typeface="Nunito Sans" charset="0"/>
              </a:rPr>
              <a:t>T</a:t>
            </a:r>
            <a:r>
              <a:rPr lang="en-US" sz="2500" dirty="0" smtClean="0">
                <a:solidFill>
                  <a:srgbClr val="000000"/>
                </a:solidFill>
                <a:latin typeface="Nunito Sans" charset="0"/>
              </a:rPr>
              <a:t>o </a:t>
            </a:r>
            <a:r>
              <a:rPr lang="en-US" sz="2500" dirty="0">
                <a:solidFill>
                  <a:srgbClr val="000000"/>
                </a:solidFill>
                <a:latin typeface="Nunito Sans" charset="0"/>
              </a:rPr>
              <a:t>create a new database &lt;</a:t>
            </a:r>
            <a:r>
              <a:rPr lang="en-US" sz="2500" dirty="0" err="1">
                <a:solidFill>
                  <a:srgbClr val="000000"/>
                </a:solidFill>
                <a:latin typeface="Nunito Sans" charset="0"/>
              </a:rPr>
              <a:t>testDB</a:t>
            </a:r>
            <a:r>
              <a:rPr lang="en-US" sz="2500" dirty="0">
                <a:solidFill>
                  <a:srgbClr val="000000"/>
                </a:solidFill>
                <a:latin typeface="Nunito Sans" charset="0"/>
              </a:rPr>
              <a:t>&gt;, then </a:t>
            </a:r>
            <a:r>
              <a:rPr lang="en-US" sz="2500" dirty="0" smtClean="0">
                <a:solidFill>
                  <a:srgbClr val="000000"/>
                </a:solidFill>
                <a:latin typeface="Nunito Sans" charset="0"/>
              </a:rPr>
              <a:t>use the </a:t>
            </a:r>
            <a:r>
              <a:rPr lang="en-US" sz="2500" dirty="0">
                <a:solidFill>
                  <a:srgbClr val="000000"/>
                </a:solidFill>
                <a:latin typeface="Nunito Sans" charset="0"/>
              </a:rPr>
              <a:t>CREATE DATABASE statement </a:t>
            </a:r>
          </a:p>
          <a:p>
            <a:pPr algn="just"/>
            <a:endParaRPr lang="en-US" sz="2500" b="1" dirty="0" smtClean="0">
              <a:solidFill>
                <a:srgbClr val="000000"/>
              </a:solidFill>
              <a:latin typeface="Nunito Sans" charset="0"/>
            </a:endParaRPr>
          </a:p>
          <a:p>
            <a:pPr algn="just"/>
            <a:r>
              <a:rPr lang="en-US" sz="2500" b="1" dirty="0" smtClean="0">
                <a:solidFill>
                  <a:srgbClr val="000000"/>
                </a:solidFill>
                <a:latin typeface="Nunito Sans" charset="0"/>
              </a:rPr>
              <a:t>Syntax:</a:t>
            </a:r>
          </a:p>
          <a:p>
            <a:pPr algn="just"/>
            <a:r>
              <a:rPr lang="en-US" sz="2500" b="1" dirty="0">
                <a:solidFill>
                  <a:srgbClr val="000000"/>
                </a:solidFill>
                <a:latin typeface="Nunito Sans" charset="0"/>
              </a:rPr>
              <a:t>	</a:t>
            </a:r>
            <a:r>
              <a:rPr lang="en-US" sz="2500" dirty="0">
                <a:solidFill>
                  <a:srgbClr val="000000"/>
                </a:solidFill>
                <a:latin typeface="Nunito Sans" charset="0"/>
              </a:rPr>
              <a:t>CREATE DATABASE </a:t>
            </a:r>
            <a:r>
              <a:rPr lang="en-US" sz="2500" dirty="0" err="1">
                <a:solidFill>
                  <a:srgbClr val="000000"/>
                </a:solidFill>
                <a:latin typeface="Nunito Sans" charset="0"/>
              </a:rPr>
              <a:t>DatabaseName</a:t>
            </a:r>
            <a:r>
              <a:rPr lang="en-US" sz="2500" dirty="0" smtClean="0">
                <a:solidFill>
                  <a:srgbClr val="000000"/>
                </a:solidFill>
                <a:latin typeface="Nunito Sans" charset="0"/>
              </a:rPr>
              <a:t>;</a:t>
            </a:r>
            <a:endParaRPr lang="en-US" sz="2500" dirty="0" smtClean="0">
              <a:solidFill>
                <a:srgbClr val="000000"/>
              </a:solidFill>
              <a:latin typeface="Nunito Sans" charset="0"/>
            </a:endParaRPr>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74352" y="6099048"/>
            <a:ext cx="1993392" cy="430628"/>
          </a:xfrm>
          <a:prstGeom prst="rect">
            <a:avLst/>
          </a:prstGeom>
        </p:spPr>
      </p:pic>
      <p:sp>
        <p:nvSpPr>
          <p:cNvPr id="5" name="Rectangle 4">
            <a:extLst>
              <a:ext uri="{FF2B5EF4-FFF2-40B4-BE49-F238E27FC236}">
                <a16:creationId xmlns:a16="http://schemas.microsoft.com/office/drawing/2014/main" xmlns="" id="{79A7B499-1801-4959-9783-261750DF0FA9}"/>
              </a:ext>
            </a:extLst>
          </p:cNvPr>
          <p:cNvSpPr/>
          <p:nvPr/>
        </p:nvSpPr>
        <p:spPr>
          <a:xfrm>
            <a:off x="598714" y="711390"/>
            <a:ext cx="794852" cy="57773"/>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3536466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xmlns="" id="{3A73E930-58B4-4FEC-8303-01C4F888F30D}"/>
              </a:ext>
            </a:extLst>
          </p:cNvPr>
          <p:cNvSpPr txBox="1"/>
          <p:nvPr/>
        </p:nvSpPr>
        <p:spPr>
          <a:xfrm>
            <a:off x="533400" y="762000"/>
            <a:ext cx="11052517" cy="2785378"/>
          </a:xfrm>
          <a:prstGeom prst="rect">
            <a:avLst/>
          </a:prstGeom>
          <a:noFill/>
        </p:spPr>
        <p:txBody>
          <a:bodyPr wrap="square" rtlCol="0">
            <a:spAutoFit/>
          </a:bodyPr>
          <a:lstStyle/>
          <a:p>
            <a:pPr algn="just"/>
            <a:r>
              <a:rPr lang="en-US" sz="2500" b="1" dirty="0" smtClean="0">
                <a:solidFill>
                  <a:srgbClr val="000000"/>
                </a:solidFill>
                <a:latin typeface="Nunito Sans" charset="0"/>
              </a:rPr>
              <a:t>DROP</a:t>
            </a:r>
            <a:r>
              <a:rPr lang="en-US" sz="2500" b="1" dirty="0" smtClean="0">
                <a:solidFill>
                  <a:srgbClr val="000000"/>
                </a:solidFill>
                <a:latin typeface="Nunito Sans" charset="0"/>
              </a:rPr>
              <a:t> DATABASE:</a:t>
            </a:r>
          </a:p>
          <a:p>
            <a:pPr algn="just"/>
            <a:endParaRPr lang="en-US" sz="2500" dirty="0" smtClean="0">
              <a:solidFill>
                <a:srgbClr val="000000"/>
              </a:solidFill>
              <a:latin typeface="Nunito Sans" charset="0"/>
            </a:endParaRPr>
          </a:p>
          <a:p>
            <a:pPr algn="just"/>
            <a:r>
              <a:rPr lang="en-US" sz="2500" dirty="0" smtClean="0">
                <a:solidFill>
                  <a:srgbClr val="000000"/>
                </a:solidFill>
                <a:latin typeface="Nunito Sans" charset="0"/>
              </a:rPr>
              <a:t>To </a:t>
            </a:r>
            <a:r>
              <a:rPr lang="en-US" sz="2500" dirty="0">
                <a:solidFill>
                  <a:srgbClr val="000000"/>
                </a:solidFill>
                <a:latin typeface="Nunito Sans" charset="0"/>
              </a:rPr>
              <a:t>delete an existing database &lt;</a:t>
            </a:r>
            <a:r>
              <a:rPr lang="en-US" sz="2500" dirty="0" err="1">
                <a:solidFill>
                  <a:srgbClr val="000000"/>
                </a:solidFill>
                <a:latin typeface="Nunito Sans" charset="0"/>
              </a:rPr>
              <a:t>testDB</a:t>
            </a:r>
            <a:r>
              <a:rPr lang="en-US" sz="2500" dirty="0">
                <a:solidFill>
                  <a:srgbClr val="000000"/>
                </a:solidFill>
                <a:latin typeface="Nunito Sans" charset="0"/>
              </a:rPr>
              <a:t>&gt;, then </a:t>
            </a:r>
            <a:r>
              <a:rPr lang="en-US" sz="2500" dirty="0" smtClean="0">
                <a:solidFill>
                  <a:srgbClr val="000000"/>
                </a:solidFill>
                <a:latin typeface="Nunito Sans" charset="0"/>
              </a:rPr>
              <a:t>use the </a:t>
            </a:r>
            <a:r>
              <a:rPr lang="en-US" sz="2500" dirty="0">
                <a:solidFill>
                  <a:srgbClr val="000000"/>
                </a:solidFill>
                <a:latin typeface="Nunito Sans" charset="0"/>
              </a:rPr>
              <a:t>DROP DATABASE </a:t>
            </a:r>
            <a:r>
              <a:rPr lang="en-US" sz="2500" dirty="0" smtClean="0">
                <a:solidFill>
                  <a:srgbClr val="000000"/>
                </a:solidFill>
                <a:latin typeface="Nunito Sans" charset="0"/>
              </a:rPr>
              <a:t>statement.</a:t>
            </a:r>
            <a:endParaRPr lang="en-US" sz="2500" dirty="0">
              <a:solidFill>
                <a:srgbClr val="000000"/>
              </a:solidFill>
              <a:latin typeface="Nunito Sans" charset="0"/>
            </a:endParaRPr>
          </a:p>
          <a:p>
            <a:pPr algn="just"/>
            <a:endParaRPr lang="en-US" sz="2500" b="1" dirty="0" smtClean="0">
              <a:solidFill>
                <a:srgbClr val="000000"/>
              </a:solidFill>
              <a:latin typeface="Nunito Sans" charset="0"/>
            </a:endParaRPr>
          </a:p>
          <a:p>
            <a:pPr algn="just"/>
            <a:r>
              <a:rPr lang="en-US" sz="2500" b="1" dirty="0" smtClean="0">
                <a:solidFill>
                  <a:srgbClr val="000000"/>
                </a:solidFill>
                <a:latin typeface="Nunito Sans" charset="0"/>
              </a:rPr>
              <a:t>Syntax:</a:t>
            </a:r>
          </a:p>
          <a:p>
            <a:pPr algn="just"/>
            <a:r>
              <a:rPr lang="en-US" sz="2500" b="1" dirty="0">
                <a:solidFill>
                  <a:srgbClr val="000000"/>
                </a:solidFill>
                <a:latin typeface="Nunito Sans" charset="0"/>
              </a:rPr>
              <a:t>	</a:t>
            </a:r>
            <a:r>
              <a:rPr lang="en-US" sz="2500" dirty="0">
                <a:solidFill>
                  <a:srgbClr val="000000"/>
                </a:solidFill>
                <a:latin typeface="Nunito Sans" charset="0"/>
              </a:rPr>
              <a:t>DROP DATABASE </a:t>
            </a:r>
            <a:r>
              <a:rPr lang="en-US" sz="2500" dirty="0" err="1">
                <a:solidFill>
                  <a:srgbClr val="000000"/>
                </a:solidFill>
                <a:latin typeface="Nunito Sans" charset="0"/>
              </a:rPr>
              <a:t>DatabaseName</a:t>
            </a:r>
            <a:r>
              <a:rPr lang="en-US" sz="2500" dirty="0">
                <a:solidFill>
                  <a:srgbClr val="000000"/>
                </a:solidFill>
                <a:latin typeface="Nunito Sans" charset="0"/>
              </a:rPr>
              <a:t>;</a:t>
            </a:r>
            <a:endParaRPr lang="en-US" sz="2500" dirty="0" smtClean="0">
              <a:solidFill>
                <a:srgbClr val="000000"/>
              </a:solidFill>
              <a:latin typeface="Nunito Sans" charset="0"/>
            </a:endParaRPr>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74352" y="6099048"/>
            <a:ext cx="1993392" cy="430628"/>
          </a:xfrm>
          <a:prstGeom prst="rect">
            <a:avLst/>
          </a:prstGeom>
        </p:spPr>
      </p:pic>
      <p:sp>
        <p:nvSpPr>
          <p:cNvPr id="5" name="Rectangle 4">
            <a:extLst>
              <a:ext uri="{FF2B5EF4-FFF2-40B4-BE49-F238E27FC236}">
                <a16:creationId xmlns:a16="http://schemas.microsoft.com/office/drawing/2014/main" xmlns="" id="{79A7B499-1801-4959-9783-261750DF0FA9}"/>
              </a:ext>
            </a:extLst>
          </p:cNvPr>
          <p:cNvSpPr/>
          <p:nvPr/>
        </p:nvSpPr>
        <p:spPr>
          <a:xfrm>
            <a:off x="598714" y="711390"/>
            <a:ext cx="794852" cy="57773"/>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636196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xmlns="" id="{3A73E930-58B4-4FEC-8303-01C4F888F30D}"/>
              </a:ext>
            </a:extLst>
          </p:cNvPr>
          <p:cNvSpPr txBox="1"/>
          <p:nvPr/>
        </p:nvSpPr>
        <p:spPr>
          <a:xfrm>
            <a:off x="533400" y="762000"/>
            <a:ext cx="11052517" cy="2785378"/>
          </a:xfrm>
          <a:prstGeom prst="rect">
            <a:avLst/>
          </a:prstGeom>
          <a:noFill/>
        </p:spPr>
        <p:txBody>
          <a:bodyPr wrap="square" rtlCol="0">
            <a:spAutoFit/>
          </a:bodyPr>
          <a:lstStyle/>
          <a:p>
            <a:pPr algn="just"/>
            <a:r>
              <a:rPr lang="en-US" sz="2500" b="1" dirty="0" smtClean="0">
                <a:solidFill>
                  <a:srgbClr val="000000"/>
                </a:solidFill>
                <a:latin typeface="Nunito Sans" charset="0"/>
              </a:rPr>
              <a:t>SELECT</a:t>
            </a:r>
            <a:r>
              <a:rPr lang="en-US" sz="2500" b="1" dirty="0" smtClean="0">
                <a:solidFill>
                  <a:srgbClr val="000000"/>
                </a:solidFill>
                <a:latin typeface="Nunito Sans" charset="0"/>
              </a:rPr>
              <a:t> DATABASE:</a:t>
            </a:r>
          </a:p>
          <a:p>
            <a:pPr algn="just"/>
            <a:endParaRPr lang="en-US" sz="2500" dirty="0" smtClean="0">
              <a:solidFill>
                <a:srgbClr val="000000"/>
              </a:solidFill>
              <a:latin typeface="Nunito Sans" charset="0"/>
            </a:endParaRPr>
          </a:p>
          <a:p>
            <a:pPr algn="just"/>
            <a:r>
              <a:rPr lang="en-US" sz="2500" dirty="0">
                <a:solidFill>
                  <a:srgbClr val="000000"/>
                </a:solidFill>
                <a:latin typeface="Nunito Sans" charset="0"/>
              </a:rPr>
              <a:t>The SQL USE statement is used to select any existing database in the SQL schema</a:t>
            </a:r>
            <a:r>
              <a:rPr lang="en-US" sz="2500" dirty="0" smtClean="0">
                <a:solidFill>
                  <a:srgbClr val="000000"/>
                </a:solidFill>
                <a:latin typeface="Nunito Sans" charset="0"/>
              </a:rPr>
              <a:t>.</a:t>
            </a:r>
          </a:p>
          <a:p>
            <a:pPr algn="just"/>
            <a:endParaRPr lang="en-US" sz="2500" b="1" dirty="0" smtClean="0">
              <a:solidFill>
                <a:srgbClr val="000000"/>
              </a:solidFill>
              <a:latin typeface="Nunito Sans" charset="0"/>
            </a:endParaRPr>
          </a:p>
          <a:p>
            <a:pPr algn="just"/>
            <a:r>
              <a:rPr lang="en-US" sz="2500" b="1" dirty="0" smtClean="0">
                <a:solidFill>
                  <a:srgbClr val="000000"/>
                </a:solidFill>
                <a:latin typeface="Nunito Sans" charset="0"/>
              </a:rPr>
              <a:t>Syntax:</a:t>
            </a:r>
          </a:p>
          <a:p>
            <a:pPr algn="just"/>
            <a:r>
              <a:rPr lang="en-US" sz="2500" b="1" dirty="0">
                <a:solidFill>
                  <a:srgbClr val="000000"/>
                </a:solidFill>
                <a:latin typeface="Nunito Sans" charset="0"/>
              </a:rPr>
              <a:t>	</a:t>
            </a:r>
            <a:r>
              <a:rPr lang="en-US" sz="2500" dirty="0">
                <a:solidFill>
                  <a:srgbClr val="000000"/>
                </a:solidFill>
                <a:latin typeface="Nunito Sans" charset="0"/>
              </a:rPr>
              <a:t>USE </a:t>
            </a:r>
            <a:r>
              <a:rPr lang="en-US" sz="2500" dirty="0" err="1">
                <a:solidFill>
                  <a:srgbClr val="000000"/>
                </a:solidFill>
                <a:latin typeface="Nunito Sans" charset="0"/>
              </a:rPr>
              <a:t>DatabaseName</a:t>
            </a:r>
            <a:r>
              <a:rPr lang="en-US" sz="2500" dirty="0">
                <a:solidFill>
                  <a:srgbClr val="000000"/>
                </a:solidFill>
                <a:latin typeface="Nunito Sans" charset="0"/>
              </a:rPr>
              <a:t>;</a:t>
            </a:r>
            <a:endParaRPr lang="en-US" sz="2500" dirty="0" smtClean="0">
              <a:solidFill>
                <a:srgbClr val="000000"/>
              </a:solidFill>
              <a:latin typeface="Nunito Sans" charset="0"/>
            </a:endParaRPr>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74352" y="6099048"/>
            <a:ext cx="1993392" cy="430628"/>
          </a:xfrm>
          <a:prstGeom prst="rect">
            <a:avLst/>
          </a:prstGeom>
        </p:spPr>
      </p:pic>
      <p:sp>
        <p:nvSpPr>
          <p:cNvPr id="5" name="Rectangle 4">
            <a:extLst>
              <a:ext uri="{FF2B5EF4-FFF2-40B4-BE49-F238E27FC236}">
                <a16:creationId xmlns:a16="http://schemas.microsoft.com/office/drawing/2014/main" xmlns="" id="{79A7B499-1801-4959-9783-261750DF0FA9}"/>
              </a:ext>
            </a:extLst>
          </p:cNvPr>
          <p:cNvSpPr/>
          <p:nvPr/>
        </p:nvSpPr>
        <p:spPr>
          <a:xfrm>
            <a:off x="598714" y="711390"/>
            <a:ext cx="794852" cy="57773"/>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9177180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xmlns="" id="{3A73E930-58B4-4FEC-8303-01C4F888F30D}"/>
              </a:ext>
            </a:extLst>
          </p:cNvPr>
          <p:cNvSpPr txBox="1"/>
          <p:nvPr/>
        </p:nvSpPr>
        <p:spPr>
          <a:xfrm>
            <a:off x="533400" y="762000"/>
            <a:ext cx="11052517" cy="5093702"/>
          </a:xfrm>
          <a:prstGeom prst="rect">
            <a:avLst/>
          </a:prstGeom>
          <a:noFill/>
        </p:spPr>
        <p:txBody>
          <a:bodyPr wrap="square" rtlCol="0">
            <a:spAutoFit/>
          </a:bodyPr>
          <a:lstStyle/>
          <a:p>
            <a:pPr algn="just"/>
            <a:r>
              <a:rPr lang="en-US" sz="2500" b="1" dirty="0" smtClean="0">
                <a:solidFill>
                  <a:srgbClr val="000000"/>
                </a:solidFill>
                <a:latin typeface="Nunito Sans" charset="0"/>
              </a:rPr>
              <a:t>Create Table:</a:t>
            </a:r>
            <a:endParaRPr lang="en-US" sz="2500" b="1" dirty="0" smtClean="0">
              <a:solidFill>
                <a:srgbClr val="000000"/>
              </a:solidFill>
              <a:latin typeface="Nunito Sans" charset="0"/>
            </a:endParaRPr>
          </a:p>
          <a:p>
            <a:pPr algn="just"/>
            <a:endParaRPr lang="en-US" sz="2500" dirty="0" smtClean="0">
              <a:solidFill>
                <a:srgbClr val="000000"/>
              </a:solidFill>
              <a:latin typeface="Nunito Sans" charset="0"/>
            </a:endParaRPr>
          </a:p>
          <a:p>
            <a:pPr algn="just"/>
            <a:r>
              <a:rPr lang="en-US" sz="2500" dirty="0">
                <a:solidFill>
                  <a:srgbClr val="000000"/>
                </a:solidFill>
                <a:latin typeface="Nunito Sans" charset="0"/>
              </a:rPr>
              <a:t>CREATE TABLE is the keyword telling the database system </a:t>
            </a:r>
            <a:r>
              <a:rPr lang="en-US" sz="2500" dirty="0" smtClean="0">
                <a:solidFill>
                  <a:srgbClr val="000000"/>
                </a:solidFill>
                <a:latin typeface="Nunito Sans" charset="0"/>
              </a:rPr>
              <a:t>to create a table. </a:t>
            </a:r>
            <a:endParaRPr lang="en-US" sz="2500" dirty="0">
              <a:solidFill>
                <a:srgbClr val="000000"/>
              </a:solidFill>
              <a:latin typeface="Nunito Sans" charset="0"/>
            </a:endParaRPr>
          </a:p>
          <a:p>
            <a:pPr algn="just"/>
            <a:endParaRPr lang="en-US" sz="2500" b="1" dirty="0" smtClean="0">
              <a:solidFill>
                <a:srgbClr val="000000"/>
              </a:solidFill>
              <a:latin typeface="Nunito Sans" charset="0"/>
            </a:endParaRPr>
          </a:p>
          <a:p>
            <a:pPr algn="just"/>
            <a:r>
              <a:rPr lang="en-US" sz="2500" b="1" dirty="0" smtClean="0">
                <a:solidFill>
                  <a:srgbClr val="000000"/>
                </a:solidFill>
                <a:latin typeface="Nunito Sans" charset="0"/>
              </a:rPr>
              <a:t>Syntax:</a:t>
            </a:r>
          </a:p>
          <a:p>
            <a:pPr algn="just"/>
            <a:r>
              <a:rPr lang="en-US" sz="2500" b="1" dirty="0">
                <a:solidFill>
                  <a:srgbClr val="000000"/>
                </a:solidFill>
                <a:latin typeface="Nunito Sans" charset="0"/>
              </a:rPr>
              <a:t>	</a:t>
            </a:r>
            <a:r>
              <a:rPr lang="en-US" sz="2500" dirty="0">
                <a:solidFill>
                  <a:srgbClr val="000000"/>
                </a:solidFill>
                <a:latin typeface="Nunito Sans" charset="0"/>
              </a:rPr>
              <a:t>CREATE TABLE </a:t>
            </a:r>
            <a:r>
              <a:rPr lang="en-US" sz="2500" dirty="0" err="1">
                <a:solidFill>
                  <a:srgbClr val="000000"/>
                </a:solidFill>
                <a:latin typeface="Nunito Sans" charset="0"/>
              </a:rPr>
              <a:t>table_name</a:t>
            </a:r>
            <a:r>
              <a:rPr lang="en-US" sz="2500" dirty="0">
                <a:solidFill>
                  <a:srgbClr val="000000"/>
                </a:solidFill>
                <a:latin typeface="Nunito Sans" charset="0"/>
              </a:rPr>
              <a:t>(</a:t>
            </a:r>
          </a:p>
          <a:p>
            <a:pPr algn="just"/>
            <a:r>
              <a:rPr lang="en-US" sz="2500" dirty="0">
                <a:solidFill>
                  <a:srgbClr val="000000"/>
                </a:solidFill>
                <a:latin typeface="Nunito Sans" charset="0"/>
              </a:rPr>
              <a:t>   column1 </a:t>
            </a:r>
            <a:r>
              <a:rPr lang="en-US" sz="2500" dirty="0" err="1">
                <a:solidFill>
                  <a:srgbClr val="000000"/>
                </a:solidFill>
                <a:latin typeface="Nunito Sans" charset="0"/>
              </a:rPr>
              <a:t>datatype</a:t>
            </a:r>
            <a:r>
              <a:rPr lang="en-US" sz="2500" dirty="0">
                <a:solidFill>
                  <a:srgbClr val="000000"/>
                </a:solidFill>
                <a:latin typeface="Nunito Sans" charset="0"/>
              </a:rPr>
              <a:t>,</a:t>
            </a:r>
          </a:p>
          <a:p>
            <a:pPr algn="just"/>
            <a:r>
              <a:rPr lang="en-US" sz="2500" dirty="0">
                <a:solidFill>
                  <a:srgbClr val="000000"/>
                </a:solidFill>
                <a:latin typeface="Nunito Sans" charset="0"/>
              </a:rPr>
              <a:t>   column2 </a:t>
            </a:r>
            <a:r>
              <a:rPr lang="en-US" sz="2500" dirty="0" err="1">
                <a:solidFill>
                  <a:srgbClr val="000000"/>
                </a:solidFill>
                <a:latin typeface="Nunito Sans" charset="0"/>
              </a:rPr>
              <a:t>datatype</a:t>
            </a:r>
            <a:r>
              <a:rPr lang="en-US" sz="2500" dirty="0">
                <a:solidFill>
                  <a:srgbClr val="000000"/>
                </a:solidFill>
                <a:latin typeface="Nunito Sans" charset="0"/>
              </a:rPr>
              <a:t>,</a:t>
            </a:r>
          </a:p>
          <a:p>
            <a:pPr algn="just"/>
            <a:r>
              <a:rPr lang="en-US" sz="2500" dirty="0">
                <a:solidFill>
                  <a:srgbClr val="000000"/>
                </a:solidFill>
                <a:latin typeface="Nunito Sans" charset="0"/>
              </a:rPr>
              <a:t>   column3 </a:t>
            </a:r>
            <a:r>
              <a:rPr lang="en-US" sz="2500" dirty="0" err="1">
                <a:solidFill>
                  <a:srgbClr val="000000"/>
                </a:solidFill>
                <a:latin typeface="Nunito Sans" charset="0"/>
              </a:rPr>
              <a:t>datatype</a:t>
            </a:r>
            <a:r>
              <a:rPr lang="en-US" sz="2500" dirty="0">
                <a:solidFill>
                  <a:srgbClr val="000000"/>
                </a:solidFill>
                <a:latin typeface="Nunito Sans" charset="0"/>
              </a:rPr>
              <a:t>,</a:t>
            </a:r>
          </a:p>
          <a:p>
            <a:pPr algn="just"/>
            <a:r>
              <a:rPr lang="en-US" sz="2500" dirty="0">
                <a:solidFill>
                  <a:srgbClr val="000000"/>
                </a:solidFill>
                <a:latin typeface="Nunito Sans" charset="0"/>
              </a:rPr>
              <a:t>   .....</a:t>
            </a:r>
          </a:p>
          <a:p>
            <a:pPr algn="just"/>
            <a:r>
              <a:rPr lang="en-US" sz="2500" dirty="0">
                <a:solidFill>
                  <a:srgbClr val="000000"/>
                </a:solidFill>
                <a:latin typeface="Nunito Sans" charset="0"/>
              </a:rPr>
              <a:t>   </a:t>
            </a:r>
            <a:r>
              <a:rPr lang="en-US" sz="2500" dirty="0" err="1">
                <a:solidFill>
                  <a:srgbClr val="000000"/>
                </a:solidFill>
                <a:latin typeface="Nunito Sans" charset="0"/>
              </a:rPr>
              <a:t>columnN</a:t>
            </a:r>
            <a:r>
              <a:rPr lang="en-US" sz="2500" dirty="0">
                <a:solidFill>
                  <a:srgbClr val="000000"/>
                </a:solidFill>
                <a:latin typeface="Nunito Sans" charset="0"/>
              </a:rPr>
              <a:t> </a:t>
            </a:r>
            <a:r>
              <a:rPr lang="en-US" sz="2500" dirty="0" err="1">
                <a:solidFill>
                  <a:srgbClr val="000000"/>
                </a:solidFill>
                <a:latin typeface="Nunito Sans" charset="0"/>
              </a:rPr>
              <a:t>datatype</a:t>
            </a:r>
            <a:r>
              <a:rPr lang="en-US" sz="2500" dirty="0">
                <a:solidFill>
                  <a:srgbClr val="000000"/>
                </a:solidFill>
                <a:latin typeface="Nunito Sans" charset="0"/>
              </a:rPr>
              <a:t>,</a:t>
            </a:r>
          </a:p>
          <a:p>
            <a:pPr algn="just"/>
            <a:r>
              <a:rPr lang="en-US" sz="2500" dirty="0">
                <a:solidFill>
                  <a:srgbClr val="000000"/>
                </a:solidFill>
                <a:latin typeface="Nunito Sans" charset="0"/>
              </a:rPr>
              <a:t>   PRIMARY KEY( one or more columns )</a:t>
            </a:r>
          </a:p>
          <a:p>
            <a:pPr algn="just"/>
            <a:r>
              <a:rPr lang="en-US" sz="2500" dirty="0">
                <a:solidFill>
                  <a:srgbClr val="000000"/>
                </a:solidFill>
                <a:latin typeface="Nunito Sans" charset="0"/>
              </a:rPr>
              <a:t>);</a:t>
            </a:r>
            <a:endParaRPr lang="en-US" sz="2500" dirty="0" smtClean="0">
              <a:solidFill>
                <a:srgbClr val="000000"/>
              </a:solidFill>
              <a:latin typeface="Nunito Sans" charset="0"/>
            </a:endParaRPr>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74352" y="6099048"/>
            <a:ext cx="1993392" cy="430628"/>
          </a:xfrm>
          <a:prstGeom prst="rect">
            <a:avLst/>
          </a:prstGeom>
        </p:spPr>
      </p:pic>
      <p:sp>
        <p:nvSpPr>
          <p:cNvPr id="5" name="Rectangle 4">
            <a:extLst>
              <a:ext uri="{FF2B5EF4-FFF2-40B4-BE49-F238E27FC236}">
                <a16:creationId xmlns:a16="http://schemas.microsoft.com/office/drawing/2014/main" xmlns="" id="{79A7B499-1801-4959-9783-261750DF0FA9}"/>
              </a:ext>
            </a:extLst>
          </p:cNvPr>
          <p:cNvSpPr/>
          <p:nvPr/>
        </p:nvSpPr>
        <p:spPr>
          <a:xfrm>
            <a:off x="598714" y="711390"/>
            <a:ext cx="794852" cy="57773"/>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4437987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xmlns="" id="{3A73E930-58B4-4FEC-8303-01C4F888F30D}"/>
              </a:ext>
            </a:extLst>
          </p:cNvPr>
          <p:cNvSpPr txBox="1"/>
          <p:nvPr/>
        </p:nvSpPr>
        <p:spPr>
          <a:xfrm>
            <a:off x="533400" y="762000"/>
            <a:ext cx="11052517" cy="2785378"/>
          </a:xfrm>
          <a:prstGeom prst="rect">
            <a:avLst/>
          </a:prstGeom>
          <a:noFill/>
        </p:spPr>
        <p:txBody>
          <a:bodyPr wrap="square" rtlCol="0">
            <a:spAutoFit/>
          </a:bodyPr>
          <a:lstStyle/>
          <a:p>
            <a:pPr algn="just"/>
            <a:r>
              <a:rPr lang="en-US" sz="2500" b="1" dirty="0" smtClean="0">
                <a:solidFill>
                  <a:srgbClr val="000000"/>
                </a:solidFill>
                <a:latin typeface="Nunito Sans" charset="0"/>
              </a:rPr>
              <a:t>Drop Table:</a:t>
            </a:r>
            <a:endParaRPr lang="en-US" sz="2500" b="1" dirty="0" smtClean="0">
              <a:solidFill>
                <a:srgbClr val="000000"/>
              </a:solidFill>
              <a:latin typeface="Nunito Sans" charset="0"/>
            </a:endParaRPr>
          </a:p>
          <a:p>
            <a:pPr algn="just"/>
            <a:endParaRPr lang="en-US" sz="2500" dirty="0" smtClean="0">
              <a:solidFill>
                <a:srgbClr val="000000"/>
              </a:solidFill>
              <a:latin typeface="Nunito Sans" charset="0"/>
            </a:endParaRPr>
          </a:p>
          <a:p>
            <a:pPr algn="just"/>
            <a:r>
              <a:rPr lang="en-US" sz="2500" dirty="0">
                <a:solidFill>
                  <a:srgbClr val="000000"/>
                </a:solidFill>
                <a:latin typeface="Nunito Sans" charset="0"/>
              </a:rPr>
              <a:t>DROP TABLE statement is used to remove a table definition and all the data, indexes, triggers, constraints and permission specifications for that table.</a:t>
            </a:r>
          </a:p>
          <a:p>
            <a:pPr algn="just"/>
            <a:endParaRPr lang="en-US" sz="2500" b="1" dirty="0" smtClean="0">
              <a:solidFill>
                <a:srgbClr val="000000"/>
              </a:solidFill>
              <a:latin typeface="Nunito Sans" charset="0"/>
            </a:endParaRPr>
          </a:p>
          <a:p>
            <a:pPr algn="just"/>
            <a:r>
              <a:rPr lang="en-US" sz="2500" b="1" dirty="0" smtClean="0">
                <a:solidFill>
                  <a:srgbClr val="000000"/>
                </a:solidFill>
                <a:latin typeface="Nunito Sans" charset="0"/>
              </a:rPr>
              <a:t>Syntax:</a:t>
            </a:r>
          </a:p>
          <a:p>
            <a:pPr algn="just"/>
            <a:r>
              <a:rPr lang="en-US" sz="2500" b="1" dirty="0">
                <a:solidFill>
                  <a:srgbClr val="000000"/>
                </a:solidFill>
                <a:latin typeface="Nunito Sans" charset="0"/>
              </a:rPr>
              <a:t>	</a:t>
            </a:r>
            <a:r>
              <a:rPr lang="en-US" sz="2500" dirty="0">
                <a:solidFill>
                  <a:srgbClr val="000000"/>
                </a:solidFill>
                <a:latin typeface="Nunito Sans" charset="0"/>
              </a:rPr>
              <a:t>DROP TABLE </a:t>
            </a:r>
            <a:r>
              <a:rPr lang="en-US" sz="2500" dirty="0" err="1">
                <a:solidFill>
                  <a:srgbClr val="000000"/>
                </a:solidFill>
                <a:latin typeface="Nunito Sans" charset="0"/>
              </a:rPr>
              <a:t>table_name</a:t>
            </a:r>
            <a:r>
              <a:rPr lang="en-US" sz="2500" dirty="0">
                <a:solidFill>
                  <a:srgbClr val="000000"/>
                </a:solidFill>
                <a:latin typeface="Nunito Sans" charset="0"/>
              </a:rPr>
              <a:t>;</a:t>
            </a:r>
            <a:endParaRPr lang="en-US" sz="2500" dirty="0" smtClean="0">
              <a:solidFill>
                <a:srgbClr val="000000"/>
              </a:solidFill>
              <a:latin typeface="Nunito Sans" charset="0"/>
            </a:endParaRPr>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74352" y="6099048"/>
            <a:ext cx="1993392" cy="430628"/>
          </a:xfrm>
          <a:prstGeom prst="rect">
            <a:avLst/>
          </a:prstGeom>
        </p:spPr>
      </p:pic>
      <p:sp>
        <p:nvSpPr>
          <p:cNvPr id="5" name="Rectangle 4">
            <a:extLst>
              <a:ext uri="{FF2B5EF4-FFF2-40B4-BE49-F238E27FC236}">
                <a16:creationId xmlns:a16="http://schemas.microsoft.com/office/drawing/2014/main" xmlns="" id="{79A7B499-1801-4959-9783-261750DF0FA9}"/>
              </a:ext>
            </a:extLst>
          </p:cNvPr>
          <p:cNvSpPr/>
          <p:nvPr/>
        </p:nvSpPr>
        <p:spPr>
          <a:xfrm>
            <a:off x="598714" y="711390"/>
            <a:ext cx="794852" cy="57773"/>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4388720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xmlns="" id="{D71EE1CC-5860-4236-A6FD-56296450190E}"/>
              </a:ext>
            </a:extLst>
          </p:cNvPr>
          <p:cNvPicPr>
            <a:picLocks noChangeAspect="1"/>
          </p:cNvPicPr>
          <p:nvPr/>
        </p:nvPicPr>
        <p:blipFill>
          <a:blip r:embed="rId3">
            <a:extLst>
              <a:ext uri="{28A0092B-C50C-407E-A947-70E740481C1C}">
                <a14:useLocalDpi xmlns:a14="http://schemas.microsoft.com/office/drawing/2010/main" val="0"/>
              </a:ext>
            </a:extLst>
          </a:blip>
          <a:srcRect l="1110" b="849"/>
          <a:stretch>
            <a:fillRect/>
          </a:stretch>
        </p:blipFill>
        <p:spPr>
          <a:xfrm rot="355158">
            <a:off x="-214550" y="3101269"/>
            <a:ext cx="4219796" cy="3942674"/>
          </a:xfrm>
          <a:custGeom>
            <a:avLst/>
            <a:gdLst>
              <a:gd name="connsiteX0" fmla="*/ 0 w 4219796"/>
              <a:gd name="connsiteY0" fmla="*/ 0 h 3942674"/>
              <a:gd name="connsiteX1" fmla="*/ 4219796 w 4219796"/>
              <a:gd name="connsiteY1" fmla="*/ 0 h 3942674"/>
              <a:gd name="connsiteX2" fmla="*/ 4219796 w 4219796"/>
              <a:gd name="connsiteY2" fmla="*/ 3547546 h 3942674"/>
              <a:gd name="connsiteX3" fmla="*/ 408778 w 4219796"/>
              <a:gd name="connsiteY3" fmla="*/ 3942674 h 3942674"/>
            </a:gdLst>
            <a:ahLst/>
            <a:cxnLst>
              <a:cxn ang="0">
                <a:pos x="connsiteX0" y="connsiteY0"/>
              </a:cxn>
              <a:cxn ang="0">
                <a:pos x="connsiteX1" y="connsiteY1"/>
              </a:cxn>
              <a:cxn ang="0">
                <a:pos x="connsiteX2" y="connsiteY2"/>
              </a:cxn>
              <a:cxn ang="0">
                <a:pos x="connsiteX3" y="connsiteY3"/>
              </a:cxn>
            </a:cxnLst>
            <a:rect l="l" t="t" r="r" b="b"/>
            <a:pathLst>
              <a:path w="4219796" h="3942674">
                <a:moveTo>
                  <a:pt x="0" y="0"/>
                </a:moveTo>
                <a:lnTo>
                  <a:pt x="4219796" y="0"/>
                </a:lnTo>
                <a:lnTo>
                  <a:pt x="4219796" y="3547546"/>
                </a:lnTo>
                <a:lnTo>
                  <a:pt x="408778" y="3942674"/>
                </a:lnTo>
                <a:close/>
              </a:path>
            </a:pathLst>
          </a:custGeom>
        </p:spPr>
      </p:pic>
      <p:sp>
        <p:nvSpPr>
          <p:cNvPr id="6" name="Rectangle 5">
            <a:extLst>
              <a:ext uri="{FF2B5EF4-FFF2-40B4-BE49-F238E27FC236}">
                <a16:creationId xmlns:a16="http://schemas.microsoft.com/office/drawing/2014/main" xmlns="" id="{BA29A662-E105-4DCD-B841-5AE7DE607E52}"/>
              </a:ext>
            </a:extLst>
          </p:cNvPr>
          <p:cNvSpPr/>
          <p:nvPr/>
        </p:nvSpPr>
        <p:spPr>
          <a:xfrm>
            <a:off x="0" y="2438400"/>
            <a:ext cx="12192000" cy="1323439"/>
          </a:xfrm>
          <a:prstGeom prst="rect">
            <a:avLst/>
          </a:prstGeom>
        </p:spPr>
        <p:txBody>
          <a:bodyPr wrap="square">
            <a:spAutoFit/>
          </a:bodyPr>
          <a:lstStyle/>
          <a:p>
            <a:pPr algn="ctr"/>
            <a:r>
              <a:rPr lang="en-US" sz="8000" b="1" dirty="0">
                <a:solidFill>
                  <a:srgbClr val="F05136"/>
                </a:solidFill>
                <a:latin typeface="Nunito Sans" panose="00000500000000000000" pitchFamily="2" charset="0"/>
              </a:rPr>
              <a:t>THANK YOU</a:t>
            </a:r>
            <a:endParaRPr lang="en-US" sz="8000" b="1" dirty="0">
              <a:solidFill>
                <a:srgbClr val="F05136"/>
              </a:solidFill>
            </a:endParaRPr>
          </a:p>
        </p:txBody>
      </p:sp>
      <p:pic>
        <p:nvPicPr>
          <p:cNvPr id="5" name="Picture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674352" y="6099048"/>
            <a:ext cx="1993392" cy="430628"/>
          </a:xfrm>
          <a:prstGeom prst="rect">
            <a:avLst/>
          </a:prstGeom>
        </p:spPr>
      </p:pic>
    </p:spTree>
    <p:extLst>
      <p:ext uri="{BB962C8B-B14F-4D97-AF65-F5344CB8AC3E}">
        <p14:creationId xmlns:p14="http://schemas.microsoft.com/office/powerpoint/2010/main" val="312413667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3626</TotalTime>
  <Words>1596</Words>
  <Application>Microsoft Office PowerPoint</Application>
  <PresentationFormat>Widescreen</PresentationFormat>
  <Paragraphs>286</Paragraphs>
  <Slides>26</Slides>
  <Notes>26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Wingdings</vt:lpstr>
      <vt:lpstr>Arial</vt:lpstr>
      <vt:lpstr>Nunito Sans</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FACE-45</dc:creator>
  <cp:lastModifiedBy>user</cp:lastModifiedBy>
  <cp:revision>236</cp:revision>
  <dcterms:created xsi:type="dcterms:W3CDTF">2006-08-16T00:00:00Z</dcterms:created>
  <dcterms:modified xsi:type="dcterms:W3CDTF">2020-01-09T07:26:36Z</dcterms:modified>
</cp:coreProperties>
</file>