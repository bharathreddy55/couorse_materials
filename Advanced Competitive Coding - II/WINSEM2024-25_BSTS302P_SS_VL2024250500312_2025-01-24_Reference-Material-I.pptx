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744" r:id="rId2"/>
    <p:sldId id="260" r:id="rId3"/>
    <p:sldId id="749" r:id="rId4"/>
    <p:sldId id="750" r:id="rId5"/>
    <p:sldId id="358" r:id="rId6"/>
    <p:sldId id="745" r:id="rId7"/>
    <p:sldId id="746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B5700-0D5A-4473-A3A3-295155483566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984CF-9683-40A9-B851-C38A76DF21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096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91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72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5AE3-1125-4EB9-69F8-6A6029EAB0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05C831-88D0-5F7F-1E5F-F155C45F8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E977F-40E0-9B68-091E-2985B133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339C-6ED6-4B63-A914-D35A1675E6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0BB52-FF5A-4ED8-696C-B99A4BAB3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17601-5CE1-B4CF-718D-87C9444B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EFA3-0F9D-44EC-8C45-959DFB87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27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3FAA1-E018-1870-D321-DD4C9B3D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2B952-41FC-B937-4A1A-50B3DDAD1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B7120-9C6A-C8DD-EFA6-A331BA89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339C-6ED6-4B63-A914-D35A1675E6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3344C-C015-1D5F-89DB-77867B0F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110EA-A1B4-A433-938E-7C476BD97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EFA3-0F9D-44EC-8C45-959DFB87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49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7FFCC-D910-AB55-EFEE-A17E8C7D1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58E63-6836-1BE0-CBDF-EE373BFA54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084A8-0AB9-41C4-6E28-E80CD5D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339C-6ED6-4B63-A914-D35A1675E6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2F08A0-D91A-6756-FA80-5D9BA953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6FAAC-C3A0-C57B-767C-7D6FC6719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EFA3-0F9D-44EC-8C45-959DFB87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81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B947-1077-2DEE-8EB7-B03540428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8A92A-2396-1A2B-48F6-E86F166C4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A9A90B-CE63-9C05-AF07-EF92180B7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A14CE-2A87-7EE1-6522-D568F9DB5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339C-6ED6-4B63-A914-D35A1675E6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F5DAF-DC5F-1AEB-6527-03B87252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0F762-5C48-2863-4E90-0960C4207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EFA3-0F9D-44EC-8C45-959DFB87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42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EE1B2-520D-5389-7EDF-5416C3076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352C0-33AC-F532-670D-9D145772B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522F34-8DA8-037D-0FF4-512C5D5F8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2ECD1E-9FCC-A982-B703-B3A1881D0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B4A33-2DBE-7485-466D-06B9FAF5F1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70624-455E-2F3C-A731-AF645C74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339C-6ED6-4B63-A914-D35A1675E6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FD6A5-F38D-E813-C8CF-33D7CA60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8DEB0-24D9-88E8-5D6D-1F47F5A0D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EFA3-0F9D-44EC-8C45-959DFB87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619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28354-699C-6036-AAD9-90606E914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5CA76-FF93-7D31-87E1-45B898A1B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339C-6ED6-4B63-A914-D35A1675E6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409FF-34E7-4CAC-8439-FD23D791F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D2BF2-0261-2BFA-6112-882125C6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EFA3-0F9D-44EC-8C45-959DFB87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99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B613F7-C028-E5AA-C96E-1C6DE18B4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339C-6ED6-4B63-A914-D35A1675E6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4DEB3-BC3F-D0EF-1A02-BA255B225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95DC4D-0F53-2AB1-09D0-7122AED1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EFA3-0F9D-44EC-8C45-959DFB87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261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5B7E8-F643-20F7-D966-F37A4F40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5E3E1-3539-15F5-17AA-105221B61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1578F-C7C7-CBE3-AF5A-8925B5F63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D1312-5666-9FFD-C379-8C8635FF6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339C-6ED6-4B63-A914-D35A1675E6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C0A7B6-277D-D358-74FA-48C92A23F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A0A71-5B47-DB66-2F6C-541DC2A32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EFA3-0F9D-44EC-8C45-959DFB87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4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BA4EF-F103-2C07-BC24-03DEF9549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710252-C87A-09C6-5103-00458586A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D8190-E360-E797-69F5-8D12A57A1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3A8B3-980F-CD34-F155-4EEBA8A7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339C-6ED6-4B63-A914-D35A1675E6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46BD6-25E9-D59A-9D5A-A401CE40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213A6-A764-ADFF-485E-3A7ACB65A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EFA3-0F9D-44EC-8C45-959DFB87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4692-82F3-7B6E-9622-B22029ED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A0A9E2-BD85-0065-9553-BD5F94E3A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F1137-643F-3F5A-BB9A-AC6DF429B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339C-6ED6-4B63-A914-D35A1675E6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7AB3B-B6A6-3FC6-F14E-8B1CE9C1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A39D3-CA12-0251-B749-EA34A6F1C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EFA3-0F9D-44EC-8C45-959DFB87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34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38D2A-51FE-52E9-9713-F8522DCBDC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150ABE-35D9-DB1A-1BCF-547CC66B9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799DD-9CE4-53A8-FEE0-425ED19C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D339C-6ED6-4B63-A914-D35A1675E6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7AA7D-A03B-50B3-9A92-9AB5EAE7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B519E-235C-A3EF-7660-0AAFB7EAC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3EFA3-0F9D-44EC-8C45-959DFB87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721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866780-CA6B-F926-4562-25843D52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E5E4C-7F54-80A3-BDCB-9C2620E84A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4DF80-4147-A62B-99F9-DBBBA9D09C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D339C-6ED6-4B63-A914-D35A1675E6CF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A95FF-73CC-AB4F-5290-C5B592E38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C2DE1-2306-38C0-4D58-E55F2834D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3EFA3-0F9D-44EC-8C45-959DFB871F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042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Bellman-Ford Algorithm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Nunito Sans" panose="00000500000000000000" pitchFamily="2" charset="0"/>
              </a:rPr>
              <a:t>Bellman-Ford Algorithm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A53B6C-3042-597F-AE27-9A3C2F01F72B}"/>
              </a:ext>
            </a:extLst>
          </p:cNvPr>
          <p:cNvSpPr txBox="1"/>
          <p:nvPr/>
        </p:nvSpPr>
        <p:spPr>
          <a:xfrm>
            <a:off x="471981" y="1447011"/>
            <a:ext cx="11248038" cy="490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Nunito Sans" pitchFamily="2" charset="0"/>
              </a:rPr>
              <a:t>Given a graph and a source vertex </a:t>
            </a:r>
            <a:r>
              <a:rPr lang="en-US" b="0" i="1" dirty="0">
                <a:effectLst/>
                <a:latin typeface="Nunito Sans" pitchFamily="2" charset="0"/>
              </a:rPr>
              <a:t>src(0) </a:t>
            </a:r>
            <a:r>
              <a:rPr lang="en-US" b="0" i="0" dirty="0">
                <a:effectLst/>
                <a:latin typeface="Nunito Sans" pitchFamily="2" charset="0"/>
              </a:rPr>
              <a:t>in graph, find shortest paths from </a:t>
            </a:r>
            <a:r>
              <a:rPr lang="en-US" b="0" i="1" dirty="0">
                <a:effectLst/>
                <a:latin typeface="Nunito Sans" pitchFamily="2" charset="0"/>
              </a:rPr>
              <a:t>src </a:t>
            </a:r>
            <a:r>
              <a:rPr lang="en-US" b="0" i="0" dirty="0">
                <a:effectLst/>
                <a:latin typeface="Nunito Sans" pitchFamily="2" charset="0"/>
              </a:rPr>
              <a:t>to all vertices in the given graph. The graph may contain negative weight edges. </a:t>
            </a: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If the graph contains a negative cycle, print -1.</a:t>
            </a: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If there is no path to a destination, print -1 there.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Nunito Sans" pitchFamily="2" charset="0"/>
              </a:rPr>
              <a:t>Algorithm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Nunito Sans" pitchFamily="2" charset="0"/>
              </a:rPr>
              <a:t>Initialize distance array </a:t>
            </a:r>
            <a:r>
              <a:rPr lang="en-US" dirty="0" err="1">
                <a:latin typeface="Nunito Sans" pitchFamily="2" charset="0"/>
              </a:rPr>
              <a:t>dist</a:t>
            </a:r>
            <a:r>
              <a:rPr lang="en-US" dirty="0">
                <a:latin typeface="Nunito Sans" pitchFamily="2" charset="0"/>
              </a:rPr>
              <a:t>[] for each vertex ‘v‘ as </a:t>
            </a:r>
            <a:r>
              <a:rPr lang="en-US" dirty="0" err="1">
                <a:latin typeface="Nunito Sans" pitchFamily="2" charset="0"/>
              </a:rPr>
              <a:t>dist</a:t>
            </a:r>
            <a:r>
              <a:rPr lang="en-US" dirty="0">
                <a:latin typeface="Nunito Sans" pitchFamily="2" charset="0"/>
              </a:rPr>
              <a:t>[v] = INFINITY.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Nunito Sans" pitchFamily="2" charset="0"/>
              </a:rPr>
              <a:t>Assume any vertex </a:t>
            </a:r>
            <a:r>
              <a:rPr lang="en-US" dirty="0">
                <a:latin typeface="Nunito Sans" panose="020B0604020202020204" charset="0"/>
              </a:rPr>
              <a:t>(let’s say ‘0’) as source and assign </a:t>
            </a:r>
            <a:r>
              <a:rPr lang="en-US" dirty="0" err="1">
                <a:latin typeface="Nunito Sans" panose="020B0604020202020204" charset="0"/>
              </a:rPr>
              <a:t>dist</a:t>
            </a:r>
            <a:r>
              <a:rPr lang="en-US" dirty="0">
                <a:latin typeface="Nunito Sans" panose="020B0604020202020204" charset="0"/>
              </a:rPr>
              <a:t> = 0.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Nunito Sans" panose="020B0604020202020204" charset="0"/>
              </a:rPr>
              <a:t>Relax all the edges(</a:t>
            </a:r>
            <a:r>
              <a:rPr lang="en-US" dirty="0" err="1">
                <a:latin typeface="Nunito Sans" panose="020B0604020202020204" charset="0"/>
              </a:rPr>
              <a:t>u,v,weight</a:t>
            </a:r>
            <a:r>
              <a:rPr lang="en-US" dirty="0">
                <a:latin typeface="Nunito Sans" panose="020B0604020202020204" charset="0"/>
              </a:rPr>
              <a:t>) N-1 times as per the below condition: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Nunito Sans" panose="020B0604020202020204" charset="0"/>
              </a:rPr>
              <a:t>dist</a:t>
            </a:r>
            <a:r>
              <a:rPr lang="en-US" dirty="0">
                <a:latin typeface="Nunito Sans" panose="020B0604020202020204" charset="0"/>
              </a:rPr>
              <a:t>[v] = minimum(</a:t>
            </a:r>
            <a:r>
              <a:rPr lang="en-US" dirty="0" err="1">
                <a:latin typeface="Nunito Sans" panose="020B0604020202020204" charset="0"/>
              </a:rPr>
              <a:t>dist</a:t>
            </a:r>
            <a:r>
              <a:rPr lang="en-US" dirty="0">
                <a:latin typeface="Nunito Sans" panose="020B0604020202020204" charset="0"/>
              </a:rPr>
              <a:t>[v], distance[u] + weight)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Nunito Sans" panose="020B0604020202020204" charset="0"/>
              </a:rPr>
              <a:t>Now, Relax all the edges one more time i.e. the Nth time and based on the below two cases we can detect the negative cycle: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Nunito Sans" panose="020B0604020202020204" charset="0"/>
              </a:rPr>
              <a:t>Case 1 (Negative cycle exists): For any edge(u, v, weight), if </a:t>
            </a:r>
            <a:r>
              <a:rPr lang="en-US" dirty="0" err="1">
                <a:latin typeface="Nunito Sans" panose="020B0604020202020204" charset="0"/>
              </a:rPr>
              <a:t>dist</a:t>
            </a:r>
            <a:r>
              <a:rPr lang="en-US" dirty="0">
                <a:latin typeface="Nunito Sans" panose="020B0604020202020204" charset="0"/>
              </a:rPr>
              <a:t>[u] + weight &lt; </a:t>
            </a:r>
            <a:r>
              <a:rPr lang="en-US" dirty="0" err="1">
                <a:latin typeface="Nunito Sans" panose="020B0604020202020204" charset="0"/>
              </a:rPr>
              <a:t>dist</a:t>
            </a:r>
            <a:r>
              <a:rPr lang="en-US" dirty="0">
                <a:latin typeface="Nunito Sans" panose="020B0604020202020204" charset="0"/>
              </a:rPr>
              <a:t>[v]</a:t>
            </a: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Nunito Sans" panose="020B0604020202020204" charset="0"/>
              </a:rPr>
              <a:t>Case 2 (No Negative cycle) : case 1 fails for all the edges.</a:t>
            </a:r>
          </a:p>
        </p:txBody>
      </p:sp>
    </p:spTree>
    <p:extLst>
      <p:ext uri="{BB962C8B-B14F-4D97-AF65-F5344CB8AC3E}">
        <p14:creationId xmlns:p14="http://schemas.microsoft.com/office/powerpoint/2010/main" val="479585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Nunito Sans" panose="00000500000000000000" pitchFamily="2" charset="0"/>
              </a:rPr>
              <a:t>Bellman-Ford Algorithm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A53B6C-3042-597F-AE27-9A3C2F01F72B}"/>
              </a:ext>
            </a:extLst>
          </p:cNvPr>
          <p:cNvSpPr txBox="1"/>
          <p:nvPr/>
        </p:nvSpPr>
        <p:spPr>
          <a:xfrm>
            <a:off x="634226" y="1225689"/>
            <a:ext cx="1124803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effectLst/>
                <a:latin typeface="Nunito Sans" pitchFamily="2" charset="0"/>
              </a:rPr>
              <a:t>Input Format:</a:t>
            </a:r>
            <a:endParaRPr lang="en-US" b="0" i="0" dirty="0">
              <a:effectLst/>
              <a:latin typeface="Nunito Sans" pitchFamily="2" charset="0"/>
            </a:endParaRP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First line - n and m, the number of nodes and edges</a:t>
            </a: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Then there are m lines each containing u, v, and w.</a:t>
            </a: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u and v are the nodes and w is the weight of the edge.</a:t>
            </a:r>
          </a:p>
          <a:p>
            <a:pPr algn="l"/>
            <a:r>
              <a:rPr lang="en-US" b="1" i="0" dirty="0">
                <a:effectLst/>
                <a:latin typeface="Nunito Sans" pitchFamily="2" charset="0"/>
              </a:rPr>
              <a:t>Output Format:</a:t>
            </a:r>
            <a:endParaRPr lang="en-US" b="0" i="0" dirty="0">
              <a:effectLst/>
              <a:latin typeface="Nunito Sans" pitchFamily="2" charset="0"/>
            </a:endParaRP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Print shortest paths from </a:t>
            </a:r>
            <a:r>
              <a:rPr lang="en-US" b="0" i="1" dirty="0">
                <a:effectLst/>
                <a:latin typeface="Nunito Sans" pitchFamily="2" charset="0"/>
              </a:rPr>
              <a:t>src </a:t>
            </a:r>
            <a:r>
              <a:rPr lang="en-US" b="0" i="0" dirty="0">
                <a:effectLst/>
                <a:latin typeface="Nunito Sans" pitchFamily="2" charset="0"/>
              </a:rPr>
              <a:t>to all vertices in the given graph. If there is no path to a destination, print -1 there. If the graph contains a negative cycle, print -1.</a:t>
            </a:r>
          </a:p>
          <a:p>
            <a:pPr algn="l"/>
            <a:endParaRPr lang="en-US" b="0" i="0" dirty="0">
              <a:effectLst/>
              <a:latin typeface="Nunito Sans" pitchFamily="2" charset="0"/>
            </a:endParaRPr>
          </a:p>
          <a:p>
            <a:pPr algn="l"/>
            <a:r>
              <a:rPr lang="en-US" b="1" i="0" dirty="0">
                <a:effectLst/>
                <a:latin typeface="Nunito Sans" pitchFamily="2" charset="0"/>
              </a:rPr>
              <a:t>Sample Input:</a:t>
            </a:r>
            <a:endParaRPr lang="en-US" b="0" i="0" dirty="0">
              <a:effectLst/>
              <a:latin typeface="Nunito Sans" pitchFamily="2" charset="0"/>
            </a:endParaRP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5 8</a:t>
            </a: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0 1 -1</a:t>
            </a: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0 2 4</a:t>
            </a: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1 2 3</a:t>
            </a: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1 3 2</a:t>
            </a: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1 4 2</a:t>
            </a: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3 2 5</a:t>
            </a: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3 1 1</a:t>
            </a: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4 3 -3</a:t>
            </a:r>
          </a:p>
          <a:p>
            <a:pPr algn="l"/>
            <a:r>
              <a:rPr lang="en-US" b="1" i="0" dirty="0">
                <a:effectLst/>
                <a:latin typeface="Nunito Sans" pitchFamily="2" charset="0"/>
              </a:rPr>
              <a:t>Sample Output:</a:t>
            </a:r>
            <a:endParaRPr lang="en-US" b="0" i="0" dirty="0">
              <a:effectLst/>
              <a:latin typeface="Nunito Sans" pitchFamily="2" charset="0"/>
            </a:endParaRPr>
          </a:p>
          <a:p>
            <a:pPr algn="l"/>
            <a:r>
              <a:rPr lang="en-US" b="0" i="0" dirty="0">
                <a:effectLst/>
                <a:latin typeface="Nunito Sans" pitchFamily="2" charset="0"/>
              </a:rPr>
              <a:t>0 -1 2 -2 1</a:t>
            </a:r>
          </a:p>
        </p:txBody>
      </p:sp>
    </p:spTree>
    <p:extLst>
      <p:ext uri="{BB962C8B-B14F-4D97-AF65-F5344CB8AC3E}">
        <p14:creationId xmlns:p14="http://schemas.microsoft.com/office/powerpoint/2010/main" val="4106734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class Edge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src, dest, weight;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Edge(){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src = dest = weight = 0;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V, E;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Edge edge[];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Main(int v, int e){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V = v;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 = e;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edge = new Edge[e];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e; ++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edge[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new Edge();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BellmanFord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(Main graph, int src){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V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graph.V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E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graph.E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 new int[V];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V; ++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Integer.MAX_VALUE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[src] = 0;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V; ++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for (int j = 0; j &lt; E; ++j)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int u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graph.edge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[j].src;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int v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graph.edge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[j].dest;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int weight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graph.edge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[j].weight;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[u] !=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Integer.MAX_VALUE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[u] + 										weight &lt;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[v])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[v]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[u] + weight;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j = 0; j &lt; E; ++j)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int u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graph.edge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[j].src;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int v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graph.edge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[j].dest;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int weight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graph.edge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[j].weight;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if(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[u]!=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Integer.MAX_VALUE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[u]+weight&lt;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[v]){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(-1);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return;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for(int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 V; ++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    if(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]!=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Integer.MAX_VALUE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dist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]+" ");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    else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    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(-1+" ");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args){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    Scanner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V =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    int E =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    Main graph = new Main(V,E);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    for(int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=0;i&lt;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E;i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          int u=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    int v=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    int w=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sc.nextInt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graph.edge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].src = u;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graph.edge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].dest = v;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graph.edge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].weight = w;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    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graph.BellmanFord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(graph, 0);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7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1177</Words>
  <Application>Microsoft Office PowerPoint</Application>
  <PresentationFormat>Widescreen</PresentationFormat>
  <Paragraphs>178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1</cp:revision>
  <dcterms:created xsi:type="dcterms:W3CDTF">2024-01-16T10:28:49Z</dcterms:created>
  <dcterms:modified xsi:type="dcterms:W3CDTF">2024-01-16T12:15:23Z</dcterms:modified>
</cp:coreProperties>
</file>