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69" r:id="rId3"/>
  </p:sldMasterIdLst>
  <p:notesMasterIdLst>
    <p:notesMasterId r:id="rId18"/>
  </p:notesMasterIdLst>
  <p:sldIdLst>
    <p:sldId id="256" r:id="rId4"/>
    <p:sldId id="257" r:id="rId5"/>
    <p:sldId id="337" r:id="rId6"/>
    <p:sldId id="258" r:id="rId7"/>
    <p:sldId id="338" r:id="rId8"/>
    <p:sldId id="339" r:id="rId9"/>
    <p:sldId id="340" r:id="rId10"/>
    <p:sldId id="341" r:id="rId11"/>
    <p:sldId id="342" r:id="rId12"/>
    <p:sldId id="343" r:id="rId13"/>
    <p:sldId id="344" r:id="rId14"/>
    <p:sldId id="345" r:id="rId15"/>
    <p:sldId id="346" r:id="rId16"/>
    <p:sldId id="303" r:id="rId17"/>
  </p:sldIdLst>
  <p:sldSz cx="9144000" cy="5143500" type="screen16x9"/>
  <p:notesSz cx="6858000" cy="9144000"/>
  <p:embeddedFontLst>
    <p:embeddedFont>
      <p:font typeface="Consolas" panose="020B0609020204030204" pitchFamily="49"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Roboto Black" panose="02000000000000000000" pitchFamily="2" charset="0"/>
      <p:bold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iHiSzDa0vTNjS1xHGCbJH/tB5Z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720"/>
      </p:cViewPr>
      <p:guideLst>
        <p:guide pos="454"/>
        <p:guide orient="horz" pos="2755"/>
        <p:guide orient="horz" pos="907"/>
        <p:guide pos="5272"/>
        <p:guide orient="horz" pos="737"/>
        <p:guide orient="horz" pos="39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Master" Target="slideMasters/slideMaster3.xml"/><Relationship Id="rId21" Type="http://schemas.openxmlformats.org/officeDocument/2006/relationships/font" Target="fonts/font3.fntdata"/><Relationship Id="rId68"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7.fntdata"/><Relationship Id="rId6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font" Target="fonts/font2.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6.fntdata"/><Relationship Id="rId66" Type="http://customschemas.google.com/relationships/presentationmetadata" Target="meta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7.xml"/><Relationship Id="rId19" Type="http://schemas.openxmlformats.org/officeDocument/2006/relationships/font" Target="fonts/font1.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4.fntdata"/><Relationship Id="rId27" Type="http://schemas.openxmlformats.org/officeDocument/2006/relationships/font" Target="fonts/font9.fntdata"/><Relationship Id="rId69"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800"/>
              </a:spcBef>
              <a:spcAft>
                <a:spcPts val="0"/>
              </a:spcAft>
              <a:buSzPts val="1100"/>
              <a:buNone/>
            </a:pPr>
            <a:endParaRPr sz="1100" b="0" i="0" u="none" strike="noStrike" cap="none">
              <a:solidFill>
                <a:srgbClr val="000000"/>
              </a:solidFill>
              <a:latin typeface="Arial"/>
              <a:ea typeface="Arial"/>
              <a:cs typeface="Arial"/>
              <a:sym typeface="Arial"/>
            </a:endParaRPr>
          </a:p>
        </p:txBody>
      </p:sp>
      <p:sp>
        <p:nvSpPr>
          <p:cNvPr id="155" name="Google Shape;1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9" name="Google Shape;459;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6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6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14" name="Google Shape;14;p66"/>
          <p:cNvPicPr preferRelativeResize="0"/>
          <p:nvPr/>
        </p:nvPicPr>
        <p:blipFill rotWithShape="1">
          <a:blip r:embed="rId2">
            <a:alphaModFix/>
          </a:blip>
          <a:srcRect/>
          <a:stretch/>
        </p:blipFill>
        <p:spPr>
          <a:xfrm>
            <a:off x="-1" y="7219"/>
            <a:ext cx="9144001" cy="513628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5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8" name="Google Shape;1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5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5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5" name="Google Shape;25;p5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6" name="Google Shape;26;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5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5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56"/>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5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5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5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5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5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2" name="Google Shape;42;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5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6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6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9" name="Google Shape;49;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7"/>
        <p:cNvGrpSpPr/>
        <p:nvPr/>
      </p:nvGrpSpPr>
      <p:grpSpPr>
        <a:xfrm>
          <a:off x="0" y="0"/>
          <a:ext cx="0" cy="0"/>
          <a:chOff x="0" y="0"/>
          <a:chExt cx="0" cy="0"/>
        </a:xfrm>
      </p:grpSpPr>
      <p:sp>
        <p:nvSpPr>
          <p:cNvPr id="58" name="Google Shape;58;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9" name="Google Shape;59;p2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60" name="Google Shape;60;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4" name="Google Shape;64;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5"/>
        <p:cNvGrpSpPr/>
        <p:nvPr/>
      </p:nvGrpSpPr>
      <p:grpSpPr>
        <a:xfrm>
          <a:off x="0" y="0"/>
          <a:ext cx="0" cy="0"/>
          <a:chOff x="0" y="0"/>
          <a:chExt cx="0" cy="0"/>
        </a:xfrm>
      </p:grpSpPr>
      <p:sp>
        <p:nvSpPr>
          <p:cNvPr id="66" name="Google Shape;66;p4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67" name="Google Shape;67;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4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4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71" name="Google Shape;71;p4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2" name="Google Shape;72;p4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73" name="Google Shape;73;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4"/>
        <p:cNvGrpSpPr/>
        <p:nvPr/>
      </p:nvGrpSpPr>
      <p:grpSpPr>
        <a:xfrm>
          <a:off x="0" y="0"/>
          <a:ext cx="0" cy="0"/>
          <a:chOff x="0" y="0"/>
          <a:chExt cx="0" cy="0"/>
        </a:xfrm>
      </p:grpSpPr>
      <p:sp>
        <p:nvSpPr>
          <p:cNvPr id="75" name="Google Shape;75;p4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76" name="Google Shape;76;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7"/>
        <p:cNvGrpSpPr/>
        <p:nvPr/>
      </p:nvGrpSpPr>
      <p:grpSpPr>
        <a:xfrm>
          <a:off x="0" y="0"/>
          <a:ext cx="0" cy="0"/>
          <a:chOff x="0" y="0"/>
          <a:chExt cx="0" cy="0"/>
        </a:xfrm>
      </p:grpSpPr>
      <p:sp>
        <p:nvSpPr>
          <p:cNvPr id="78" name="Google Shape;78;p4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9" name="Google Shape;79;p4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80" name="Google Shape;80;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4">
  <p:cSld name="4">
    <p:spTree>
      <p:nvGrpSpPr>
        <p:cNvPr id="1" name="Shape 81"/>
        <p:cNvGrpSpPr/>
        <p:nvPr/>
      </p:nvGrpSpPr>
      <p:grpSpPr>
        <a:xfrm>
          <a:off x="0" y="0"/>
          <a:ext cx="0" cy="0"/>
          <a:chOff x="0" y="0"/>
          <a:chExt cx="0" cy="0"/>
        </a:xfrm>
      </p:grpSpPr>
      <p:pic>
        <p:nvPicPr>
          <p:cNvPr id="82" name="Google Shape;82;p44" descr="A close up of a logo&#10;&#10;Description generated with high confidence"/>
          <p:cNvPicPr preferRelativeResize="0"/>
          <p:nvPr/>
        </p:nvPicPr>
        <p:blipFill rotWithShape="1">
          <a:blip r:embed="rId2">
            <a:alphaModFix/>
          </a:blip>
          <a:srcRect/>
          <a:stretch/>
        </p:blipFill>
        <p:spPr>
          <a:xfrm>
            <a:off x="7876800" y="183600"/>
            <a:ext cx="1022401" cy="766801"/>
          </a:xfrm>
          <a:prstGeom prst="rect">
            <a:avLst/>
          </a:prstGeom>
          <a:noFill/>
          <a:ln>
            <a:noFill/>
          </a:ln>
        </p:spPr>
      </p:pic>
      <p:pic>
        <p:nvPicPr>
          <p:cNvPr id="83" name="Google Shape;83;p44" descr="A picture containing colorful, colored&#10;&#10;Description generated with very high confidence"/>
          <p:cNvPicPr preferRelativeResize="0"/>
          <p:nvPr/>
        </p:nvPicPr>
        <p:blipFill rotWithShape="1">
          <a:blip r:embed="rId3">
            <a:alphaModFix/>
          </a:blip>
          <a:srcRect t="55602" b="37530"/>
          <a:stretch/>
        </p:blipFill>
        <p:spPr>
          <a:xfrm>
            <a:off x="0" y="4849200"/>
            <a:ext cx="9144000" cy="294300"/>
          </a:xfrm>
          <a:prstGeom prst="rect">
            <a:avLst/>
          </a:prstGeom>
          <a:noFill/>
          <a:ln>
            <a:noFill/>
          </a:ln>
        </p:spPr>
      </p:pic>
      <p:sp>
        <p:nvSpPr>
          <p:cNvPr id="84" name="Google Shape;84;p44"/>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5" name="Google Shape;85;p44"/>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6" name="Google Shape;86;p44"/>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87" name="Google Shape;87;p44"/>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2"/>
        <p:cNvGrpSpPr/>
        <p:nvPr/>
      </p:nvGrpSpPr>
      <p:grpSpPr>
        <a:xfrm>
          <a:off x="0" y="0"/>
          <a:ext cx="0" cy="0"/>
          <a:chOff x="0" y="0"/>
          <a:chExt cx="0" cy="0"/>
        </a:xfrm>
      </p:grpSpPr>
      <p:sp>
        <p:nvSpPr>
          <p:cNvPr id="103" name="Google Shape;103;p6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4" name="Google Shape;104;p6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05" name="Google Shape;105;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p:cSld name="TITLE 2">
    <p:spTree>
      <p:nvGrpSpPr>
        <p:cNvPr id="1" name="Shape 106"/>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7"/>
        <p:cNvGrpSpPr/>
        <p:nvPr/>
      </p:nvGrpSpPr>
      <p:grpSpPr>
        <a:xfrm>
          <a:off x="0" y="0"/>
          <a:ext cx="0" cy="0"/>
          <a:chOff x="0" y="0"/>
          <a:chExt cx="0" cy="0"/>
        </a:xfrm>
      </p:grpSpPr>
      <p:sp>
        <p:nvSpPr>
          <p:cNvPr id="108" name="Google Shape;108;p4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9" name="Google Shape;109;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0"/>
        <p:cNvGrpSpPr/>
        <p:nvPr/>
      </p:nvGrpSpPr>
      <p:grpSpPr>
        <a:xfrm>
          <a:off x="0" y="0"/>
          <a:ext cx="0" cy="0"/>
          <a:chOff x="0" y="0"/>
          <a:chExt cx="0" cy="0"/>
        </a:xfrm>
      </p:grpSpPr>
      <p:sp>
        <p:nvSpPr>
          <p:cNvPr id="111" name="Google Shape;111;p4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12" name="Google Shape;112;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3"/>
        <p:cNvGrpSpPr/>
        <p:nvPr/>
      </p:nvGrpSpPr>
      <p:grpSpPr>
        <a:xfrm>
          <a:off x="0" y="0"/>
          <a:ext cx="0" cy="0"/>
          <a:chOff x="0" y="0"/>
          <a:chExt cx="0" cy="0"/>
        </a:xfrm>
      </p:grpSpPr>
      <p:sp>
        <p:nvSpPr>
          <p:cNvPr id="114" name="Google Shape;114;p4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48"/>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16" name="Google Shape;116;p48"/>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17" name="Google Shape;117;p48"/>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18" name="Google Shape;118;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9"/>
        <p:cNvGrpSpPr/>
        <p:nvPr/>
      </p:nvGrpSpPr>
      <p:grpSpPr>
        <a:xfrm>
          <a:off x="0" y="0"/>
          <a:ext cx="0" cy="0"/>
          <a:chOff x="0" y="0"/>
          <a:chExt cx="0" cy="0"/>
        </a:xfrm>
      </p:grpSpPr>
      <p:sp>
        <p:nvSpPr>
          <p:cNvPr id="120" name="Google Shape;120;p49"/>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121" name="Google Shape;121;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22"/>
        <p:cNvGrpSpPr/>
        <p:nvPr/>
      </p:nvGrpSpPr>
      <p:grpSpPr>
        <a:xfrm>
          <a:off x="0" y="0"/>
          <a:ext cx="0" cy="0"/>
          <a:chOff x="0" y="0"/>
          <a:chExt cx="0" cy="0"/>
        </a:xfrm>
      </p:grpSpPr>
      <p:sp>
        <p:nvSpPr>
          <p:cNvPr id="123" name="Google Shape;123;p50"/>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4" name="Google Shape;124;p50"/>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125" name="Google Shape;125;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
  <p:cSld name="4">
    <p:spTree>
      <p:nvGrpSpPr>
        <p:cNvPr id="1" name="Shape 126"/>
        <p:cNvGrpSpPr/>
        <p:nvPr/>
      </p:nvGrpSpPr>
      <p:grpSpPr>
        <a:xfrm>
          <a:off x="0" y="0"/>
          <a:ext cx="0" cy="0"/>
          <a:chOff x="0" y="0"/>
          <a:chExt cx="0" cy="0"/>
        </a:xfrm>
      </p:grpSpPr>
      <p:pic>
        <p:nvPicPr>
          <p:cNvPr id="127" name="Google Shape;127;p51" descr="A close up of a logo&#10;&#10;Description generated with high confidence"/>
          <p:cNvPicPr preferRelativeResize="0"/>
          <p:nvPr/>
        </p:nvPicPr>
        <p:blipFill rotWithShape="1">
          <a:blip r:embed="rId2">
            <a:alphaModFix/>
          </a:blip>
          <a:srcRect/>
          <a:stretch/>
        </p:blipFill>
        <p:spPr>
          <a:xfrm>
            <a:off x="7876800" y="183600"/>
            <a:ext cx="1022401" cy="766801"/>
          </a:xfrm>
          <a:prstGeom prst="rect">
            <a:avLst/>
          </a:prstGeom>
          <a:noFill/>
          <a:ln>
            <a:noFill/>
          </a:ln>
        </p:spPr>
      </p:pic>
      <p:pic>
        <p:nvPicPr>
          <p:cNvPr id="128" name="Google Shape;128;p51" descr="A picture containing colorful, colored&#10;&#10;Description generated with very high confidence"/>
          <p:cNvPicPr preferRelativeResize="0"/>
          <p:nvPr/>
        </p:nvPicPr>
        <p:blipFill rotWithShape="1">
          <a:blip r:embed="rId3">
            <a:alphaModFix/>
          </a:blip>
          <a:srcRect t="55603" b="37530"/>
          <a:stretch/>
        </p:blipFill>
        <p:spPr>
          <a:xfrm>
            <a:off x="0" y="4849200"/>
            <a:ext cx="9144000" cy="294300"/>
          </a:xfrm>
          <a:prstGeom prst="rect">
            <a:avLst/>
          </a:prstGeom>
          <a:noFill/>
          <a:ln>
            <a:noFill/>
          </a:ln>
        </p:spPr>
      </p:pic>
      <p:sp>
        <p:nvSpPr>
          <p:cNvPr id="129" name="Google Shape;129;p51"/>
          <p:cNvSpPr/>
          <p:nvPr/>
        </p:nvSpPr>
        <p:spPr>
          <a:xfrm>
            <a:off x="894683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0" name="Google Shape;130;p51"/>
          <p:cNvSpPr/>
          <p:nvPr/>
        </p:nvSpPr>
        <p:spPr>
          <a:xfrm>
            <a:off x="887040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1" name="Google Shape;131;p51"/>
          <p:cNvSpPr/>
          <p:nvPr/>
        </p:nvSpPr>
        <p:spPr>
          <a:xfrm>
            <a:off x="879397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
        <p:nvSpPr>
          <p:cNvPr id="132" name="Google Shape;132;p51"/>
          <p:cNvSpPr/>
          <p:nvPr/>
        </p:nvSpPr>
        <p:spPr>
          <a:xfrm>
            <a:off x="8717540" y="4943496"/>
            <a:ext cx="57600" cy="4320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3"/>
        <p:cNvGrpSpPr/>
        <p:nvPr/>
      </p:nvGrpSpPr>
      <p:grpSpPr>
        <a:xfrm>
          <a:off x="0" y="0"/>
          <a:ext cx="0" cy="0"/>
          <a:chOff x="0" y="0"/>
          <a:chExt cx="0" cy="0"/>
        </a:xfrm>
      </p:grpSpPr>
      <p:sp>
        <p:nvSpPr>
          <p:cNvPr id="134" name="Google Shape;134;g2f1834e442a_2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35" name="Google Shape;135;g2f1834e442a_2_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1.jpg"/><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image" Target="../media/image1.jpg"/><Relationship Id="rId5" Type="http://schemas.openxmlformats.org/officeDocument/2006/relationships/slideLayout" Target="../slideLayouts/slideLayout24.xml"/><Relationship Id="rId10" Type="http://schemas.openxmlformats.org/officeDocument/2006/relationships/theme" Target="../theme/theme3.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9" name="Google Shape;9;p24"/>
          <p:cNvPicPr preferRelativeResize="0"/>
          <p:nvPr/>
        </p:nvPicPr>
        <p:blipFill rotWithShape="1">
          <a:blip r:embed="rId13">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
        <p:cNvGrpSpPr/>
        <p:nvPr/>
      </p:nvGrpSpPr>
      <p:grpSpPr>
        <a:xfrm>
          <a:off x="0" y="0"/>
          <a:ext cx="0" cy="0"/>
          <a:chOff x="0" y="0"/>
          <a:chExt cx="0" cy="0"/>
        </a:xfrm>
      </p:grpSpPr>
      <p:sp>
        <p:nvSpPr>
          <p:cNvPr id="53" name="Google Shape;53;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4" name="Google Shape;54;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5" name="Google Shape;55;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56" name="Google Shape;56;p26"/>
          <p:cNvPicPr preferRelativeResize="0"/>
          <p:nvPr/>
        </p:nvPicPr>
        <p:blipFill rotWithShape="1">
          <a:blip r:embed="rId10">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90" name="Google Shape;90;p2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91" name="Google Shape;91;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pic>
        <p:nvPicPr>
          <p:cNvPr id="92" name="Google Shape;92;p29"/>
          <p:cNvPicPr preferRelativeResize="0"/>
          <p:nvPr/>
        </p:nvPicPr>
        <p:blipFill rotWithShape="1">
          <a:blip r:embed="rId11">
            <a:alphaModFix/>
          </a:blip>
          <a:srcRect/>
          <a:stretch/>
        </p:blipFill>
        <p:spPr>
          <a:xfrm>
            <a:off x="-1" y="7219"/>
            <a:ext cx="9144001"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orms.gle/UEMmeQcjPSFFMrMq6"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6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141" name="Google Shape;141;p6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142" name="Google Shape;142;p62"/>
          <p:cNvPicPr preferRelativeResize="0"/>
          <p:nvPr/>
        </p:nvPicPr>
        <p:blipFill rotWithShape="1">
          <a:blip r:embed="rId3">
            <a:alphaModFix/>
          </a:blip>
          <a:srcRect/>
          <a:stretch/>
        </p:blipFill>
        <p:spPr>
          <a:xfrm>
            <a:off x="2" y="4"/>
            <a:ext cx="9144003" cy="5143501"/>
          </a:xfrm>
          <a:prstGeom prst="rect">
            <a:avLst/>
          </a:prstGeom>
          <a:noFill/>
          <a:ln>
            <a:noFill/>
          </a:ln>
        </p:spPr>
      </p:pic>
      <p:pic>
        <p:nvPicPr>
          <p:cNvPr id="143" name="Google Shape;143;p62"/>
          <p:cNvPicPr preferRelativeResize="0"/>
          <p:nvPr/>
        </p:nvPicPr>
        <p:blipFill rotWithShape="1">
          <a:blip r:embed="rId4">
            <a:alphaModFix/>
          </a:blip>
          <a:srcRect/>
          <a:stretch/>
        </p:blipFill>
        <p:spPr>
          <a:xfrm>
            <a:off x="2504604" y="600291"/>
            <a:ext cx="4134799" cy="2923400"/>
          </a:xfrm>
          <a:prstGeom prst="rect">
            <a:avLst/>
          </a:prstGeom>
          <a:noFill/>
          <a:ln>
            <a:noFill/>
          </a:ln>
        </p:spPr>
      </p:pic>
      <p:pic>
        <p:nvPicPr>
          <p:cNvPr id="144" name="Google Shape;144;p62"/>
          <p:cNvPicPr preferRelativeResize="0"/>
          <p:nvPr/>
        </p:nvPicPr>
        <p:blipFill rotWithShape="1">
          <a:blip r:embed="rId5">
            <a:alphaModFix/>
          </a:blip>
          <a:srcRect/>
          <a:stretch/>
        </p:blipFill>
        <p:spPr>
          <a:xfrm>
            <a:off x="2200054" y="3386141"/>
            <a:ext cx="4743901" cy="1157050"/>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6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50" name="Google Shape;150;p6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151" name="Google Shape;151;p63"/>
          <p:cNvPicPr preferRelativeResize="0"/>
          <p:nvPr/>
        </p:nvPicPr>
        <p:blipFill rotWithShape="1">
          <a:blip r:embed="rId3">
            <a:alphaModFix/>
          </a:blip>
          <a:srcRect/>
          <a:stretch/>
        </p:blipFill>
        <p:spPr>
          <a:xfrm>
            <a:off x="2" y="4"/>
            <a:ext cx="9144003" cy="5143501"/>
          </a:xfrm>
          <a:prstGeom prst="rect">
            <a:avLst/>
          </a:prstGeom>
          <a:noFill/>
          <a:ln>
            <a:noFill/>
          </a:ln>
        </p:spPr>
      </p:pic>
      <p:sp>
        <p:nvSpPr>
          <p:cNvPr id="152" name="Google Shape;152;p63"/>
          <p:cNvSpPr txBox="1"/>
          <p:nvPr/>
        </p:nvSpPr>
        <p:spPr>
          <a:xfrm>
            <a:off x="0" y="1820805"/>
            <a:ext cx="4690800" cy="1169521"/>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3200" b="1" dirty="0">
                <a:solidFill>
                  <a:schemeClr val="lt1"/>
                </a:solidFill>
              </a:rPr>
              <a:t>Activity Selection Problem</a:t>
            </a:r>
            <a:endParaRPr lang="en-US" sz="3200" b="1" i="0" u="none" strike="noStrike" cap="none" dirty="0">
              <a:solidFill>
                <a:schemeClr val="lt1"/>
              </a:solidFill>
              <a:latin typeface="Arial"/>
              <a:ea typeface="Arial"/>
              <a:cs typeface="Arial"/>
              <a:sym typeface="Arial"/>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F4C01EA-8B63-6E2B-879A-032EEE86C4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0989" y="2571750"/>
            <a:ext cx="2462022" cy="17678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12C0394-AD4B-D1FE-3077-344E516743A7}"/>
              </a:ext>
            </a:extLst>
          </p:cNvPr>
          <p:cNvSpPr txBox="1"/>
          <p:nvPr/>
        </p:nvSpPr>
        <p:spPr>
          <a:xfrm>
            <a:off x="1432560" y="1508236"/>
            <a:ext cx="4572000" cy="738664"/>
          </a:xfrm>
          <a:prstGeom prst="rect">
            <a:avLst/>
          </a:prstGeom>
          <a:noFill/>
        </p:spPr>
        <p:txBody>
          <a:bodyPr wrap="square">
            <a:spAutoFit/>
          </a:bodyPr>
          <a:lstStyle/>
          <a:p>
            <a:pPr rtl="0">
              <a:spcBef>
                <a:spcPts val="0"/>
              </a:spcBef>
              <a:spcAft>
                <a:spcPts val="0"/>
              </a:spcAft>
            </a:pPr>
            <a:r>
              <a:rPr lang="en-IN" sz="1400" b="1" i="0" u="none" strike="noStrike" dirty="0">
                <a:solidFill>
                  <a:srgbClr val="000000"/>
                </a:solidFill>
                <a:effectLst/>
                <a:latin typeface="Roboto" panose="02000000000000000000" pitchFamily="2" charset="0"/>
              </a:rPr>
              <a:t>URL</a:t>
            </a:r>
            <a:r>
              <a:rPr lang="en-IN" sz="1400" b="1" i="0" u="none" strike="noStrike" dirty="0">
                <a:solidFill>
                  <a:srgbClr val="373737"/>
                </a:solidFill>
                <a:effectLst/>
                <a:latin typeface="Roboto" panose="02000000000000000000" pitchFamily="2" charset="0"/>
              </a:rPr>
              <a:t>:</a:t>
            </a:r>
            <a:r>
              <a:rPr lang="en-IN" sz="1400" b="1" i="0" u="sng" strike="noStrike" dirty="0">
                <a:solidFill>
                  <a:srgbClr val="0097A7"/>
                </a:solidFill>
                <a:effectLst/>
                <a:latin typeface="Roboto" panose="02000000000000000000" pitchFamily="2" charset="0"/>
                <a:hlinkClick r:id="rId3"/>
              </a:rPr>
              <a:t>https://forms.gle/UEMmeQcjPSFFMrMq6</a:t>
            </a:r>
            <a:endParaRPr lang="en-IN" b="0" dirty="0">
              <a:effectLst/>
            </a:endParaRPr>
          </a:p>
          <a:p>
            <a:br>
              <a:rPr lang="en-IN" b="0" dirty="0">
                <a:effectLst/>
              </a:rPr>
            </a:br>
            <a:r>
              <a:rPr lang="en-IN" sz="1400" b="1" i="0" u="none" strike="noStrike" dirty="0">
                <a:solidFill>
                  <a:srgbClr val="000000"/>
                </a:solidFill>
                <a:effectLst/>
                <a:latin typeface="Roboto" panose="02000000000000000000" pitchFamily="2" charset="0"/>
              </a:rPr>
              <a:t>QR CODE</a:t>
            </a:r>
            <a:r>
              <a:rPr lang="en-IN" sz="1400" b="1" i="0" u="none" strike="noStrike" dirty="0">
                <a:solidFill>
                  <a:srgbClr val="373737"/>
                </a:solidFill>
                <a:effectLst/>
                <a:latin typeface="Roboto" panose="02000000000000000000" pitchFamily="2" charset="0"/>
              </a:rPr>
              <a:t>:</a:t>
            </a:r>
            <a:endParaRPr lang="en-IN" dirty="0"/>
          </a:p>
        </p:txBody>
      </p:sp>
      <p:sp>
        <p:nvSpPr>
          <p:cNvPr id="7" name="TextBox 6">
            <a:extLst>
              <a:ext uri="{FF2B5EF4-FFF2-40B4-BE49-F238E27FC236}">
                <a16:creationId xmlns:a16="http://schemas.microsoft.com/office/drawing/2014/main" id="{4AE5E009-BB56-1B19-CA08-09128F7D44C4}"/>
              </a:ext>
            </a:extLst>
          </p:cNvPr>
          <p:cNvSpPr txBox="1"/>
          <p:nvPr/>
        </p:nvSpPr>
        <p:spPr>
          <a:xfrm>
            <a:off x="1969008" y="607147"/>
            <a:ext cx="4572000" cy="738664"/>
          </a:xfrm>
          <a:prstGeom prst="rect">
            <a:avLst/>
          </a:prstGeom>
          <a:noFill/>
        </p:spPr>
        <p:txBody>
          <a:bodyPr wrap="square">
            <a:spAutoFit/>
          </a:bodyPr>
          <a:lstStyle/>
          <a:p>
            <a:pPr algn="ctr" rtl="0">
              <a:spcBef>
                <a:spcPts val="0"/>
              </a:spcBef>
              <a:spcAft>
                <a:spcPts val="0"/>
              </a:spcAft>
            </a:pPr>
            <a:r>
              <a:rPr lang="en-US" sz="1400" b="1" i="0" u="none" strike="noStrike" dirty="0">
                <a:solidFill>
                  <a:srgbClr val="000000"/>
                </a:solidFill>
                <a:effectLst/>
                <a:latin typeface="Roboto" panose="02000000000000000000" pitchFamily="2" charset="0"/>
              </a:rPr>
              <a:t>                    TEST TIME ON KRUSKAL'S ALGORITHM</a:t>
            </a:r>
            <a:endParaRPr lang="en-US" b="0" dirty="0">
              <a:effectLst/>
            </a:endParaRPr>
          </a:p>
          <a:p>
            <a:br>
              <a:rPr lang="en-US" b="0" dirty="0">
                <a:effectLst/>
              </a:rPr>
            </a:br>
            <a:endParaRPr lang="en-IN" dirty="0"/>
          </a:p>
        </p:txBody>
      </p:sp>
    </p:spTree>
    <p:extLst>
      <p:ext uri="{BB962C8B-B14F-4D97-AF65-F5344CB8AC3E}">
        <p14:creationId xmlns:p14="http://schemas.microsoft.com/office/powerpoint/2010/main" val="1806525732"/>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
          <p:cNvSpPr txBox="1"/>
          <p:nvPr/>
        </p:nvSpPr>
        <p:spPr>
          <a:xfrm>
            <a:off x="3223032" y="291995"/>
            <a:ext cx="5220300"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GREEDY ALGORITHMS</a:t>
            </a:r>
            <a:endParaRPr sz="2100" b="0" i="0" u="none" strike="noStrike" cap="none" dirty="0">
              <a:solidFill>
                <a:srgbClr val="6D9EEB"/>
              </a:solidFill>
              <a:latin typeface="Roboto Black"/>
              <a:ea typeface="Roboto Black"/>
              <a:cs typeface="Roboto Black"/>
              <a:sym typeface="Roboto Black"/>
            </a:endParaRPr>
          </a:p>
        </p:txBody>
      </p:sp>
      <p:sp>
        <p:nvSpPr>
          <p:cNvPr id="4" name="TextBox 3">
            <a:extLst>
              <a:ext uri="{FF2B5EF4-FFF2-40B4-BE49-F238E27FC236}">
                <a16:creationId xmlns:a16="http://schemas.microsoft.com/office/drawing/2014/main" id="{92F1625C-5DB3-9322-34FE-FF638DFF0574}"/>
              </a:ext>
            </a:extLst>
          </p:cNvPr>
          <p:cNvSpPr txBox="1"/>
          <p:nvPr/>
        </p:nvSpPr>
        <p:spPr>
          <a:xfrm>
            <a:off x="600270" y="1002089"/>
            <a:ext cx="7943460" cy="3139321"/>
          </a:xfrm>
          <a:prstGeom prst="rect">
            <a:avLst/>
          </a:prstGeom>
          <a:noFill/>
        </p:spPr>
        <p:txBody>
          <a:bodyPr wrap="square">
            <a:spAutoFit/>
          </a:bodyPr>
          <a:lstStyle/>
          <a:p>
            <a:pPr marL="0" marR="0" lvl="0" indent="0" algn="just" rtl="0">
              <a:spcBef>
                <a:spcPts val="0"/>
              </a:spcBef>
              <a:spcAft>
                <a:spcPts val="0"/>
              </a:spcAft>
              <a:buClr>
                <a:schemeClr val="dk1"/>
              </a:buClr>
              <a:buSzPts val="2000"/>
              <a:buFont typeface="Arial"/>
              <a:buNone/>
            </a:pPr>
            <a:r>
              <a:rPr lang="en-US" sz="1600" dirty="0">
                <a:solidFill>
                  <a:schemeClr val="dk1"/>
                </a:solidFill>
                <a:latin typeface="Arial"/>
                <a:ea typeface="Arial"/>
                <a:cs typeface="Arial"/>
                <a:sym typeface="Arial"/>
              </a:rPr>
              <a:t>Introduction</a:t>
            </a:r>
          </a:p>
          <a:p>
            <a:pPr marL="0" marR="0" lvl="0" indent="0" algn="just" rtl="0">
              <a:spcBef>
                <a:spcPts val="0"/>
              </a:spcBef>
              <a:spcAft>
                <a:spcPts val="0"/>
              </a:spcAft>
              <a:buClr>
                <a:schemeClr val="dk1"/>
              </a:buClr>
              <a:buSzPts val="1800"/>
              <a:buFont typeface="Arial"/>
              <a:buNone/>
            </a:pPr>
            <a:endParaRPr lang="en-US" sz="1400" dirty="0">
              <a:solidFill>
                <a:schemeClr val="dk1"/>
              </a:solidFill>
              <a:latin typeface="Arial"/>
              <a:ea typeface="Arial"/>
              <a:cs typeface="Arial"/>
              <a:sym typeface="Arial"/>
            </a:endParaRPr>
          </a:p>
          <a:p>
            <a:pPr marL="0" marR="0" lvl="0" indent="0" algn="just" rtl="0">
              <a:spcBef>
                <a:spcPts val="0"/>
              </a:spcBef>
              <a:spcAft>
                <a:spcPts val="0"/>
              </a:spcAft>
              <a:buClr>
                <a:schemeClr val="dk1"/>
              </a:buClr>
              <a:buSzPts val="1800"/>
              <a:buFont typeface="Arial"/>
              <a:buNone/>
            </a:pPr>
            <a:r>
              <a:rPr lang="en-US" sz="1400" dirty="0">
                <a:solidFill>
                  <a:schemeClr val="dk1"/>
                </a:solidFill>
                <a:latin typeface="Arial"/>
                <a:ea typeface="Arial"/>
                <a:cs typeface="Arial"/>
                <a:sym typeface="Arial"/>
              </a:rPr>
              <a:t>A greedy algorithm is any algorithm that follows the problem-solving heuristic of making the locally optimal choice at each stage</a:t>
            </a:r>
          </a:p>
          <a:p>
            <a:pPr marL="0" marR="0" lvl="0" indent="0" algn="just" rtl="0">
              <a:spcBef>
                <a:spcPts val="0"/>
              </a:spcBef>
              <a:spcAft>
                <a:spcPts val="0"/>
              </a:spcAft>
              <a:buClr>
                <a:schemeClr val="dk1"/>
              </a:buClr>
              <a:buSzPts val="1800"/>
              <a:buFont typeface="Arial"/>
              <a:buNone/>
            </a:pPr>
            <a:endParaRPr lang="en-US" sz="1400" dirty="0">
              <a:solidFill>
                <a:schemeClr val="dk1"/>
              </a:solidFill>
              <a:latin typeface="Arial"/>
              <a:ea typeface="Arial"/>
              <a:cs typeface="Arial"/>
              <a:sym typeface="Arial"/>
            </a:endParaRPr>
          </a:p>
          <a:p>
            <a:pPr marL="0" marR="0" lvl="0" indent="0" algn="just" rtl="0">
              <a:spcBef>
                <a:spcPts val="0"/>
              </a:spcBef>
              <a:spcAft>
                <a:spcPts val="0"/>
              </a:spcAft>
              <a:buClr>
                <a:schemeClr val="dk1"/>
              </a:buClr>
              <a:buSzPts val="1800"/>
              <a:buFont typeface="Arial"/>
              <a:buNone/>
            </a:pPr>
            <a:r>
              <a:rPr lang="en-US" sz="1400" dirty="0">
                <a:solidFill>
                  <a:schemeClr val="dk1"/>
                </a:solidFill>
                <a:latin typeface="Arial"/>
                <a:ea typeface="Arial"/>
                <a:cs typeface="Arial"/>
                <a:sym typeface="Arial"/>
              </a:rPr>
              <a:t>In many problems, a greedy strategy does not produce an optimal solution, but a greedy heuristic can yield locally optimal solutions that approximate a globally optimal solution in a reasonable amount of time.</a:t>
            </a:r>
          </a:p>
          <a:p>
            <a:pPr marL="0" marR="0" lvl="0" indent="0" algn="just" rtl="0">
              <a:spcBef>
                <a:spcPts val="0"/>
              </a:spcBef>
              <a:spcAft>
                <a:spcPts val="0"/>
              </a:spcAft>
              <a:buClr>
                <a:schemeClr val="dk1"/>
              </a:buClr>
              <a:buSzPts val="1800"/>
              <a:buFont typeface="Arial"/>
              <a:buNone/>
            </a:pPr>
            <a:endParaRPr lang="en-US" sz="1400" dirty="0">
              <a:solidFill>
                <a:schemeClr val="dk1"/>
              </a:solidFill>
              <a:latin typeface="Arial"/>
              <a:ea typeface="Arial"/>
              <a:cs typeface="Arial"/>
              <a:sym typeface="Arial"/>
            </a:endParaRPr>
          </a:p>
          <a:p>
            <a:pPr marL="0" marR="0" lvl="0" indent="0" algn="just" rtl="0">
              <a:spcBef>
                <a:spcPts val="0"/>
              </a:spcBef>
              <a:spcAft>
                <a:spcPts val="0"/>
              </a:spcAft>
              <a:buClr>
                <a:schemeClr val="dk1"/>
              </a:buClr>
              <a:buSzPts val="1800"/>
              <a:buFont typeface="Arial"/>
              <a:buNone/>
            </a:pPr>
            <a:endParaRPr lang="en-US" sz="1400" dirty="0">
              <a:solidFill>
                <a:schemeClr val="dk1"/>
              </a:solidFill>
              <a:latin typeface="Arial"/>
              <a:ea typeface="Arial"/>
              <a:cs typeface="Arial"/>
              <a:sym typeface="Arial"/>
            </a:endParaRPr>
          </a:p>
          <a:p>
            <a:pPr marL="0" marR="0" lvl="0" indent="0" algn="just" rtl="0">
              <a:spcBef>
                <a:spcPts val="0"/>
              </a:spcBef>
              <a:spcAft>
                <a:spcPts val="0"/>
              </a:spcAft>
              <a:buClr>
                <a:schemeClr val="dk1"/>
              </a:buClr>
              <a:buSzPts val="1800"/>
              <a:buFont typeface="Arial"/>
              <a:buNone/>
            </a:pPr>
            <a:r>
              <a:rPr lang="en-US" sz="1400" dirty="0">
                <a:solidFill>
                  <a:schemeClr val="dk1"/>
                </a:solidFill>
                <a:latin typeface="Arial"/>
                <a:ea typeface="Arial"/>
                <a:cs typeface="Arial"/>
                <a:sym typeface="Arial"/>
              </a:rPr>
              <a:t>Example: In Travelling Sales Problem, the heuristic is "At each step of the journey, visit the nearest unvisited city." </a:t>
            </a:r>
          </a:p>
          <a:p>
            <a:pPr marL="0" marR="0" lvl="0" indent="0" algn="just" rtl="0">
              <a:spcBef>
                <a:spcPts val="0"/>
              </a:spcBef>
              <a:spcAft>
                <a:spcPts val="0"/>
              </a:spcAft>
              <a:buClr>
                <a:schemeClr val="dk1"/>
              </a:buClr>
              <a:buSzPts val="1800"/>
              <a:buFont typeface="Arial"/>
              <a:buNone/>
            </a:pPr>
            <a:endParaRPr lang="en-US" sz="1400" dirty="0">
              <a:solidFill>
                <a:schemeClr val="dk1"/>
              </a:solidFill>
              <a:latin typeface="Arial"/>
              <a:ea typeface="Arial"/>
              <a:cs typeface="Arial"/>
              <a:sym typeface="Arial"/>
            </a:endParaRPr>
          </a:p>
          <a:p>
            <a:pPr marL="0" marR="0" lvl="0" indent="0" algn="just" rtl="0">
              <a:spcBef>
                <a:spcPts val="0"/>
              </a:spcBef>
              <a:spcAft>
                <a:spcPts val="0"/>
              </a:spcAft>
              <a:buClr>
                <a:schemeClr val="dk1"/>
              </a:buClr>
              <a:buSzPts val="1800"/>
              <a:buFont typeface="Arial"/>
              <a:buNone/>
            </a:pPr>
            <a:r>
              <a:rPr lang="en-US" sz="1400" dirty="0">
                <a:solidFill>
                  <a:schemeClr val="dk1"/>
                </a:solidFill>
                <a:latin typeface="Arial"/>
                <a:ea typeface="Arial"/>
                <a:cs typeface="Arial"/>
                <a:sym typeface="Arial"/>
              </a:rPr>
              <a:t>This problem has unreasonably many steps and greedy approach limits them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3">
            <a:extLst>
              <a:ext uri="{FF2B5EF4-FFF2-40B4-BE49-F238E27FC236}">
                <a16:creationId xmlns:a16="http://schemas.microsoft.com/office/drawing/2014/main" id="{CA47ADFC-2EFF-6709-6E49-7B93DE8CAC39}"/>
              </a:ext>
            </a:extLst>
          </p:cNvPr>
          <p:cNvSpPr txBox="1"/>
          <p:nvPr/>
        </p:nvSpPr>
        <p:spPr>
          <a:xfrm>
            <a:off x="3223032" y="291995"/>
            <a:ext cx="5220300"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GREEDY ALGORITHMS</a:t>
            </a:r>
            <a:endParaRPr sz="2100" b="0" i="0" u="none" strike="noStrike" cap="none" dirty="0">
              <a:solidFill>
                <a:srgbClr val="6D9EEB"/>
              </a:solidFill>
              <a:latin typeface="Roboto Black"/>
              <a:ea typeface="Roboto Black"/>
              <a:cs typeface="Roboto Black"/>
              <a:sym typeface="Roboto Black"/>
            </a:endParaRPr>
          </a:p>
        </p:txBody>
      </p:sp>
      <p:sp>
        <p:nvSpPr>
          <p:cNvPr id="3" name="Google Shape;79;g257340a1c84_0_63">
            <a:extLst>
              <a:ext uri="{FF2B5EF4-FFF2-40B4-BE49-F238E27FC236}">
                <a16:creationId xmlns:a16="http://schemas.microsoft.com/office/drawing/2014/main" id="{D7A4C6D5-5E48-08E0-DECE-5A81A8BF0F00}"/>
              </a:ext>
            </a:extLst>
          </p:cNvPr>
          <p:cNvSpPr txBox="1"/>
          <p:nvPr/>
        </p:nvSpPr>
        <p:spPr>
          <a:xfrm>
            <a:off x="582930" y="895350"/>
            <a:ext cx="5106000" cy="4278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a:solidFill>
                  <a:schemeClr val="dk1"/>
                </a:solidFill>
                <a:latin typeface="Arial"/>
                <a:ea typeface="Arial"/>
                <a:cs typeface="Arial"/>
                <a:sym typeface="Arial"/>
              </a:rPr>
              <a:t>Example</a:t>
            </a:r>
            <a:endParaRPr sz="20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Greedy algorithms determine the minimum number of coins to give while making change.</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The image represents the steps most people would take to emulate a greedy algorithm to represent 36 cents using only coins with values {1, 5, 10, 20}. </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The coin of the highest value, less than the remaining change owed, is the local optimum.</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p:txBody>
      </p:sp>
      <p:pic>
        <p:nvPicPr>
          <p:cNvPr id="4" name="Google Shape;80;g257340a1c84_0_63">
            <a:extLst>
              <a:ext uri="{FF2B5EF4-FFF2-40B4-BE49-F238E27FC236}">
                <a16:creationId xmlns:a16="http://schemas.microsoft.com/office/drawing/2014/main" id="{1A21D230-8308-41D1-DAA8-DED157A05096}"/>
              </a:ext>
            </a:extLst>
          </p:cNvPr>
          <p:cNvPicPr preferRelativeResize="0"/>
          <p:nvPr/>
        </p:nvPicPr>
        <p:blipFill rotWithShape="1">
          <a:blip r:embed="rId2">
            <a:alphaModFix/>
          </a:blip>
          <a:srcRect/>
          <a:stretch/>
        </p:blipFill>
        <p:spPr>
          <a:xfrm>
            <a:off x="5688930" y="1721231"/>
            <a:ext cx="3148330" cy="2385694"/>
          </a:xfrm>
          <a:prstGeom prst="rect">
            <a:avLst/>
          </a:prstGeom>
          <a:noFill/>
          <a:ln>
            <a:noFill/>
          </a:ln>
        </p:spPr>
      </p:pic>
    </p:spTree>
    <p:extLst>
      <p:ext uri="{BB962C8B-B14F-4D97-AF65-F5344CB8AC3E}">
        <p14:creationId xmlns:p14="http://schemas.microsoft.com/office/powerpoint/2010/main" val="2221038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3">
            <a:extLst>
              <a:ext uri="{FF2B5EF4-FFF2-40B4-BE49-F238E27FC236}">
                <a16:creationId xmlns:a16="http://schemas.microsoft.com/office/drawing/2014/main" id="{CA47ADFC-2EFF-6709-6E49-7B93DE8CAC39}"/>
              </a:ext>
            </a:extLst>
          </p:cNvPr>
          <p:cNvSpPr txBox="1"/>
          <p:nvPr/>
        </p:nvSpPr>
        <p:spPr>
          <a:xfrm>
            <a:off x="3052344" y="291995"/>
            <a:ext cx="5220300"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GREEDY ALGORITHMS</a:t>
            </a:r>
            <a:endParaRPr sz="2100" b="0" i="0" u="none" strike="noStrike" cap="none" dirty="0">
              <a:solidFill>
                <a:srgbClr val="6D9EEB"/>
              </a:solidFill>
              <a:latin typeface="Roboto Black"/>
              <a:ea typeface="Roboto Black"/>
              <a:cs typeface="Roboto Black"/>
              <a:sym typeface="Roboto Black"/>
            </a:endParaRPr>
          </a:p>
        </p:txBody>
      </p:sp>
      <p:sp>
        <p:nvSpPr>
          <p:cNvPr id="3" name="Google Shape;88;g257340a1c84_0_127">
            <a:extLst>
              <a:ext uri="{FF2B5EF4-FFF2-40B4-BE49-F238E27FC236}">
                <a16:creationId xmlns:a16="http://schemas.microsoft.com/office/drawing/2014/main" id="{4F0A8200-F466-B418-B072-BF5AF9D03F05}"/>
              </a:ext>
            </a:extLst>
          </p:cNvPr>
          <p:cNvSpPr txBox="1"/>
          <p:nvPr/>
        </p:nvSpPr>
        <p:spPr>
          <a:xfrm>
            <a:off x="582930" y="956700"/>
            <a:ext cx="7745100" cy="4186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a:solidFill>
                  <a:schemeClr val="dk1"/>
                </a:solidFill>
                <a:latin typeface="Arial"/>
                <a:ea typeface="Arial"/>
                <a:cs typeface="Arial"/>
                <a:sym typeface="Arial"/>
              </a:rPr>
              <a:t>Properties</a:t>
            </a:r>
            <a:endParaRPr sz="20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Greedy Algorithm solves problems by making the best choice that seems best at the particular moment. </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A greedy algorithm works if a problem exhibits the following two properties:</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1. </a:t>
            </a:r>
            <a:r>
              <a:rPr lang="en-US" sz="1600" b="1" dirty="0">
                <a:solidFill>
                  <a:schemeClr val="dk1"/>
                </a:solidFill>
                <a:latin typeface="Arial"/>
                <a:ea typeface="Arial"/>
                <a:cs typeface="Arial"/>
                <a:sym typeface="Arial"/>
              </a:rPr>
              <a:t>Greedy Choice Property</a:t>
            </a:r>
            <a:r>
              <a:rPr lang="en-US" sz="1600" dirty="0">
                <a:solidFill>
                  <a:schemeClr val="dk1"/>
                </a:solidFill>
                <a:latin typeface="Arial"/>
                <a:ea typeface="Arial"/>
                <a:cs typeface="Arial"/>
                <a:sym typeface="Arial"/>
              </a:rPr>
              <a:t>: A globally optimal solution can be reached at by creating a locally optimal solution. In other words, an optimal solution can be obtained by creating "greedy" choices.</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2. </a:t>
            </a:r>
            <a:r>
              <a:rPr lang="en-US" sz="1600" b="1" dirty="0">
                <a:solidFill>
                  <a:schemeClr val="dk1"/>
                </a:solidFill>
                <a:latin typeface="Arial"/>
                <a:ea typeface="Arial"/>
                <a:cs typeface="Arial"/>
                <a:sym typeface="Arial"/>
              </a:rPr>
              <a:t>Optimal substructure</a:t>
            </a:r>
            <a:r>
              <a:rPr lang="en-US" sz="1600" dirty="0">
                <a:solidFill>
                  <a:schemeClr val="dk1"/>
                </a:solidFill>
                <a:latin typeface="Arial"/>
                <a:ea typeface="Arial"/>
                <a:cs typeface="Arial"/>
                <a:sym typeface="Arial"/>
              </a:rPr>
              <a:t>: Optimal solutions contain optimal </a:t>
            </a:r>
            <a:r>
              <a:rPr lang="en-US" sz="1600" dirty="0" err="1">
                <a:solidFill>
                  <a:schemeClr val="dk1"/>
                </a:solidFill>
                <a:latin typeface="Arial"/>
                <a:ea typeface="Arial"/>
                <a:cs typeface="Arial"/>
                <a:sym typeface="Arial"/>
              </a:rPr>
              <a:t>subsolutions</a:t>
            </a:r>
            <a:r>
              <a:rPr lang="en-US" sz="1600" dirty="0">
                <a:solidFill>
                  <a:schemeClr val="dk1"/>
                </a:solidFill>
                <a:latin typeface="Arial"/>
                <a:ea typeface="Arial"/>
                <a:cs typeface="Arial"/>
                <a:sym typeface="Arial"/>
              </a:rPr>
              <a:t>. In other words, answers to subproblems of an optimal solution are optimal.</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07108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3">
            <a:extLst>
              <a:ext uri="{FF2B5EF4-FFF2-40B4-BE49-F238E27FC236}">
                <a16:creationId xmlns:a16="http://schemas.microsoft.com/office/drawing/2014/main" id="{D06947FA-1640-22BA-D0BD-57FA3CA8F90A}"/>
              </a:ext>
            </a:extLst>
          </p:cNvPr>
          <p:cNvSpPr txBox="1"/>
          <p:nvPr/>
        </p:nvSpPr>
        <p:spPr>
          <a:xfrm>
            <a:off x="1961850" y="352955"/>
            <a:ext cx="5220300"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ACTIVITY SELECTION PROBLEM</a:t>
            </a:r>
            <a:endParaRPr sz="2100" b="0" i="0" u="none" strike="noStrike" cap="none" dirty="0">
              <a:solidFill>
                <a:srgbClr val="6D9EEB"/>
              </a:solidFill>
              <a:latin typeface="Roboto Black"/>
              <a:ea typeface="Roboto Black"/>
              <a:cs typeface="Roboto Black"/>
              <a:sym typeface="Roboto Black"/>
            </a:endParaRPr>
          </a:p>
        </p:txBody>
      </p:sp>
      <p:sp>
        <p:nvSpPr>
          <p:cNvPr id="3" name="Google Shape;96;g2572811727b_0_0">
            <a:extLst>
              <a:ext uri="{FF2B5EF4-FFF2-40B4-BE49-F238E27FC236}">
                <a16:creationId xmlns:a16="http://schemas.microsoft.com/office/drawing/2014/main" id="{87D64FEB-79E8-7B1D-FEE3-3A98CE8A22F5}"/>
              </a:ext>
            </a:extLst>
          </p:cNvPr>
          <p:cNvSpPr txBox="1"/>
          <p:nvPr/>
        </p:nvSpPr>
        <p:spPr>
          <a:xfrm>
            <a:off x="699450" y="931926"/>
            <a:ext cx="7745100" cy="372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a:solidFill>
                  <a:schemeClr val="dk1"/>
                </a:solidFill>
                <a:latin typeface="Arial"/>
                <a:ea typeface="Arial"/>
                <a:cs typeface="Arial"/>
                <a:sym typeface="Arial"/>
              </a:rPr>
              <a:t>Introduction</a:t>
            </a:r>
            <a:endParaRPr sz="20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Recap: At every step, we can make a choice that looks best at the moment, and we get the optimal solution of the complete problem. </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rgbClr val="000000"/>
              </a:buClr>
              <a:buSzPts val="1800"/>
              <a:buFont typeface="Arial"/>
              <a:buNone/>
            </a:pPr>
            <a:r>
              <a:rPr lang="en-US" sz="1800" dirty="0">
                <a:solidFill>
                  <a:srgbClr val="000000"/>
                </a:solidFill>
                <a:latin typeface="Arial"/>
                <a:ea typeface="Arial"/>
                <a:cs typeface="Arial"/>
                <a:sym typeface="Arial"/>
              </a:rPr>
              <a:t>Activity Selection Problem is a fine example of a Greedy Algorithm</a:t>
            </a:r>
            <a:endParaRPr sz="1800" dirty="0">
              <a:solidFill>
                <a:srgbClr val="000000"/>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800"/>
              <a:buFont typeface="Arial"/>
              <a:buNone/>
            </a:pPr>
            <a:r>
              <a:rPr lang="en-US" sz="1800" dirty="0">
                <a:solidFill>
                  <a:srgbClr val="000000"/>
                </a:solidFill>
                <a:latin typeface="Arial"/>
                <a:ea typeface="Arial"/>
                <a:cs typeface="Arial"/>
                <a:sym typeface="Arial"/>
              </a:rPr>
              <a:t>Problem Statement: You are given n activities with their start and finish times. Select the maximum number of activities that can be performed by a single person, assuming that a person can only work on a single activity at a time. </a:t>
            </a:r>
            <a:endParaRPr sz="1800" dirty="0">
              <a:solidFill>
                <a:srgbClr val="000000"/>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57798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3">
            <a:extLst>
              <a:ext uri="{FF2B5EF4-FFF2-40B4-BE49-F238E27FC236}">
                <a16:creationId xmlns:a16="http://schemas.microsoft.com/office/drawing/2014/main" id="{26DCD3D5-5E02-186B-8D99-01E5DCBB0E90}"/>
              </a:ext>
            </a:extLst>
          </p:cNvPr>
          <p:cNvSpPr txBox="1"/>
          <p:nvPr/>
        </p:nvSpPr>
        <p:spPr>
          <a:xfrm>
            <a:off x="1961850" y="352955"/>
            <a:ext cx="5220300"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ACTIVITY SELECTION PROBLEM</a:t>
            </a:r>
            <a:endParaRPr sz="2100" b="0" i="0" u="none" strike="noStrike" cap="none" dirty="0">
              <a:solidFill>
                <a:srgbClr val="6D9EEB"/>
              </a:solidFill>
              <a:latin typeface="Roboto Black"/>
              <a:ea typeface="Roboto Black"/>
              <a:cs typeface="Roboto Black"/>
              <a:sym typeface="Roboto Black"/>
            </a:endParaRPr>
          </a:p>
        </p:txBody>
      </p:sp>
      <p:sp>
        <p:nvSpPr>
          <p:cNvPr id="6" name="Google Shape;96;g2572811727b_0_0">
            <a:extLst>
              <a:ext uri="{FF2B5EF4-FFF2-40B4-BE49-F238E27FC236}">
                <a16:creationId xmlns:a16="http://schemas.microsoft.com/office/drawing/2014/main" id="{A65C8FCB-9FE4-0CD6-62C4-34A5812C0078}"/>
              </a:ext>
            </a:extLst>
          </p:cNvPr>
          <p:cNvSpPr txBox="1"/>
          <p:nvPr/>
        </p:nvSpPr>
        <p:spPr>
          <a:xfrm>
            <a:off x="699450" y="907542"/>
            <a:ext cx="7745100" cy="372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a:solidFill>
                  <a:schemeClr val="dk1"/>
                </a:solidFill>
                <a:latin typeface="Arial"/>
                <a:ea typeface="Arial"/>
                <a:cs typeface="Arial"/>
                <a:sym typeface="Arial"/>
              </a:rPr>
              <a:t>Introduction</a:t>
            </a:r>
            <a:endParaRPr sz="20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Recap: At every step, we can make a choice that looks best at the moment, and we get the optimal solution of the complete problem. </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rgbClr val="000000"/>
              </a:buClr>
              <a:buSzPts val="1800"/>
              <a:buFont typeface="Arial"/>
              <a:buNone/>
            </a:pPr>
            <a:r>
              <a:rPr lang="en-US" sz="1800" dirty="0">
                <a:solidFill>
                  <a:srgbClr val="000000"/>
                </a:solidFill>
                <a:latin typeface="Arial"/>
                <a:ea typeface="Arial"/>
                <a:cs typeface="Arial"/>
                <a:sym typeface="Arial"/>
              </a:rPr>
              <a:t>Activity Selection Problem is a fine example of a Greedy Algorithm</a:t>
            </a:r>
            <a:endParaRPr sz="1800" dirty="0">
              <a:solidFill>
                <a:srgbClr val="000000"/>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rgbClr val="000000"/>
              </a:solidFill>
              <a:latin typeface="Arial"/>
              <a:ea typeface="Arial"/>
              <a:cs typeface="Arial"/>
              <a:sym typeface="Arial"/>
            </a:endParaRPr>
          </a:p>
          <a:p>
            <a:pPr marL="0" marR="0" lvl="0" indent="0" algn="l" rtl="0">
              <a:spcBef>
                <a:spcPts val="0"/>
              </a:spcBef>
              <a:spcAft>
                <a:spcPts val="0"/>
              </a:spcAft>
              <a:buClr>
                <a:srgbClr val="000000"/>
              </a:buClr>
              <a:buSzPts val="1800"/>
              <a:buFont typeface="Arial"/>
              <a:buNone/>
            </a:pPr>
            <a:r>
              <a:rPr lang="en-US" sz="1800" dirty="0">
                <a:solidFill>
                  <a:srgbClr val="000000"/>
                </a:solidFill>
                <a:latin typeface="Arial"/>
                <a:ea typeface="Arial"/>
                <a:cs typeface="Arial"/>
                <a:sym typeface="Arial"/>
              </a:rPr>
              <a:t>Problem Statement: You are given n activities with their start and finish times. Select the maximum number of activities that can be performed by a single person, assuming that a person can only work on a single activity at a time. </a:t>
            </a:r>
            <a:endParaRPr sz="1800" dirty="0">
              <a:solidFill>
                <a:srgbClr val="000000"/>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70583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3">
            <a:extLst>
              <a:ext uri="{FF2B5EF4-FFF2-40B4-BE49-F238E27FC236}">
                <a16:creationId xmlns:a16="http://schemas.microsoft.com/office/drawing/2014/main" id="{26DCD3D5-5E02-186B-8D99-01E5DCBB0E90}"/>
              </a:ext>
            </a:extLst>
          </p:cNvPr>
          <p:cNvSpPr txBox="1"/>
          <p:nvPr/>
        </p:nvSpPr>
        <p:spPr>
          <a:xfrm>
            <a:off x="1961850" y="352955"/>
            <a:ext cx="5220300"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ACTIVITY SELECTION PROBLEM</a:t>
            </a:r>
            <a:endParaRPr sz="2100" b="0" i="0" u="none" strike="noStrike" cap="none" dirty="0">
              <a:solidFill>
                <a:srgbClr val="6D9EEB"/>
              </a:solidFill>
              <a:latin typeface="Roboto Black"/>
              <a:ea typeface="Roboto Black"/>
              <a:cs typeface="Roboto Black"/>
              <a:sym typeface="Roboto Black"/>
            </a:endParaRPr>
          </a:p>
        </p:txBody>
      </p:sp>
      <p:sp>
        <p:nvSpPr>
          <p:cNvPr id="3" name="Google Shape;104;g2572811727b_0_63">
            <a:extLst>
              <a:ext uri="{FF2B5EF4-FFF2-40B4-BE49-F238E27FC236}">
                <a16:creationId xmlns:a16="http://schemas.microsoft.com/office/drawing/2014/main" id="{D9A4EA6F-5F6A-ED67-F698-FFA954CD589A}"/>
              </a:ext>
            </a:extLst>
          </p:cNvPr>
          <p:cNvSpPr txBox="1"/>
          <p:nvPr/>
        </p:nvSpPr>
        <p:spPr>
          <a:xfrm>
            <a:off x="582930" y="895350"/>
            <a:ext cx="7745100" cy="1231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a:solidFill>
                  <a:schemeClr val="dk1"/>
                </a:solidFill>
                <a:latin typeface="Arial"/>
                <a:ea typeface="Arial"/>
                <a:cs typeface="Arial"/>
                <a:sym typeface="Arial"/>
              </a:rPr>
              <a:t>Examples</a:t>
            </a:r>
            <a:endParaRPr sz="20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Consider the following examples</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p:txBody>
      </p:sp>
      <p:sp>
        <p:nvSpPr>
          <p:cNvPr id="4" name="Google Shape;105;g2572811727b_0_63">
            <a:extLst>
              <a:ext uri="{FF2B5EF4-FFF2-40B4-BE49-F238E27FC236}">
                <a16:creationId xmlns:a16="http://schemas.microsoft.com/office/drawing/2014/main" id="{822A2294-FD9C-440F-5C42-4417F2994C6C}"/>
              </a:ext>
            </a:extLst>
          </p:cNvPr>
          <p:cNvSpPr txBox="1"/>
          <p:nvPr/>
        </p:nvSpPr>
        <p:spPr>
          <a:xfrm>
            <a:off x="741600" y="1849500"/>
            <a:ext cx="3830400" cy="329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Arial"/>
              <a:buNone/>
            </a:pPr>
            <a:r>
              <a:rPr lang="en-US" sz="1600" u="sng" dirty="0">
                <a:solidFill>
                  <a:schemeClr val="dk1"/>
                </a:solidFill>
                <a:latin typeface="Arial"/>
                <a:ea typeface="Arial"/>
                <a:cs typeface="Arial"/>
                <a:sym typeface="Arial"/>
              </a:rPr>
              <a:t>Input</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start[]  =  {10, 12, 20};</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finish[] =  {20, 25, 30};</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u="sng" dirty="0">
                <a:solidFill>
                  <a:schemeClr val="dk1"/>
                </a:solidFill>
                <a:latin typeface="Arial"/>
                <a:ea typeface="Arial"/>
                <a:cs typeface="Arial"/>
                <a:sym typeface="Arial"/>
              </a:rPr>
              <a:t>Output</a:t>
            </a:r>
            <a:endParaRPr sz="1600" u="sng"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{0,2}</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u="sng" dirty="0">
                <a:solidFill>
                  <a:schemeClr val="dk1"/>
                </a:solidFill>
                <a:latin typeface="Arial"/>
                <a:ea typeface="Arial"/>
                <a:cs typeface="Arial"/>
                <a:sym typeface="Arial"/>
              </a:rPr>
              <a:t>Explanation</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A person can perform at most two activities. The  maximum set of activities that can be executed is {0, 2} </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These are indexes in start[] and finish[] </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Arial"/>
              <a:ea typeface="Arial"/>
              <a:cs typeface="Arial"/>
              <a:sym typeface="Arial"/>
            </a:endParaRPr>
          </a:p>
        </p:txBody>
      </p:sp>
      <p:sp>
        <p:nvSpPr>
          <p:cNvPr id="5" name="Google Shape;106;g2572811727b_0_63">
            <a:extLst>
              <a:ext uri="{FF2B5EF4-FFF2-40B4-BE49-F238E27FC236}">
                <a16:creationId xmlns:a16="http://schemas.microsoft.com/office/drawing/2014/main" id="{3845EE7B-8C33-381F-0D56-74397C13892E}"/>
              </a:ext>
            </a:extLst>
          </p:cNvPr>
          <p:cNvSpPr txBox="1"/>
          <p:nvPr/>
        </p:nvSpPr>
        <p:spPr>
          <a:xfrm>
            <a:off x="4730670" y="1849500"/>
            <a:ext cx="4085100" cy="2801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Arial"/>
              <a:buNone/>
            </a:pPr>
            <a:r>
              <a:rPr lang="en-US" sz="1600" u="sng" dirty="0">
                <a:solidFill>
                  <a:schemeClr val="dk1"/>
                </a:solidFill>
                <a:latin typeface="Arial"/>
                <a:ea typeface="Arial"/>
                <a:cs typeface="Arial"/>
                <a:sym typeface="Arial"/>
              </a:rPr>
              <a:t>Input</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start[]  =  {1, 3, 0, 5, 8, 5};</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finish[] =  {2, 4, 6, 7, 9, 9};</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u="sng" dirty="0">
                <a:solidFill>
                  <a:schemeClr val="dk1"/>
                </a:solidFill>
                <a:latin typeface="Arial"/>
                <a:ea typeface="Arial"/>
                <a:cs typeface="Arial"/>
                <a:sym typeface="Arial"/>
              </a:rPr>
              <a:t>Output</a:t>
            </a:r>
            <a:endParaRPr sz="1600" u="sng"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{0, 1, 3, 4}</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u="sng" dirty="0">
                <a:solidFill>
                  <a:schemeClr val="dk1"/>
                </a:solidFill>
                <a:latin typeface="Arial"/>
                <a:ea typeface="Arial"/>
                <a:cs typeface="Arial"/>
                <a:sym typeface="Arial"/>
              </a:rPr>
              <a:t>Explanation</a:t>
            </a:r>
            <a:endParaRPr sz="16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600"/>
              <a:buFont typeface="Arial"/>
              <a:buNone/>
            </a:pPr>
            <a:r>
              <a:rPr lang="en-US" sz="1600" dirty="0">
                <a:solidFill>
                  <a:schemeClr val="dk1"/>
                </a:solidFill>
                <a:latin typeface="Arial"/>
                <a:ea typeface="Arial"/>
                <a:cs typeface="Arial"/>
                <a:sym typeface="Arial"/>
              </a:rPr>
              <a:t>A person can perform at most four activities. The maximum set of activities that can be executed is {0, 1, 3, 4}</a:t>
            </a:r>
            <a:endParaRPr sz="16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73694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3">
            <a:extLst>
              <a:ext uri="{FF2B5EF4-FFF2-40B4-BE49-F238E27FC236}">
                <a16:creationId xmlns:a16="http://schemas.microsoft.com/office/drawing/2014/main" id="{26DCD3D5-5E02-186B-8D99-01E5DCBB0E90}"/>
              </a:ext>
            </a:extLst>
          </p:cNvPr>
          <p:cNvSpPr txBox="1"/>
          <p:nvPr/>
        </p:nvSpPr>
        <p:spPr>
          <a:xfrm>
            <a:off x="1961850" y="352955"/>
            <a:ext cx="5220300"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ACTIVITY SELECTION PROBLEM</a:t>
            </a:r>
            <a:endParaRPr sz="2100" b="0" i="0" u="none" strike="noStrike" cap="none" dirty="0">
              <a:solidFill>
                <a:srgbClr val="6D9EEB"/>
              </a:solidFill>
              <a:latin typeface="Roboto Black"/>
              <a:ea typeface="Roboto Black"/>
              <a:cs typeface="Roboto Black"/>
              <a:sym typeface="Roboto Black"/>
            </a:endParaRPr>
          </a:p>
        </p:txBody>
      </p:sp>
      <p:sp>
        <p:nvSpPr>
          <p:cNvPr id="3" name="Google Shape;114;g2572811727b_0_128">
            <a:extLst>
              <a:ext uri="{FF2B5EF4-FFF2-40B4-BE49-F238E27FC236}">
                <a16:creationId xmlns:a16="http://schemas.microsoft.com/office/drawing/2014/main" id="{56E7BAF4-9DC3-0C26-850D-272C314C6A11}"/>
              </a:ext>
            </a:extLst>
          </p:cNvPr>
          <p:cNvSpPr txBox="1"/>
          <p:nvPr/>
        </p:nvSpPr>
        <p:spPr>
          <a:xfrm>
            <a:off x="582930" y="895350"/>
            <a:ext cx="7745100" cy="3447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dirty="0">
                <a:solidFill>
                  <a:schemeClr val="dk1"/>
                </a:solidFill>
                <a:latin typeface="Arial"/>
                <a:ea typeface="Arial"/>
                <a:cs typeface="Arial"/>
                <a:sym typeface="Arial"/>
              </a:rPr>
              <a:t>Algorithm</a:t>
            </a:r>
            <a:endParaRPr sz="20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The greedy choice is to always pick the next activity whose finish time is least among the remaining activities and the start time is more than or equal to the finish time of the previously selected activity.</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1) Sort the activities according to their finishing time </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2) Select the first activity from the sorted array and print it. </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3) Do the following for the remaining activities in the sorted array. </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r>
              <a:rPr lang="en-US" sz="1800" dirty="0">
                <a:solidFill>
                  <a:schemeClr val="dk1"/>
                </a:solidFill>
                <a:latin typeface="Arial"/>
                <a:ea typeface="Arial"/>
                <a:cs typeface="Arial"/>
                <a:sym typeface="Arial"/>
              </a:rPr>
              <a:t>	If the start time of this activity is greater than or equal to the finish time of the previously selected activity then select this activity and print it.</a:t>
            </a:r>
            <a:endParaRPr sz="18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4980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3">
            <a:extLst>
              <a:ext uri="{FF2B5EF4-FFF2-40B4-BE49-F238E27FC236}">
                <a16:creationId xmlns:a16="http://schemas.microsoft.com/office/drawing/2014/main" id="{26DCD3D5-5E02-186B-8D99-01E5DCBB0E90}"/>
              </a:ext>
            </a:extLst>
          </p:cNvPr>
          <p:cNvSpPr txBox="1"/>
          <p:nvPr/>
        </p:nvSpPr>
        <p:spPr>
          <a:xfrm>
            <a:off x="1961850" y="231035"/>
            <a:ext cx="4231686"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ACTIVITY SELECTION PROBLEM</a:t>
            </a:r>
            <a:endParaRPr sz="2100" b="0" i="0" u="none" strike="noStrike" cap="none" dirty="0">
              <a:solidFill>
                <a:srgbClr val="6D9EEB"/>
              </a:solidFill>
              <a:latin typeface="Roboto Black"/>
              <a:ea typeface="Roboto Black"/>
              <a:cs typeface="Roboto Black"/>
              <a:sym typeface="Roboto Black"/>
            </a:endParaRPr>
          </a:p>
        </p:txBody>
      </p:sp>
      <p:pic>
        <p:nvPicPr>
          <p:cNvPr id="3" name="Google Shape;122;g2572811727b_0_191">
            <a:extLst>
              <a:ext uri="{FF2B5EF4-FFF2-40B4-BE49-F238E27FC236}">
                <a16:creationId xmlns:a16="http://schemas.microsoft.com/office/drawing/2014/main" id="{532F8C75-51D1-7EC4-E17C-30A6537067FA}"/>
              </a:ext>
            </a:extLst>
          </p:cNvPr>
          <p:cNvPicPr preferRelativeResize="0"/>
          <p:nvPr/>
        </p:nvPicPr>
        <p:blipFill rotWithShape="1">
          <a:blip r:embed="rId2">
            <a:alphaModFix/>
          </a:blip>
          <a:srcRect/>
          <a:stretch/>
        </p:blipFill>
        <p:spPr>
          <a:xfrm>
            <a:off x="1670304" y="600942"/>
            <a:ext cx="6096000" cy="4542558"/>
          </a:xfrm>
          <a:prstGeom prst="rect">
            <a:avLst/>
          </a:prstGeom>
          <a:noFill/>
          <a:ln>
            <a:noFill/>
          </a:ln>
        </p:spPr>
      </p:pic>
    </p:spTree>
    <p:extLst>
      <p:ext uri="{BB962C8B-B14F-4D97-AF65-F5344CB8AC3E}">
        <p14:creationId xmlns:p14="http://schemas.microsoft.com/office/powerpoint/2010/main" val="4087751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3">
            <a:extLst>
              <a:ext uri="{FF2B5EF4-FFF2-40B4-BE49-F238E27FC236}">
                <a16:creationId xmlns:a16="http://schemas.microsoft.com/office/drawing/2014/main" id="{26DCD3D5-5E02-186B-8D99-01E5DCBB0E90}"/>
              </a:ext>
            </a:extLst>
          </p:cNvPr>
          <p:cNvSpPr txBox="1"/>
          <p:nvPr/>
        </p:nvSpPr>
        <p:spPr>
          <a:xfrm>
            <a:off x="1961850" y="352955"/>
            <a:ext cx="5220300"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ACTIVITY SELECTION PROBLEM</a:t>
            </a:r>
            <a:endParaRPr sz="2100" b="0" i="0" u="none" strike="noStrike" cap="none" dirty="0">
              <a:solidFill>
                <a:srgbClr val="6D9EEB"/>
              </a:solidFill>
              <a:latin typeface="Roboto Black"/>
              <a:ea typeface="Roboto Black"/>
              <a:cs typeface="Roboto Black"/>
              <a:sym typeface="Roboto Black"/>
            </a:endParaRPr>
          </a:p>
        </p:txBody>
      </p:sp>
      <p:sp>
        <p:nvSpPr>
          <p:cNvPr id="3" name="Google Shape;130;g2572811727b_0_254">
            <a:extLst>
              <a:ext uri="{FF2B5EF4-FFF2-40B4-BE49-F238E27FC236}">
                <a16:creationId xmlns:a16="http://schemas.microsoft.com/office/drawing/2014/main" id="{F4C18CC5-10F7-A0FA-4E71-280CC8481ABA}"/>
              </a:ext>
            </a:extLst>
          </p:cNvPr>
          <p:cNvSpPr txBox="1"/>
          <p:nvPr/>
        </p:nvSpPr>
        <p:spPr>
          <a:xfrm>
            <a:off x="582900" y="816888"/>
            <a:ext cx="7978200" cy="4032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Program</a:t>
            </a:r>
            <a:endParaRPr sz="2000"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Activities are sorted here</a:t>
            </a:r>
            <a:endParaRPr sz="1800" dirty="0">
              <a:solidFill>
                <a:schemeClr val="dk1"/>
              </a:solidFill>
              <a:latin typeface="Arial"/>
              <a:ea typeface="Arial"/>
              <a:cs typeface="Arial"/>
              <a:sym typeface="Arial"/>
            </a:endParaRPr>
          </a:p>
          <a:p>
            <a:pPr marL="0" marR="0" lvl="0" indent="0" algn="l" rtl="0">
              <a:spcBef>
                <a:spcPts val="0"/>
              </a:spcBef>
              <a:spcAft>
                <a:spcPts val="0"/>
              </a:spcAft>
              <a:buNone/>
            </a:pPr>
            <a:endParaRPr sz="2400" u="sng" dirty="0">
              <a:solidFill>
                <a:schemeClr val="dk1"/>
              </a:solidFill>
              <a:latin typeface="Arial"/>
              <a:ea typeface="Arial"/>
              <a:cs typeface="Arial"/>
              <a:sym typeface="Arial"/>
            </a:endParaRPr>
          </a:p>
          <a:p>
            <a:pPr marL="0" marR="0" lvl="0" indent="0" algn="l" rtl="0">
              <a:spcBef>
                <a:spcPts val="0"/>
              </a:spcBef>
              <a:spcAft>
                <a:spcPts val="0"/>
              </a:spcAft>
              <a:buNone/>
            </a:pPr>
            <a:r>
              <a:rPr lang="en-US" sz="1800" u="sng" dirty="0">
                <a:solidFill>
                  <a:schemeClr val="dk1"/>
                </a:solidFill>
                <a:latin typeface="Arial"/>
                <a:ea typeface="Arial"/>
                <a:cs typeface="Arial"/>
                <a:sym typeface="Arial"/>
              </a:rPr>
              <a:t>Sample IO</a:t>
            </a:r>
            <a:endParaRPr sz="1800" u="sng" dirty="0">
              <a:solidFill>
                <a:schemeClr val="dk1"/>
              </a:solidFill>
              <a:latin typeface="Arial"/>
              <a:ea typeface="Arial"/>
              <a:cs typeface="Arial"/>
              <a:sym typeface="Arial"/>
            </a:endParaRPr>
          </a:p>
          <a:p>
            <a:pPr marL="0" marR="0" lvl="0" indent="0" algn="l" rtl="0">
              <a:spcBef>
                <a:spcPts val="0"/>
              </a:spcBef>
              <a:spcAft>
                <a:spcPts val="0"/>
              </a:spcAft>
              <a:buNone/>
            </a:pPr>
            <a:r>
              <a:rPr lang="en-US" sz="1600" u="sng" dirty="0">
                <a:solidFill>
                  <a:schemeClr val="dk1"/>
                </a:solidFill>
                <a:latin typeface="Arial"/>
                <a:ea typeface="Arial"/>
                <a:cs typeface="Arial"/>
                <a:sym typeface="Arial"/>
              </a:rPr>
              <a:t>Input</a:t>
            </a:r>
            <a:endParaRPr sz="1600" u="sng"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start = {1, 3, 0, 5, 8, 5};</a:t>
            </a: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end = {2, 4, 6, 7, 9, 9};</a:t>
            </a:r>
            <a:endParaRPr sz="1600" dirty="0">
              <a:solidFill>
                <a:schemeClr val="dk1"/>
              </a:solidFill>
              <a:latin typeface="Arial"/>
              <a:ea typeface="Arial"/>
              <a:cs typeface="Arial"/>
              <a:sym typeface="Arial"/>
            </a:endParaRPr>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u="sng" dirty="0">
                <a:solidFill>
                  <a:schemeClr val="dk1"/>
                </a:solidFill>
                <a:latin typeface="Arial"/>
                <a:ea typeface="Arial"/>
                <a:cs typeface="Arial"/>
                <a:sym typeface="Arial"/>
              </a:rPr>
              <a:t>Output</a:t>
            </a:r>
            <a:endParaRPr sz="1600" u="sng"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0 1 3 4 </a:t>
            </a:r>
            <a:endParaRPr sz="1600" dirty="0">
              <a:solidFill>
                <a:schemeClr val="dk1"/>
              </a:solidFill>
              <a:latin typeface="Arial"/>
              <a:ea typeface="Arial"/>
              <a:cs typeface="Arial"/>
              <a:sym typeface="Arial"/>
            </a:endParaRPr>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0" marR="0" lvl="0" indent="0" algn="l" rtl="0">
              <a:spcBef>
                <a:spcPts val="0"/>
              </a:spcBef>
              <a:spcAft>
                <a:spcPts val="0"/>
              </a:spcAft>
              <a:buNone/>
            </a:pPr>
            <a:r>
              <a:rPr lang="en-US" sz="1600" dirty="0">
                <a:solidFill>
                  <a:schemeClr val="dk1"/>
                </a:solidFill>
                <a:latin typeface="Arial"/>
                <a:ea typeface="Arial"/>
                <a:cs typeface="Arial"/>
                <a:sym typeface="Arial"/>
              </a:rPr>
              <a:t>Time Complexity: O(n)</a:t>
            </a:r>
            <a:endParaRPr sz="1600" dirty="0">
              <a:solidFill>
                <a:schemeClr val="dk1"/>
              </a:solidFill>
              <a:latin typeface="Arial"/>
              <a:ea typeface="Arial"/>
              <a:cs typeface="Arial"/>
              <a:sym typeface="Arial"/>
            </a:endParaRPr>
          </a:p>
          <a:p>
            <a:pPr marL="0" marR="0" lvl="0" indent="0" algn="l" rtl="0">
              <a:spcBef>
                <a:spcPts val="0"/>
              </a:spcBef>
              <a:spcAft>
                <a:spcPts val="0"/>
              </a:spcAft>
              <a:buNone/>
            </a:pPr>
            <a:endParaRPr sz="1600" dirty="0">
              <a:solidFill>
                <a:schemeClr val="dk1"/>
              </a:solidFill>
              <a:latin typeface="Arial"/>
              <a:ea typeface="Arial"/>
              <a:cs typeface="Arial"/>
              <a:sym typeface="Arial"/>
            </a:endParaRPr>
          </a:p>
          <a:p>
            <a:pPr marL="342900" marR="0" lvl="0" indent="-342900" algn="l" rtl="0">
              <a:spcBef>
                <a:spcPts val="0"/>
              </a:spcBef>
              <a:spcAft>
                <a:spcPts val="0"/>
              </a:spcAft>
              <a:buNone/>
            </a:pPr>
            <a:endParaRPr sz="14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70208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57;p3">
            <a:extLst>
              <a:ext uri="{FF2B5EF4-FFF2-40B4-BE49-F238E27FC236}">
                <a16:creationId xmlns:a16="http://schemas.microsoft.com/office/drawing/2014/main" id="{0D4873F5-2ACD-FDCD-9F43-4DD51848D8EC}"/>
              </a:ext>
            </a:extLst>
          </p:cNvPr>
          <p:cNvSpPr txBox="1"/>
          <p:nvPr/>
        </p:nvSpPr>
        <p:spPr>
          <a:xfrm>
            <a:off x="2351994" y="316379"/>
            <a:ext cx="5220300" cy="46393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3500"/>
              <a:buFont typeface="Arial"/>
              <a:buNone/>
            </a:pPr>
            <a:r>
              <a:rPr lang="en-IN" sz="2100" b="0" i="0" u="none" strike="noStrike" cap="none" dirty="0">
                <a:solidFill>
                  <a:srgbClr val="6D9EEB"/>
                </a:solidFill>
                <a:latin typeface="Roboto Black"/>
                <a:ea typeface="Roboto Black"/>
                <a:cs typeface="Roboto Black"/>
                <a:sym typeface="Roboto Black"/>
              </a:rPr>
              <a:t>ACTIVITY SELECTION PROBLEM</a:t>
            </a:r>
            <a:endParaRPr sz="2100" b="0" i="0" u="none" strike="noStrike" cap="none" dirty="0">
              <a:solidFill>
                <a:srgbClr val="6D9EEB"/>
              </a:solidFill>
              <a:latin typeface="Roboto Black"/>
              <a:ea typeface="Roboto Black"/>
              <a:cs typeface="Roboto Black"/>
              <a:sym typeface="Roboto Black"/>
            </a:endParaRPr>
          </a:p>
        </p:txBody>
      </p:sp>
      <p:graphicFrame>
        <p:nvGraphicFramePr>
          <p:cNvPr id="4" name="Google Shape;139;g2572811727b_0_317">
            <a:extLst>
              <a:ext uri="{FF2B5EF4-FFF2-40B4-BE49-F238E27FC236}">
                <a16:creationId xmlns:a16="http://schemas.microsoft.com/office/drawing/2014/main" id="{BBA8A805-2CF5-77F9-0ABF-C4F16EF5B28D}"/>
              </a:ext>
            </a:extLst>
          </p:cNvPr>
          <p:cNvGraphicFramePr/>
          <p:nvPr>
            <p:extLst>
              <p:ext uri="{D42A27DB-BD31-4B8C-83A1-F6EECF244321}">
                <p14:modId xmlns:p14="http://schemas.microsoft.com/office/powerpoint/2010/main" val="471850140"/>
              </p:ext>
            </p:extLst>
          </p:nvPr>
        </p:nvGraphicFramePr>
        <p:xfrm>
          <a:off x="275100" y="767209"/>
          <a:ext cx="8593800" cy="4304725"/>
        </p:xfrm>
        <a:graphic>
          <a:graphicData uri="http://schemas.openxmlformats.org/drawingml/2006/table">
            <a:tbl>
              <a:tblPr firstRow="1" bandRow="1">
                <a:tableStyleId>{5940675A-B579-460E-94D1-54222C63F5DA}</a:tableStyleId>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4304725">
                <a:tc>
                  <a:txBody>
                    <a:bodyPr/>
                    <a:lstStyle/>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import java.io.*;</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import java.lang.*;</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import java.util.*;</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class ActivitySelection {</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	public static void printMaxActivities(int s[], int f[],int n)	{</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		int i, j;</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		System.out.println(</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            "Following activities are selected");</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		i = 0;</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		System.out.print(i + " ");</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		for (j = 1; j &lt; n; j++) {</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a:solidFill>
                            <a:schemeClr val="dk1"/>
                          </a:solidFill>
                          <a:sym typeface="Consolas"/>
                        </a:rPr>
                        <a:t>		if (s[j] &gt;= f[i]) {</a:t>
                      </a:r>
                      <a:endParaRPr sz="1500" b="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endParaRPr sz="1500" b="0">
                        <a:solidFill>
                          <a:schemeClr val="dk1"/>
                        </a:solidFill>
                        <a:sym typeface="Consolas"/>
                      </a:endParaRPr>
                    </a:p>
                    <a:p>
                      <a:pPr marL="0" marR="0" lvl="0" indent="0" algn="l" rtl="0">
                        <a:lnSpc>
                          <a:spcPct val="100000"/>
                        </a:lnSpc>
                        <a:spcBef>
                          <a:spcPts val="0"/>
                        </a:spcBef>
                        <a:spcAft>
                          <a:spcPts val="0"/>
                        </a:spcAft>
                        <a:buClr>
                          <a:srgbClr val="000000"/>
                        </a:buClr>
                        <a:buSzPts val="1100"/>
                        <a:buFont typeface="Arial"/>
                        <a:buNone/>
                      </a:pPr>
                      <a:endParaRPr sz="1500" b="0">
                        <a:solidFill>
                          <a:schemeClr val="dk1"/>
                        </a:solidFill>
                        <a:latin typeface="Consolas"/>
                        <a:ea typeface="Consolas"/>
                        <a:cs typeface="Consolas"/>
                        <a:sym typeface="Consolas"/>
                      </a:endParaRPr>
                    </a:p>
                  </a:txBody>
                  <a:tcPr marL="91450" marR="91450" marT="45725" marB="45725"/>
                </a:tc>
                <a:tc>
                  <a:txBody>
                    <a:bodyPr/>
                    <a:lstStyle/>
                    <a:p>
                      <a:pPr marL="0" lvl="0" indent="0" algn="l" rtl="0">
                        <a:spcBef>
                          <a:spcPts val="0"/>
                        </a:spcBef>
                        <a:spcAft>
                          <a:spcPts val="0"/>
                        </a:spcAft>
                        <a:buClr>
                          <a:schemeClr val="dk1"/>
                        </a:buClr>
                        <a:buSzPts val="1100"/>
                        <a:buFont typeface="Arial"/>
                        <a:buNone/>
                      </a:pPr>
                      <a:r>
                        <a:rPr lang="en-US" sz="1500" b="0" dirty="0" err="1">
                          <a:solidFill>
                            <a:schemeClr val="dk1"/>
                          </a:solidFill>
                          <a:sym typeface="Consolas"/>
                        </a:rPr>
                        <a:t>System.out.print</a:t>
                      </a:r>
                      <a:r>
                        <a:rPr lang="en-US" sz="1500" b="0" dirty="0">
                          <a:solidFill>
                            <a:schemeClr val="dk1"/>
                          </a:solidFill>
                          <a:sym typeface="Consolas"/>
                        </a:rPr>
                        <a:t>(j + " ");</a:t>
                      </a:r>
                      <a:endParaRPr sz="1500" b="0" dirty="0">
                        <a:solidFill>
                          <a:schemeClr val="dk1"/>
                        </a:solidFill>
                        <a:sym typeface="Consolas"/>
                      </a:endParaRPr>
                    </a:p>
                    <a:p>
                      <a:pPr marL="0" lvl="0" indent="0" algn="l" rtl="0">
                        <a:spcBef>
                          <a:spcPts val="0"/>
                        </a:spcBef>
                        <a:spcAft>
                          <a:spcPts val="0"/>
                        </a:spcAft>
                        <a:buClr>
                          <a:schemeClr val="dk1"/>
                        </a:buClr>
                        <a:buSzPts val="1100"/>
                        <a:buFont typeface="Arial"/>
                        <a:buNone/>
                      </a:pPr>
                      <a:r>
                        <a:rPr lang="en-US" sz="1500" b="0" dirty="0">
                          <a:solidFill>
                            <a:schemeClr val="dk1"/>
                          </a:solidFill>
                          <a:sym typeface="Consolas"/>
                        </a:rPr>
                        <a:t>	</a:t>
                      </a:r>
                      <a:r>
                        <a:rPr lang="en-US" sz="1500" b="0" dirty="0" err="1">
                          <a:solidFill>
                            <a:schemeClr val="dk1"/>
                          </a:solidFill>
                          <a:sym typeface="Consolas"/>
                        </a:rPr>
                        <a:t>i</a:t>
                      </a:r>
                      <a:r>
                        <a:rPr lang="en-US" sz="1500" b="0" dirty="0">
                          <a:solidFill>
                            <a:schemeClr val="dk1"/>
                          </a:solidFill>
                          <a:sym typeface="Consolas"/>
                        </a:rPr>
                        <a:t> = j;</a:t>
                      </a:r>
                      <a:endParaRPr sz="1500" b="0" dirty="0">
                        <a:solidFill>
                          <a:schemeClr val="dk1"/>
                        </a:solidFill>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sym typeface="Consolas"/>
                        </a:rPr>
                        <a:t>			}</a:t>
                      </a:r>
                      <a:r>
                        <a:rPr lang="en-US" sz="1500" b="0" dirty="0">
                          <a:solidFill>
                            <a:schemeClr val="dk1"/>
                          </a:solidFill>
                          <a:highlight>
                            <a:schemeClr val="lt1"/>
                          </a:highlight>
                          <a:sym typeface="Consolas"/>
                        </a:rPr>
                        <a:t>}</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highlight>
                            <a:schemeClr val="lt1"/>
                          </a:highlight>
                          <a:sym typeface="Consolas"/>
                        </a:rPr>
                        <a:t>	}</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highlight>
                            <a:schemeClr val="lt1"/>
                          </a:highlight>
                          <a:sym typeface="Consolas"/>
                        </a:rPr>
                        <a:t>  public static void main(String[] </a:t>
                      </a:r>
                      <a:r>
                        <a:rPr lang="en-US" sz="1500" b="0" dirty="0" err="1">
                          <a:solidFill>
                            <a:schemeClr val="dk1"/>
                          </a:solidFill>
                          <a:highlight>
                            <a:schemeClr val="lt1"/>
                          </a:highlight>
                          <a:sym typeface="Consolas"/>
                        </a:rPr>
                        <a:t>args</a:t>
                      </a:r>
                      <a:r>
                        <a:rPr lang="en-US" sz="1500" b="0" dirty="0">
                          <a:solidFill>
                            <a:schemeClr val="dk1"/>
                          </a:solidFill>
                          <a:highlight>
                            <a:schemeClr val="lt1"/>
                          </a:highlight>
                          <a:sym typeface="Consolas"/>
                        </a:rPr>
                        <a:t>)</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highlight>
                            <a:schemeClr val="lt1"/>
                          </a:highlight>
                          <a:sym typeface="Consolas"/>
                        </a:rPr>
                        <a:t>	{</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highlight>
                            <a:schemeClr val="lt1"/>
                          </a:highlight>
                          <a:sym typeface="Consolas"/>
                        </a:rPr>
                        <a:t>	int s[] = { 1, 3, 0, 5, 8, 5 };</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highlight>
                            <a:schemeClr val="lt1"/>
                          </a:highlight>
                          <a:sym typeface="Consolas"/>
                        </a:rPr>
                        <a:t>	int f[] = { 2, 4, 6, 7, 9, 9 };</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highlight>
                            <a:schemeClr val="lt1"/>
                          </a:highlight>
                          <a:sym typeface="Consolas"/>
                        </a:rPr>
                        <a:t>	int n = </a:t>
                      </a:r>
                      <a:r>
                        <a:rPr lang="en-US" sz="1500" b="0" dirty="0" err="1">
                          <a:solidFill>
                            <a:schemeClr val="dk1"/>
                          </a:solidFill>
                          <a:highlight>
                            <a:schemeClr val="lt1"/>
                          </a:highlight>
                          <a:sym typeface="Consolas"/>
                        </a:rPr>
                        <a:t>s.length</a:t>
                      </a:r>
                      <a:r>
                        <a:rPr lang="en-US" sz="1500" b="0" dirty="0">
                          <a:solidFill>
                            <a:schemeClr val="dk1"/>
                          </a:solidFill>
                          <a:highlight>
                            <a:schemeClr val="lt1"/>
                          </a:highlight>
                          <a:sym typeface="Consolas"/>
                        </a:rPr>
                        <a:t>;</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highlight>
                            <a:schemeClr val="lt1"/>
                          </a:highlight>
                          <a:sym typeface="Consolas"/>
                        </a:rPr>
                        <a:t>		</a:t>
                      </a:r>
                      <a:r>
                        <a:rPr lang="en-US" sz="1500" b="0" dirty="0" err="1">
                          <a:solidFill>
                            <a:schemeClr val="dk1"/>
                          </a:solidFill>
                          <a:highlight>
                            <a:schemeClr val="lt1"/>
                          </a:highlight>
                          <a:sym typeface="Consolas"/>
                        </a:rPr>
                        <a:t>printMaxActivities</a:t>
                      </a:r>
                      <a:r>
                        <a:rPr lang="en-US" sz="1500" b="0" dirty="0">
                          <a:solidFill>
                            <a:schemeClr val="dk1"/>
                          </a:solidFill>
                          <a:highlight>
                            <a:schemeClr val="lt1"/>
                          </a:highlight>
                          <a:sym typeface="Consolas"/>
                        </a:rPr>
                        <a:t>(s, f, n);</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highlight>
                            <a:schemeClr val="lt1"/>
                          </a:highlight>
                          <a:sym typeface="Consolas"/>
                        </a:rPr>
                        <a:t>	}</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r>
                        <a:rPr lang="en-US" sz="1500" b="0" dirty="0">
                          <a:solidFill>
                            <a:schemeClr val="dk1"/>
                          </a:solidFill>
                          <a:highlight>
                            <a:schemeClr val="lt1"/>
                          </a:highlight>
                          <a:sym typeface="Consolas"/>
                        </a:rPr>
                        <a:t>}</a:t>
                      </a: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chemeClr val="dk1"/>
                        </a:buClr>
                        <a:buSzPts val="1100"/>
                        <a:buFont typeface="Arial"/>
                        <a:buNone/>
                      </a:pPr>
                      <a:endParaRPr sz="1500" b="0" dirty="0">
                        <a:solidFill>
                          <a:schemeClr val="dk1"/>
                        </a:solidFill>
                        <a:highlight>
                          <a:schemeClr val="lt1"/>
                        </a:highlight>
                        <a:sym typeface="Consolas"/>
                      </a:endParaRPr>
                    </a:p>
                    <a:p>
                      <a:pPr marL="0" marR="0" lvl="0" indent="0" algn="l" rtl="0">
                        <a:lnSpc>
                          <a:spcPct val="100000"/>
                        </a:lnSpc>
                        <a:spcBef>
                          <a:spcPts val="0"/>
                        </a:spcBef>
                        <a:spcAft>
                          <a:spcPts val="0"/>
                        </a:spcAft>
                        <a:buClr>
                          <a:srgbClr val="000000"/>
                        </a:buClr>
                        <a:buSzPts val="1400"/>
                        <a:buFont typeface="Arial"/>
                        <a:buNone/>
                      </a:pPr>
                      <a:endParaRPr sz="1500" b="0" dirty="0">
                        <a:solidFill>
                          <a:schemeClr val="dk1"/>
                        </a:solidFill>
                        <a:highlight>
                          <a:schemeClr val="lt1"/>
                        </a:highlight>
                        <a:latin typeface="Consolas"/>
                        <a:ea typeface="Consolas"/>
                        <a:cs typeface="Consolas"/>
                        <a:sym typeface="Consolas"/>
                      </a:endParaRPr>
                    </a:p>
                  </a:txBody>
                  <a:tcPr marL="91450" marR="91450" marT="45725" marB="45725"/>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879783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6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462" name="Google Shape;462;p6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463" name="Google Shape;463;p65"/>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464" name="Google Shape;464;p65"/>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700"/>
              <a:buFont typeface="Arial"/>
              <a:buNone/>
            </a:pPr>
            <a:r>
              <a:rPr lang="en-IN" sz="3700" b="0" i="0" u="none" strike="noStrike" cap="none">
                <a:solidFill>
                  <a:schemeClr val="lt1"/>
                </a:solidFill>
                <a:latin typeface="Roboto"/>
                <a:ea typeface="Roboto"/>
                <a:cs typeface="Roboto"/>
                <a:sym typeface="Roboto"/>
              </a:rPr>
              <a:t>THANK YOU</a:t>
            </a:r>
            <a:endParaRPr sz="3700" b="0" i="0" u="none" strike="noStrike" cap="none">
              <a:solidFill>
                <a:schemeClr val="lt1"/>
              </a:solidFill>
              <a:latin typeface="Roboto"/>
              <a:ea typeface="Roboto"/>
              <a:cs typeface="Roboto"/>
              <a:sym typeface="Roboto"/>
            </a:endParaRPr>
          </a:p>
        </p:txBody>
      </p:sp>
      <p:pic>
        <p:nvPicPr>
          <p:cNvPr id="465" name="Google Shape;465;p65"/>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466" name="Google Shape;466;p65"/>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467" name="Google Shape;467;p65"/>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+91 78150 95095</a:t>
            </a:r>
            <a:endParaRPr sz="1000" b="0" i="0" u="none" strike="noStrike" cap="none">
              <a:solidFill>
                <a:schemeClr val="lt1"/>
              </a:solidFill>
              <a:latin typeface="Roboto"/>
              <a:ea typeface="Roboto"/>
              <a:cs typeface="Roboto"/>
              <a:sym typeface="Roboto"/>
            </a:endParaRPr>
          </a:p>
        </p:txBody>
      </p:sp>
      <p:cxnSp>
        <p:nvCxnSpPr>
          <p:cNvPr id="468" name="Google Shape;468;p65"/>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469" name="Google Shape;469;p65"/>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codemithra@ethnus.com</a:t>
            </a:r>
            <a:endParaRPr sz="1000" b="0" i="0" u="none" strike="noStrike" cap="none">
              <a:solidFill>
                <a:schemeClr val="lt1"/>
              </a:solidFill>
              <a:latin typeface="Roboto"/>
              <a:ea typeface="Roboto"/>
              <a:cs typeface="Roboto"/>
              <a:sym typeface="Roboto"/>
            </a:endParaRPr>
          </a:p>
        </p:txBody>
      </p:sp>
      <p:pic>
        <p:nvPicPr>
          <p:cNvPr id="470" name="Google Shape;470;p65"/>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471" name="Google Shape;471;p65"/>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n-IN" sz="1000" b="0" i="0" u="none" strike="noStrike" cap="none">
                <a:solidFill>
                  <a:schemeClr val="lt1"/>
                </a:solidFill>
                <a:latin typeface="Roboto"/>
                <a:ea typeface="Roboto"/>
                <a:cs typeface="Roboto"/>
                <a:sym typeface="Roboto"/>
              </a:rPr>
              <a:t>www.codemithra.com</a:t>
            </a:r>
            <a:endParaRPr sz="1000" b="0" i="0" u="none" strike="noStrike" cap="none">
              <a:solidFill>
                <a:schemeClr val="lt1"/>
              </a:solidFill>
              <a:latin typeface="Roboto"/>
              <a:ea typeface="Roboto"/>
              <a:cs typeface="Roboto"/>
              <a:sym typeface="Roboto"/>
            </a:endParaRPr>
          </a:p>
        </p:txBody>
      </p:sp>
      <p:cxnSp>
        <p:nvCxnSpPr>
          <p:cNvPr id="472" name="Google Shape;472;p65"/>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977</Words>
  <Application>Microsoft Office PowerPoint</Application>
  <PresentationFormat>On-screen Show (16:9)</PresentationFormat>
  <Paragraphs>128</Paragraphs>
  <Slides>14</Slides>
  <Notes>4</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14</vt:i4>
      </vt:variant>
    </vt:vector>
  </HeadingPairs>
  <TitlesOfParts>
    <vt:vector size="21" baseType="lpstr">
      <vt:lpstr>Roboto Black</vt:lpstr>
      <vt:lpstr>Roboto</vt:lpstr>
      <vt:lpstr>Arial</vt:lpstr>
      <vt:lpstr>Consolas</vt:lpstr>
      <vt:lpstr>Simple Light</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lastModifiedBy>dheebanrajips@gmail.com</cp:lastModifiedBy>
  <cp:revision>2</cp:revision>
  <dcterms:created xsi:type="dcterms:W3CDTF">2022-10-05T06:20:26Z</dcterms:created>
  <dcterms:modified xsi:type="dcterms:W3CDTF">2024-09-04T10:01:35Z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5AF2CBCEB9C44D759E6C7127A2DBAAD4</vt:lpwstr>
  </property>
  <property fmtid="{D5CDD505-2E9C-101B-9397-08002B2CF9AE}" pid="3" name="KSOProductBuildVer">
    <vt:lpwstr>1033-11.2.0.11341</vt:lpwstr>
  </property>
</Properties>
</file>