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 id="274" r:id="rId20"/>
    <p:sldId id="275" r:id="rId21"/>
    <p:sldId id="276" r:id="rId22"/>
    <p:sldId id="806" r:id="rId23"/>
    <p:sldId id="807" r:id="rId24"/>
  </p:sldIdLst>
  <p:sldSz cx="9144000" cy="5143500" type="screen16x9"/>
  <p:notesSz cx="6858000" cy="9144000"/>
  <p:embeddedFontLst>
    <p:embeddedFont>
      <p:font typeface="Consolas" panose="020B0609020204030204" pitchFamily="49" charset="0"/>
      <p:regular r:id="rId26"/>
      <p:bold r:id="rId27"/>
      <p:italic r:id="rId28"/>
      <p:boldItalic r:id="rId29"/>
    </p:embeddedFont>
    <p:embeddedFont>
      <p:font typeface="Roboto" panose="02000000000000000000" pitchFamily="2" charset="0"/>
      <p:regular r:id="rId30"/>
      <p:bold r:id="rId31"/>
      <p:italic r:id="rId32"/>
      <p:boldItalic r:id="rId33"/>
    </p:embeddedFont>
    <p:embeddedFont>
      <p:font typeface="Roboto Black" panose="02000000000000000000" pitchFamily="2" charset="0"/>
      <p:bold r:id="rId34"/>
    </p:embeddedFont>
    <p:embeddedFont>
      <p:font typeface="Roboto Medium" panose="02000000000000000000" pitchFamily="2" charset="0"/>
      <p:regular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jTYzZXxyTkgBK1i3E5tEhyEaWz4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97D78C-B00B-49EC-94CF-9D43F3997D6C}">
  <a:tblStyle styleId="{6E97D78C-B00B-49EC-94CF-9D43F3997D6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DFD"/>
          </a:solidFill>
        </a:fill>
      </a:tcStyle>
    </a:wholeTbl>
    <a:band1H>
      <a:tcTxStyle b="off" i="off"/>
      <a:tcStyle>
        <a:tcBdr/>
        <a:fill>
          <a:solidFill>
            <a:srgbClr val="CDD8FB"/>
          </a:solidFill>
        </a:fill>
      </a:tcStyle>
    </a:band1H>
    <a:band2H>
      <a:tcTxStyle b="off" i="off"/>
      <a:tcStyle>
        <a:tcBdr/>
      </a:tcStyle>
    </a:band2H>
    <a:band1V>
      <a:tcTxStyle b="off" i="off"/>
      <a:tcStyle>
        <a:tcBdr/>
        <a:fill>
          <a:solidFill>
            <a:srgbClr val="CDD8FB"/>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647" autoAdjust="0"/>
  </p:normalViewPr>
  <p:slideViewPr>
    <p:cSldViewPr snapToGrid="0">
      <p:cViewPr varScale="1">
        <p:scale>
          <a:sx n="84" d="100"/>
          <a:sy n="84" d="100"/>
        </p:scale>
        <p:origin x="1426"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Google Shape;51;p1:notes">
            <a:extLst>
              <a:ext uri="{FF2B5EF4-FFF2-40B4-BE49-F238E27FC236}">
                <a16:creationId xmlns:a16="http://schemas.microsoft.com/office/drawing/2014/main" id="{E8DF9EAE-46AE-5A6E-56DF-D853FE71A7DB}"/>
              </a:ext>
            </a:extLst>
          </p:cNvPr>
          <p:cNvSpPr>
            <a:spLocks noGrp="1" noRot="1" noChangeAspect="1" noTextEdit="1"/>
          </p:cNvSpPr>
          <p:nvPr>
            <p:ph type="sldImg" idx="2"/>
          </p:nvPr>
        </p:nvSpPr>
        <p:spPr>
          <a:xfrm>
            <a:off x="381000" y="685800"/>
            <a:ext cx="6096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16387" name="Google Shape;52;p1:notes">
            <a:extLst>
              <a:ext uri="{FF2B5EF4-FFF2-40B4-BE49-F238E27FC236}">
                <a16:creationId xmlns:a16="http://schemas.microsoft.com/office/drawing/2014/main" id="{EB677B38-214D-DD5A-B462-07F3C7514BF4}"/>
              </a:ext>
            </a:extLst>
          </p:cNvPr>
          <p:cNvSpPr txBox="1">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buSzPts val="1100"/>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8434" name="Google Shape;60;p2:notes">
            <a:extLst>
              <a:ext uri="{FF2B5EF4-FFF2-40B4-BE49-F238E27FC236}">
                <a16:creationId xmlns:a16="http://schemas.microsoft.com/office/drawing/2014/main" id="{3E88D691-3409-F955-FC45-6DD2360E3681}"/>
              </a:ext>
            </a:extLst>
          </p:cNvPr>
          <p:cNvSpPr>
            <a:spLocks noGrp="1" noRot="1" noChangeAspect="1" noTextEdit="1"/>
          </p:cNvSpPr>
          <p:nvPr>
            <p:ph type="sldImg" idx="2"/>
          </p:nvPr>
        </p:nvSpPr>
        <p:spPr>
          <a:xfrm>
            <a:off x="381000" y="685800"/>
            <a:ext cx="6096000" cy="3429000"/>
          </a:xfrm>
          <a:custGeom>
            <a:avLst/>
            <a:gdLst>
              <a:gd name="T0" fmla="*/ 0 w 120000"/>
              <a:gd name="T1" fmla="*/ 0 h 120000"/>
              <a:gd name="T2" fmla="*/ 120000 w 120000"/>
              <a:gd name="T3" fmla="*/ 0 h 120000"/>
              <a:gd name="T4" fmla="*/ 120000 w 120000"/>
              <a:gd name="T5" fmla="*/ 120000 h 120000"/>
              <a:gd name="T6" fmla="*/ 0 w 120000"/>
              <a:gd name="T7" fmla="*/ 120000 h 120000"/>
              <a:gd name="T8" fmla="*/ 0 w 120000"/>
              <a:gd name="T9" fmla="*/ 0 h 120000"/>
            </a:gdLst>
            <a:ahLst/>
            <a:cxnLst>
              <a:cxn ang="0">
                <a:pos x="T0" y="T1"/>
              </a:cxn>
              <a:cxn ang="0">
                <a:pos x="T2" y="T3"/>
              </a:cxn>
              <a:cxn ang="0">
                <a:pos x="T4" y="T5"/>
              </a:cxn>
              <a:cxn ang="0">
                <a:pos x="T6" y="T7"/>
              </a:cxn>
              <a:cxn ang="0">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18435" name="Google Shape;61;p2:notes">
            <a:extLst>
              <a:ext uri="{FF2B5EF4-FFF2-40B4-BE49-F238E27FC236}">
                <a16:creationId xmlns:a16="http://schemas.microsoft.com/office/drawing/2014/main" id="{B4A6A0C8-73E3-91D6-55DB-F14965E0D29D}"/>
              </a:ext>
            </a:extLst>
          </p:cNvPr>
          <p:cNvSpPr txBox="1">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buSzPts val="1100"/>
            </a:pP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13: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 name="Google Shape;66;p13: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 name="Google Shape;76;p1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6: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 name="Google Shape;95;p16: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7: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 name="Google Shape;110;p17: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2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p2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2: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22: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24: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8" name="Google Shape;148;p24: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2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7" name="Google Shape;157;p2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3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7" name="Google Shape;167;p3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1200" b="0" strike="noStrike" dirty="0">
                <a:latin typeface="Roboto" panose="02000000000000000000" pitchFamily="2" charset="0"/>
                <a:ea typeface="Roboto" panose="02000000000000000000" pitchFamily="2" charset="0"/>
                <a:cs typeface="Roboto" panose="02000000000000000000" pitchFamily="2" charset="0"/>
                <a:sym typeface="Arial"/>
              </a:rPr>
              <a:t>6 3 2</a:t>
            </a: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36: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 name="Google Shape;176;p36: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37: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5" name="Google Shape;185;p37: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38: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38: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39: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0" name="Google Shape;220;p39: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29302ebb4e_0_0: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g229302ebb4e_0_0:notes"/>
          <p:cNvSpPr txBox="1">
            <a:spLocks noGrp="1"/>
          </p:cNvSpPr>
          <p:nvPr>
            <p:ph type="body" idx="1"/>
          </p:nvPr>
        </p:nvSpPr>
        <p:spPr>
          <a:xfrm>
            <a:off x="685800" y="4400640"/>
            <a:ext cx="5486100" cy="36003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40: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p40: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4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7" name="Google Shape;247;p4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3f307fc55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g23f307fc558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3f307fc55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23f307fc558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23f307fc55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23f307fc558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457200" lvl="0" indent="0" algn="l" rtl="0">
              <a:lnSpc>
                <a:spcPct val="100000"/>
              </a:lnSpc>
              <a:spcBef>
                <a:spcPts val="0"/>
              </a:spcBef>
              <a:spcAft>
                <a:spcPts val="0"/>
              </a:spcAft>
              <a:buSzPts val="1100"/>
              <a:buNone/>
            </a:pPr>
            <a:endParaRPr dirty="0">
              <a:solidFill>
                <a:schemeClr val="dk1"/>
              </a:solidFill>
              <a:latin typeface="Roboto" panose="02000000000000000000" pitchFamily="2" charset="0"/>
              <a:ea typeface="Roboto" panose="02000000000000000000" pitchFamily="2" charset="0"/>
              <a:cs typeface="Roboto" panose="02000000000000000000" pitchFamily="2" charset="0"/>
            </a:endParaRPr>
          </a:p>
          <a:p>
            <a:pPr marL="0" lvl="0" indent="0" algn="l" rtl="0">
              <a:lnSpc>
                <a:spcPct val="100000"/>
              </a:lnSpc>
              <a:spcBef>
                <a:spcPts val="0"/>
              </a:spcBef>
              <a:spcAft>
                <a:spcPts val="0"/>
              </a:spcAft>
              <a:buSzPts val="1100"/>
              <a:buNone/>
            </a:pPr>
            <a:endParaRPr sz="1200" dirty="0">
              <a:solidFill>
                <a:schemeClr val="dk1"/>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7"/>
        <p:cNvGrpSpPr/>
        <p:nvPr/>
      </p:nvGrpSpPr>
      <p:grpSpPr>
        <a:xfrm>
          <a:off x="0" y="0"/>
          <a:ext cx="0" cy="0"/>
          <a:chOff x="0" y="0"/>
          <a:chExt cx="0" cy="0"/>
        </a:xfrm>
      </p:grpSpPr>
      <p:sp>
        <p:nvSpPr>
          <p:cNvPr id="5198" name="Google Shape;5198;p56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99" name="Google Shape;5199;p56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ea typeface="Roboto" panose="02000000000000000000" pitchFamily="2" charset="0"/>
              <a:cs typeface="Roboto" panose="02000000000000000000" pitchFamily="2" charset="0"/>
              <a:sym typeface="Arial"/>
            </a:endParaRPr>
          </a:p>
        </p:txBody>
      </p:sp>
    </p:spTree>
    <p:extLst>
      <p:ext uri="{BB962C8B-B14F-4D97-AF65-F5344CB8AC3E}">
        <p14:creationId xmlns:p14="http://schemas.microsoft.com/office/powerpoint/2010/main" val="29052926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800"/>
              <a:buFont typeface="Calibri"/>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13" name="Google Shape;13;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Clr>
                <a:schemeClr val="dk1"/>
              </a:buClr>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1200"/>
              </a:spcBef>
              <a:spcAft>
                <a:spcPts val="0"/>
              </a:spcAft>
              <a:buClr>
                <a:schemeClr val="dk1"/>
              </a:buClr>
              <a:buSzPts val="1400"/>
              <a:buChar char="○"/>
              <a:defRPr/>
            </a:lvl2pPr>
            <a:lvl3pPr marL="1371600" lvl="2" indent="-317500" algn="l">
              <a:lnSpc>
                <a:spcPct val="115000"/>
              </a:lnSpc>
              <a:spcBef>
                <a:spcPts val="1200"/>
              </a:spcBef>
              <a:spcAft>
                <a:spcPts val="0"/>
              </a:spcAft>
              <a:buClr>
                <a:schemeClr val="dk1"/>
              </a:buClr>
              <a:buSzPts val="1400"/>
              <a:buChar char="■"/>
              <a:defRPr/>
            </a:lvl3pPr>
            <a:lvl4pPr marL="1828800" lvl="3" indent="-317500" algn="l">
              <a:lnSpc>
                <a:spcPct val="115000"/>
              </a:lnSpc>
              <a:spcBef>
                <a:spcPts val="1200"/>
              </a:spcBef>
              <a:spcAft>
                <a:spcPts val="0"/>
              </a:spcAft>
              <a:buClr>
                <a:schemeClr val="dk1"/>
              </a:buClr>
              <a:buSzPts val="1400"/>
              <a:buChar char="●"/>
              <a:defRPr/>
            </a:lvl4pPr>
            <a:lvl5pPr marL="2286000" lvl="4" indent="-317500" algn="l">
              <a:lnSpc>
                <a:spcPct val="115000"/>
              </a:lnSpc>
              <a:spcBef>
                <a:spcPts val="1200"/>
              </a:spcBef>
              <a:spcAft>
                <a:spcPts val="0"/>
              </a:spcAft>
              <a:buClr>
                <a:schemeClr val="dk1"/>
              </a:buClr>
              <a:buSzPts val="1400"/>
              <a:buChar char="○"/>
              <a:defRPr/>
            </a:lvl5pPr>
            <a:lvl6pPr marL="2743200" lvl="5" indent="-317500" algn="l">
              <a:lnSpc>
                <a:spcPct val="115000"/>
              </a:lnSpc>
              <a:spcBef>
                <a:spcPts val="1200"/>
              </a:spcBef>
              <a:spcAft>
                <a:spcPts val="0"/>
              </a:spcAft>
              <a:buClr>
                <a:schemeClr val="dk1"/>
              </a:buClr>
              <a:buSzPts val="1400"/>
              <a:buChar char="■"/>
              <a:defRPr/>
            </a:lvl6pPr>
            <a:lvl7pPr marL="3200400" lvl="6" indent="-317500" algn="l">
              <a:lnSpc>
                <a:spcPct val="115000"/>
              </a:lnSpc>
              <a:spcBef>
                <a:spcPts val="1200"/>
              </a:spcBef>
              <a:spcAft>
                <a:spcPts val="0"/>
              </a:spcAft>
              <a:buClr>
                <a:schemeClr val="dk1"/>
              </a:buClr>
              <a:buSzPts val="1400"/>
              <a:buChar char="●"/>
              <a:defRPr/>
            </a:lvl7pPr>
            <a:lvl8pPr marL="3657600" lvl="7" indent="-317500" algn="l">
              <a:lnSpc>
                <a:spcPct val="115000"/>
              </a:lnSpc>
              <a:spcBef>
                <a:spcPts val="1200"/>
              </a:spcBef>
              <a:spcAft>
                <a:spcPts val="0"/>
              </a:spcAft>
              <a:buClr>
                <a:schemeClr val="dk1"/>
              </a:buClr>
              <a:buSzPts val="1400"/>
              <a:buChar char="○"/>
              <a:defRPr/>
            </a:lvl8pPr>
            <a:lvl9pPr marL="4114800" lvl="8" indent="-317500" algn="l">
              <a:lnSpc>
                <a:spcPct val="115000"/>
              </a:lnSpc>
              <a:spcBef>
                <a:spcPts val="1200"/>
              </a:spcBef>
              <a:spcAft>
                <a:spcPts val="1200"/>
              </a:spcAft>
              <a:buClr>
                <a:schemeClr val="dk1"/>
              </a:buClr>
              <a:buSzPts val="1400"/>
              <a:buChar char="■"/>
              <a:defRPr/>
            </a:lvl9pPr>
          </a:lstStyle>
          <a:p>
            <a:endParaRPr dirty="0"/>
          </a:p>
        </p:txBody>
      </p:sp>
      <p:sp>
        <p:nvSpPr>
          <p:cNvPr id="14" name="Google Shape;1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Roboto" panose="02000000000000000000" pitchFamily="2" charset="0"/>
                <a:ea typeface="Roboto" panose="02000000000000000000" pitchFamily="2" charset="0"/>
                <a:cs typeface="Roboto" panose="02000000000000000000" pitchFamily="2" charset="0"/>
                <a:sym typeface="Calibri"/>
              </a:defRPr>
            </a:lvl1pPr>
            <a:lvl2pPr marL="0" marR="0" lvl="1"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dirty="0"/>
          </a:p>
        </p:txBody>
      </p:sp>
      <p:sp>
        <p:nvSpPr>
          <p:cNvPr id="17" name="Google Shape;1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sp>
        <p:nvSpPr>
          <p:cNvPr id="18" name="Google Shape;1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dirty="0"/>
          </a:p>
        </p:txBody>
      </p:sp>
      <p:sp>
        <p:nvSpPr>
          <p:cNvPr id="21" name="Google Shape;2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4" name="Google Shape;24;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25" name="Google Shape;25;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26" name="Google Shape;2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dirty="0"/>
          </a:p>
        </p:txBody>
      </p:sp>
      <p:sp>
        <p:nvSpPr>
          <p:cNvPr id="29" name="Google Shape;2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dirty="0"/>
          </a:p>
        </p:txBody>
      </p:sp>
      <p:sp>
        <p:nvSpPr>
          <p:cNvPr id="32" name="Google Shape;32;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atin typeface="Roboto" panose="02000000000000000000" pitchFamily="2" charset="0"/>
                <a:ea typeface="Roboto" panose="02000000000000000000" pitchFamily="2" charset="0"/>
                <a:cs typeface="Roboto" panose="02000000000000000000" pitchFamily="2" charset="0"/>
              </a:defRPr>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dirty="0"/>
          </a:p>
        </p:txBody>
      </p:sp>
      <p:sp>
        <p:nvSpPr>
          <p:cNvPr id="33" name="Google Shape;3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atin typeface="Roboto" panose="02000000000000000000" pitchFamily="2" charset="0"/>
                <a:ea typeface="Roboto" panose="02000000000000000000" pitchFamily="2" charset="0"/>
                <a:cs typeface="Roboto" panose="02000000000000000000" pitchFamily="2" charset="0"/>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dirty="0"/>
          </a:p>
        </p:txBody>
      </p:sp>
      <p:sp>
        <p:nvSpPr>
          <p:cNvPr id="36" name="Google Shape;3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39" name="Google Shape;39;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dirty="0"/>
          </a:p>
        </p:txBody>
      </p:sp>
      <p:sp>
        <p:nvSpPr>
          <p:cNvPr id="40" name="Google Shape;40;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dirty="0"/>
          </a:p>
        </p:txBody>
      </p:sp>
      <p:sp>
        <p:nvSpPr>
          <p:cNvPr id="41" name="Google Shape;41;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dirty="0"/>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atin typeface="Roboto" panose="02000000000000000000" pitchFamily="2" charset="0"/>
                <a:ea typeface="Roboto" panose="02000000000000000000" pitchFamily="2" charset="0"/>
                <a:cs typeface="Roboto" panose="02000000000000000000" pitchFamily="2" charset="0"/>
              </a:defRPr>
            </a:lvl1pPr>
          </a:lstStyle>
          <a:p>
            <a:endParaRPr dirty="0"/>
          </a:p>
        </p:txBody>
      </p:sp>
      <p:sp>
        <p:nvSpPr>
          <p:cNvPr id="45" name="Google Shape;45;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3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atin typeface="Roboto" panose="02000000000000000000" pitchFamily="2" charset="0"/>
                <a:ea typeface="Roboto" panose="02000000000000000000" pitchFamily="2" charset="0"/>
                <a:cs typeface="Roboto" panose="02000000000000000000" pitchFamily="2" charset="0"/>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rPr dirty="0"/>
              <a:t>xx%</a:t>
            </a:r>
          </a:p>
        </p:txBody>
      </p:sp>
      <p:sp>
        <p:nvSpPr>
          <p:cNvPr id="48" name="Google Shape;48;p3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atin typeface="Roboto" panose="02000000000000000000" pitchFamily="2" charset="0"/>
                <a:ea typeface="Roboto" panose="02000000000000000000" pitchFamily="2" charset="0"/>
                <a:cs typeface="Roboto" panose="02000000000000000000" pitchFamily="2" charset="0"/>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dirty="0"/>
          </a:p>
        </p:txBody>
      </p:sp>
      <p:sp>
        <p:nvSpPr>
          <p:cNvPr id="49" name="Google Shape;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dirty="0"/>
          </a:p>
        </p:txBody>
      </p:sp>
      <p:sp>
        <p:nvSpPr>
          <p:cNvPr id="7" name="Google Shape;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dirty="0"/>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panose="02000000000000000000" pitchFamily="2" charset="0"/>
                <a:ea typeface="Roboto" panose="02000000000000000000" pitchFamily="2" charset="0"/>
                <a:cs typeface="Roboto" panose="02000000000000000000" pitchFamily="2" charset="0"/>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pic>
        <p:nvPicPr>
          <p:cNvPr id="2" name="Google Shape;15;p82">
            <a:extLst>
              <a:ext uri="{FF2B5EF4-FFF2-40B4-BE49-F238E27FC236}">
                <a16:creationId xmlns:a16="http://schemas.microsoft.com/office/drawing/2014/main" id="{CFCC886B-E606-D3D4-5BD0-991A1CA49723}"/>
              </a:ext>
            </a:extLst>
          </p:cNvPr>
          <p:cNvPicPr preferRelativeResize="0"/>
          <p:nvPr userDrawn="1"/>
        </p:nvPicPr>
        <p:blipFill rotWithShape="1">
          <a:blip r:embed="rId13">
            <a:alphaModFix/>
          </a:blip>
          <a:srcRect/>
          <a:stretch/>
        </p:blipFill>
        <p:spPr>
          <a:xfrm>
            <a:off x="0" y="7219"/>
            <a:ext cx="9144000" cy="513628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Roboto" panose="02000000000000000000" pitchFamily="2" charset="0"/>
          <a:ea typeface="Roboto" panose="02000000000000000000" pitchFamily="2" charset="0"/>
          <a:cs typeface="Roboto" panose="02000000000000000000" pitchFamily="2"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hyperlink" Target="https://learn.codemithra.co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Google Shape;54;p1">
            <a:extLst>
              <a:ext uri="{FF2B5EF4-FFF2-40B4-BE49-F238E27FC236}">
                <a16:creationId xmlns:a16="http://schemas.microsoft.com/office/drawing/2014/main" id="{5B9AE939-A4F4-C83A-A198-0AC40DFC5B27}"/>
              </a:ext>
            </a:extLst>
          </p:cNvPr>
          <p:cNvSpPr>
            <a:spLocks noGrp="1" noChangeArrowheads="1"/>
          </p:cNvSpPr>
          <p:nvPr>
            <p:ph type="ctrTitle"/>
          </p:nvPr>
        </p:nvSpPr>
        <p:spPr>
          <a:xfrm>
            <a:off x="311944" y="744141"/>
            <a:ext cx="8520113" cy="2052638"/>
          </a:xfrm>
        </p:spPr>
        <p:txBody>
          <a:bodyPr spcFirstLastPara="1" wrap="square" lIns="91425" tIns="91425" rIns="91425" bIns="91425" anchor="b" anchorCtr="0">
            <a:normAutofit/>
          </a:bodyPr>
          <a:lstStyle/>
          <a:p>
            <a:pPr eaLnBrk="1" hangingPunct="1">
              <a:lnSpc>
                <a:spcPct val="100000"/>
              </a:lnSpc>
              <a:buSzPts val="5200"/>
            </a:pPr>
            <a:endParaRPr lang="en-US" altLang="en-US"/>
          </a:p>
        </p:txBody>
      </p:sp>
      <p:sp>
        <p:nvSpPr>
          <p:cNvPr id="15363" name="Google Shape;55;p1">
            <a:extLst>
              <a:ext uri="{FF2B5EF4-FFF2-40B4-BE49-F238E27FC236}">
                <a16:creationId xmlns:a16="http://schemas.microsoft.com/office/drawing/2014/main" id="{DBA4652E-2FEA-C7C0-2B91-CDB2C937F652}"/>
              </a:ext>
            </a:extLst>
          </p:cNvPr>
          <p:cNvSpPr>
            <a:spLocks noGrp="1" noChangeArrowheads="1"/>
          </p:cNvSpPr>
          <p:nvPr>
            <p:ph type="subTitle" idx="1"/>
          </p:nvPr>
        </p:nvSpPr>
        <p:spPr>
          <a:xfrm>
            <a:off x="311944" y="2833688"/>
            <a:ext cx="8520113" cy="792956"/>
          </a:xfrm>
        </p:spPr>
        <p:txBody>
          <a:bodyPr spcFirstLastPara="1" wrap="square" lIns="91425" tIns="91425" rIns="91425" bIns="91425" anchor="t" anchorCtr="0">
            <a:normAutofit/>
          </a:bodyPr>
          <a:lstStyle/>
          <a:p>
            <a:pPr eaLnBrk="1" hangingPunct="1">
              <a:lnSpc>
                <a:spcPct val="100000"/>
              </a:lnSpc>
              <a:spcBef>
                <a:spcPct val="0"/>
              </a:spcBef>
              <a:buSzPts val="2800"/>
            </a:pPr>
            <a:endParaRPr lang="en-US" altLang="en-US"/>
          </a:p>
        </p:txBody>
      </p:sp>
      <p:pic>
        <p:nvPicPr>
          <p:cNvPr id="15364" name="Google Shape;56;p1">
            <a:extLst>
              <a:ext uri="{FF2B5EF4-FFF2-40B4-BE49-F238E27FC236}">
                <a16:creationId xmlns:a16="http://schemas.microsoft.com/office/drawing/2014/main" id="{1320D818-FEA2-F6BF-4319-126779171BB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Google Shape;57;p1">
            <a:extLst>
              <a:ext uri="{FF2B5EF4-FFF2-40B4-BE49-F238E27FC236}">
                <a16:creationId xmlns:a16="http://schemas.microsoft.com/office/drawing/2014/main" id="{9158A34D-4550-0DAD-314D-BB7E2F24FEE5}"/>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5075" y="600075"/>
            <a:ext cx="413385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Google Shape;58;p1">
            <a:extLst>
              <a:ext uri="{FF2B5EF4-FFF2-40B4-BE49-F238E27FC236}">
                <a16:creationId xmlns:a16="http://schemas.microsoft.com/office/drawing/2014/main" id="{85E406ED-D247-ED2A-3EE4-B4F112B71F4B}"/>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0275" y="3386137"/>
            <a:ext cx="4743450" cy="115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Google Shape;63;p2">
            <a:extLst>
              <a:ext uri="{FF2B5EF4-FFF2-40B4-BE49-F238E27FC236}">
                <a16:creationId xmlns:a16="http://schemas.microsoft.com/office/drawing/2014/main" id="{9218D356-8769-B4FE-1148-CCB2D7369E74}"/>
              </a:ext>
            </a:extLst>
          </p:cNvPr>
          <p:cNvSpPr txBox="1">
            <a:spLocks noGrp="1"/>
          </p:cNvSpPr>
          <p:nvPr>
            <p:ph type="title"/>
          </p:nvPr>
        </p:nvSpPr>
        <p:spPr>
          <a:xfrm>
            <a:off x="311944" y="445294"/>
            <a:ext cx="8520113" cy="572691"/>
          </a:xfrm>
        </p:spPr>
        <p:txBody>
          <a:bodyPr spcFirstLastPara="1" wrap="square" lIns="91425" tIns="91425" rIns="91425" bIns="91425" anchor="t" anchorCtr="0">
            <a:normAutofit fontScale="90000"/>
          </a:bodyPr>
          <a:lstStyle/>
          <a:p>
            <a:pPr eaLnBrk="1" hangingPunct="1">
              <a:buSzPct val="111111"/>
              <a:defRPr/>
            </a:pPr>
            <a:endParaRPr/>
          </a:p>
        </p:txBody>
      </p:sp>
      <p:sp>
        <p:nvSpPr>
          <p:cNvPr id="17411" name="Google Shape;64;p2">
            <a:extLst>
              <a:ext uri="{FF2B5EF4-FFF2-40B4-BE49-F238E27FC236}">
                <a16:creationId xmlns:a16="http://schemas.microsoft.com/office/drawing/2014/main" id="{5218F6B3-3E41-434E-9AE1-D795DFF09968}"/>
              </a:ext>
            </a:extLst>
          </p:cNvPr>
          <p:cNvSpPr>
            <a:spLocks noGrp="1" noChangeArrowheads="1"/>
          </p:cNvSpPr>
          <p:nvPr>
            <p:ph type="body" idx="1"/>
          </p:nvPr>
        </p:nvSpPr>
        <p:spPr>
          <a:xfrm>
            <a:off x="311944" y="1152525"/>
            <a:ext cx="8520113" cy="3415904"/>
          </a:xfrm>
        </p:spPr>
        <p:txBody>
          <a:bodyPr spcFirstLastPara="1" wrap="square" lIns="91425" tIns="91425" rIns="91425" bIns="91425" anchor="t" anchorCtr="0">
            <a:noAutofit/>
          </a:bodyPr>
          <a:lstStyle/>
          <a:p>
            <a:pPr marL="0" indent="0">
              <a:spcBef>
                <a:spcPct val="0"/>
              </a:spcBef>
              <a:spcAft>
                <a:spcPts val="1200"/>
              </a:spcAft>
              <a:buNone/>
            </a:pPr>
            <a:endParaRPr lang="en-US" altLang="en-US"/>
          </a:p>
        </p:txBody>
      </p:sp>
      <p:pic>
        <p:nvPicPr>
          <p:cNvPr id="17412" name="Google Shape;65;p2">
            <a:extLst>
              <a:ext uri="{FF2B5EF4-FFF2-40B4-BE49-F238E27FC236}">
                <a16:creationId xmlns:a16="http://schemas.microsoft.com/office/drawing/2014/main" id="{760C47B2-BF89-AF41-ECFC-94BE6293A511}"/>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 name="Google Shape;67;p2">
            <a:extLst>
              <a:ext uri="{FF2B5EF4-FFF2-40B4-BE49-F238E27FC236}">
                <a16:creationId xmlns:a16="http://schemas.microsoft.com/office/drawing/2014/main" id="{6AE75000-A2DF-6A5D-758A-2DE3AB372CEB}"/>
              </a:ext>
            </a:extLst>
          </p:cNvPr>
          <p:cNvSpPr txBox="1"/>
          <p:nvPr/>
        </p:nvSpPr>
        <p:spPr>
          <a:xfrm>
            <a:off x="190214" y="2109532"/>
            <a:ext cx="4691063" cy="750945"/>
          </a:xfrm>
          <a:prstGeom prst="rect">
            <a:avLst/>
          </a:prstGeom>
          <a:noFill/>
          <a:ln>
            <a:noFill/>
          </a:ln>
        </p:spPr>
        <p:txBody>
          <a:bodyPr spcFirstLastPara="1" lIns="91425" tIns="91425" rIns="91425" bIns="91425">
            <a:spAutoFit/>
          </a:bodyPr>
          <a:lstStyle/>
          <a:p>
            <a:pPr algn="ctr">
              <a:lnSpc>
                <a:spcPct val="115000"/>
              </a:lnSpc>
              <a:buSzPts val="4900"/>
              <a:defRPr/>
            </a:pPr>
            <a:r>
              <a:rPr lang="en-US" sz="3200" b="1" dirty="0">
                <a:solidFill>
                  <a:schemeClr val="bg1"/>
                </a:solidFill>
                <a:latin typeface="Roboto Black" panose="02000000000000000000" pitchFamily="2" charset="0"/>
                <a:ea typeface="Roboto Black" panose="02000000000000000000" pitchFamily="2" charset="0"/>
                <a:cs typeface="Roboto Black" panose="02000000000000000000" pitchFamily="2" charset="0"/>
                <a:sym typeface="Times New Roman"/>
              </a:rPr>
              <a:t>LEADERS IN ARRAY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3"/>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69" name="Google Shape;69;p13"/>
          <p:cNvSpPr/>
          <p:nvPr/>
        </p:nvSpPr>
        <p:spPr>
          <a:xfrm>
            <a:off x="742520" y="917158"/>
            <a:ext cx="7846360" cy="64629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800"/>
              <a:buFont typeface="Arial"/>
              <a:buNone/>
            </a:pPr>
            <a:r>
              <a:rPr lang="en-US" sz="1800" b="1"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Introduction :</a:t>
            </a:r>
            <a:endParaRPr sz="1400" b="1"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72" name="Google Shape;72;p13"/>
          <p:cNvSpPr/>
          <p:nvPr/>
        </p:nvSpPr>
        <p:spPr>
          <a:xfrm>
            <a:off x="1045150" y="1619558"/>
            <a:ext cx="7544880" cy="1200288"/>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180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If a member in the array is larger than every member on its right side, it is considered an </a:t>
            </a:r>
            <a:r>
              <a:rPr lang="en-US" sz="1800" i="1"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Leader Element</a:t>
            </a:r>
            <a:r>
              <a:rPr lang="en-US" sz="180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of the array.</a:t>
            </a:r>
            <a:endParaRPr sz="140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endParaRPr>
          </a:p>
        </p:txBody>
      </p:sp>
      <p:sp>
        <p:nvSpPr>
          <p:cNvPr id="73" name="Google Shape;73;p13"/>
          <p:cNvSpPr/>
          <p:nvPr/>
        </p:nvSpPr>
        <p:spPr>
          <a:xfrm>
            <a:off x="1045150" y="2926968"/>
            <a:ext cx="7544880" cy="64629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180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An array's rightmost element is always the Leader.</a:t>
            </a:r>
            <a:endParaRPr sz="140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
                                        </p:tgtEl>
                                        <p:attrNameLst>
                                          <p:attrName>style.visibility</p:attrName>
                                        </p:attrNameLst>
                                      </p:cBhvr>
                                      <p:to>
                                        <p:strVal val="visible"/>
                                      </p:to>
                                    </p:set>
                                    <p:animEffect transition="in" filter="fade">
                                      <p:cBhvr>
                                        <p:cTn id="17"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79" name="Google Shape;79;p15"/>
          <p:cNvSpPr/>
          <p:nvPr/>
        </p:nvSpPr>
        <p:spPr>
          <a:xfrm>
            <a:off x="1044000" y="972158"/>
            <a:ext cx="754488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Example:</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82" name="Google Shape;82;p15"/>
          <p:cNvGraphicFramePr/>
          <p:nvPr/>
        </p:nvGraphicFramePr>
        <p:xfrm>
          <a:off x="3146156" y="2243642"/>
          <a:ext cx="2280625"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gridCol w="456125">
                  <a:extLst>
                    <a:ext uri="{9D8B030D-6E8A-4147-A177-3AD203B41FA5}">
                      <a16:colId xmlns:a16="http://schemas.microsoft.com/office/drawing/2014/main" val="20001"/>
                    </a:ext>
                  </a:extLst>
                </a:gridCol>
                <a:gridCol w="456125">
                  <a:extLst>
                    <a:ext uri="{9D8B030D-6E8A-4147-A177-3AD203B41FA5}">
                      <a16:colId xmlns:a16="http://schemas.microsoft.com/office/drawing/2014/main" val="20002"/>
                    </a:ext>
                  </a:extLst>
                </a:gridCol>
                <a:gridCol w="456125">
                  <a:extLst>
                    <a:ext uri="{9D8B030D-6E8A-4147-A177-3AD203B41FA5}">
                      <a16:colId xmlns:a16="http://schemas.microsoft.com/office/drawing/2014/main" val="20003"/>
                    </a:ext>
                  </a:extLst>
                </a:gridCol>
                <a:gridCol w="456125">
                  <a:extLst>
                    <a:ext uri="{9D8B030D-6E8A-4147-A177-3AD203B41FA5}">
                      <a16:colId xmlns:a16="http://schemas.microsoft.com/office/drawing/2014/main" val="20004"/>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6</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graphicFrame>
        <p:nvGraphicFramePr>
          <p:cNvPr id="83" name="Google Shape;83;p15"/>
          <p:cNvGraphicFramePr/>
          <p:nvPr/>
        </p:nvGraphicFramePr>
        <p:xfrm>
          <a:off x="3146156" y="3408524"/>
          <a:ext cx="2736750"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gridCol w="456125">
                  <a:extLst>
                    <a:ext uri="{9D8B030D-6E8A-4147-A177-3AD203B41FA5}">
                      <a16:colId xmlns:a16="http://schemas.microsoft.com/office/drawing/2014/main" val="20001"/>
                    </a:ext>
                  </a:extLst>
                </a:gridCol>
                <a:gridCol w="456125">
                  <a:extLst>
                    <a:ext uri="{9D8B030D-6E8A-4147-A177-3AD203B41FA5}">
                      <a16:colId xmlns:a16="http://schemas.microsoft.com/office/drawing/2014/main" val="20002"/>
                    </a:ext>
                  </a:extLst>
                </a:gridCol>
                <a:gridCol w="456125">
                  <a:extLst>
                    <a:ext uri="{9D8B030D-6E8A-4147-A177-3AD203B41FA5}">
                      <a16:colId xmlns:a16="http://schemas.microsoft.com/office/drawing/2014/main" val="20003"/>
                    </a:ext>
                  </a:extLst>
                </a:gridCol>
                <a:gridCol w="456125">
                  <a:extLst>
                    <a:ext uri="{9D8B030D-6E8A-4147-A177-3AD203B41FA5}">
                      <a16:colId xmlns:a16="http://schemas.microsoft.com/office/drawing/2014/main" val="20004"/>
                    </a:ext>
                  </a:extLst>
                </a:gridCol>
                <a:gridCol w="456125">
                  <a:extLst>
                    <a:ext uri="{9D8B030D-6E8A-4147-A177-3AD203B41FA5}">
                      <a16:colId xmlns:a16="http://schemas.microsoft.com/office/drawing/2014/main" val="20005"/>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6</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i="1"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solidFill>
                          <a:srgbClr val="002060"/>
                        </a:solidFill>
                      </a:endParaRPr>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2</a:t>
                      </a:r>
                      <a:endParaRPr sz="1400" i="0" u="none" strike="noStrike" cap="none" dirty="0">
                        <a:solidFill>
                          <a:srgbClr val="FF0000"/>
                        </a:solidFill>
                      </a:endParaRPr>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sp>
        <p:nvSpPr>
          <p:cNvPr id="84" name="Google Shape;84;p15"/>
          <p:cNvSpPr/>
          <p:nvPr/>
        </p:nvSpPr>
        <p:spPr>
          <a:xfrm>
            <a:off x="1045149" y="1372058"/>
            <a:ext cx="3244967"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Input: [2, 4, 6, 3,1 ,2]</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85" name="Google Shape;85;p15"/>
          <p:cNvSpPr/>
          <p:nvPr/>
        </p:nvSpPr>
        <p:spPr>
          <a:xfrm>
            <a:off x="4215675" y="1373208"/>
            <a:ext cx="2846206"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 /  Output: 6,3,2</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86" name="Google Shape;86;p15"/>
          <p:cNvSpPr/>
          <p:nvPr/>
        </p:nvSpPr>
        <p:spPr>
          <a:xfrm>
            <a:off x="1045150" y="1873933"/>
            <a:ext cx="754488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Explanation</a:t>
            </a:r>
            <a:endParaRPr sz="1400" b="0" i="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87" name="Google Shape;87;p15"/>
          <p:cNvGraphicFramePr/>
          <p:nvPr/>
        </p:nvGraphicFramePr>
        <p:xfrm>
          <a:off x="5429806" y="2244792"/>
          <a:ext cx="456125"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graphicFrame>
        <p:nvGraphicFramePr>
          <p:cNvPr id="88" name="Google Shape;88;p15"/>
          <p:cNvGraphicFramePr/>
          <p:nvPr/>
        </p:nvGraphicFramePr>
        <p:xfrm>
          <a:off x="5424081" y="2245942"/>
          <a:ext cx="456125"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solidFill>
                          <a:srgbClr val="FF0000"/>
                        </a:solidFill>
                      </a:endParaRPr>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sp>
        <p:nvSpPr>
          <p:cNvPr id="89" name="Google Shape;89;p15"/>
          <p:cNvSpPr/>
          <p:nvPr/>
        </p:nvSpPr>
        <p:spPr>
          <a:xfrm>
            <a:off x="1045150" y="2657683"/>
            <a:ext cx="7544880"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2 is the rightmost element, so it is a leader.</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90" name="Google Shape;90;p15"/>
          <p:cNvGraphicFramePr/>
          <p:nvPr/>
        </p:nvGraphicFramePr>
        <p:xfrm>
          <a:off x="4971465" y="3408986"/>
          <a:ext cx="456125"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solidFill>
                          <a:srgbClr val="002060"/>
                        </a:solidFill>
                      </a:endParaRPr>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sp>
        <p:nvSpPr>
          <p:cNvPr id="91" name="Google Shape;91;p15"/>
          <p:cNvSpPr/>
          <p:nvPr/>
        </p:nvSpPr>
        <p:spPr>
          <a:xfrm>
            <a:off x="1039425" y="3793208"/>
            <a:ext cx="754488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3 is greater than all the elements on its right side i.e. 3 is greater than 1 and 2, so it is a leader.</a:t>
            </a:r>
            <a:endParaRPr dirty="0">
              <a:latin typeface="Roboto" panose="02000000000000000000" pitchFamily="2" charset="0"/>
              <a:ea typeface="Roboto" panose="02000000000000000000" pitchFamily="2" charset="0"/>
              <a:cs typeface="Roboto" panose="02000000000000000000" pitchFamily="2" charset="0"/>
            </a:endParaRPr>
          </a:p>
        </p:txBody>
      </p:sp>
      <p:graphicFrame>
        <p:nvGraphicFramePr>
          <p:cNvPr id="92" name="Google Shape;92;p15"/>
          <p:cNvGraphicFramePr/>
          <p:nvPr/>
        </p:nvGraphicFramePr>
        <p:xfrm>
          <a:off x="4517702" y="3402120"/>
          <a:ext cx="456125"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solidFill>
                          <a:srgbClr val="FF0000"/>
                        </a:solidFill>
                      </a:endParaRPr>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500"/>
                                        <p:tgtEl>
                                          <p:spTgt spid="84"/>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85"/>
                                        </p:tgtEl>
                                        <p:attrNameLst>
                                          <p:attrName>style.visibility</p:attrName>
                                        </p:attrNameLst>
                                      </p:cBhvr>
                                      <p:to>
                                        <p:strVal val="visible"/>
                                      </p:to>
                                    </p:set>
                                    <p:animEffect transition="in" filter="fade">
                                      <p:cBhvr>
                                        <p:cTn id="16" dur="500"/>
                                        <p:tgtEl>
                                          <p:spTgt spid="8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6"/>
                                        </p:tgtEl>
                                        <p:attrNameLst>
                                          <p:attrName>style.visibility</p:attrName>
                                        </p:attrNameLst>
                                      </p:cBhvr>
                                      <p:to>
                                        <p:strVal val="visible"/>
                                      </p:to>
                                    </p:set>
                                    <p:animEffect transition="in" filter="fade">
                                      <p:cBhvr>
                                        <p:cTn id="21" dur="500"/>
                                        <p:tgtEl>
                                          <p:spTgt spid="8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7"/>
                                        </p:tgtEl>
                                        <p:attrNameLst>
                                          <p:attrName>style.visibility</p:attrName>
                                        </p:attrNameLst>
                                      </p:cBhvr>
                                      <p:to>
                                        <p:strVal val="visible"/>
                                      </p:to>
                                    </p:set>
                                    <p:animEffect transition="in" filter="fade">
                                      <p:cBhvr>
                                        <p:cTn id="26" dur="500"/>
                                        <p:tgtEl>
                                          <p:spTgt spid="87"/>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82"/>
                                        </p:tgtEl>
                                        <p:attrNameLst>
                                          <p:attrName>style.visibility</p:attrName>
                                        </p:attrNameLst>
                                      </p:cBhvr>
                                      <p:to>
                                        <p:strVal val="visible"/>
                                      </p:to>
                                    </p:set>
                                    <p:animEffect transition="in" filter="fade">
                                      <p:cBhvr>
                                        <p:cTn id="30" dur="500"/>
                                        <p:tgtEl>
                                          <p:spTgt spid="8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9"/>
                                        </p:tgtEl>
                                        <p:attrNameLst>
                                          <p:attrName>style.visibility</p:attrName>
                                        </p:attrNameLst>
                                      </p:cBhvr>
                                      <p:to>
                                        <p:strVal val="visible"/>
                                      </p:to>
                                    </p:set>
                                    <p:animEffect transition="in" filter="fade">
                                      <p:cBhvr>
                                        <p:cTn id="35" dur="500"/>
                                        <p:tgtEl>
                                          <p:spTgt spid="89"/>
                                        </p:tgtEl>
                                      </p:cBhvr>
                                    </p:animEffect>
                                  </p:childTnLst>
                                </p:cTn>
                              </p:par>
                              <p:par>
                                <p:cTn id="36" presetID="10" presetClass="entr" presetSubtype="0" fill="hold" nodeType="withEffect">
                                  <p:stCondLst>
                                    <p:cond delay="0"/>
                                  </p:stCondLst>
                                  <p:childTnLst>
                                    <p:set>
                                      <p:cBhvr>
                                        <p:cTn id="37" dur="1" fill="hold">
                                          <p:stCondLst>
                                            <p:cond delay="0"/>
                                          </p:stCondLst>
                                        </p:cTn>
                                        <p:tgtEl>
                                          <p:spTgt spid="88"/>
                                        </p:tgtEl>
                                        <p:attrNameLst>
                                          <p:attrName>style.visibility</p:attrName>
                                        </p:attrNameLst>
                                      </p:cBhvr>
                                      <p:to>
                                        <p:strVal val="visible"/>
                                      </p:to>
                                    </p:set>
                                    <p:animEffect transition="in" filter="fade">
                                      <p:cBhvr>
                                        <p:cTn id="38" dur="1000"/>
                                        <p:tgtEl>
                                          <p:spTgt spid="8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3"/>
                                        </p:tgtEl>
                                        <p:attrNameLst>
                                          <p:attrName>style.visibility</p:attrName>
                                        </p:attrNameLst>
                                      </p:cBhvr>
                                      <p:to>
                                        <p:strVal val="visible"/>
                                      </p:to>
                                    </p:set>
                                    <p:animEffect transition="in" filter="fade">
                                      <p:cBhvr>
                                        <p:cTn id="43" dur="500"/>
                                        <p:tgtEl>
                                          <p:spTgt spid="83"/>
                                        </p:tgtEl>
                                      </p:cBhvr>
                                    </p:animEffect>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0"/>
                                  </p:stCondLst>
                                  <p:childTnLst>
                                    <p:set>
                                      <p:cBhvr>
                                        <p:cTn id="47" dur="1" fill="hold">
                                          <p:stCondLst>
                                            <p:cond delay="0"/>
                                          </p:stCondLst>
                                        </p:cTn>
                                        <p:tgtEl>
                                          <p:spTgt spid="90"/>
                                        </p:tgtEl>
                                        <p:attrNameLst>
                                          <p:attrName>style.visibility</p:attrName>
                                        </p:attrNameLst>
                                      </p:cBhvr>
                                      <p:to>
                                        <p:strVal val="visible"/>
                                      </p:to>
                                    </p:set>
                                    <p:anim calcmode="lin" valueType="num">
                                      <p:cBhvr additive="base">
                                        <p:cTn id="48" dur="500"/>
                                        <p:tgtEl>
                                          <p:spTgt spid="90"/>
                                        </p:tgtEl>
                                        <p:attrNameLst>
                                          <p:attrName>ppt_w</p:attrName>
                                        </p:attrNameLst>
                                      </p:cBhvr>
                                      <p:tavLst>
                                        <p:tav tm="0">
                                          <p:val>
                                            <p:strVal val="0"/>
                                          </p:val>
                                        </p:tav>
                                        <p:tav tm="100000">
                                          <p:val>
                                            <p:strVal val="#ppt_w"/>
                                          </p:val>
                                        </p:tav>
                                      </p:tavLst>
                                    </p:anim>
                                    <p:anim calcmode="lin" valueType="num">
                                      <p:cBhvr additive="base">
                                        <p:cTn id="49" dur="500"/>
                                        <p:tgtEl>
                                          <p:spTgt spid="90"/>
                                        </p:tgtEl>
                                        <p:attrNameLst>
                                          <p:attrName>ppt_h</p:attrName>
                                        </p:attrNameLst>
                                      </p:cBhvr>
                                      <p:tavLst>
                                        <p:tav tm="0">
                                          <p:val>
                                            <p:str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91"/>
                                        </p:tgtEl>
                                        <p:attrNameLst>
                                          <p:attrName>style.visibility</p:attrName>
                                        </p:attrNameLst>
                                      </p:cBhvr>
                                      <p:to>
                                        <p:strVal val="visible"/>
                                      </p:to>
                                    </p:set>
                                    <p:animEffect transition="in" filter="fade">
                                      <p:cBhvr>
                                        <p:cTn id="54" dur="500"/>
                                        <p:tgtEl>
                                          <p:spTgt spid="91"/>
                                        </p:tgtEl>
                                      </p:cBhvr>
                                    </p:animEffect>
                                  </p:childTnLst>
                                </p:cTn>
                              </p:par>
                              <p:par>
                                <p:cTn id="55" presetID="10" presetClass="entr" presetSubtype="0" fill="hold" nodeType="withEffect">
                                  <p:stCondLst>
                                    <p:cond delay="0"/>
                                  </p:stCondLst>
                                  <p:childTnLst>
                                    <p:set>
                                      <p:cBhvr>
                                        <p:cTn id="56" dur="1" fill="hold">
                                          <p:stCondLst>
                                            <p:cond delay="0"/>
                                          </p:stCondLst>
                                        </p:cTn>
                                        <p:tgtEl>
                                          <p:spTgt spid="92"/>
                                        </p:tgtEl>
                                        <p:attrNameLst>
                                          <p:attrName>style.visibility</p:attrName>
                                        </p:attrNameLst>
                                      </p:cBhvr>
                                      <p:to>
                                        <p:strVal val="visible"/>
                                      </p:to>
                                    </p:set>
                                    <p:animEffect transition="in" filter="fade">
                                      <p:cBhvr>
                                        <p:cTn id="5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98" name="Google Shape;98;p16"/>
          <p:cNvSpPr/>
          <p:nvPr/>
        </p:nvSpPr>
        <p:spPr>
          <a:xfrm>
            <a:off x="1044000" y="1810908"/>
            <a:ext cx="754488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6 is greater than all the elements on its right side i.e. 6 is greater than 3, 1, and 2, so it is a leader.</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graphicFrame>
        <p:nvGraphicFramePr>
          <p:cNvPr id="101" name="Google Shape;101;p16"/>
          <p:cNvGraphicFramePr/>
          <p:nvPr/>
        </p:nvGraphicFramePr>
        <p:xfrm>
          <a:off x="3133886" y="1344783"/>
          <a:ext cx="2736750"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gridCol w="456125">
                  <a:extLst>
                    <a:ext uri="{9D8B030D-6E8A-4147-A177-3AD203B41FA5}">
                      <a16:colId xmlns:a16="http://schemas.microsoft.com/office/drawing/2014/main" val="20001"/>
                    </a:ext>
                  </a:extLst>
                </a:gridCol>
                <a:gridCol w="456125">
                  <a:extLst>
                    <a:ext uri="{9D8B030D-6E8A-4147-A177-3AD203B41FA5}">
                      <a16:colId xmlns:a16="http://schemas.microsoft.com/office/drawing/2014/main" val="20002"/>
                    </a:ext>
                  </a:extLst>
                </a:gridCol>
                <a:gridCol w="456125">
                  <a:extLst>
                    <a:ext uri="{9D8B030D-6E8A-4147-A177-3AD203B41FA5}">
                      <a16:colId xmlns:a16="http://schemas.microsoft.com/office/drawing/2014/main" val="20003"/>
                    </a:ext>
                  </a:extLst>
                </a:gridCol>
                <a:gridCol w="456125">
                  <a:extLst>
                    <a:ext uri="{9D8B030D-6E8A-4147-A177-3AD203B41FA5}">
                      <a16:colId xmlns:a16="http://schemas.microsoft.com/office/drawing/2014/main" val="20004"/>
                    </a:ext>
                  </a:extLst>
                </a:gridCol>
                <a:gridCol w="456125">
                  <a:extLst>
                    <a:ext uri="{9D8B030D-6E8A-4147-A177-3AD203B41FA5}">
                      <a16:colId xmlns:a16="http://schemas.microsoft.com/office/drawing/2014/main" val="20005"/>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i="1"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6</a:t>
                      </a:r>
                      <a:endParaRPr sz="1400" u="none" strike="noStrike" cap="none" dirty="0">
                        <a:solidFill>
                          <a:srgbClr val="002060"/>
                        </a:solidFill>
                      </a:endParaRPr>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solidFill>
                          <a:srgbClr val="FF0000"/>
                        </a:solidFill>
                      </a:endParaRPr>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solidFill>
                          <a:srgbClr val="FF0000"/>
                        </a:solidFill>
                      </a:endParaRPr>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graphicFrame>
        <p:nvGraphicFramePr>
          <p:cNvPr id="102" name="Google Shape;102;p16"/>
          <p:cNvGraphicFramePr/>
          <p:nvPr/>
        </p:nvGraphicFramePr>
        <p:xfrm>
          <a:off x="3153031" y="2865399"/>
          <a:ext cx="2736750"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gridCol w="456125">
                  <a:extLst>
                    <a:ext uri="{9D8B030D-6E8A-4147-A177-3AD203B41FA5}">
                      <a16:colId xmlns:a16="http://schemas.microsoft.com/office/drawing/2014/main" val="20001"/>
                    </a:ext>
                  </a:extLst>
                </a:gridCol>
                <a:gridCol w="456125">
                  <a:extLst>
                    <a:ext uri="{9D8B030D-6E8A-4147-A177-3AD203B41FA5}">
                      <a16:colId xmlns:a16="http://schemas.microsoft.com/office/drawing/2014/main" val="20002"/>
                    </a:ext>
                  </a:extLst>
                </a:gridCol>
                <a:gridCol w="456125">
                  <a:extLst>
                    <a:ext uri="{9D8B030D-6E8A-4147-A177-3AD203B41FA5}">
                      <a16:colId xmlns:a16="http://schemas.microsoft.com/office/drawing/2014/main" val="20003"/>
                    </a:ext>
                  </a:extLst>
                </a:gridCol>
                <a:gridCol w="456125">
                  <a:extLst>
                    <a:ext uri="{9D8B030D-6E8A-4147-A177-3AD203B41FA5}">
                      <a16:colId xmlns:a16="http://schemas.microsoft.com/office/drawing/2014/main" val="20004"/>
                    </a:ext>
                  </a:extLst>
                </a:gridCol>
                <a:gridCol w="456125">
                  <a:extLst>
                    <a:ext uri="{9D8B030D-6E8A-4147-A177-3AD203B41FA5}">
                      <a16:colId xmlns:a16="http://schemas.microsoft.com/office/drawing/2014/main" val="20005"/>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i="1"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solidFill>
                          <a:srgbClr val="002060"/>
                        </a:solidFill>
                      </a:endParaRPr>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i="1"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solidFill>
                          <a:srgbClr val="002060"/>
                        </a:solidFill>
                      </a:endParaRPr>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6</a:t>
                      </a:r>
                      <a:endParaRPr sz="1400" u="none" strike="noStrike" cap="none" dirty="0">
                        <a:solidFill>
                          <a:srgbClr val="FF0000"/>
                        </a:solidFill>
                      </a:endParaRPr>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3</a:t>
                      </a:r>
                      <a:endParaRPr sz="1400" i="0" u="none" strike="noStrike" cap="none" dirty="0">
                        <a:solidFill>
                          <a:srgbClr val="FF0000"/>
                        </a:solidFill>
                      </a:endParaRPr>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2</a:t>
                      </a:r>
                      <a:endParaRPr sz="1400" i="0" u="none" strike="noStrike" cap="none" dirty="0">
                        <a:solidFill>
                          <a:srgbClr val="FF0000"/>
                        </a:solidFill>
                      </a:endParaRPr>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sp>
        <p:nvSpPr>
          <p:cNvPr id="103" name="Google Shape;103;p16"/>
          <p:cNvSpPr txBox="1"/>
          <p:nvPr/>
        </p:nvSpPr>
        <p:spPr>
          <a:xfrm>
            <a:off x="1100380" y="3336776"/>
            <a:ext cx="7206711"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2,4 is not greater than all the elements on its right side i.e. so it is not a leader.</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04" name="Google Shape;104;p16"/>
          <p:cNvGraphicFramePr/>
          <p:nvPr/>
        </p:nvGraphicFramePr>
        <p:xfrm>
          <a:off x="4043314" y="1339565"/>
          <a:ext cx="456125"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6</a:t>
                      </a:r>
                      <a:endParaRPr sz="1400" u="none" strike="noStrike" cap="none" dirty="0">
                        <a:solidFill>
                          <a:srgbClr val="FF0000"/>
                        </a:solidFill>
                      </a:endParaRPr>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sp>
        <p:nvSpPr>
          <p:cNvPr id="105" name="Google Shape;105;p16"/>
          <p:cNvSpPr txBox="1"/>
          <p:nvPr/>
        </p:nvSpPr>
        <p:spPr>
          <a:xfrm>
            <a:off x="1094655" y="4004801"/>
            <a:ext cx="7206711"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So, leaders are 6, 3, 2</a:t>
            </a:r>
            <a:endParaRPr sz="14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06" name="Google Shape;106;p16"/>
          <p:cNvGraphicFramePr/>
          <p:nvPr/>
        </p:nvGraphicFramePr>
        <p:xfrm>
          <a:off x="3603303" y="2858971"/>
          <a:ext cx="456125"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solidFill>
                          <a:srgbClr val="002060"/>
                        </a:solidFill>
                      </a:endParaRPr>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graphicFrame>
        <p:nvGraphicFramePr>
          <p:cNvPr id="107" name="Google Shape;107;p16"/>
          <p:cNvGraphicFramePr/>
          <p:nvPr/>
        </p:nvGraphicFramePr>
        <p:xfrm>
          <a:off x="3143811" y="2860116"/>
          <a:ext cx="456125" cy="321550"/>
        </p:xfrm>
        <a:graphic>
          <a:graphicData uri="http://schemas.openxmlformats.org/drawingml/2006/table">
            <a:tbl>
              <a:tblPr firstRow="1" bandRow="1">
                <a:noFill/>
                <a:tableStyleId>{6E97D78C-B00B-49EC-94CF-9D43F3997D6C}</a:tableStyleId>
              </a:tblPr>
              <a:tblGrid>
                <a:gridCol w="456125">
                  <a:extLst>
                    <a:ext uri="{9D8B030D-6E8A-4147-A177-3AD203B41FA5}">
                      <a16:colId xmlns:a16="http://schemas.microsoft.com/office/drawing/2014/main" val="20000"/>
                    </a:ext>
                  </a:extLst>
                </a:gridCol>
              </a:tblGrid>
              <a:tr h="3215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solidFill>
                          <a:srgbClr val="002060"/>
                        </a:solidFill>
                      </a:endParaRPr>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
                                        </p:tgtEl>
                                        <p:attrNameLst>
                                          <p:attrName>style.visibility</p:attrName>
                                        </p:attrNameLst>
                                      </p:cBhvr>
                                      <p:to>
                                        <p:strVal val="visible"/>
                                      </p:to>
                                    </p:set>
                                    <p:animEffect transition="in" filter="fade">
                                      <p:cBhvr>
                                        <p:cTn id="12" dur="1000"/>
                                        <p:tgtEl>
                                          <p:spTgt spid="98"/>
                                        </p:tgtEl>
                                      </p:cBhvr>
                                    </p:animEffect>
                                  </p:childTnLst>
                                </p:cTn>
                              </p:par>
                              <p:par>
                                <p:cTn id="13" presetID="10" presetClass="entr" presetSubtype="0" fill="hold" nodeType="withEffect">
                                  <p:stCondLst>
                                    <p:cond delay="0"/>
                                  </p:stCondLst>
                                  <p:childTnLst>
                                    <p:set>
                                      <p:cBhvr>
                                        <p:cTn id="14" dur="1" fill="hold">
                                          <p:stCondLst>
                                            <p:cond delay="0"/>
                                          </p:stCondLst>
                                        </p:cTn>
                                        <p:tgtEl>
                                          <p:spTgt spid="104"/>
                                        </p:tgtEl>
                                        <p:attrNameLst>
                                          <p:attrName>style.visibility</p:attrName>
                                        </p:attrNameLst>
                                      </p:cBhvr>
                                      <p:to>
                                        <p:strVal val="visible"/>
                                      </p:to>
                                    </p:set>
                                    <p:animEffect transition="in" filter="fade">
                                      <p:cBhvr>
                                        <p:cTn id="15" dur="1000"/>
                                        <p:tgtEl>
                                          <p:spTgt spid="10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2"/>
                                        </p:tgtEl>
                                        <p:attrNameLst>
                                          <p:attrName>style.visibility</p:attrName>
                                        </p:attrNameLst>
                                      </p:cBhvr>
                                      <p:to>
                                        <p:strVal val="visible"/>
                                      </p:to>
                                    </p:set>
                                    <p:animEffect transition="in" filter="fade">
                                      <p:cBhvr>
                                        <p:cTn id="20" dur="500"/>
                                        <p:tgtEl>
                                          <p:spTgt spid="10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3"/>
                                        </p:tgtEl>
                                        <p:attrNameLst>
                                          <p:attrName>style.visibility</p:attrName>
                                        </p:attrNameLst>
                                      </p:cBhvr>
                                      <p:to>
                                        <p:strVal val="visible"/>
                                      </p:to>
                                    </p:set>
                                    <p:animEffect transition="in" filter="fade">
                                      <p:cBhvr>
                                        <p:cTn id="25" dur="500"/>
                                        <p:tgtEl>
                                          <p:spTgt spid="103"/>
                                        </p:tgtEl>
                                      </p:cBhvr>
                                    </p:animEffect>
                                  </p:childTnLst>
                                </p:cTn>
                              </p:par>
                              <p:par>
                                <p:cTn id="26" presetID="23" presetClass="entr" presetSubtype="16" fill="hold" nodeType="withEffect">
                                  <p:stCondLst>
                                    <p:cond delay="0"/>
                                  </p:stCondLst>
                                  <p:childTnLst>
                                    <p:set>
                                      <p:cBhvr>
                                        <p:cTn id="27" dur="1" fill="hold">
                                          <p:stCondLst>
                                            <p:cond delay="0"/>
                                          </p:stCondLst>
                                        </p:cTn>
                                        <p:tgtEl>
                                          <p:spTgt spid="106"/>
                                        </p:tgtEl>
                                        <p:attrNameLst>
                                          <p:attrName>style.visibility</p:attrName>
                                        </p:attrNameLst>
                                      </p:cBhvr>
                                      <p:to>
                                        <p:strVal val="visible"/>
                                      </p:to>
                                    </p:set>
                                    <p:anim calcmode="lin" valueType="num">
                                      <p:cBhvr additive="base">
                                        <p:cTn id="28" dur="500"/>
                                        <p:tgtEl>
                                          <p:spTgt spid="106"/>
                                        </p:tgtEl>
                                        <p:attrNameLst>
                                          <p:attrName>ppt_w</p:attrName>
                                        </p:attrNameLst>
                                      </p:cBhvr>
                                      <p:tavLst>
                                        <p:tav tm="0">
                                          <p:val>
                                            <p:strVal val="0"/>
                                          </p:val>
                                        </p:tav>
                                        <p:tav tm="100000">
                                          <p:val>
                                            <p:strVal val="#ppt_w"/>
                                          </p:val>
                                        </p:tav>
                                      </p:tavLst>
                                    </p:anim>
                                    <p:anim calcmode="lin" valueType="num">
                                      <p:cBhvr additive="base">
                                        <p:cTn id="29" dur="500"/>
                                        <p:tgtEl>
                                          <p:spTgt spid="106"/>
                                        </p:tgtEl>
                                        <p:attrNameLst>
                                          <p:attrName>ppt_h</p:attrName>
                                        </p:attrNameLst>
                                      </p:cBhvr>
                                      <p:tavLst>
                                        <p:tav tm="0">
                                          <p:val>
                                            <p:strVal val="0"/>
                                          </p:val>
                                        </p:tav>
                                        <p:tav tm="100000">
                                          <p:val>
                                            <p:strVal val="#ppt_h"/>
                                          </p:val>
                                        </p:tav>
                                      </p:tavLst>
                                    </p:anim>
                                  </p:childTnLst>
                                </p:cTn>
                              </p:par>
                              <p:par>
                                <p:cTn id="30" presetID="23" presetClass="entr" presetSubtype="16" fill="hold" nodeType="withEffect">
                                  <p:stCondLst>
                                    <p:cond delay="0"/>
                                  </p:stCondLst>
                                  <p:childTnLst>
                                    <p:set>
                                      <p:cBhvr>
                                        <p:cTn id="31" dur="1" fill="hold">
                                          <p:stCondLst>
                                            <p:cond delay="0"/>
                                          </p:stCondLst>
                                        </p:cTn>
                                        <p:tgtEl>
                                          <p:spTgt spid="107"/>
                                        </p:tgtEl>
                                        <p:attrNameLst>
                                          <p:attrName>style.visibility</p:attrName>
                                        </p:attrNameLst>
                                      </p:cBhvr>
                                      <p:to>
                                        <p:strVal val="visible"/>
                                      </p:to>
                                    </p:set>
                                    <p:anim calcmode="lin" valueType="num">
                                      <p:cBhvr additive="base">
                                        <p:cTn id="32" dur="500"/>
                                        <p:tgtEl>
                                          <p:spTgt spid="107"/>
                                        </p:tgtEl>
                                        <p:attrNameLst>
                                          <p:attrName>ppt_w</p:attrName>
                                        </p:attrNameLst>
                                      </p:cBhvr>
                                      <p:tavLst>
                                        <p:tav tm="0">
                                          <p:val>
                                            <p:strVal val="0"/>
                                          </p:val>
                                        </p:tav>
                                        <p:tav tm="100000">
                                          <p:val>
                                            <p:strVal val="#ppt_w"/>
                                          </p:val>
                                        </p:tav>
                                      </p:tavLst>
                                    </p:anim>
                                    <p:anim calcmode="lin" valueType="num">
                                      <p:cBhvr additive="base">
                                        <p:cTn id="33" dur="500"/>
                                        <p:tgtEl>
                                          <p:spTgt spid="107"/>
                                        </p:tgtEl>
                                        <p:attrNameLst>
                                          <p:attrName>ppt_h</p:attrName>
                                        </p:attrNameLst>
                                      </p:cBhvr>
                                      <p:tavLst>
                                        <p:tav tm="0">
                                          <p:val>
                                            <p:str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5"/>
                                        </p:tgtEl>
                                        <p:attrNameLst>
                                          <p:attrName>style.visibility</p:attrName>
                                        </p:attrNameLst>
                                      </p:cBhvr>
                                      <p:to>
                                        <p:strVal val="visible"/>
                                      </p:to>
                                    </p:set>
                                    <p:animEffect transition="in" filter="fade">
                                      <p:cBhvr>
                                        <p:cTn id="38" dur="10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4" name="Google Shape;114;p17"/>
          <p:cNvSpPr txBox="1">
            <a:spLocks noGrp="1"/>
          </p:cNvSpPr>
          <p:nvPr>
            <p:ph type="body" idx="1"/>
          </p:nvPr>
        </p:nvSpPr>
        <p:spPr>
          <a:xfrm>
            <a:off x="229404" y="354865"/>
            <a:ext cx="8520600" cy="455163"/>
          </a:xfrm>
          <a:prstGeom prst="rect">
            <a:avLst/>
          </a:prstGeom>
          <a:noFill/>
          <a:ln>
            <a:noFill/>
          </a:ln>
        </p:spPr>
        <p:txBody>
          <a:bodyPr spcFirstLastPara="1" wrap="square" lIns="91425" tIns="91425" rIns="91425" bIns="91425" anchor="t" anchorCtr="0">
            <a:noAutofit/>
          </a:bodyPr>
          <a:lstStyle/>
          <a:p>
            <a:pPr marL="114300" lvl="0" indent="0" algn="ctr" rtl="0">
              <a:lnSpc>
                <a:spcPct val="115000"/>
              </a:lnSpc>
              <a:spcBef>
                <a:spcPts val="0"/>
              </a:spcBef>
              <a:spcAft>
                <a:spcPts val="0"/>
              </a:spcAft>
              <a:buSzPts val="1800"/>
              <a:buNone/>
            </a:pPr>
            <a:r>
              <a:rPr lang="en-US" dirty="0">
                <a:solidFill>
                  <a:schemeClr val="dk1"/>
                </a:solidFill>
                <a:sym typeface="Consolas"/>
              </a:rPr>
              <a:t>Approaches</a:t>
            </a:r>
            <a:endParaRPr dirty="0"/>
          </a:p>
        </p:txBody>
      </p:sp>
      <p:graphicFrame>
        <p:nvGraphicFramePr>
          <p:cNvPr id="115" name="Google Shape;115;p17"/>
          <p:cNvGraphicFramePr/>
          <p:nvPr/>
        </p:nvGraphicFramePr>
        <p:xfrm>
          <a:off x="6911238" y="1911023"/>
          <a:ext cx="2163500" cy="308625"/>
        </p:xfrm>
        <a:graphic>
          <a:graphicData uri="http://schemas.openxmlformats.org/drawingml/2006/table">
            <a:tbl>
              <a:tblPr firstRow="1" bandRow="1">
                <a:noFill/>
                <a:tableStyleId>{6E97D78C-B00B-49EC-94CF-9D43F3997D6C}</a:tableStyleId>
              </a:tblPr>
              <a:tblGrid>
                <a:gridCol w="540875">
                  <a:extLst>
                    <a:ext uri="{9D8B030D-6E8A-4147-A177-3AD203B41FA5}">
                      <a16:colId xmlns:a16="http://schemas.microsoft.com/office/drawing/2014/main" val="20000"/>
                    </a:ext>
                  </a:extLst>
                </a:gridCol>
                <a:gridCol w="540875">
                  <a:extLst>
                    <a:ext uri="{9D8B030D-6E8A-4147-A177-3AD203B41FA5}">
                      <a16:colId xmlns:a16="http://schemas.microsoft.com/office/drawing/2014/main" val="20001"/>
                    </a:ext>
                  </a:extLst>
                </a:gridCol>
                <a:gridCol w="540875">
                  <a:extLst>
                    <a:ext uri="{9D8B030D-6E8A-4147-A177-3AD203B41FA5}">
                      <a16:colId xmlns:a16="http://schemas.microsoft.com/office/drawing/2014/main" val="20002"/>
                    </a:ext>
                  </a:extLst>
                </a:gridCol>
                <a:gridCol w="540875">
                  <a:extLst>
                    <a:ext uri="{9D8B030D-6E8A-4147-A177-3AD203B41FA5}">
                      <a16:colId xmlns:a16="http://schemas.microsoft.com/office/drawing/2014/main" val="20003"/>
                    </a:ext>
                  </a:extLst>
                </a:gridCol>
              </a:tblGrid>
              <a:tr h="308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p>
                  </a:txBody>
                  <a:tcPr marL="91450" marR="91450" marT="45725" marB="45725">
                    <a:solidFill>
                      <a:srgbClr val="92D050"/>
                    </a:solidFill>
                  </a:tcPr>
                </a:tc>
                <a:extLst>
                  <a:ext uri="{0D108BD9-81ED-4DB2-BD59-A6C34878D82A}">
                    <a16:rowId xmlns:a16="http://schemas.microsoft.com/office/drawing/2014/main" val="10000"/>
                  </a:ext>
                </a:extLst>
              </a:tr>
            </a:tbl>
          </a:graphicData>
        </a:graphic>
      </p:graphicFrame>
      <p:cxnSp>
        <p:nvCxnSpPr>
          <p:cNvPr id="116" name="Google Shape;116;p17"/>
          <p:cNvCxnSpPr/>
          <p:nvPr/>
        </p:nvCxnSpPr>
        <p:spPr>
          <a:xfrm>
            <a:off x="7074976" y="1796739"/>
            <a:ext cx="1836000" cy="0"/>
          </a:xfrm>
          <a:prstGeom prst="straightConnector1">
            <a:avLst/>
          </a:prstGeom>
          <a:noFill/>
          <a:ln w="25400" cap="flat" cmpd="sng">
            <a:solidFill>
              <a:schemeClr val="accent2"/>
            </a:solidFill>
            <a:prstDash val="solid"/>
            <a:round/>
            <a:headEnd type="none" w="sm" len="sm"/>
            <a:tailEnd type="triangle" w="med" len="med"/>
          </a:ln>
          <a:effectLst>
            <a:outerShdw blurRad="40000" dist="20000" dir="5400000" rotWithShape="0">
              <a:srgbClr val="000000">
                <a:alpha val="37254"/>
              </a:srgbClr>
            </a:outerShdw>
          </a:effectLst>
        </p:spPr>
      </p:cxnSp>
      <p:graphicFrame>
        <p:nvGraphicFramePr>
          <p:cNvPr id="117" name="Google Shape;117;p17"/>
          <p:cNvGraphicFramePr/>
          <p:nvPr/>
        </p:nvGraphicFramePr>
        <p:xfrm>
          <a:off x="6911236" y="3662761"/>
          <a:ext cx="2163500" cy="308625"/>
        </p:xfrm>
        <a:graphic>
          <a:graphicData uri="http://schemas.openxmlformats.org/drawingml/2006/table">
            <a:tbl>
              <a:tblPr firstRow="1" bandRow="1">
                <a:noFill/>
                <a:tableStyleId>{6E97D78C-B00B-49EC-94CF-9D43F3997D6C}</a:tableStyleId>
              </a:tblPr>
              <a:tblGrid>
                <a:gridCol w="540875">
                  <a:extLst>
                    <a:ext uri="{9D8B030D-6E8A-4147-A177-3AD203B41FA5}">
                      <a16:colId xmlns:a16="http://schemas.microsoft.com/office/drawing/2014/main" val="20000"/>
                    </a:ext>
                  </a:extLst>
                </a:gridCol>
                <a:gridCol w="540875">
                  <a:extLst>
                    <a:ext uri="{9D8B030D-6E8A-4147-A177-3AD203B41FA5}">
                      <a16:colId xmlns:a16="http://schemas.microsoft.com/office/drawing/2014/main" val="20001"/>
                    </a:ext>
                  </a:extLst>
                </a:gridCol>
                <a:gridCol w="540875">
                  <a:extLst>
                    <a:ext uri="{9D8B030D-6E8A-4147-A177-3AD203B41FA5}">
                      <a16:colId xmlns:a16="http://schemas.microsoft.com/office/drawing/2014/main" val="20002"/>
                    </a:ext>
                  </a:extLst>
                </a:gridCol>
                <a:gridCol w="540875">
                  <a:extLst>
                    <a:ext uri="{9D8B030D-6E8A-4147-A177-3AD203B41FA5}">
                      <a16:colId xmlns:a16="http://schemas.microsoft.com/office/drawing/2014/main" val="20003"/>
                    </a:ext>
                  </a:extLst>
                </a:gridCol>
              </a:tblGrid>
              <a:tr h="308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262626"/>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262626"/>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262626"/>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p>
                  </a:txBody>
                  <a:tcPr marL="91450" marR="91450" marT="45725" marB="45725">
                    <a:solidFill>
                      <a:srgbClr val="FFCC8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262626"/>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p>
                  </a:txBody>
                  <a:tcPr marL="91450" marR="91450" marT="45725" marB="45725">
                    <a:solidFill>
                      <a:srgbClr val="FFCC8B"/>
                    </a:solidFill>
                  </a:tcPr>
                </a:tc>
                <a:extLst>
                  <a:ext uri="{0D108BD9-81ED-4DB2-BD59-A6C34878D82A}">
                    <a16:rowId xmlns:a16="http://schemas.microsoft.com/office/drawing/2014/main" val="10000"/>
                  </a:ext>
                </a:extLst>
              </a:tr>
            </a:tbl>
          </a:graphicData>
        </a:graphic>
      </p:graphicFrame>
      <p:cxnSp>
        <p:nvCxnSpPr>
          <p:cNvPr id="118" name="Google Shape;118;p17"/>
          <p:cNvCxnSpPr/>
          <p:nvPr/>
        </p:nvCxnSpPr>
        <p:spPr>
          <a:xfrm rot="10800000">
            <a:off x="7029331" y="3561925"/>
            <a:ext cx="1802969" cy="0"/>
          </a:xfrm>
          <a:prstGeom prst="straightConnector1">
            <a:avLst/>
          </a:prstGeom>
          <a:noFill/>
          <a:ln w="25400" cap="flat" cmpd="sng">
            <a:solidFill>
              <a:schemeClr val="accent2"/>
            </a:solidFill>
            <a:prstDash val="solid"/>
            <a:round/>
            <a:headEnd type="none" w="sm" len="sm"/>
            <a:tailEnd type="triangle" w="med" len="med"/>
          </a:ln>
          <a:effectLst>
            <a:outerShdw blurRad="40000" dist="20000" dir="5400000" rotWithShape="0">
              <a:srgbClr val="000000">
                <a:alpha val="37254"/>
              </a:srgbClr>
            </a:outerShdw>
          </a:effectLst>
        </p:spPr>
      </p:cxnSp>
      <p:sp>
        <p:nvSpPr>
          <p:cNvPr id="119" name="Google Shape;119;p17"/>
          <p:cNvSpPr txBox="1"/>
          <p:nvPr/>
        </p:nvSpPr>
        <p:spPr>
          <a:xfrm>
            <a:off x="312850" y="982900"/>
            <a:ext cx="6479836" cy="455163"/>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None/>
            </a:pP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1. Brute Force Approach :</a:t>
            </a:r>
            <a:endParaRPr sz="1800" b="0" i="0" u="none" strike="noStrike" cap="none" dirty="0">
              <a:solidFill>
                <a:schemeClr val="dk2"/>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20" name="Google Shape;120;p17"/>
          <p:cNvSpPr txBox="1"/>
          <p:nvPr/>
        </p:nvSpPr>
        <p:spPr>
          <a:xfrm>
            <a:off x="314000" y="1389675"/>
            <a:ext cx="6479836" cy="1401657"/>
          </a:xfrm>
          <a:prstGeom prst="rect">
            <a:avLst/>
          </a:prstGeom>
          <a:noFill/>
          <a:ln>
            <a:noFill/>
          </a:ln>
        </p:spPr>
        <p:txBody>
          <a:bodyPr spcFirstLastPara="1" wrap="square" lIns="91425" tIns="91425" rIns="91425" bIns="91425" anchor="t" anchorCtr="0">
            <a:noAutofit/>
          </a:bodyPr>
          <a:lstStyle/>
          <a:p>
            <a:pPr marL="114300" marR="0" lvl="0" indent="0" algn="just" rtl="0">
              <a:lnSpc>
                <a:spcPct val="115000"/>
              </a:lnSpc>
              <a:spcBef>
                <a:spcPts val="0"/>
              </a:spcBef>
              <a:spcAft>
                <a:spcPts val="0"/>
              </a:spcAft>
              <a:buNone/>
            </a:pP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To determine whether an element is greater than all the items to its right, we begin by comparing all the elements in the array from the beginning to the end.</a:t>
            </a:r>
            <a:endParaRPr sz="1800" b="0" i="0" u="none" strike="noStrike" cap="none" dirty="0">
              <a:solidFill>
                <a:schemeClr val="dk2"/>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21" name="Google Shape;121;p17"/>
          <p:cNvSpPr txBox="1"/>
          <p:nvPr/>
        </p:nvSpPr>
        <p:spPr>
          <a:xfrm>
            <a:off x="314000" y="2778425"/>
            <a:ext cx="6479836" cy="455163"/>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None/>
            </a:pP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2. Efficient Approach - Traversal Method :</a:t>
            </a:r>
            <a:endParaRPr sz="1800" b="0" i="0" u="none" strike="noStrike" cap="none" dirty="0">
              <a:solidFill>
                <a:schemeClr val="dk2"/>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22" name="Google Shape;122;p17"/>
          <p:cNvSpPr txBox="1"/>
          <p:nvPr/>
        </p:nvSpPr>
        <p:spPr>
          <a:xfrm>
            <a:off x="315150" y="3137075"/>
            <a:ext cx="6479836" cy="1689310"/>
          </a:xfrm>
          <a:prstGeom prst="rect">
            <a:avLst/>
          </a:prstGeom>
          <a:noFill/>
          <a:ln>
            <a:noFill/>
          </a:ln>
        </p:spPr>
        <p:txBody>
          <a:bodyPr spcFirstLastPara="1" wrap="square" lIns="91425" tIns="91425" rIns="91425" bIns="91425" anchor="t" anchorCtr="0">
            <a:noAutofit/>
          </a:bodyPr>
          <a:lstStyle/>
          <a:p>
            <a:pPr marL="114300" marR="0" lvl="0" indent="0" algn="just" rtl="0">
              <a:lnSpc>
                <a:spcPct val="115000"/>
              </a:lnSpc>
              <a:spcBef>
                <a:spcPts val="0"/>
              </a:spcBef>
              <a:spcAft>
                <a:spcPts val="0"/>
              </a:spcAft>
              <a:buNone/>
            </a:pP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each candidate, conduct a new traversal. If we give it some consideration, all of the elements on the right side are what we want to compare. The comparison starts from right to left.</a:t>
            </a:r>
            <a:endParaRPr sz="1800" b="0" i="0" u="none" strike="noStrike" cap="none" dirty="0">
              <a:solidFill>
                <a:schemeClr val="dk2"/>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xEl>
                                              <p:pRg st="0" end="0"/>
                                            </p:txEl>
                                          </p:spTgt>
                                        </p:tgtEl>
                                        <p:attrNameLst>
                                          <p:attrName>style.visibility</p:attrName>
                                        </p:attrNameLst>
                                      </p:cBhvr>
                                      <p:to>
                                        <p:strVal val="visible"/>
                                      </p:to>
                                    </p:set>
                                    <p:animEffect transition="in" filter="fade">
                                      <p:cBhvr>
                                        <p:cTn id="7" dur="1000"/>
                                        <p:tgtEl>
                                          <p:spTgt spid="1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
                                            <p:txEl>
                                              <p:pRg st="0" end="0"/>
                                            </p:txEl>
                                          </p:spTgt>
                                        </p:tgtEl>
                                        <p:attrNameLst>
                                          <p:attrName>style.visibility</p:attrName>
                                        </p:attrNameLst>
                                      </p:cBhvr>
                                      <p:to>
                                        <p:strVal val="visible"/>
                                      </p:to>
                                    </p:set>
                                    <p:animEffect transition="in" filter="fade">
                                      <p:cBhvr>
                                        <p:cTn id="12" dur="500"/>
                                        <p:tgtEl>
                                          <p:spTgt spid="1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115"/>
                                        </p:tgtEl>
                                        <p:attrNameLst>
                                          <p:attrName>style.visibility</p:attrName>
                                        </p:attrNameLst>
                                      </p:cBhvr>
                                      <p:to>
                                        <p:strVal val="visible"/>
                                      </p:to>
                                    </p:set>
                                    <p:anim calcmode="lin" valueType="num">
                                      <p:cBhvr additive="base">
                                        <p:cTn id="17" dur="500"/>
                                        <p:tgtEl>
                                          <p:spTgt spid="115"/>
                                        </p:tgtEl>
                                        <p:attrNameLst>
                                          <p:attrName>ppt_x</p:attrName>
                                        </p:attrNameLst>
                                      </p:cBhvr>
                                      <p:tavLst>
                                        <p:tav tm="0">
                                          <p:val>
                                            <p:strVal val="#ppt_x-1"/>
                                          </p:val>
                                        </p:tav>
                                        <p:tav tm="100000">
                                          <p:val>
                                            <p:strVal val="#ppt_x"/>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6"/>
                                        </p:tgtEl>
                                        <p:attrNameLst>
                                          <p:attrName>style.visibility</p:attrName>
                                        </p:attrNameLst>
                                      </p:cBhvr>
                                      <p:to>
                                        <p:strVal val="visible"/>
                                      </p:to>
                                    </p:set>
                                    <p:animEffect transition="in" filter="fade">
                                      <p:cBhvr>
                                        <p:cTn id="22" dur="500"/>
                                        <p:tgtEl>
                                          <p:spTgt spid="1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1">
                                            <p:txEl>
                                              <p:pRg st="0" end="0"/>
                                            </p:txEl>
                                          </p:spTgt>
                                        </p:tgtEl>
                                        <p:attrNameLst>
                                          <p:attrName>style.visibility</p:attrName>
                                        </p:attrNameLst>
                                      </p:cBhvr>
                                      <p:to>
                                        <p:strVal val="visible"/>
                                      </p:to>
                                    </p:set>
                                    <p:animEffect transition="in" filter="fade">
                                      <p:cBhvr>
                                        <p:cTn id="27" dur="500"/>
                                        <p:tgtEl>
                                          <p:spTgt spid="12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6"/>
                                        </p:tgtEl>
                                        <p:attrNameLst>
                                          <p:attrName>style.visibility</p:attrName>
                                        </p:attrNameLst>
                                      </p:cBhvr>
                                      <p:to>
                                        <p:strVal val="visible"/>
                                      </p:to>
                                    </p:set>
                                    <p:animEffect transition="in" filter="fade">
                                      <p:cBhvr>
                                        <p:cTn id="32" dur="500"/>
                                        <p:tgtEl>
                                          <p:spTgt spid="116"/>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17"/>
                                        </p:tgtEl>
                                        <p:attrNameLst>
                                          <p:attrName>style.visibility</p:attrName>
                                        </p:attrNameLst>
                                      </p:cBhvr>
                                      <p:to>
                                        <p:strVal val="visible"/>
                                      </p:to>
                                    </p:set>
                                    <p:anim calcmode="lin" valueType="num">
                                      <p:cBhvr additive="base">
                                        <p:cTn id="37" dur="500"/>
                                        <p:tgtEl>
                                          <p:spTgt spid="117"/>
                                        </p:tgtEl>
                                        <p:attrNameLst>
                                          <p:attrName>ppt_x</p:attrName>
                                        </p:attrNameLst>
                                      </p:cBhvr>
                                      <p:tavLst>
                                        <p:tav tm="0">
                                          <p:val>
                                            <p:strVal val="#ppt_x-1"/>
                                          </p:val>
                                        </p:tav>
                                        <p:tav tm="100000">
                                          <p:val>
                                            <p:strVal val="#ppt_x"/>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18"/>
                                        </p:tgtEl>
                                        <p:attrNameLst>
                                          <p:attrName>style.visibility</p:attrName>
                                        </p:attrNameLst>
                                      </p:cBhvr>
                                      <p:to>
                                        <p:strVal val="visible"/>
                                      </p:to>
                                    </p:set>
                                    <p:animEffect transition="in" filter="fade">
                                      <p:cBhvr>
                                        <p:cTn id="42"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1"/>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0" name="Google Shape;130;p21"/>
          <p:cNvSpPr txBox="1">
            <a:spLocks noGrp="1"/>
          </p:cNvSpPr>
          <p:nvPr>
            <p:ph type="body" idx="1"/>
          </p:nvPr>
        </p:nvSpPr>
        <p:spPr>
          <a:xfrm>
            <a:off x="311700" y="966850"/>
            <a:ext cx="8520600" cy="476939"/>
          </a:xfrm>
          <a:prstGeom prst="rect">
            <a:avLst/>
          </a:prstGeom>
          <a:noFill/>
          <a:ln>
            <a:noFill/>
          </a:ln>
        </p:spPr>
        <p:txBody>
          <a:bodyPr spcFirstLastPara="1" wrap="square" lIns="0" tIns="0" rIns="0" bIns="0" anchor="t" anchorCtr="0">
            <a:noAutofit/>
          </a:bodyPr>
          <a:lstStyle/>
          <a:p>
            <a:pPr marL="114300" lvl="0" indent="0" algn="l" rtl="0">
              <a:lnSpc>
                <a:spcPct val="150000"/>
              </a:lnSpc>
              <a:spcBef>
                <a:spcPts val="0"/>
              </a:spcBef>
              <a:spcAft>
                <a:spcPts val="0"/>
              </a:spcAft>
              <a:buSzPts val="1800"/>
              <a:buNone/>
            </a:pPr>
            <a:r>
              <a:rPr lang="en-US" sz="1600" b="1" dirty="0">
                <a:solidFill>
                  <a:srgbClr val="303030"/>
                </a:solidFill>
                <a:sym typeface="Consolas"/>
              </a:rPr>
              <a:t>1. Brute Force Approach</a:t>
            </a:r>
            <a:endParaRPr b="1" dirty="0"/>
          </a:p>
        </p:txBody>
      </p:sp>
      <p:graphicFrame>
        <p:nvGraphicFramePr>
          <p:cNvPr id="131" name="Google Shape;131;p21"/>
          <p:cNvGraphicFramePr/>
          <p:nvPr/>
        </p:nvGraphicFramePr>
        <p:xfrm>
          <a:off x="3171136" y="4379215"/>
          <a:ext cx="2163500" cy="308625"/>
        </p:xfrm>
        <a:graphic>
          <a:graphicData uri="http://schemas.openxmlformats.org/drawingml/2006/table">
            <a:tbl>
              <a:tblPr firstRow="1" bandRow="1">
                <a:noFill/>
                <a:tableStyleId>{6E97D78C-B00B-49EC-94CF-9D43F3997D6C}</a:tableStyleId>
              </a:tblPr>
              <a:tblGrid>
                <a:gridCol w="540875">
                  <a:extLst>
                    <a:ext uri="{9D8B030D-6E8A-4147-A177-3AD203B41FA5}">
                      <a16:colId xmlns:a16="http://schemas.microsoft.com/office/drawing/2014/main" val="20000"/>
                    </a:ext>
                  </a:extLst>
                </a:gridCol>
                <a:gridCol w="540875">
                  <a:extLst>
                    <a:ext uri="{9D8B030D-6E8A-4147-A177-3AD203B41FA5}">
                      <a16:colId xmlns:a16="http://schemas.microsoft.com/office/drawing/2014/main" val="20001"/>
                    </a:ext>
                  </a:extLst>
                </a:gridCol>
                <a:gridCol w="540875">
                  <a:extLst>
                    <a:ext uri="{9D8B030D-6E8A-4147-A177-3AD203B41FA5}">
                      <a16:colId xmlns:a16="http://schemas.microsoft.com/office/drawing/2014/main" val="20002"/>
                    </a:ext>
                  </a:extLst>
                </a:gridCol>
                <a:gridCol w="540875">
                  <a:extLst>
                    <a:ext uri="{9D8B030D-6E8A-4147-A177-3AD203B41FA5}">
                      <a16:colId xmlns:a16="http://schemas.microsoft.com/office/drawing/2014/main" val="20003"/>
                    </a:ext>
                  </a:extLst>
                </a:gridCol>
              </a:tblGrid>
              <a:tr h="308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2</a:t>
                      </a:r>
                      <a:endParaRPr sz="1400" u="none" strike="noStrike" cap="none" dirty="0"/>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3</a:t>
                      </a:r>
                      <a:endParaRPr sz="1400" u="none" strike="noStrike" cap="none" dirty="0"/>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p>
                  </a:txBody>
                  <a:tcPr marL="91450" marR="91450" marT="45725" marB="45725">
                    <a:solidFill>
                      <a:srgbClr val="92D050"/>
                    </a:solidFill>
                  </a:tcPr>
                </a:tc>
                <a:extLst>
                  <a:ext uri="{0D108BD9-81ED-4DB2-BD59-A6C34878D82A}">
                    <a16:rowId xmlns:a16="http://schemas.microsoft.com/office/drawing/2014/main" val="10000"/>
                  </a:ext>
                </a:extLst>
              </a:tr>
            </a:tbl>
          </a:graphicData>
        </a:graphic>
      </p:graphicFrame>
      <p:cxnSp>
        <p:nvCxnSpPr>
          <p:cNvPr id="132" name="Google Shape;132;p21"/>
          <p:cNvCxnSpPr/>
          <p:nvPr/>
        </p:nvCxnSpPr>
        <p:spPr>
          <a:xfrm>
            <a:off x="3334874" y="4271806"/>
            <a:ext cx="1836000" cy="0"/>
          </a:xfrm>
          <a:prstGeom prst="straightConnector1">
            <a:avLst/>
          </a:prstGeom>
          <a:noFill/>
          <a:ln w="25400" cap="flat" cmpd="sng">
            <a:solidFill>
              <a:schemeClr val="accent2"/>
            </a:solidFill>
            <a:prstDash val="solid"/>
            <a:round/>
            <a:headEnd type="none" w="sm" len="sm"/>
            <a:tailEnd type="triangle" w="med" len="med"/>
          </a:ln>
          <a:effectLst>
            <a:outerShdw blurRad="40000" dist="20000" dir="5400000" rotWithShape="0">
              <a:srgbClr val="000000">
                <a:alpha val="37254"/>
              </a:srgbClr>
            </a:outerShdw>
          </a:effectLst>
        </p:spPr>
      </p:cxnSp>
      <p:sp>
        <p:nvSpPr>
          <p:cNvPr id="133" name="Google Shape;133;p21"/>
          <p:cNvSpPr txBox="1"/>
          <p:nvPr/>
        </p:nvSpPr>
        <p:spPr>
          <a:xfrm>
            <a:off x="305975" y="1421750"/>
            <a:ext cx="8520600" cy="833309"/>
          </a:xfrm>
          <a:prstGeom prst="rect">
            <a:avLst/>
          </a:prstGeom>
          <a:noFill/>
          <a:ln>
            <a:noFill/>
          </a:ln>
        </p:spPr>
        <p:txBody>
          <a:bodyPr spcFirstLastPara="1" wrap="square" lIns="0" tIns="0" rIns="0" bIns="0" anchor="t" anchorCtr="0">
            <a:noAutofit/>
          </a:bodyPr>
          <a:lstStyle/>
          <a:p>
            <a:pPr marL="114300" marR="0" lvl="0" indent="0" algn="l" rtl="0">
              <a:lnSpc>
                <a:spcPct val="150000"/>
              </a:lnSpc>
              <a:spcBef>
                <a:spcPts val="0"/>
              </a:spcBef>
              <a:spcAft>
                <a:spcPts val="0"/>
              </a:spcAft>
              <a:buNone/>
            </a:pP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There is no special intuition needed here. A common fact that we need to compare elements to find the greatest is more than enough.</a:t>
            </a:r>
            <a:endParaRPr sz="1800" b="0" i="0" u="none" strike="noStrike" cap="none" dirty="0">
              <a:solidFill>
                <a:schemeClr val="dk2"/>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4" name="Google Shape;134;p21"/>
          <p:cNvSpPr txBox="1"/>
          <p:nvPr/>
        </p:nvSpPr>
        <p:spPr>
          <a:xfrm>
            <a:off x="312850" y="2453000"/>
            <a:ext cx="8520600" cy="476939"/>
          </a:xfrm>
          <a:prstGeom prst="rect">
            <a:avLst/>
          </a:prstGeom>
          <a:noFill/>
          <a:ln>
            <a:noFill/>
          </a:ln>
        </p:spPr>
        <p:txBody>
          <a:bodyPr spcFirstLastPara="1" wrap="square" lIns="0" tIns="0" rIns="0" bIns="0" anchor="t" anchorCtr="0">
            <a:noAutofit/>
          </a:bodyPr>
          <a:lstStyle/>
          <a:p>
            <a:pPr marL="114300" marR="0" lvl="0" indent="0" algn="l" rtl="0">
              <a:lnSpc>
                <a:spcPct val="150000"/>
              </a:lnSpc>
              <a:spcBef>
                <a:spcPts val="0"/>
              </a:spcBef>
              <a:spcAft>
                <a:spcPts val="0"/>
              </a:spcAft>
              <a:buNone/>
            </a:pPr>
            <a:r>
              <a:rPr lang="en-US" sz="1600" b="0" i="1"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Explanation:</a:t>
            </a:r>
            <a:endParaRPr sz="1800" b="0" i="0" u="none" strike="noStrike" cap="none" dirty="0">
              <a:solidFill>
                <a:schemeClr val="dk2"/>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35" name="Google Shape;135;p21"/>
          <p:cNvSpPr txBox="1"/>
          <p:nvPr/>
        </p:nvSpPr>
        <p:spPr>
          <a:xfrm>
            <a:off x="307125" y="2818525"/>
            <a:ext cx="8520600" cy="1100332"/>
          </a:xfrm>
          <a:prstGeom prst="rect">
            <a:avLst/>
          </a:prstGeom>
          <a:noFill/>
          <a:ln>
            <a:noFill/>
          </a:ln>
        </p:spPr>
        <p:txBody>
          <a:bodyPr spcFirstLastPara="1" wrap="square" lIns="0" tIns="0" rIns="0" bIns="0" anchor="t" anchorCtr="0">
            <a:noAutofit/>
          </a:bodyPr>
          <a:lstStyle/>
          <a:p>
            <a:pPr marL="114300" marR="0" lvl="0" indent="0" algn="l" rtl="0">
              <a:lnSpc>
                <a:spcPct val="150000"/>
              </a:lnSpc>
              <a:spcBef>
                <a:spcPts val="0"/>
              </a:spcBef>
              <a:spcAft>
                <a:spcPts val="0"/>
              </a:spcAft>
              <a:buNone/>
            </a:pP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In this brute force approach, we start checking all the elements from the start of the array to the end to see if an element is greater than all the elements on its right (</a:t>
            </a:r>
            <a:r>
              <a:rPr lang="en-US" sz="1600" b="0" i="0" u="none" strike="noStrike" cap="none" dirty="0" err="1">
                <a:solidFill>
                  <a:srgbClr val="303030"/>
                </a:solidFill>
                <a:latin typeface="Roboto" panose="02000000000000000000" pitchFamily="2" charset="0"/>
                <a:ea typeface="Roboto" panose="02000000000000000000" pitchFamily="2" charset="0"/>
                <a:cs typeface="Roboto" panose="02000000000000000000" pitchFamily="2" charset="0"/>
                <a:sym typeface="Consolas"/>
              </a:rPr>
              <a:t>i.e</a:t>
            </a: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 the leader).</a:t>
            </a:r>
            <a:endParaRPr sz="1800" b="0" i="0" u="none" strike="noStrike" cap="none" dirty="0">
              <a:solidFill>
                <a:schemeClr val="dk2"/>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0">
                                            <p:txEl>
                                              <p:pRg st="0" end="0"/>
                                            </p:txEl>
                                          </p:spTgt>
                                        </p:tgtEl>
                                        <p:attrNameLst>
                                          <p:attrName>style.visibility</p:attrName>
                                        </p:attrNameLst>
                                      </p:cBhvr>
                                      <p:to>
                                        <p:strVal val="visible"/>
                                      </p:to>
                                    </p:set>
                                    <p:animEffect transition="in" filter="fade">
                                      <p:cBhvr>
                                        <p:cTn id="7" dur="500"/>
                                        <p:tgtEl>
                                          <p:spTgt spid="1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
                                            <p:txEl>
                                              <p:pRg st="0" end="0"/>
                                            </p:txEl>
                                          </p:spTgt>
                                        </p:tgtEl>
                                        <p:attrNameLst>
                                          <p:attrName>style.visibility</p:attrName>
                                        </p:attrNameLst>
                                      </p:cBhvr>
                                      <p:to>
                                        <p:strVal val="visible"/>
                                      </p:to>
                                    </p:set>
                                    <p:animEffect transition="in" filter="fade">
                                      <p:cBhvr>
                                        <p:cTn id="12" dur="500"/>
                                        <p:tgtEl>
                                          <p:spTgt spid="13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4">
                                            <p:txEl>
                                              <p:pRg st="0" end="0"/>
                                            </p:txEl>
                                          </p:spTgt>
                                        </p:tgtEl>
                                        <p:attrNameLst>
                                          <p:attrName>style.visibility</p:attrName>
                                        </p:attrNameLst>
                                      </p:cBhvr>
                                      <p:to>
                                        <p:strVal val="visible"/>
                                      </p:to>
                                    </p:set>
                                    <p:animEffect transition="in" filter="fade">
                                      <p:cBhvr>
                                        <p:cTn id="17" dur="500"/>
                                        <p:tgtEl>
                                          <p:spTgt spid="13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5">
                                            <p:txEl>
                                              <p:pRg st="0" end="0"/>
                                            </p:txEl>
                                          </p:spTgt>
                                        </p:tgtEl>
                                        <p:attrNameLst>
                                          <p:attrName>style.visibility</p:attrName>
                                        </p:attrNameLst>
                                      </p:cBhvr>
                                      <p:to>
                                        <p:strVal val="visible"/>
                                      </p:to>
                                    </p:set>
                                    <p:animEffect transition="in" filter="fade">
                                      <p:cBhvr>
                                        <p:cTn id="22" dur="500"/>
                                        <p:tgtEl>
                                          <p:spTgt spid="13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0"/>
                                        </p:tgtEl>
                                        <p:attrNameLst>
                                          <p:attrName>style.visibility</p:attrName>
                                        </p:attrNameLst>
                                      </p:cBhvr>
                                      <p:to>
                                        <p:strVal val="visible"/>
                                      </p:to>
                                    </p:set>
                                    <p:animEffect transition="in" filter="fade">
                                      <p:cBhvr>
                                        <p:cTn id="27" dur="1000"/>
                                        <p:tgtEl>
                                          <p:spTgt spid="1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2"/>
                                        </p:tgtEl>
                                        <p:attrNameLst>
                                          <p:attrName>style.visibility</p:attrName>
                                        </p:attrNameLst>
                                      </p:cBhvr>
                                      <p:to>
                                        <p:strVal val="visible"/>
                                      </p:to>
                                    </p:set>
                                    <p:animEffect transition="in" filter="fade">
                                      <p:cBhvr>
                                        <p:cTn id="32"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3" name="Google Shape;143;p22"/>
          <p:cNvSpPr txBox="1"/>
          <p:nvPr/>
        </p:nvSpPr>
        <p:spPr>
          <a:xfrm>
            <a:off x="697423" y="973312"/>
            <a:ext cx="8097864" cy="10771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200000"/>
              </a:lnSpc>
              <a:spcBef>
                <a:spcPts val="0"/>
              </a:spcBef>
              <a:spcAft>
                <a:spcPts val="0"/>
              </a:spcAft>
              <a:buClr>
                <a:srgbClr val="000000"/>
              </a:buClr>
              <a:buSzPts val="1600"/>
              <a:buFont typeface="Arial"/>
              <a:buChar char="•"/>
            </a:pP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For this, we will use nested loops where the outer loop will check for each element in the array whether it is a leader or not.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4" name="Google Shape;144;p22"/>
          <p:cNvSpPr txBox="1"/>
          <p:nvPr/>
        </p:nvSpPr>
        <p:spPr>
          <a:xfrm>
            <a:off x="698573" y="2095087"/>
            <a:ext cx="8097864" cy="10771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200000"/>
              </a:lnSpc>
              <a:spcBef>
                <a:spcPts val="0"/>
              </a:spcBef>
              <a:spcAft>
                <a:spcPts val="0"/>
              </a:spcAft>
              <a:buClr>
                <a:srgbClr val="000000"/>
              </a:buClr>
              <a:buSzPts val="1600"/>
              <a:buFont typeface="Arial"/>
              <a:buChar char="•"/>
            </a:pP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The inner loop checks if there is any element to the right that is greater than the element currently traversed by the outer loop.</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45" name="Google Shape;145;p22"/>
          <p:cNvSpPr txBox="1"/>
          <p:nvPr/>
        </p:nvSpPr>
        <p:spPr>
          <a:xfrm>
            <a:off x="699723" y="3209987"/>
            <a:ext cx="8097864" cy="10771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200000"/>
              </a:lnSpc>
              <a:spcBef>
                <a:spcPts val="0"/>
              </a:spcBef>
              <a:spcAft>
                <a:spcPts val="0"/>
              </a:spcAft>
              <a:buClr>
                <a:srgbClr val="000000"/>
              </a:buClr>
              <a:buSzPts val="1600"/>
              <a:buFont typeface="Arial"/>
              <a:buChar char="•"/>
            </a:pP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We start by initializing the outer loop pointer to the start element and setting it as the current leader.</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animEffect transition="in" filter="fade">
                                      <p:cBhvr>
                                        <p:cTn id="12" dur="500"/>
                                        <p:tgtEl>
                                          <p:spTgt spid="1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animEffect transition="in" filter="fade">
                                      <p:cBhvr>
                                        <p:cTn id="17"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53" name="Google Shape;153;p24"/>
          <p:cNvSpPr txBox="1"/>
          <p:nvPr/>
        </p:nvSpPr>
        <p:spPr>
          <a:xfrm>
            <a:off x="689674" y="951989"/>
            <a:ext cx="8097864" cy="1569620"/>
          </a:xfrm>
          <a:prstGeom prst="rect">
            <a:avLst/>
          </a:prstGeom>
          <a:noFill/>
          <a:ln>
            <a:noFill/>
          </a:ln>
        </p:spPr>
        <p:txBody>
          <a:bodyPr spcFirstLastPara="1" wrap="square" lIns="91425" tIns="45700" rIns="91425" bIns="45700" anchor="t" anchorCtr="0">
            <a:spAutoFit/>
          </a:bodyPr>
          <a:lstStyle/>
          <a:p>
            <a:pPr marL="285750" marR="0" lvl="0" indent="-285750" algn="l" rtl="0">
              <a:lnSpc>
                <a:spcPct val="200000"/>
              </a:lnSpc>
              <a:spcBef>
                <a:spcPts val="0"/>
              </a:spcBef>
              <a:spcAft>
                <a:spcPts val="0"/>
              </a:spcAft>
              <a:buClr>
                <a:srgbClr val="000000"/>
              </a:buClr>
              <a:buSzPts val="1600"/>
              <a:buFont typeface="Arial"/>
              <a:buChar char="•"/>
            </a:pP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If any element traversed is found greater than the element currently set as a leader, it will not go to the </a:t>
            </a:r>
            <a:r>
              <a:rPr lang="en-US" sz="1600" b="0" i="0" u="none" strike="noStrike" cap="none" dirty="0" err="1">
                <a:solidFill>
                  <a:srgbClr val="303030"/>
                </a:solidFill>
                <a:latin typeface="Roboto" panose="02000000000000000000" pitchFamily="2" charset="0"/>
                <a:ea typeface="Roboto" panose="02000000000000000000" pitchFamily="2" charset="0"/>
                <a:cs typeface="Roboto" panose="02000000000000000000" pitchFamily="2" charset="0"/>
                <a:sym typeface="Consolas"/>
              </a:rPr>
              <a:t>ans</a:t>
            </a: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 array and we increment the outer loop pointer by 1 and set the next element as the current leader.</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54" name="Google Shape;154;p24"/>
          <p:cNvSpPr txBox="1"/>
          <p:nvPr/>
        </p:nvSpPr>
        <p:spPr>
          <a:xfrm>
            <a:off x="690824" y="3036264"/>
            <a:ext cx="8097864" cy="1077178"/>
          </a:xfrm>
          <a:prstGeom prst="rect">
            <a:avLst/>
          </a:prstGeom>
          <a:noFill/>
          <a:ln>
            <a:noFill/>
          </a:ln>
        </p:spPr>
        <p:txBody>
          <a:bodyPr spcFirstLastPara="1" wrap="square" lIns="91425" tIns="45700" rIns="91425" bIns="45700" anchor="t" anchorCtr="0">
            <a:spAutoFit/>
          </a:bodyPr>
          <a:lstStyle/>
          <a:p>
            <a:pPr marL="285750" marR="0" lvl="0" indent="-285750" algn="l" rtl="0">
              <a:lnSpc>
                <a:spcPct val="200000"/>
              </a:lnSpc>
              <a:spcBef>
                <a:spcPts val="0"/>
              </a:spcBef>
              <a:spcAft>
                <a:spcPts val="0"/>
              </a:spcAft>
              <a:buClr>
                <a:srgbClr val="000000"/>
              </a:buClr>
              <a:buSzPts val="1600"/>
              <a:buFont typeface="Arial"/>
              <a:buChar char="•"/>
            </a:pP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If we don’t find any other element to the right greater than the current element, then we push the current element to the </a:t>
            </a:r>
            <a:r>
              <a:rPr lang="en-US" sz="1600" b="0" i="0" u="none" strike="noStrike" cap="none" dirty="0" err="1">
                <a:solidFill>
                  <a:srgbClr val="303030"/>
                </a:solidFill>
                <a:latin typeface="Roboto" panose="02000000000000000000" pitchFamily="2" charset="0"/>
                <a:ea typeface="Roboto" panose="02000000000000000000" pitchFamily="2" charset="0"/>
                <a:cs typeface="Roboto" panose="02000000000000000000" pitchFamily="2" charset="0"/>
                <a:sym typeface="Consolas"/>
              </a:rPr>
              <a:t>ans</a:t>
            </a:r>
            <a:r>
              <a:rPr lang="en-US"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 array stating that is it the leader element.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500"/>
                                        <p:tgtEl>
                                          <p:spTgt spid="1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4"/>
                                        </p:tgtEl>
                                        <p:attrNameLst>
                                          <p:attrName>style.visibility</p:attrName>
                                        </p:attrNameLst>
                                      </p:cBhvr>
                                      <p:to>
                                        <p:strVal val="visible"/>
                                      </p:to>
                                    </p:set>
                                    <p:animEffect transition="in" filter="fade">
                                      <p:cBhvr>
                                        <p:cTn id="12"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62" name="Google Shape;162;p25"/>
          <p:cNvSpPr txBox="1"/>
          <p:nvPr/>
        </p:nvSpPr>
        <p:spPr>
          <a:xfrm>
            <a:off x="785958" y="1841967"/>
            <a:ext cx="3339155" cy="25237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8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Test Case 1</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600"/>
              <a:buFont typeface="Arial"/>
              <a:buNone/>
            </a:pPr>
            <a:r>
              <a:rPr lang="en-US" sz="18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Input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n = 6 </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A[] = {16,17,4,3,5,2}</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chemeClr val="dk1"/>
              </a:buClr>
              <a:buSzPts val="1600"/>
              <a:buFont typeface="Arial"/>
              <a:buNone/>
            </a:pP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600"/>
              <a:buFont typeface="Arial"/>
              <a:buNone/>
            </a:pPr>
            <a:r>
              <a:rPr lang="en-US" sz="18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Output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6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17 5 2</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200000"/>
              </a:lnSpc>
              <a:spcBef>
                <a:spcPts val="0"/>
              </a:spcBef>
              <a:spcAft>
                <a:spcPts val="0"/>
              </a:spcAft>
              <a:buClr>
                <a:srgbClr val="000000"/>
              </a:buClr>
              <a:buSzPts val="1600"/>
              <a:buFont typeface="Arial"/>
              <a:buNone/>
            </a:pPr>
            <a:endParaRPr sz="16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63" name="Google Shape;163;p25"/>
          <p:cNvSpPr txBox="1"/>
          <p:nvPr/>
        </p:nvSpPr>
        <p:spPr>
          <a:xfrm>
            <a:off x="4834890" y="1870632"/>
            <a:ext cx="2540000" cy="20312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8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Test Case 2</a:t>
            </a:r>
            <a:endParaRPr sz="18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600"/>
              <a:buFont typeface="Arial"/>
              <a:buNone/>
            </a:pPr>
            <a:r>
              <a:rPr lang="en-US" sz="18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Input</a:t>
            </a:r>
            <a:endParaRPr sz="1800" b="0" i="0" u="sng"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n = 5</a:t>
            </a:r>
            <a:endParaRPr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 = {1,2,3,4,0}</a:t>
            </a:r>
            <a:endParaRPr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800"/>
              <a:buFont typeface="Arial"/>
              <a:buNone/>
            </a:pPr>
            <a:r>
              <a:rPr lang="en-US" sz="1800" b="0" i="0" u="sng"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Output</a:t>
            </a:r>
            <a:endParaRPr sz="1800" b="0" i="0" u="sng"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4 0</a:t>
            </a:r>
            <a:endParaRPr sz="18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164" name="Google Shape;164;p25"/>
          <p:cNvSpPr txBox="1"/>
          <p:nvPr/>
        </p:nvSpPr>
        <p:spPr>
          <a:xfrm>
            <a:off x="1604075" y="1216617"/>
            <a:ext cx="1537886"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Test Cases</a:t>
            </a:r>
            <a:endParaRPr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4"/>
                                        </p:tgtEl>
                                        <p:attrNameLst>
                                          <p:attrName>style.visibility</p:attrName>
                                        </p:attrNameLst>
                                      </p:cBhvr>
                                      <p:to>
                                        <p:strVal val="visible"/>
                                      </p:to>
                                    </p:set>
                                    <p:animEffect transition="in" filter="fade">
                                      <p:cBhvr>
                                        <p:cTn id="7" dur="1000"/>
                                        <p:tgtEl>
                                          <p:spTgt spid="16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2"/>
                                        </p:tgtEl>
                                        <p:attrNameLst>
                                          <p:attrName>style.visibility</p:attrName>
                                        </p:attrNameLst>
                                      </p:cBhvr>
                                      <p:to>
                                        <p:strVal val="visible"/>
                                      </p:to>
                                    </p:set>
                                    <p:anim calcmode="lin" valueType="num">
                                      <p:cBhvr additive="base">
                                        <p:cTn id="12" dur="500"/>
                                        <p:tgtEl>
                                          <p:spTgt spid="162"/>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3"/>
                                        </p:tgtEl>
                                        <p:attrNameLst>
                                          <p:attrName>style.visibility</p:attrName>
                                        </p:attrNameLst>
                                      </p:cBhvr>
                                      <p:to>
                                        <p:strVal val="visible"/>
                                      </p:to>
                                    </p:set>
                                    <p:anim calcmode="lin" valueType="num">
                                      <p:cBhvr additive="base">
                                        <p:cTn id="17" dur="500"/>
                                        <p:tgtEl>
                                          <p:spTgt spid="1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72" name="Google Shape;172;p35"/>
          <p:cNvSpPr txBox="1"/>
          <p:nvPr/>
        </p:nvSpPr>
        <p:spPr>
          <a:xfrm>
            <a:off x="674176" y="1330812"/>
            <a:ext cx="8276095" cy="4616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endParaRPr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endParaRPr>
          </a:p>
        </p:txBody>
      </p:sp>
      <p:graphicFrame>
        <p:nvGraphicFramePr>
          <p:cNvPr id="173" name="Google Shape;173;p35"/>
          <p:cNvGraphicFramePr/>
          <p:nvPr>
            <p:extLst>
              <p:ext uri="{D42A27DB-BD31-4B8C-83A1-F6EECF244321}">
                <p14:modId xmlns:p14="http://schemas.microsoft.com/office/powerpoint/2010/main" val="2748783150"/>
              </p:ext>
            </p:extLst>
          </p:nvPr>
        </p:nvGraphicFramePr>
        <p:xfrm>
          <a:off x="275100" y="453385"/>
          <a:ext cx="8593800" cy="4236730"/>
        </p:xfrm>
        <a:graphic>
          <a:graphicData uri="http://schemas.openxmlformats.org/drawingml/2006/table">
            <a:tbl>
              <a:tblPr firstRow="1" bandRow="1">
                <a:noFill/>
                <a:tableStyleId>{6E97D78C-B00B-49EC-94CF-9D43F3997D6C}</a:tableStyleId>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3241825">
                <a:tc>
                  <a:txBody>
                    <a:bodyPr/>
                    <a:lstStyle/>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import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java.util</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class Main{</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public static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ArrayList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&lt;Integer&gt;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printLeadersBruteForce</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n){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ArrayList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&lt;Integer&gt;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new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ArrayList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&lt;&gt;();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&lt; n;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boolean</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leader = true;</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j =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+ 1; j &lt; n;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j++</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if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[j] &gt;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leader = false;</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break;</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if (leader)</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ans.add</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return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public static void main(String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args</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Array Initialization.</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n = 6;</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{2,4,6,3,1,2};</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ArrayList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&lt;Integer&gt;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printLeadersBruteForce</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arr,n</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&lt;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ans.size</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System.out.print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ans.get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endParaRPr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endParaRPr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81" name="Google Shape;181;p36"/>
          <p:cNvSpPr txBox="1"/>
          <p:nvPr/>
        </p:nvSpPr>
        <p:spPr>
          <a:xfrm>
            <a:off x="674176" y="1330812"/>
            <a:ext cx="8276095" cy="50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Time and space complexity</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82" name="Google Shape;182;p36"/>
          <p:cNvSpPr txBox="1"/>
          <p:nvPr/>
        </p:nvSpPr>
        <p:spPr>
          <a:xfrm>
            <a:off x="2041560" y="1841967"/>
            <a:ext cx="4572000" cy="1077178"/>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Time Complexity: O(n</a:t>
            </a:r>
            <a:r>
              <a:rPr lang="en-US" sz="1600" b="0" i="0" u="none" strike="noStrike" cap="none" baseline="30000"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2</a:t>
            </a: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b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b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Space Complexity: O(n)</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7"/>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90" name="Google Shape;190;p37"/>
          <p:cNvSpPr txBox="1"/>
          <p:nvPr/>
        </p:nvSpPr>
        <p:spPr>
          <a:xfrm>
            <a:off x="697423" y="801912"/>
            <a:ext cx="8276095" cy="507791"/>
          </a:xfrm>
          <a:prstGeom prst="rect">
            <a:avLst/>
          </a:prstGeom>
          <a:noFill/>
          <a:ln>
            <a:noFill/>
          </a:ln>
        </p:spPr>
        <p:txBody>
          <a:bodyPr spcFirstLastPara="1" wrap="square" lIns="91425" tIns="45700" rIns="91425" bIns="45700" anchor="t" anchorCtr="0">
            <a:spAutoFit/>
          </a:bodyPr>
          <a:lstStyle/>
          <a:p>
            <a:pPr marL="114300" marR="0" lvl="0" indent="0" algn="l" rtl="0">
              <a:lnSpc>
                <a:spcPct val="150000"/>
              </a:lnSpc>
              <a:spcBef>
                <a:spcPts val="0"/>
              </a:spcBef>
              <a:spcAft>
                <a:spcPts val="0"/>
              </a:spcAft>
              <a:buClr>
                <a:srgbClr val="000000"/>
              </a:buClr>
              <a:buSzPts val="1800"/>
              <a:buFont typeface="Arial"/>
              <a:buNone/>
            </a:pPr>
            <a:r>
              <a:rPr lang="en-US" sz="1800" b="1" u="sng"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2. Efficient Approach-traversal Method</a:t>
            </a:r>
            <a:endParaRPr sz="1400" b="1"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91" name="Google Shape;191;p37"/>
          <p:cNvSpPr txBox="1"/>
          <p:nvPr/>
        </p:nvSpPr>
        <p:spPr>
          <a:xfrm>
            <a:off x="698573" y="1256812"/>
            <a:ext cx="8276095" cy="507791"/>
          </a:xfrm>
          <a:prstGeom prst="rect">
            <a:avLst/>
          </a:prstGeom>
          <a:noFill/>
          <a:ln>
            <a:noFill/>
          </a:ln>
        </p:spPr>
        <p:txBody>
          <a:bodyPr spcFirstLastPara="1" wrap="square" lIns="91425" tIns="45700" rIns="91425" bIns="45700" anchor="t" anchorCtr="0">
            <a:spAutoFit/>
          </a:bodyPr>
          <a:lstStyle/>
          <a:p>
            <a:pPr marL="114300" marR="0" lvl="0" indent="0" algn="l" rtl="0">
              <a:lnSpc>
                <a:spcPct val="150000"/>
              </a:lnSpc>
              <a:spcBef>
                <a:spcPts val="0"/>
              </a:spcBef>
              <a:spcAft>
                <a:spcPts val="0"/>
              </a:spcAft>
              <a:buNone/>
            </a:pPr>
            <a:r>
              <a:rPr lang="en-US" sz="18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The comparison starts from right to left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graphicFrame>
        <p:nvGraphicFramePr>
          <p:cNvPr id="192" name="Google Shape;192;p37"/>
          <p:cNvGraphicFramePr/>
          <p:nvPr/>
        </p:nvGraphicFramePr>
        <p:xfrm>
          <a:off x="861066" y="2117277"/>
          <a:ext cx="2163500" cy="308625"/>
        </p:xfrm>
        <a:graphic>
          <a:graphicData uri="http://schemas.openxmlformats.org/drawingml/2006/table">
            <a:tbl>
              <a:tblPr firstRow="1" bandRow="1">
                <a:noFill/>
                <a:tableStyleId>{6E97D78C-B00B-49EC-94CF-9D43F3997D6C}</a:tableStyleId>
              </a:tblPr>
              <a:tblGrid>
                <a:gridCol w="540875">
                  <a:extLst>
                    <a:ext uri="{9D8B030D-6E8A-4147-A177-3AD203B41FA5}">
                      <a16:colId xmlns:a16="http://schemas.microsoft.com/office/drawing/2014/main" val="20000"/>
                    </a:ext>
                  </a:extLst>
                </a:gridCol>
                <a:gridCol w="540875">
                  <a:extLst>
                    <a:ext uri="{9D8B030D-6E8A-4147-A177-3AD203B41FA5}">
                      <a16:colId xmlns:a16="http://schemas.microsoft.com/office/drawing/2014/main" val="20001"/>
                    </a:ext>
                  </a:extLst>
                </a:gridCol>
                <a:gridCol w="540875">
                  <a:extLst>
                    <a:ext uri="{9D8B030D-6E8A-4147-A177-3AD203B41FA5}">
                      <a16:colId xmlns:a16="http://schemas.microsoft.com/office/drawing/2014/main" val="20002"/>
                    </a:ext>
                  </a:extLst>
                </a:gridCol>
                <a:gridCol w="540875">
                  <a:extLst>
                    <a:ext uri="{9D8B030D-6E8A-4147-A177-3AD203B41FA5}">
                      <a16:colId xmlns:a16="http://schemas.microsoft.com/office/drawing/2014/main" val="20003"/>
                    </a:ext>
                  </a:extLst>
                </a:gridCol>
              </a:tblGrid>
              <a:tr h="308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solidFill>
                          <a:srgbClr val="00206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7</a:t>
                      </a:r>
                      <a:endParaRPr sz="1400" u="none" strike="noStrike" cap="none" dirty="0">
                        <a:solidFill>
                          <a:srgbClr val="00206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solidFill>
                          <a:srgbClr val="00206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0</a:t>
                      </a:r>
                      <a:endParaRPr sz="1400" u="none" strike="noStrike" cap="none" dirty="0">
                        <a:solidFill>
                          <a:srgbClr val="002060"/>
                        </a:solidFill>
                      </a:endParaRPr>
                    </a:p>
                  </a:txBody>
                  <a:tcPr marL="91450" marR="91450" marT="45725" marB="45725">
                    <a:solidFill>
                      <a:srgbClr val="92D050"/>
                    </a:solidFill>
                  </a:tcPr>
                </a:tc>
                <a:extLst>
                  <a:ext uri="{0D108BD9-81ED-4DB2-BD59-A6C34878D82A}">
                    <a16:rowId xmlns:a16="http://schemas.microsoft.com/office/drawing/2014/main" val="10000"/>
                  </a:ext>
                </a:extLst>
              </a:tr>
            </a:tbl>
          </a:graphicData>
        </a:graphic>
      </p:graphicFrame>
      <p:sp>
        <p:nvSpPr>
          <p:cNvPr id="193" name="Google Shape;193;p37"/>
          <p:cNvSpPr/>
          <p:nvPr/>
        </p:nvSpPr>
        <p:spPr>
          <a:xfrm>
            <a:off x="2614923" y="2122229"/>
            <a:ext cx="28405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Arial"/>
              </a:rPr>
              <a:t>0</a:t>
            </a:r>
            <a:endParaRPr sz="14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94" name="Google Shape;194;p37"/>
          <p:cNvSpPr txBox="1"/>
          <p:nvPr/>
        </p:nvSpPr>
        <p:spPr>
          <a:xfrm>
            <a:off x="440021" y="2495698"/>
            <a:ext cx="3403218"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0 is Right most member, So it is one of the Leaders.</a:t>
            </a:r>
            <a:endParaRPr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graphicFrame>
        <p:nvGraphicFramePr>
          <p:cNvPr id="195" name="Google Shape;195;p37"/>
          <p:cNvGraphicFramePr/>
          <p:nvPr/>
        </p:nvGraphicFramePr>
        <p:xfrm>
          <a:off x="5867344" y="2097798"/>
          <a:ext cx="2163500" cy="308625"/>
        </p:xfrm>
        <a:graphic>
          <a:graphicData uri="http://schemas.openxmlformats.org/drawingml/2006/table">
            <a:tbl>
              <a:tblPr firstRow="1" bandRow="1">
                <a:noFill/>
                <a:tableStyleId>{6E97D78C-B00B-49EC-94CF-9D43F3997D6C}</a:tableStyleId>
              </a:tblPr>
              <a:tblGrid>
                <a:gridCol w="540875">
                  <a:extLst>
                    <a:ext uri="{9D8B030D-6E8A-4147-A177-3AD203B41FA5}">
                      <a16:colId xmlns:a16="http://schemas.microsoft.com/office/drawing/2014/main" val="20000"/>
                    </a:ext>
                  </a:extLst>
                </a:gridCol>
                <a:gridCol w="540875">
                  <a:extLst>
                    <a:ext uri="{9D8B030D-6E8A-4147-A177-3AD203B41FA5}">
                      <a16:colId xmlns:a16="http://schemas.microsoft.com/office/drawing/2014/main" val="20001"/>
                    </a:ext>
                  </a:extLst>
                </a:gridCol>
                <a:gridCol w="540875">
                  <a:extLst>
                    <a:ext uri="{9D8B030D-6E8A-4147-A177-3AD203B41FA5}">
                      <a16:colId xmlns:a16="http://schemas.microsoft.com/office/drawing/2014/main" val="20002"/>
                    </a:ext>
                  </a:extLst>
                </a:gridCol>
                <a:gridCol w="540875">
                  <a:extLst>
                    <a:ext uri="{9D8B030D-6E8A-4147-A177-3AD203B41FA5}">
                      <a16:colId xmlns:a16="http://schemas.microsoft.com/office/drawing/2014/main" val="20003"/>
                    </a:ext>
                  </a:extLst>
                </a:gridCol>
              </a:tblGrid>
              <a:tr h="308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solidFill>
                          <a:srgbClr val="00206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7</a:t>
                      </a:r>
                      <a:endParaRPr sz="1400" u="none" strike="noStrike" cap="none" dirty="0">
                        <a:solidFill>
                          <a:srgbClr val="00206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solidFill>
                          <a:srgbClr val="00206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0</a:t>
                      </a:r>
                      <a:endParaRPr sz="1400" u="none" strike="noStrike" cap="none" dirty="0">
                        <a:solidFill>
                          <a:srgbClr val="FF0000"/>
                        </a:solidFill>
                      </a:endParaRPr>
                    </a:p>
                  </a:txBody>
                  <a:tcPr marL="91450" marR="91450" marT="45725" marB="45725">
                    <a:solidFill>
                      <a:srgbClr val="92D050"/>
                    </a:solidFill>
                  </a:tcPr>
                </a:tc>
                <a:extLst>
                  <a:ext uri="{0D108BD9-81ED-4DB2-BD59-A6C34878D82A}">
                    <a16:rowId xmlns:a16="http://schemas.microsoft.com/office/drawing/2014/main" val="10000"/>
                  </a:ext>
                </a:extLst>
              </a:tr>
            </a:tbl>
          </a:graphicData>
        </a:graphic>
      </p:graphicFrame>
      <p:sp>
        <p:nvSpPr>
          <p:cNvPr id="196" name="Google Shape;196;p37"/>
          <p:cNvSpPr/>
          <p:nvPr/>
        </p:nvSpPr>
        <p:spPr>
          <a:xfrm>
            <a:off x="7078076" y="2102750"/>
            <a:ext cx="28405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Arial"/>
              </a:rPr>
              <a:t>1</a:t>
            </a:r>
            <a:endParaRPr sz="14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197" name="Google Shape;197;p37"/>
          <p:cNvSpPr txBox="1"/>
          <p:nvPr/>
        </p:nvSpPr>
        <p:spPr>
          <a:xfrm>
            <a:off x="5267549" y="2476219"/>
            <a:ext cx="3403218"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1 &gt; 0. Only one element to it’s right.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00000"/>
              </a:lnSpc>
              <a:spcBef>
                <a:spcPts val="0"/>
              </a:spcBef>
              <a:spcAft>
                <a:spcPts val="0"/>
              </a:spcAft>
              <a:buNone/>
            </a:pPr>
            <a:r>
              <a:rPr lang="en-US"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So it is one of the Leaders.</a:t>
            </a:r>
            <a:endParaRPr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graphicFrame>
        <p:nvGraphicFramePr>
          <p:cNvPr id="198" name="Google Shape;198;p37"/>
          <p:cNvGraphicFramePr/>
          <p:nvPr/>
        </p:nvGraphicFramePr>
        <p:xfrm>
          <a:off x="855341" y="3335302"/>
          <a:ext cx="2163500" cy="308625"/>
        </p:xfrm>
        <a:graphic>
          <a:graphicData uri="http://schemas.openxmlformats.org/drawingml/2006/table">
            <a:tbl>
              <a:tblPr firstRow="1" bandRow="1">
                <a:noFill/>
                <a:tableStyleId>{6E97D78C-B00B-49EC-94CF-9D43F3997D6C}</a:tableStyleId>
              </a:tblPr>
              <a:tblGrid>
                <a:gridCol w="540875">
                  <a:extLst>
                    <a:ext uri="{9D8B030D-6E8A-4147-A177-3AD203B41FA5}">
                      <a16:colId xmlns:a16="http://schemas.microsoft.com/office/drawing/2014/main" val="20000"/>
                    </a:ext>
                  </a:extLst>
                </a:gridCol>
                <a:gridCol w="540875">
                  <a:extLst>
                    <a:ext uri="{9D8B030D-6E8A-4147-A177-3AD203B41FA5}">
                      <a16:colId xmlns:a16="http://schemas.microsoft.com/office/drawing/2014/main" val="20001"/>
                    </a:ext>
                  </a:extLst>
                </a:gridCol>
                <a:gridCol w="540875">
                  <a:extLst>
                    <a:ext uri="{9D8B030D-6E8A-4147-A177-3AD203B41FA5}">
                      <a16:colId xmlns:a16="http://schemas.microsoft.com/office/drawing/2014/main" val="20002"/>
                    </a:ext>
                  </a:extLst>
                </a:gridCol>
                <a:gridCol w="540875">
                  <a:extLst>
                    <a:ext uri="{9D8B030D-6E8A-4147-A177-3AD203B41FA5}">
                      <a16:colId xmlns:a16="http://schemas.microsoft.com/office/drawing/2014/main" val="20003"/>
                    </a:ext>
                  </a:extLst>
                </a:gridCol>
              </a:tblGrid>
              <a:tr h="308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solidFill>
                          <a:srgbClr val="00206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7</a:t>
                      </a:r>
                      <a:endParaRPr sz="1400" u="none" strike="noStrike" cap="none" dirty="0">
                        <a:solidFill>
                          <a:srgbClr val="00206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solidFill>
                          <a:srgbClr val="FF000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0</a:t>
                      </a:r>
                      <a:endParaRPr sz="1400" u="none" strike="noStrike" cap="none" dirty="0">
                        <a:solidFill>
                          <a:srgbClr val="FF0000"/>
                        </a:solidFill>
                      </a:endParaRPr>
                    </a:p>
                  </a:txBody>
                  <a:tcPr marL="91450" marR="91450" marT="45725" marB="45725">
                    <a:solidFill>
                      <a:srgbClr val="92D050"/>
                    </a:solidFill>
                  </a:tcPr>
                </a:tc>
                <a:extLst>
                  <a:ext uri="{0D108BD9-81ED-4DB2-BD59-A6C34878D82A}">
                    <a16:rowId xmlns:a16="http://schemas.microsoft.com/office/drawing/2014/main" val="10000"/>
                  </a:ext>
                </a:extLst>
              </a:tr>
            </a:tbl>
          </a:graphicData>
        </a:graphic>
      </p:graphicFrame>
      <p:sp>
        <p:nvSpPr>
          <p:cNvPr id="199" name="Google Shape;199;p37"/>
          <p:cNvSpPr/>
          <p:nvPr/>
        </p:nvSpPr>
        <p:spPr>
          <a:xfrm>
            <a:off x="1522948" y="3333379"/>
            <a:ext cx="28405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Arial"/>
              </a:rPr>
              <a:t>7</a:t>
            </a:r>
            <a:endParaRPr sz="1400" b="1"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00" name="Google Shape;200;p37"/>
          <p:cNvSpPr txBox="1"/>
          <p:nvPr/>
        </p:nvSpPr>
        <p:spPr>
          <a:xfrm>
            <a:off x="434296" y="3713723"/>
            <a:ext cx="3403218"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7 is greater than all the members to it’s Right.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00000"/>
              </a:lnSpc>
              <a:spcBef>
                <a:spcPts val="0"/>
              </a:spcBef>
              <a:spcAft>
                <a:spcPts val="0"/>
              </a:spcAft>
              <a:buNone/>
            </a:pPr>
            <a:r>
              <a:rPr lang="en-US"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So it is one of the Leaders.</a:t>
            </a:r>
            <a:endParaRPr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graphicFrame>
        <p:nvGraphicFramePr>
          <p:cNvPr id="201" name="Google Shape;201;p37"/>
          <p:cNvGraphicFramePr/>
          <p:nvPr/>
        </p:nvGraphicFramePr>
        <p:xfrm>
          <a:off x="5875369" y="3281448"/>
          <a:ext cx="2163500" cy="308625"/>
        </p:xfrm>
        <a:graphic>
          <a:graphicData uri="http://schemas.openxmlformats.org/drawingml/2006/table">
            <a:tbl>
              <a:tblPr firstRow="1" bandRow="1">
                <a:noFill/>
                <a:tableStyleId>{6E97D78C-B00B-49EC-94CF-9D43F3997D6C}</a:tableStyleId>
              </a:tblPr>
              <a:tblGrid>
                <a:gridCol w="540875">
                  <a:extLst>
                    <a:ext uri="{9D8B030D-6E8A-4147-A177-3AD203B41FA5}">
                      <a16:colId xmlns:a16="http://schemas.microsoft.com/office/drawing/2014/main" val="20000"/>
                    </a:ext>
                  </a:extLst>
                </a:gridCol>
                <a:gridCol w="540875">
                  <a:extLst>
                    <a:ext uri="{9D8B030D-6E8A-4147-A177-3AD203B41FA5}">
                      <a16:colId xmlns:a16="http://schemas.microsoft.com/office/drawing/2014/main" val="20001"/>
                    </a:ext>
                  </a:extLst>
                </a:gridCol>
                <a:gridCol w="540875">
                  <a:extLst>
                    <a:ext uri="{9D8B030D-6E8A-4147-A177-3AD203B41FA5}">
                      <a16:colId xmlns:a16="http://schemas.microsoft.com/office/drawing/2014/main" val="20002"/>
                    </a:ext>
                  </a:extLst>
                </a:gridCol>
                <a:gridCol w="540875">
                  <a:extLst>
                    <a:ext uri="{9D8B030D-6E8A-4147-A177-3AD203B41FA5}">
                      <a16:colId xmlns:a16="http://schemas.microsoft.com/office/drawing/2014/main" val="20003"/>
                    </a:ext>
                  </a:extLst>
                </a:gridCol>
              </a:tblGrid>
              <a:tr h="308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rPr>
                        <a:t>4</a:t>
                      </a:r>
                      <a:endParaRPr sz="1400" u="none" strike="noStrike" cap="none" dirty="0">
                        <a:solidFill>
                          <a:srgbClr val="00206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7</a:t>
                      </a:r>
                      <a:endParaRPr sz="1400" u="none" strike="noStrike" cap="none" dirty="0">
                        <a:solidFill>
                          <a:srgbClr val="FF000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1</a:t>
                      </a:r>
                      <a:endParaRPr sz="1400" u="none" strike="noStrike" cap="none" dirty="0">
                        <a:solidFill>
                          <a:srgbClr val="FF0000"/>
                        </a:solidFill>
                      </a:endParaRPr>
                    </a:p>
                  </a:txBody>
                  <a:tcPr marL="91450" marR="91450" marT="45725" marB="45725">
                    <a:solidFill>
                      <a:srgbClr val="92D050"/>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rPr>
                        <a:t>0</a:t>
                      </a:r>
                      <a:endParaRPr sz="1400" u="none" strike="noStrike" cap="none" dirty="0">
                        <a:solidFill>
                          <a:srgbClr val="FF0000"/>
                        </a:solidFill>
                      </a:endParaRPr>
                    </a:p>
                  </a:txBody>
                  <a:tcPr marL="91450" marR="91450" marT="45725" marB="45725">
                    <a:solidFill>
                      <a:srgbClr val="92D050"/>
                    </a:solidFill>
                  </a:tcPr>
                </a:tc>
                <a:extLst>
                  <a:ext uri="{0D108BD9-81ED-4DB2-BD59-A6C34878D82A}">
                    <a16:rowId xmlns:a16="http://schemas.microsoft.com/office/drawing/2014/main" val="10000"/>
                  </a:ext>
                </a:extLst>
              </a:tr>
            </a:tbl>
          </a:graphicData>
        </a:graphic>
      </p:graphicFrame>
      <p:sp>
        <p:nvSpPr>
          <p:cNvPr id="202" name="Google Shape;202;p37"/>
          <p:cNvSpPr/>
          <p:nvPr/>
        </p:nvSpPr>
        <p:spPr>
          <a:xfrm>
            <a:off x="6006726" y="3279525"/>
            <a:ext cx="284052"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sym typeface="Arial"/>
              </a:rPr>
              <a:t>4</a:t>
            </a:r>
            <a:endParaRPr sz="1400" b="1" i="0" u="none" strike="noStrike" cap="none" dirty="0">
              <a:solidFill>
                <a:srgbClr val="00206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03" name="Google Shape;203;p37"/>
          <p:cNvSpPr txBox="1"/>
          <p:nvPr/>
        </p:nvSpPr>
        <p:spPr>
          <a:xfrm>
            <a:off x="5275574" y="3659869"/>
            <a:ext cx="3403218"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4 &lt; 7 to it’s right.</a:t>
            </a:r>
            <a:endParaRPr dirty="0">
              <a:latin typeface="Roboto" panose="02000000000000000000" pitchFamily="2" charset="0"/>
              <a:ea typeface="Roboto" panose="02000000000000000000" pitchFamily="2" charset="0"/>
              <a:cs typeface="Roboto" panose="02000000000000000000" pitchFamily="2" charset="0"/>
            </a:endParaRPr>
          </a:p>
          <a:p>
            <a:pPr marL="0" marR="0" lvl="0" indent="0" algn="ctr" rtl="0">
              <a:lnSpc>
                <a:spcPct val="100000"/>
              </a:lnSpc>
              <a:spcBef>
                <a:spcPts val="0"/>
              </a:spcBef>
              <a:spcAft>
                <a:spcPts val="0"/>
              </a:spcAft>
              <a:buNone/>
            </a:pPr>
            <a:r>
              <a:rPr lang="en-US"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So it is not a Leader.</a:t>
            </a:r>
            <a:endParaRPr sz="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04" name="Google Shape;204;p37"/>
          <p:cNvSpPr txBox="1"/>
          <p:nvPr/>
        </p:nvSpPr>
        <p:spPr>
          <a:xfrm>
            <a:off x="339187" y="2711122"/>
            <a:ext cx="3403218"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8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Leaders: [0]</a:t>
            </a:r>
            <a:endParaRPr sz="8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05" name="Google Shape;205;p37"/>
          <p:cNvSpPr txBox="1"/>
          <p:nvPr/>
        </p:nvSpPr>
        <p:spPr>
          <a:xfrm>
            <a:off x="5623910" y="2808520"/>
            <a:ext cx="2808525"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8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Leaders: [0, 1]</a:t>
            </a:r>
            <a:endParaRPr sz="8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06" name="Google Shape;206;p37"/>
          <p:cNvSpPr txBox="1"/>
          <p:nvPr/>
        </p:nvSpPr>
        <p:spPr>
          <a:xfrm>
            <a:off x="454914" y="4109076"/>
            <a:ext cx="2808525"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8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Leaders: [0, 1, 7]</a:t>
            </a:r>
            <a:endParaRPr sz="8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07" name="Google Shape;207;p37"/>
          <p:cNvSpPr txBox="1"/>
          <p:nvPr/>
        </p:nvSpPr>
        <p:spPr>
          <a:xfrm>
            <a:off x="5564325" y="4055220"/>
            <a:ext cx="2808525" cy="21544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8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rPr>
              <a:t>Leaders: [0, 1, 7]</a:t>
            </a:r>
            <a:endParaRPr sz="800" b="0" i="0" u="none" strike="noStrike" cap="none" dirty="0">
              <a:solidFill>
                <a:srgbClr val="FF0000"/>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fade">
                                      <p:cBhvr>
                                        <p:cTn id="7" dur="500"/>
                                        <p:tgtEl>
                                          <p:spTgt spid="1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0"/>
                                        </p:tgtEl>
                                        <p:attrNameLst>
                                          <p:attrName>style.visibility</p:attrName>
                                        </p:attrNameLst>
                                      </p:cBhvr>
                                      <p:to>
                                        <p:strVal val="visible"/>
                                      </p:to>
                                    </p:set>
                                    <p:animEffect transition="in" filter="fade">
                                      <p:cBhvr>
                                        <p:cTn id="12" dur="500"/>
                                        <p:tgtEl>
                                          <p:spTgt spid="19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2"/>
                                        </p:tgtEl>
                                        <p:attrNameLst>
                                          <p:attrName>style.visibility</p:attrName>
                                        </p:attrNameLst>
                                      </p:cBhvr>
                                      <p:to>
                                        <p:strVal val="visible"/>
                                      </p:to>
                                    </p:set>
                                    <p:animEffect transition="in" filter="fade">
                                      <p:cBhvr>
                                        <p:cTn id="17" dur="1000"/>
                                        <p:tgtEl>
                                          <p:spTgt spid="19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
                                        </p:tgtEl>
                                        <p:attrNameLst>
                                          <p:attrName>style.visibility</p:attrName>
                                        </p:attrNameLst>
                                      </p:cBhvr>
                                      <p:to>
                                        <p:strVal val="visible"/>
                                      </p:to>
                                    </p:set>
                                    <p:animEffect transition="in" filter="fade">
                                      <p:cBhvr>
                                        <p:cTn id="22" dur="1000"/>
                                        <p:tgtEl>
                                          <p:spTgt spid="194"/>
                                        </p:tgtEl>
                                      </p:cBhvr>
                                    </p:animEffect>
                                  </p:childTnLst>
                                </p:cTn>
                              </p:par>
                              <p:par>
                                <p:cTn id="23" presetID="10" presetClass="entr" presetSubtype="0" fill="hold" nodeType="withEffect">
                                  <p:stCondLst>
                                    <p:cond delay="0"/>
                                  </p:stCondLst>
                                  <p:childTnLst>
                                    <p:set>
                                      <p:cBhvr>
                                        <p:cTn id="24" dur="1" fill="hold">
                                          <p:stCondLst>
                                            <p:cond delay="0"/>
                                          </p:stCondLst>
                                        </p:cTn>
                                        <p:tgtEl>
                                          <p:spTgt spid="193"/>
                                        </p:tgtEl>
                                        <p:attrNameLst>
                                          <p:attrName>style.visibility</p:attrName>
                                        </p:attrNameLst>
                                      </p:cBhvr>
                                      <p:to>
                                        <p:strVal val="visible"/>
                                      </p:to>
                                    </p:set>
                                    <p:animEffect transition="in" filter="fade">
                                      <p:cBhvr>
                                        <p:cTn id="25" dur="1000"/>
                                        <p:tgtEl>
                                          <p:spTgt spid="19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04"/>
                                        </p:tgtEl>
                                        <p:attrNameLst>
                                          <p:attrName>style.visibility</p:attrName>
                                        </p:attrNameLst>
                                      </p:cBhvr>
                                      <p:to>
                                        <p:strVal val="visible"/>
                                      </p:to>
                                    </p:set>
                                    <p:animEffect transition="in" filter="fade">
                                      <p:cBhvr>
                                        <p:cTn id="30" dur="1000"/>
                                        <p:tgtEl>
                                          <p:spTgt spid="20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5"/>
                                        </p:tgtEl>
                                        <p:attrNameLst>
                                          <p:attrName>style.visibility</p:attrName>
                                        </p:attrNameLst>
                                      </p:cBhvr>
                                      <p:to>
                                        <p:strVal val="visible"/>
                                      </p:to>
                                    </p:set>
                                    <p:animEffect transition="in" filter="fade">
                                      <p:cBhvr>
                                        <p:cTn id="35" dur="1000"/>
                                        <p:tgtEl>
                                          <p:spTgt spid="19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7"/>
                                        </p:tgtEl>
                                        <p:attrNameLst>
                                          <p:attrName>style.visibility</p:attrName>
                                        </p:attrNameLst>
                                      </p:cBhvr>
                                      <p:to>
                                        <p:strVal val="visible"/>
                                      </p:to>
                                    </p:set>
                                    <p:animEffect transition="in" filter="fade">
                                      <p:cBhvr>
                                        <p:cTn id="40" dur="1000"/>
                                        <p:tgtEl>
                                          <p:spTgt spid="197"/>
                                        </p:tgtEl>
                                      </p:cBhvr>
                                    </p:animEffect>
                                  </p:childTnLst>
                                </p:cTn>
                              </p:par>
                              <p:par>
                                <p:cTn id="41" presetID="10" presetClass="entr" presetSubtype="0" fill="hold" nodeType="withEffect">
                                  <p:stCondLst>
                                    <p:cond delay="0"/>
                                  </p:stCondLst>
                                  <p:childTnLst>
                                    <p:set>
                                      <p:cBhvr>
                                        <p:cTn id="42" dur="1" fill="hold">
                                          <p:stCondLst>
                                            <p:cond delay="0"/>
                                          </p:stCondLst>
                                        </p:cTn>
                                        <p:tgtEl>
                                          <p:spTgt spid="196"/>
                                        </p:tgtEl>
                                        <p:attrNameLst>
                                          <p:attrName>style.visibility</p:attrName>
                                        </p:attrNameLst>
                                      </p:cBhvr>
                                      <p:to>
                                        <p:strVal val="visible"/>
                                      </p:to>
                                    </p:set>
                                    <p:animEffect transition="in" filter="fade">
                                      <p:cBhvr>
                                        <p:cTn id="43" dur="1000"/>
                                        <p:tgtEl>
                                          <p:spTgt spid="19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05"/>
                                        </p:tgtEl>
                                        <p:attrNameLst>
                                          <p:attrName>style.visibility</p:attrName>
                                        </p:attrNameLst>
                                      </p:cBhvr>
                                      <p:to>
                                        <p:strVal val="visible"/>
                                      </p:to>
                                    </p:set>
                                    <p:animEffect transition="in" filter="fade">
                                      <p:cBhvr>
                                        <p:cTn id="48" dur="1000"/>
                                        <p:tgtEl>
                                          <p:spTgt spid="205"/>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98"/>
                                        </p:tgtEl>
                                        <p:attrNameLst>
                                          <p:attrName>style.visibility</p:attrName>
                                        </p:attrNameLst>
                                      </p:cBhvr>
                                      <p:to>
                                        <p:strVal val="visible"/>
                                      </p:to>
                                    </p:set>
                                    <p:animEffect transition="in" filter="fade">
                                      <p:cBhvr>
                                        <p:cTn id="53" dur="1000"/>
                                        <p:tgtEl>
                                          <p:spTgt spid="19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00"/>
                                        </p:tgtEl>
                                        <p:attrNameLst>
                                          <p:attrName>style.visibility</p:attrName>
                                        </p:attrNameLst>
                                      </p:cBhvr>
                                      <p:to>
                                        <p:strVal val="visible"/>
                                      </p:to>
                                    </p:set>
                                    <p:animEffect transition="in" filter="fade">
                                      <p:cBhvr>
                                        <p:cTn id="58" dur="1000"/>
                                        <p:tgtEl>
                                          <p:spTgt spid="200"/>
                                        </p:tgtEl>
                                      </p:cBhvr>
                                    </p:animEffect>
                                  </p:childTnLst>
                                </p:cTn>
                              </p:par>
                              <p:par>
                                <p:cTn id="59" presetID="10" presetClass="entr" presetSubtype="0" fill="hold" nodeType="withEffect">
                                  <p:stCondLst>
                                    <p:cond delay="0"/>
                                  </p:stCondLst>
                                  <p:childTnLst>
                                    <p:set>
                                      <p:cBhvr>
                                        <p:cTn id="60" dur="1" fill="hold">
                                          <p:stCondLst>
                                            <p:cond delay="0"/>
                                          </p:stCondLst>
                                        </p:cTn>
                                        <p:tgtEl>
                                          <p:spTgt spid="199"/>
                                        </p:tgtEl>
                                        <p:attrNameLst>
                                          <p:attrName>style.visibility</p:attrName>
                                        </p:attrNameLst>
                                      </p:cBhvr>
                                      <p:to>
                                        <p:strVal val="visible"/>
                                      </p:to>
                                    </p:set>
                                    <p:animEffect transition="in" filter="fade">
                                      <p:cBhvr>
                                        <p:cTn id="61" dur="1000"/>
                                        <p:tgtEl>
                                          <p:spTgt spid="19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6"/>
                                        </p:tgtEl>
                                        <p:attrNameLst>
                                          <p:attrName>style.visibility</p:attrName>
                                        </p:attrNameLst>
                                      </p:cBhvr>
                                      <p:to>
                                        <p:strVal val="visible"/>
                                      </p:to>
                                    </p:set>
                                    <p:animEffect transition="in" filter="fade">
                                      <p:cBhvr>
                                        <p:cTn id="66" dur="1000"/>
                                        <p:tgtEl>
                                          <p:spTgt spid="20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01"/>
                                        </p:tgtEl>
                                        <p:attrNameLst>
                                          <p:attrName>style.visibility</p:attrName>
                                        </p:attrNameLst>
                                      </p:cBhvr>
                                      <p:to>
                                        <p:strVal val="visible"/>
                                      </p:to>
                                    </p:set>
                                    <p:animEffect transition="in" filter="fade">
                                      <p:cBhvr>
                                        <p:cTn id="71" dur="1000"/>
                                        <p:tgtEl>
                                          <p:spTgt spid="201"/>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203"/>
                                        </p:tgtEl>
                                        <p:attrNameLst>
                                          <p:attrName>style.visibility</p:attrName>
                                        </p:attrNameLst>
                                      </p:cBhvr>
                                      <p:to>
                                        <p:strVal val="visible"/>
                                      </p:to>
                                    </p:set>
                                    <p:animEffect transition="in" filter="fade">
                                      <p:cBhvr>
                                        <p:cTn id="76" dur="1000"/>
                                        <p:tgtEl>
                                          <p:spTgt spid="203"/>
                                        </p:tgtEl>
                                      </p:cBhvr>
                                    </p:animEffect>
                                  </p:childTnLst>
                                </p:cTn>
                              </p:par>
                              <p:par>
                                <p:cTn id="77" presetID="10" presetClass="entr" presetSubtype="0" fill="hold" nodeType="withEffect">
                                  <p:stCondLst>
                                    <p:cond delay="0"/>
                                  </p:stCondLst>
                                  <p:childTnLst>
                                    <p:set>
                                      <p:cBhvr>
                                        <p:cTn id="78" dur="1" fill="hold">
                                          <p:stCondLst>
                                            <p:cond delay="0"/>
                                          </p:stCondLst>
                                        </p:cTn>
                                        <p:tgtEl>
                                          <p:spTgt spid="202"/>
                                        </p:tgtEl>
                                        <p:attrNameLst>
                                          <p:attrName>style.visibility</p:attrName>
                                        </p:attrNameLst>
                                      </p:cBhvr>
                                      <p:to>
                                        <p:strVal val="visible"/>
                                      </p:to>
                                    </p:set>
                                    <p:animEffect transition="in" filter="fade">
                                      <p:cBhvr>
                                        <p:cTn id="79" dur="1000"/>
                                        <p:tgtEl>
                                          <p:spTgt spid="202"/>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07"/>
                                        </p:tgtEl>
                                        <p:attrNameLst>
                                          <p:attrName>style.visibility</p:attrName>
                                        </p:attrNameLst>
                                      </p:cBhvr>
                                      <p:to>
                                        <p:strVal val="visible"/>
                                      </p:to>
                                    </p:set>
                                    <p:animEffect transition="in" filter="fade">
                                      <p:cBhvr>
                                        <p:cTn id="84" dur="10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8"/>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15" name="Google Shape;215;p38"/>
          <p:cNvSpPr txBox="1"/>
          <p:nvPr/>
        </p:nvSpPr>
        <p:spPr>
          <a:xfrm>
            <a:off x="555120" y="741120"/>
            <a:ext cx="8276095" cy="92328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In the above approach, we do a fresh traversal for each candidate. we only want to compare the elements on the right side.</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16" name="Google Shape;216;p38"/>
          <p:cNvSpPr txBox="1"/>
          <p:nvPr/>
        </p:nvSpPr>
        <p:spPr>
          <a:xfrm>
            <a:off x="556270" y="2041645"/>
            <a:ext cx="8276095" cy="92328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That is, we’ll try to remember the greatest element encountered so far and we’ll use that to decide whether a candidate is a leader or not.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17" name="Google Shape;217;p38"/>
          <p:cNvSpPr txBox="1"/>
          <p:nvPr/>
        </p:nvSpPr>
        <p:spPr>
          <a:xfrm>
            <a:off x="557420" y="3342170"/>
            <a:ext cx="8276095" cy="13387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First, we’ll start the traversal from the right. Then, we move toward the left. Whenever we encounter a new element, we check with the greatest element obtained so far.</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
                                        </p:tgtEl>
                                        <p:attrNameLst>
                                          <p:attrName>style.visibility</p:attrName>
                                        </p:attrNameLst>
                                      </p:cBhvr>
                                      <p:to>
                                        <p:strVal val="visible"/>
                                      </p:to>
                                    </p:set>
                                    <p:animEffect transition="in" filter="fade">
                                      <p:cBhvr>
                                        <p:cTn id="7" dur="500"/>
                                        <p:tgtEl>
                                          <p:spTgt spid="2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6"/>
                                        </p:tgtEl>
                                        <p:attrNameLst>
                                          <p:attrName>style.visibility</p:attrName>
                                        </p:attrNameLst>
                                      </p:cBhvr>
                                      <p:to>
                                        <p:strVal val="visible"/>
                                      </p:to>
                                    </p:set>
                                    <p:animEffect transition="in" filter="fade">
                                      <p:cBhvr>
                                        <p:cTn id="12" dur="500"/>
                                        <p:tgtEl>
                                          <p:spTgt spid="2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5"/>
                                        </p:tgtEl>
                                        <p:attrNameLst>
                                          <p:attrName>style.visibility</p:attrName>
                                        </p:attrNameLst>
                                      </p:cBhvr>
                                      <p:to>
                                        <p:strVal val="visible"/>
                                      </p:to>
                                    </p:set>
                                    <p:animEffect transition="in" filter="fade">
                                      <p:cBhvr>
                                        <p:cTn id="17" dur="5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9"/>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25" name="Google Shape;225;p39"/>
          <p:cNvSpPr txBox="1"/>
          <p:nvPr/>
        </p:nvSpPr>
        <p:spPr>
          <a:xfrm>
            <a:off x="555120" y="1098620"/>
            <a:ext cx="8276095" cy="92328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If the current element is greater than the greatest so far, then the current element is one of the leaders and we update the greatest element.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26" name="Google Shape;226;p39"/>
          <p:cNvSpPr txBox="1"/>
          <p:nvPr/>
        </p:nvSpPr>
        <p:spPr>
          <a:xfrm>
            <a:off x="556270" y="2612270"/>
            <a:ext cx="8276095" cy="13387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000000"/>
              </a:buClr>
              <a:buSzPts val="1800"/>
              <a:buFont typeface="Arial"/>
              <a:buChar char="•"/>
            </a:pPr>
            <a:r>
              <a:rPr lang="en-US" sz="1800" b="0" i="0" u="none" strike="noStrike" cap="none" dirty="0">
                <a:solidFill>
                  <a:srgbClr val="303030"/>
                </a:solidFill>
                <a:latin typeface="Roboto" panose="02000000000000000000" pitchFamily="2" charset="0"/>
                <a:ea typeface="Roboto" panose="02000000000000000000" pitchFamily="2" charset="0"/>
                <a:cs typeface="Roboto" panose="02000000000000000000" pitchFamily="2" charset="0"/>
                <a:sym typeface="Consolas"/>
              </a:rPr>
              <a:t>Else, we proceed with the further elements on the left. This method prints the leaders in the reverse direction of their occurrences. If we are concerned about the order, we can use an extra array or a string to order.</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Effect transition="in" filter="fade">
                                      <p:cBhvr>
                                        <p:cTn id="7" dur="500"/>
                                        <p:tgtEl>
                                          <p:spTgt spid="2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6"/>
                                        </p:tgtEl>
                                        <p:attrNameLst>
                                          <p:attrName>style.visibility</p:attrName>
                                        </p:attrNameLst>
                                      </p:cBhvr>
                                      <p:to>
                                        <p:strVal val="visible"/>
                                      </p:to>
                                    </p:set>
                                    <p:animEffect transition="in" filter="fade">
                                      <p:cBhvr>
                                        <p:cTn id="12" dur="5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229302ebb4e_0_0"/>
          <p:cNvSpPr/>
          <p:nvPr/>
        </p:nvSpPr>
        <p:spPr>
          <a:xfrm>
            <a:off x="555120" y="915840"/>
            <a:ext cx="7545000" cy="829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43" name="Google Shape;243;g229302ebb4e_0_0"/>
          <p:cNvSpPr txBox="1"/>
          <p:nvPr/>
        </p:nvSpPr>
        <p:spPr>
          <a:xfrm>
            <a:off x="674176" y="1330812"/>
            <a:ext cx="82761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endParaRPr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endParaRPr>
          </a:p>
        </p:txBody>
      </p:sp>
      <p:graphicFrame>
        <p:nvGraphicFramePr>
          <p:cNvPr id="244" name="Google Shape;244;g229302ebb4e_0_0"/>
          <p:cNvGraphicFramePr/>
          <p:nvPr>
            <p:extLst>
              <p:ext uri="{D42A27DB-BD31-4B8C-83A1-F6EECF244321}">
                <p14:modId xmlns:p14="http://schemas.microsoft.com/office/powerpoint/2010/main" val="1227939174"/>
              </p:ext>
            </p:extLst>
          </p:nvPr>
        </p:nvGraphicFramePr>
        <p:xfrm>
          <a:off x="356476" y="624914"/>
          <a:ext cx="8593800" cy="3749050"/>
        </p:xfrm>
        <a:graphic>
          <a:graphicData uri="http://schemas.openxmlformats.org/drawingml/2006/table">
            <a:tbl>
              <a:tblPr firstRow="1" bandRow="1">
                <a:noFill/>
                <a:tableStyleId>{6E97D78C-B00B-49EC-94CF-9D43F3997D6C}</a:tableStyleId>
              </a:tblPr>
              <a:tblGrid>
                <a:gridCol w="4517750">
                  <a:extLst>
                    <a:ext uri="{9D8B030D-6E8A-4147-A177-3AD203B41FA5}">
                      <a16:colId xmlns:a16="http://schemas.microsoft.com/office/drawing/2014/main" val="20000"/>
                    </a:ext>
                  </a:extLst>
                </a:gridCol>
                <a:gridCol w="4076050">
                  <a:extLst>
                    <a:ext uri="{9D8B030D-6E8A-4147-A177-3AD203B41FA5}">
                      <a16:colId xmlns:a16="http://schemas.microsoft.com/office/drawing/2014/main" val="20001"/>
                    </a:ext>
                  </a:extLst>
                </a:gridCol>
              </a:tblGrid>
              <a:tr h="3241825">
                <a:tc>
                  <a:txBody>
                    <a:bodyPr/>
                    <a:lstStyle/>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import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java.util</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class Main{</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public static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ArrayList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&lt;Integer&gt;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printLeadersBruteForce</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(int[]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n){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ArrayList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&lt;Integer&gt;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new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ArrayList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&lt;&gt;();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max =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[n - 1];</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ans.add</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[n-1]);</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n - 2;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&gt;= 0;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if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&gt; max)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ans.add</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max =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endParaRPr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return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txBody>
                  <a:tcPr marL="91450" marR="91450" marT="45725" marB="45725">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public static void main(String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args</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n = 6;</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{1, 2, 12, 13, 0, 6};</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ArrayList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&lt;Integer&gt;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printLeadersBruteForce</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arr,n</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Collections.sort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Collections.reverseOrder</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for (int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 0;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&lt;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ans.size</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System.out.print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ans.get</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dk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  }</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endParaRPr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r>
                        <a:rPr lang="en-US"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a:t>
                      </a:r>
                      <a:endParaRPr sz="1600" u="none" strike="noStrike" cap="none" dirty="0">
                        <a:latin typeface="Roboto" panose="02000000000000000000" pitchFamily="2" charset="0"/>
                        <a:ea typeface="Roboto" panose="02000000000000000000" pitchFamily="2" charset="0"/>
                        <a:cs typeface="Roboto" panose="02000000000000000000" pitchFamily="2" charset="0"/>
                      </a:endParaRPr>
                    </a:p>
                    <a:p>
                      <a:pPr marL="0" marR="0" lvl="0" indent="0" algn="l" rtl="0">
                        <a:lnSpc>
                          <a:spcPct val="100000"/>
                        </a:lnSpc>
                        <a:spcBef>
                          <a:spcPts val="0"/>
                        </a:spcBef>
                        <a:spcAft>
                          <a:spcPts val="0"/>
                        </a:spcAft>
                        <a:buClr>
                          <a:srgbClr val="000000"/>
                        </a:buClr>
                        <a:buSzPts val="1400"/>
                        <a:buFont typeface="Arial"/>
                        <a:buNone/>
                      </a:pPr>
                      <a:endParaRPr sz="1600" b="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40"/>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34" name="Google Shape;234;p40"/>
          <p:cNvSpPr txBox="1"/>
          <p:nvPr/>
        </p:nvSpPr>
        <p:spPr>
          <a:xfrm>
            <a:off x="674176" y="1330812"/>
            <a:ext cx="8276095" cy="46162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endParaRPr sz="16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endParaRPr>
          </a:p>
        </p:txBody>
      </p:sp>
      <p:graphicFrame>
        <p:nvGraphicFramePr>
          <p:cNvPr id="235" name="Google Shape;235;p40"/>
          <p:cNvGraphicFramePr/>
          <p:nvPr>
            <p:extLst>
              <p:ext uri="{D42A27DB-BD31-4B8C-83A1-F6EECF244321}">
                <p14:modId xmlns:p14="http://schemas.microsoft.com/office/powerpoint/2010/main" val="2933182457"/>
              </p:ext>
            </p:extLst>
          </p:nvPr>
        </p:nvGraphicFramePr>
        <p:xfrm>
          <a:off x="234414" y="578353"/>
          <a:ext cx="8675171" cy="3749050"/>
        </p:xfrm>
        <a:graphic>
          <a:graphicData uri="http://schemas.openxmlformats.org/drawingml/2006/table">
            <a:tbl>
              <a:tblPr firstRow="1" bandRow="1">
                <a:noFill/>
                <a:tableStyleId>{6E97D78C-B00B-49EC-94CF-9D43F3997D6C}</a:tableStyleId>
              </a:tblPr>
              <a:tblGrid>
                <a:gridCol w="4560527">
                  <a:extLst>
                    <a:ext uri="{9D8B030D-6E8A-4147-A177-3AD203B41FA5}">
                      <a16:colId xmlns:a16="http://schemas.microsoft.com/office/drawing/2014/main" val="20000"/>
                    </a:ext>
                  </a:extLst>
                </a:gridCol>
                <a:gridCol w="4114644">
                  <a:extLst>
                    <a:ext uri="{9D8B030D-6E8A-4147-A177-3AD203B41FA5}">
                      <a16:colId xmlns:a16="http://schemas.microsoft.com/office/drawing/2014/main" val="20001"/>
                    </a:ext>
                  </a:extLst>
                </a:gridCol>
              </a:tblGrid>
              <a:tr h="3641438">
                <a:tc>
                  <a:txBody>
                    <a:bodyPr/>
                    <a:lstStyle/>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import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java.util</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import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java.lang</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public class Main</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public static void main(String[]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args</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Scanner s = new Scanner(System.in);</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System.out.println</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("Enter size of the array");</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int n =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s.nextInt</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 new int[n];</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System.out.println</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("Enter elements of the array");</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for (int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 0;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&lt; n;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s.nextInt</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100"/>
                        <a:buFont typeface="Arial"/>
                        <a:buNone/>
                      </a:pP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findLeaders</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n);}</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static void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findLeaders</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(int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int size){</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int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rightMaximum</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[arr.length-1];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System.out.print</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rightMaximum</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for (int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 size-2;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&gt;=0;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if(</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&gt;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rightMaximum</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rightMaximum</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arr</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i</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System.out.print</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r>
                        <a:rPr lang="en-US" sz="1600" b="0" u="none" strike="noStrike" cap="none" dirty="0" err="1">
                          <a:solidFill>
                            <a:schemeClr val="tx1"/>
                          </a:solidFill>
                          <a:latin typeface="Roboto" panose="02000000000000000000" pitchFamily="2" charset="0"/>
                          <a:ea typeface="Roboto" panose="02000000000000000000" pitchFamily="2" charset="0"/>
                          <a:cs typeface="Roboto" panose="02000000000000000000" pitchFamily="2" charset="0"/>
                          <a:sym typeface="Consolas"/>
                        </a:rPr>
                        <a:t>rightMaximum</a:t>
                      </a: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   }</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r>
                        <a:rPr lang="en-US"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rPr>
                        <a:t>}</a:t>
                      </a: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100"/>
                        <a:buFont typeface="Arial"/>
                        <a:buNone/>
                      </a:pP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chemeClr val="dk1"/>
                        </a:buClr>
                        <a:buSzPts val="1450"/>
                        <a:buFont typeface="Arial"/>
                        <a:buNone/>
                      </a:pP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p>
                      <a:pPr marL="0" marR="0" lvl="0" indent="0" algn="l" rtl="0">
                        <a:lnSpc>
                          <a:spcPct val="100000"/>
                        </a:lnSpc>
                        <a:spcBef>
                          <a:spcPts val="0"/>
                        </a:spcBef>
                        <a:spcAft>
                          <a:spcPts val="0"/>
                        </a:spcAft>
                        <a:buClr>
                          <a:srgbClr val="000000"/>
                        </a:buClr>
                        <a:buSzPts val="1800"/>
                        <a:buFont typeface="Arial"/>
                        <a:buNone/>
                      </a:pPr>
                      <a:endParaRPr sz="1600" b="0" u="none" strike="noStrike" cap="none" dirty="0">
                        <a:solidFill>
                          <a:schemeClr val="tx1"/>
                        </a:solidFill>
                        <a:latin typeface="Roboto" panose="02000000000000000000" pitchFamily="2" charset="0"/>
                        <a:ea typeface="Roboto" panose="02000000000000000000" pitchFamily="2" charset="0"/>
                        <a:cs typeface="Roboto" panose="02000000000000000000" pitchFamily="2" charset="0"/>
                        <a:sym typeface="Consolas"/>
                      </a:endParaRPr>
                    </a:p>
                  </a:txBody>
                  <a:tcPr marL="91450" marR="91450" marT="45725" marB="45725">
                    <a:lnL w="12700" cap="flat" cmpd="sng" algn="ctr">
                      <a:solidFill>
                        <a:schemeClr val="tx1"/>
                      </a:solidFill>
                      <a:prstDash val="solid"/>
                      <a:round/>
                      <a:headEnd type="none" w="med" len="med"/>
                      <a:tailEnd type="none" w="med" len="med"/>
                    </a:lnL>
                    <a:lnR w="12700" cap="flat" cmpd="sng">
                      <a:noFill/>
                      <a:prstDash val="solid"/>
                      <a:round/>
                      <a:headEnd type="none" w="sm" len="sm"/>
                      <a:tailEnd type="none" w="sm" len="sm"/>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1"/>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52" name="Google Shape;252;p41"/>
          <p:cNvSpPr txBox="1"/>
          <p:nvPr/>
        </p:nvSpPr>
        <p:spPr>
          <a:xfrm>
            <a:off x="674176" y="1330812"/>
            <a:ext cx="8276095" cy="50779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50E17"/>
                </a:solidFill>
                <a:latin typeface="Roboto" panose="02000000000000000000" pitchFamily="2" charset="0"/>
                <a:ea typeface="Roboto" panose="02000000000000000000" pitchFamily="2" charset="0"/>
                <a:cs typeface="Roboto" panose="02000000000000000000" pitchFamily="2" charset="0"/>
                <a:sym typeface="Consolas"/>
              </a:rPr>
              <a:t>Time and space complexity</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53" name="Google Shape;253;p41"/>
          <p:cNvSpPr txBox="1"/>
          <p:nvPr/>
        </p:nvSpPr>
        <p:spPr>
          <a:xfrm>
            <a:off x="2041560" y="1841967"/>
            <a:ext cx="4572000" cy="584735"/>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Time Complexity: O(n)</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54" name="Google Shape;254;p41"/>
          <p:cNvSpPr txBox="1"/>
          <p:nvPr/>
        </p:nvSpPr>
        <p:spPr>
          <a:xfrm>
            <a:off x="2042710" y="2324367"/>
            <a:ext cx="4572000" cy="584735"/>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Space Complexity: O(n)</a:t>
            </a:r>
            <a:endParaRPr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2"/>
                                        </p:tgtEl>
                                        <p:attrNameLst>
                                          <p:attrName>style.visibility</p:attrName>
                                        </p:attrNameLst>
                                      </p:cBhvr>
                                      <p:to>
                                        <p:strVal val="visible"/>
                                      </p:to>
                                    </p:set>
                                    <p:animEffect transition="in" filter="fade">
                                      <p:cBhvr>
                                        <p:cTn id="7" dur="500"/>
                                        <p:tgtEl>
                                          <p:spTgt spid="2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3"/>
                                        </p:tgtEl>
                                        <p:attrNameLst>
                                          <p:attrName>style.visibility</p:attrName>
                                        </p:attrNameLst>
                                      </p:cBhvr>
                                      <p:to>
                                        <p:strVal val="visible"/>
                                      </p:to>
                                    </p:set>
                                    <p:animEffect transition="in" filter="fade">
                                      <p:cBhvr>
                                        <p:cTn id="12" dur="500"/>
                                        <p:tgtEl>
                                          <p:spTgt spid="25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2"/>
                                        </p:tgtEl>
                                        <p:attrNameLst>
                                          <p:attrName>style.visibility</p:attrName>
                                        </p:attrNameLst>
                                      </p:cBhvr>
                                      <p:to>
                                        <p:strVal val="visible"/>
                                      </p:to>
                                    </p:set>
                                    <p:animEffect transition="in" filter="fade">
                                      <p:cBhvr>
                                        <p:cTn id="17" dur="5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62" name="Google Shape;262;g23f307fc558_0_8"/>
          <p:cNvSpPr/>
          <p:nvPr/>
        </p:nvSpPr>
        <p:spPr>
          <a:xfrm>
            <a:off x="1007602" y="823281"/>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63" name="Google Shape;263;g23f307fc558_0_8"/>
          <p:cNvSpPr txBox="1"/>
          <p:nvPr/>
        </p:nvSpPr>
        <p:spPr>
          <a:xfrm>
            <a:off x="684558" y="1289598"/>
            <a:ext cx="81171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are leaders in an array?</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64" name="Google Shape;264;g23f307fc558_0_8"/>
          <p:cNvSpPr txBox="1"/>
          <p:nvPr/>
        </p:nvSpPr>
        <p:spPr>
          <a:xfrm>
            <a:off x="1007602" y="1934288"/>
            <a:ext cx="7200900" cy="1661963"/>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rPr>
              <a:t>Leaders in an array are the elements that are greater than all the elements to their right. In other words, an element is a leader if it is the largest element among all the elements to its right. Leaders can occur at the end of the array, or they can occur at any position in the array.</a:t>
            </a:r>
            <a:endParaRPr sz="2000" b="0" i="0" u="none" strike="noStrike" cap="none" dirty="0">
              <a:solidFill>
                <a:schemeClr val="dk1"/>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86;p4">
            <a:extLst>
              <a:ext uri="{FF2B5EF4-FFF2-40B4-BE49-F238E27FC236}">
                <a16:creationId xmlns:a16="http://schemas.microsoft.com/office/drawing/2014/main" id="{99EA102A-A342-1C5D-0BAC-F1AEB1BD2F88}"/>
              </a:ext>
            </a:extLst>
          </p:cNvPr>
          <p:cNvSpPr txBox="1"/>
          <p:nvPr/>
        </p:nvSpPr>
        <p:spPr>
          <a:xfrm>
            <a:off x="133736" y="137760"/>
            <a:ext cx="8455420" cy="1095644"/>
          </a:xfrm>
          <a:prstGeom prst="rect">
            <a:avLst/>
          </a:prstGeom>
          <a:noFill/>
          <a:ln>
            <a:noFill/>
          </a:ln>
        </p:spPr>
        <p:txBody>
          <a:bodyPr spcFirstLastPara="1" wrap="square" lIns="121900" tIns="121900" rIns="121900" bIns="121900" anchor="t" anchorCtr="0">
            <a:spAutoFit/>
          </a:bodyPr>
          <a:lstStyle/>
          <a:p>
            <a:pPr>
              <a:lnSpc>
                <a:spcPct val="115000"/>
              </a:lnSpc>
              <a:buSzPts val="3500"/>
            </a:pPr>
            <a:r>
              <a:rPr lang="en-IN" sz="4800" dirty="0">
                <a:solidFill>
                  <a:srgbClr val="00B0F0"/>
                </a:solidFill>
                <a:latin typeface="Roboto Black" panose="02000000000000000000" pitchFamily="2" charset="0"/>
                <a:ea typeface="Roboto Black" panose="02000000000000000000" pitchFamily="2" charset="0"/>
                <a:cs typeface="Roboto Black" panose="02000000000000000000" pitchFamily="2" charset="0"/>
              </a:rPr>
              <a:t>Interview questions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72" name="Google Shape;272;g23f307fc558_0_18"/>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73" name="Google Shape;273;g23f307fc558_0_18"/>
          <p:cNvSpPr txBox="1"/>
          <p:nvPr/>
        </p:nvSpPr>
        <p:spPr>
          <a:xfrm>
            <a:off x="565070" y="1278615"/>
            <a:ext cx="81171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is the time complexity of your algorithm?</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74" name="Google Shape;274;g23f307fc558_0_18"/>
          <p:cNvSpPr txBox="1"/>
          <p:nvPr/>
        </p:nvSpPr>
        <p:spPr>
          <a:xfrm>
            <a:off x="1026468" y="1823795"/>
            <a:ext cx="7659000" cy="184662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The time complexity of the optimized algorithm for finding leaders in an array is O(n), where n is the length of the array. This algorithm only requires a single pass through the array, and at each step, it performs a constant amount of work</a:t>
            </a:r>
            <a:endParaRPr sz="2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 name="Google Shape;86;p4">
            <a:extLst>
              <a:ext uri="{FF2B5EF4-FFF2-40B4-BE49-F238E27FC236}">
                <a16:creationId xmlns:a16="http://schemas.microsoft.com/office/drawing/2014/main" id="{096B9BFF-81C0-0A38-D4D2-F72F8D8FE270}"/>
              </a:ext>
            </a:extLst>
          </p:cNvPr>
          <p:cNvSpPr txBox="1"/>
          <p:nvPr/>
        </p:nvSpPr>
        <p:spPr>
          <a:xfrm>
            <a:off x="124592" y="119783"/>
            <a:ext cx="8455420" cy="1095644"/>
          </a:xfrm>
          <a:prstGeom prst="rect">
            <a:avLst/>
          </a:prstGeom>
          <a:noFill/>
          <a:ln>
            <a:noFill/>
          </a:ln>
        </p:spPr>
        <p:txBody>
          <a:bodyPr spcFirstLastPara="1" wrap="square" lIns="121900" tIns="121900" rIns="121900" bIns="121900" anchor="t" anchorCtr="0">
            <a:spAutoFit/>
          </a:bodyPr>
          <a:lstStyle/>
          <a:p>
            <a:pPr>
              <a:lnSpc>
                <a:spcPct val="115000"/>
              </a:lnSpc>
              <a:buSzPts val="3500"/>
            </a:pPr>
            <a:r>
              <a:rPr lang="en-IN" sz="4800" dirty="0">
                <a:solidFill>
                  <a:srgbClr val="00B0F0"/>
                </a:solidFill>
                <a:latin typeface="Roboto Black" panose="02000000000000000000" pitchFamily="2" charset="0"/>
                <a:ea typeface="Roboto Black" panose="02000000000000000000" pitchFamily="2" charset="0"/>
                <a:cs typeface="Roboto Black" panose="02000000000000000000" pitchFamily="2" charset="0"/>
              </a:rPr>
              <a:t>Interview questions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82" name="Google Shape;282;g23f307fc558_0_30"/>
          <p:cNvSpPr/>
          <p:nvPr/>
        </p:nvSpPr>
        <p:spPr>
          <a:xfrm>
            <a:off x="1007602" y="790605"/>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dirty="0">
              <a:solidFill>
                <a:srgbClr val="0C0C0C"/>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83" name="Google Shape;283;g23f307fc558_0_30"/>
          <p:cNvSpPr txBox="1"/>
          <p:nvPr/>
        </p:nvSpPr>
        <p:spPr>
          <a:xfrm>
            <a:off x="472056" y="613595"/>
            <a:ext cx="8117100" cy="92328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What are some real-world applications of the algorithm for finding leaders in an array?</a:t>
            </a:r>
            <a:endParaRPr sz="2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endParaRPr>
          </a:p>
        </p:txBody>
      </p:sp>
      <p:sp>
        <p:nvSpPr>
          <p:cNvPr id="284" name="Google Shape;284;g23f307fc558_0_30"/>
          <p:cNvSpPr txBox="1"/>
          <p:nvPr/>
        </p:nvSpPr>
        <p:spPr>
          <a:xfrm>
            <a:off x="871917" y="1392926"/>
            <a:ext cx="81171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1. Financial analysis: Identifying the most profitable trades in a stock market analysis.</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85" name="Google Shape;285;g23f307fc558_0_30"/>
          <p:cNvSpPr txBox="1"/>
          <p:nvPr/>
        </p:nvSpPr>
        <p:spPr>
          <a:xfrm>
            <a:off x="869569" y="2122114"/>
            <a:ext cx="8117100" cy="92329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2. Sports analytics: Identifying players with the most points, rebounds, or other statistics in a sports game or season.</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86" name="Google Shape;286;g23f307fc558_0_30"/>
          <p:cNvSpPr txBox="1"/>
          <p:nvPr/>
        </p:nvSpPr>
        <p:spPr>
          <a:xfrm>
            <a:off x="867221" y="2844268"/>
            <a:ext cx="8117100" cy="92329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3. Web analytics: Identifying the most popular articles, videos, or other content on a website based on views or shares.</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87" name="Google Shape;287;g23f307fc558_0_30"/>
          <p:cNvSpPr txBox="1"/>
          <p:nvPr/>
        </p:nvSpPr>
        <p:spPr>
          <a:xfrm>
            <a:off x="864873" y="3594558"/>
            <a:ext cx="8117100" cy="92329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4. Machine learning: Identifying the most important variables in a dataset by selecting those with the highest impact on the output.</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88" name="Google Shape;288;g23f307fc558_0_30"/>
          <p:cNvSpPr txBox="1"/>
          <p:nvPr/>
        </p:nvSpPr>
        <p:spPr>
          <a:xfrm>
            <a:off x="862525" y="4394086"/>
            <a:ext cx="81171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6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Consolas"/>
              </a:rPr>
              <a:t>5. Computer vision: Identifying the most prominent objects in an image.</a:t>
            </a:r>
            <a:endParaRPr sz="1400" b="0" i="0" u="none" strike="noStrike" cap="none" dirty="0">
              <a:solidFill>
                <a:srgbClr val="000000"/>
              </a:solidFill>
              <a:latin typeface="Roboto" panose="02000000000000000000" pitchFamily="2" charset="0"/>
              <a:ea typeface="Roboto" panose="02000000000000000000" pitchFamily="2" charset="0"/>
              <a:cs typeface="Roboto" panose="02000000000000000000" pitchFamily="2" charset="0"/>
              <a:sym typeface="Arial"/>
            </a:endParaRPr>
          </a:p>
        </p:txBody>
      </p:sp>
      <p:sp>
        <p:nvSpPr>
          <p:cNvPr id="2" name="Google Shape;86;p4">
            <a:extLst>
              <a:ext uri="{FF2B5EF4-FFF2-40B4-BE49-F238E27FC236}">
                <a16:creationId xmlns:a16="http://schemas.microsoft.com/office/drawing/2014/main" id="{37D8E2A2-5D8C-71DE-E3C9-D7CABEE88ED5}"/>
              </a:ext>
            </a:extLst>
          </p:cNvPr>
          <p:cNvSpPr txBox="1"/>
          <p:nvPr/>
        </p:nvSpPr>
        <p:spPr>
          <a:xfrm>
            <a:off x="133736" y="-146882"/>
            <a:ext cx="8455420" cy="1095644"/>
          </a:xfrm>
          <a:prstGeom prst="rect">
            <a:avLst/>
          </a:prstGeom>
          <a:noFill/>
          <a:ln>
            <a:noFill/>
          </a:ln>
        </p:spPr>
        <p:txBody>
          <a:bodyPr spcFirstLastPara="1" wrap="square" lIns="121900" tIns="121900" rIns="121900" bIns="121900" anchor="t" anchorCtr="0">
            <a:spAutoFit/>
          </a:bodyPr>
          <a:lstStyle/>
          <a:p>
            <a:pPr>
              <a:lnSpc>
                <a:spcPct val="115000"/>
              </a:lnSpc>
              <a:buSzPts val="3500"/>
            </a:pPr>
            <a:r>
              <a:rPr lang="en-IN" sz="4800" dirty="0">
                <a:solidFill>
                  <a:srgbClr val="00B0F0"/>
                </a:solidFill>
                <a:latin typeface="Roboto Black" panose="02000000000000000000" pitchFamily="2" charset="0"/>
                <a:ea typeface="Roboto Black" panose="02000000000000000000" pitchFamily="2" charset="0"/>
                <a:cs typeface="Roboto Black" panose="02000000000000000000" pitchFamily="2" charset="0"/>
              </a:rPr>
              <a:t>Interview questions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84"/>
                                        </p:tgtEl>
                                        <p:attrNameLst>
                                          <p:attrName>style.visibility</p:attrName>
                                        </p:attrNameLst>
                                      </p:cBhvr>
                                      <p:to>
                                        <p:strVal val="visible"/>
                                      </p:to>
                                    </p:set>
                                    <p:animEffect transition="in" filter="fade">
                                      <p:cBhvr>
                                        <p:cTn id="11" dur="500"/>
                                        <p:tgtEl>
                                          <p:spTgt spid="28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85"/>
                                        </p:tgtEl>
                                        <p:attrNameLst>
                                          <p:attrName>style.visibility</p:attrName>
                                        </p:attrNameLst>
                                      </p:cBhvr>
                                      <p:to>
                                        <p:strVal val="visible"/>
                                      </p:to>
                                    </p:set>
                                    <p:animEffect transition="in" filter="fade">
                                      <p:cBhvr>
                                        <p:cTn id="16" dur="500"/>
                                        <p:tgtEl>
                                          <p:spTgt spid="28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86"/>
                                        </p:tgtEl>
                                        <p:attrNameLst>
                                          <p:attrName>style.visibility</p:attrName>
                                        </p:attrNameLst>
                                      </p:cBhvr>
                                      <p:to>
                                        <p:strVal val="visible"/>
                                      </p:to>
                                    </p:set>
                                    <p:animEffect transition="in" filter="fade">
                                      <p:cBhvr>
                                        <p:cTn id="21" dur="500"/>
                                        <p:tgtEl>
                                          <p:spTgt spid="28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87"/>
                                        </p:tgtEl>
                                        <p:attrNameLst>
                                          <p:attrName>style.visibility</p:attrName>
                                        </p:attrNameLst>
                                      </p:cBhvr>
                                      <p:to>
                                        <p:strVal val="visible"/>
                                      </p:to>
                                    </p:set>
                                    <p:animEffect transition="in" filter="fade">
                                      <p:cBhvr>
                                        <p:cTn id="26" dur="500"/>
                                        <p:tgtEl>
                                          <p:spTgt spid="28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88"/>
                                        </p:tgtEl>
                                        <p:attrNameLst>
                                          <p:attrName>style.visibility</p:attrName>
                                        </p:attrNameLst>
                                      </p:cBhvr>
                                      <p:to>
                                        <p:strVal val="visible"/>
                                      </p:to>
                                    </p:set>
                                    <p:animEffect transition="in" filter="fade">
                                      <p:cBhvr>
                                        <p:cTn id="31" dur="500"/>
                                        <p:tgtEl>
                                          <p:spTgt spid="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00"/>
        <p:cNvGrpSpPr/>
        <p:nvPr/>
      </p:nvGrpSpPr>
      <p:grpSpPr>
        <a:xfrm>
          <a:off x="0" y="0"/>
          <a:ext cx="0" cy="0"/>
          <a:chOff x="0" y="0"/>
          <a:chExt cx="0" cy="0"/>
        </a:xfrm>
      </p:grpSpPr>
      <p:sp>
        <p:nvSpPr>
          <p:cNvPr id="5201" name="Google Shape;5201;p561"/>
          <p:cNvSpPr/>
          <p:nvPr/>
        </p:nvSpPr>
        <p:spPr>
          <a:xfrm>
            <a:off x="555120" y="915840"/>
            <a:ext cx="7544880" cy="830956"/>
          </a:xfrm>
          <a:prstGeom prst="rect">
            <a:avLst/>
          </a:prstGeom>
          <a:noFill/>
          <a:ln>
            <a:noFill/>
          </a:ln>
        </p:spPr>
        <p:txBody>
          <a:bodyPr spcFirstLastPara="1" wrap="square" lIns="91425" tIns="45700" rIns="91425" bIns="45700" anchor="t" anchorCtr="0">
            <a:spAutoFit/>
          </a:bodyPr>
          <a:lstStyle/>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p:txBody>
      </p:sp>
      <p:pic>
        <p:nvPicPr>
          <p:cNvPr id="76805" name="Google Shape;1420;p18">
            <a:extLst>
              <a:ext uri="{FF2B5EF4-FFF2-40B4-BE49-F238E27FC236}">
                <a16:creationId xmlns:a16="http://schemas.microsoft.com/office/drawing/2014/main" id="{EF29B0C4-6766-C518-F208-025B01250D6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9160" y="913210"/>
            <a:ext cx="2855119" cy="288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Google Shape;1421;p18">
            <a:extLst>
              <a:ext uri="{FF2B5EF4-FFF2-40B4-BE49-F238E27FC236}">
                <a16:creationId xmlns:a16="http://schemas.microsoft.com/office/drawing/2014/main" id="{04A2AACF-A287-93F4-A91D-C8DE8603E40D}"/>
              </a:ext>
            </a:extLst>
          </p:cNvPr>
          <p:cNvSpPr>
            <a:spLocks noChangeArrowheads="1"/>
          </p:cNvSpPr>
          <p:nvPr/>
        </p:nvSpPr>
        <p:spPr bwMode="auto">
          <a:xfrm>
            <a:off x="1634729" y="4055269"/>
            <a:ext cx="5183981" cy="28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1625" tIns="82925" rIns="81625" bIns="82925" anchor="ctr"/>
          <a:lstStyle>
            <a:lvl1pPr>
              <a:lnSpc>
                <a:spcPct val="90000"/>
              </a:lnSpc>
              <a:spcBef>
                <a:spcPts val="1000"/>
              </a:spcBef>
              <a:buFont typeface="Arial" panose="020B0604020202020204" pitchFamily="34" charset="0"/>
              <a:buChar char="•"/>
              <a:defRPr sz="2800">
                <a:solidFill>
                  <a:schemeClr val="tx1"/>
                </a:solidFill>
                <a:latin typeface="Roboto" panose="020000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Roboto" panose="020000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Roboto" panose="020000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9pPr>
          </a:lstStyle>
          <a:p>
            <a:pPr algn="ctr" eaLnBrk="1" hangingPunct="1">
              <a:lnSpc>
                <a:spcPct val="100000"/>
              </a:lnSpc>
              <a:spcBef>
                <a:spcPct val="0"/>
              </a:spcBef>
              <a:buClr>
                <a:srgbClr val="000000"/>
              </a:buClr>
              <a:buSzPts val="1200"/>
              <a:buFontTx/>
              <a:buNone/>
            </a:pPr>
            <a:r>
              <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hlinkClick r:id="rId4"/>
              </a:rPr>
              <a:t>https://learn.codemithra.com</a:t>
            </a:r>
            <a:endPar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endParaRPr>
          </a:p>
          <a:p>
            <a:pPr algn="ctr" eaLnBrk="1" hangingPunct="1">
              <a:lnSpc>
                <a:spcPct val="100000"/>
              </a:lnSpc>
              <a:spcBef>
                <a:spcPct val="0"/>
              </a:spcBef>
              <a:buClr>
                <a:srgbClr val="000000"/>
              </a:buClr>
              <a:buSzPts val="1200"/>
              <a:buFontTx/>
              <a:buNone/>
            </a:pPr>
            <a:endParaRPr lang="en-US" altLang="en-US" sz="1200"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121189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ctrTitle"/>
          </p:nvPr>
        </p:nvSpPr>
        <p:spPr>
          <a:xfrm>
            <a:off x="311708" y="744575"/>
            <a:ext cx="8520600" cy="2052600"/>
          </a:xfrm>
          <a:prstGeom prst="rect">
            <a:avLst/>
          </a:prstGeom>
          <a:noFill/>
          <a:ln>
            <a:noFill/>
          </a:ln>
        </p:spPr>
        <p:txBody>
          <a:bodyPr spcFirstLastPara="1" vert="horz" wrap="square" lIns="91425" tIns="91425" rIns="91425" bIns="91425" rtlCol="0" anchor="b" anchorCtr="0">
            <a:normAutofit/>
          </a:bodyPr>
          <a:lstStyle/>
          <a:p>
            <a:endParaRPr/>
          </a:p>
        </p:txBody>
      </p:sp>
      <p:sp>
        <p:nvSpPr>
          <p:cNvPr id="128" name="Google Shape;128;p9"/>
          <p:cNvSpPr txBox="1">
            <a:spLocks noGrp="1"/>
          </p:cNvSpPr>
          <p:nvPr>
            <p:ph type="subTitle" idx="1"/>
          </p:nvPr>
        </p:nvSpPr>
        <p:spPr>
          <a:xfrm>
            <a:off x="311700" y="2834125"/>
            <a:ext cx="8520600" cy="792600"/>
          </a:xfrm>
          <a:prstGeom prst="rect">
            <a:avLst/>
          </a:prstGeom>
          <a:noFill/>
          <a:ln>
            <a:noFill/>
          </a:ln>
        </p:spPr>
        <p:txBody>
          <a:bodyPr spcFirstLastPara="1" vert="horz" wrap="square" lIns="91425" tIns="91425" rIns="91425" bIns="91425" rtlCol="0" anchor="t" anchorCtr="0">
            <a:normAutofit/>
          </a:bodyPr>
          <a:lstStyle/>
          <a:p>
            <a:endParaRPr/>
          </a:p>
        </p:txBody>
      </p:sp>
      <p:pic>
        <p:nvPicPr>
          <p:cNvPr id="129" name="Google Shape;129;p9"/>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130" name="Google Shape;130;p9"/>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a:buClr>
                <a:srgbClr val="000000"/>
              </a:buClr>
              <a:buSzPts val="3700"/>
            </a:pPr>
            <a:r>
              <a:rPr lang="en-IN" sz="3700" dirty="0">
                <a:solidFill>
                  <a:schemeClr val="lt1"/>
                </a:solidFill>
                <a:latin typeface="Roboto Medium"/>
                <a:ea typeface="Roboto Medium"/>
                <a:cs typeface="Roboto Medium"/>
                <a:sym typeface="Roboto Medium"/>
              </a:rPr>
              <a:t>THANK YOU</a:t>
            </a:r>
            <a:endParaRPr sz="3700" dirty="0">
              <a:solidFill>
                <a:schemeClr val="lt1"/>
              </a:solidFill>
              <a:latin typeface="Roboto Medium"/>
              <a:ea typeface="Roboto Medium"/>
              <a:cs typeface="Roboto Medium"/>
              <a:sym typeface="Roboto Medium"/>
            </a:endParaRPr>
          </a:p>
        </p:txBody>
      </p:sp>
      <p:pic>
        <p:nvPicPr>
          <p:cNvPr id="131" name="Google Shape;131;p9"/>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132" name="Google Shape;132;p9"/>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133" name="Google Shape;133;p9"/>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a:solidFill>
                  <a:schemeClr val="lt1"/>
                </a:solidFill>
                <a:latin typeface="Roboto Medium"/>
                <a:ea typeface="Roboto Medium"/>
                <a:cs typeface="Roboto Medium"/>
                <a:sym typeface="Roboto Medium"/>
              </a:rPr>
              <a:t>+91 78150 95095</a:t>
            </a:r>
            <a:endParaRPr sz="1000">
              <a:solidFill>
                <a:schemeClr val="lt1"/>
              </a:solidFill>
              <a:latin typeface="Roboto Medium"/>
              <a:ea typeface="Roboto Medium"/>
              <a:cs typeface="Roboto Medium"/>
              <a:sym typeface="Roboto Medium"/>
            </a:endParaRPr>
          </a:p>
        </p:txBody>
      </p:sp>
      <p:cxnSp>
        <p:nvCxnSpPr>
          <p:cNvPr id="134" name="Google Shape;134;p9"/>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135" name="Google Shape;135;p9"/>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a:solidFill>
                  <a:schemeClr val="lt1"/>
                </a:solidFill>
                <a:latin typeface="Roboto Medium"/>
                <a:ea typeface="Roboto Medium"/>
                <a:cs typeface="Roboto Medium"/>
                <a:sym typeface="Roboto Medium"/>
              </a:rPr>
              <a:t>codemithra@ethnus.com</a:t>
            </a:r>
            <a:endParaRPr sz="1000">
              <a:solidFill>
                <a:schemeClr val="lt1"/>
              </a:solidFill>
              <a:latin typeface="Roboto Medium"/>
              <a:ea typeface="Roboto Medium"/>
              <a:cs typeface="Roboto Medium"/>
              <a:sym typeface="Roboto Medium"/>
            </a:endParaRPr>
          </a:p>
        </p:txBody>
      </p:sp>
      <p:pic>
        <p:nvPicPr>
          <p:cNvPr id="136" name="Google Shape;136;p9"/>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137" name="Google Shape;137;p9"/>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a:solidFill>
                  <a:schemeClr val="lt1"/>
                </a:solidFill>
                <a:latin typeface="Roboto Medium"/>
                <a:ea typeface="Roboto Medium"/>
                <a:cs typeface="Roboto Medium"/>
                <a:sym typeface="Roboto Medium"/>
              </a:rPr>
              <a:t>www.codemithra.com</a:t>
            </a:r>
            <a:endParaRPr sz="1000">
              <a:solidFill>
                <a:schemeClr val="lt1"/>
              </a:solidFill>
              <a:latin typeface="Roboto Medium"/>
              <a:ea typeface="Roboto Medium"/>
              <a:cs typeface="Roboto Medium"/>
              <a:sym typeface="Roboto Medium"/>
            </a:endParaRPr>
          </a:p>
        </p:txBody>
      </p:sp>
      <p:cxnSp>
        <p:nvCxnSpPr>
          <p:cNvPr id="138" name="Google Shape;138;p9"/>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TotalTime>
  <Words>1732</Words>
  <Application>Microsoft Office PowerPoint</Application>
  <PresentationFormat>On-screen Show (16:9)</PresentationFormat>
  <Paragraphs>263</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Roboto</vt:lpstr>
      <vt:lpstr>Roboto Black</vt:lpstr>
      <vt:lpstr>Consolas</vt:lpstr>
      <vt:lpstr>Arial</vt:lpstr>
      <vt:lpstr>Calibri</vt:lpstr>
      <vt:lpstr>Roboto Medium</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lastModifiedBy>poojaramaraj71@gmail.com</cp:lastModifiedBy>
  <cp:revision>6</cp:revision>
  <dcterms:modified xsi:type="dcterms:W3CDTF">2024-06-27T09:50:07Z</dcterms:modified>
</cp:coreProperties>
</file>