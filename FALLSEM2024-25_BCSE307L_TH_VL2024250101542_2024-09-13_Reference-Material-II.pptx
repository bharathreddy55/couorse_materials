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7" r:id="rId2"/>
    <p:sldId id="256" r:id="rId3"/>
    <p:sldId id="313" r:id="rId4"/>
    <p:sldId id="324" r:id="rId5"/>
    <p:sldId id="325" r:id="rId6"/>
    <p:sldId id="323" r:id="rId7"/>
    <p:sldId id="314" r:id="rId8"/>
    <p:sldId id="259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326" r:id="rId24"/>
    <p:sldId id="322" r:id="rId25"/>
    <p:sldId id="321" r:id="rId26"/>
    <p:sldId id="320" r:id="rId2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586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aya Arul Mary S A" userId="5e9c2bd099f20264" providerId="LiveId" clId="{1E99C674-EB58-455A-8506-1CEBDC8849D0}"/>
    <pc:docChg chg="delSld modSld">
      <pc:chgData name="Sahaaya Arul Mary S A" userId="5e9c2bd099f20264" providerId="LiveId" clId="{1E99C674-EB58-455A-8506-1CEBDC8849D0}" dt="2023-06-20T07:40:26.356" v="46" actId="1035"/>
      <pc:docMkLst>
        <pc:docMk/>
      </pc:docMkLst>
      <pc:sldChg chg="modSp mod">
        <pc:chgData name="Sahaaya Arul Mary S A" userId="5e9c2bd099f20264" providerId="LiveId" clId="{1E99C674-EB58-455A-8506-1CEBDC8849D0}" dt="2023-06-15T11:25:43.519" v="8" actId="20577"/>
        <pc:sldMkLst>
          <pc:docMk/>
          <pc:sldMk cId="0" sldId="257"/>
        </pc:sldMkLst>
        <pc:spChg chg="mod">
          <ac:chgData name="Sahaaya Arul Mary S A" userId="5e9c2bd099f20264" providerId="LiveId" clId="{1E99C674-EB58-455A-8506-1CEBDC8849D0}" dt="2023-06-15T11:25:43.519" v="8" actId="20577"/>
          <ac:spMkLst>
            <pc:docMk/>
            <pc:sldMk cId="0" sldId="257"/>
            <ac:spMk id="2" creationId="{00000000-0000-0000-0000-000000000000}"/>
          </ac:spMkLst>
        </pc:spChg>
      </pc:sldChg>
      <pc:sldChg chg="del">
        <pc:chgData name="Sahaaya Arul Mary S A" userId="5e9c2bd099f20264" providerId="LiveId" clId="{1E99C674-EB58-455A-8506-1CEBDC8849D0}" dt="2023-06-15T11:25:49.394" v="9" actId="47"/>
        <pc:sldMkLst>
          <pc:docMk/>
          <pc:sldMk cId="0" sldId="258"/>
        </pc:sldMkLst>
      </pc:sldChg>
      <pc:sldChg chg="del">
        <pc:chgData name="Sahaaya Arul Mary S A" userId="5e9c2bd099f20264" providerId="LiveId" clId="{1E99C674-EB58-455A-8506-1CEBDC8849D0}" dt="2023-06-15T11:25:50.046" v="10" actId="47"/>
        <pc:sldMkLst>
          <pc:docMk/>
          <pc:sldMk cId="0" sldId="275"/>
        </pc:sldMkLst>
      </pc:sldChg>
      <pc:sldChg chg="del">
        <pc:chgData name="Sahaaya Arul Mary S A" userId="5e9c2bd099f20264" providerId="LiveId" clId="{1E99C674-EB58-455A-8506-1CEBDC8849D0}" dt="2023-06-15T11:25:51.047" v="13" actId="47"/>
        <pc:sldMkLst>
          <pc:docMk/>
          <pc:sldMk cId="1000437288" sldId="278"/>
        </pc:sldMkLst>
      </pc:sldChg>
      <pc:sldChg chg="del">
        <pc:chgData name="Sahaaya Arul Mary S A" userId="5e9c2bd099f20264" providerId="LiveId" clId="{1E99C674-EB58-455A-8506-1CEBDC8849D0}" dt="2023-06-15T11:25:52.217" v="19" actId="47"/>
        <pc:sldMkLst>
          <pc:docMk/>
          <pc:sldMk cId="3841815759" sldId="280"/>
        </pc:sldMkLst>
      </pc:sldChg>
      <pc:sldChg chg="del">
        <pc:chgData name="Sahaaya Arul Mary S A" userId="5e9c2bd099f20264" providerId="LiveId" clId="{1E99C674-EB58-455A-8506-1CEBDC8849D0}" dt="2023-06-15T11:25:51.820" v="17" actId="47"/>
        <pc:sldMkLst>
          <pc:docMk/>
          <pc:sldMk cId="79040503" sldId="281"/>
        </pc:sldMkLst>
      </pc:sldChg>
      <pc:sldChg chg="del">
        <pc:chgData name="Sahaaya Arul Mary S A" userId="5e9c2bd099f20264" providerId="LiveId" clId="{1E99C674-EB58-455A-8506-1CEBDC8849D0}" dt="2023-06-15T11:25:50.824" v="12" actId="47"/>
        <pc:sldMkLst>
          <pc:docMk/>
          <pc:sldMk cId="2862648236" sldId="282"/>
        </pc:sldMkLst>
      </pc:sldChg>
      <pc:sldChg chg="del">
        <pc:chgData name="Sahaaya Arul Mary S A" userId="5e9c2bd099f20264" providerId="LiveId" clId="{1E99C674-EB58-455A-8506-1CEBDC8849D0}" dt="2023-06-15T11:25:50.551" v="11" actId="47"/>
        <pc:sldMkLst>
          <pc:docMk/>
          <pc:sldMk cId="2942549151" sldId="283"/>
        </pc:sldMkLst>
      </pc:sldChg>
      <pc:sldChg chg="del">
        <pc:chgData name="Sahaaya Arul Mary S A" userId="5e9c2bd099f20264" providerId="LiveId" clId="{1E99C674-EB58-455A-8506-1CEBDC8849D0}" dt="2023-06-15T11:25:51.269" v="14" actId="47"/>
        <pc:sldMkLst>
          <pc:docMk/>
          <pc:sldMk cId="0" sldId="284"/>
        </pc:sldMkLst>
      </pc:sldChg>
      <pc:sldChg chg="del">
        <pc:chgData name="Sahaaya Arul Mary S A" userId="5e9c2bd099f20264" providerId="LiveId" clId="{1E99C674-EB58-455A-8506-1CEBDC8849D0}" dt="2023-06-15T11:25:54.246" v="26" actId="47"/>
        <pc:sldMkLst>
          <pc:docMk/>
          <pc:sldMk cId="2308534488" sldId="288"/>
        </pc:sldMkLst>
      </pc:sldChg>
      <pc:sldChg chg="del">
        <pc:chgData name="Sahaaya Arul Mary S A" userId="5e9c2bd099f20264" providerId="LiveId" clId="{1E99C674-EB58-455A-8506-1CEBDC8849D0}" dt="2023-06-15T11:25:54.686" v="27" actId="47"/>
        <pc:sldMkLst>
          <pc:docMk/>
          <pc:sldMk cId="3515268399" sldId="291"/>
        </pc:sldMkLst>
      </pc:sldChg>
      <pc:sldChg chg="del">
        <pc:chgData name="Sahaaya Arul Mary S A" userId="5e9c2bd099f20264" providerId="LiveId" clId="{1E99C674-EB58-455A-8506-1CEBDC8849D0}" dt="2023-06-15T11:25:52.017" v="18" actId="47"/>
        <pc:sldMkLst>
          <pc:docMk/>
          <pc:sldMk cId="3071465939" sldId="297"/>
        </pc:sldMkLst>
      </pc:sldChg>
      <pc:sldChg chg="del">
        <pc:chgData name="Sahaaya Arul Mary S A" userId="5e9c2bd099f20264" providerId="LiveId" clId="{1E99C674-EB58-455A-8506-1CEBDC8849D0}" dt="2023-06-15T11:25:53.673" v="25" actId="47"/>
        <pc:sldMkLst>
          <pc:docMk/>
          <pc:sldMk cId="3085363228" sldId="298"/>
        </pc:sldMkLst>
      </pc:sldChg>
      <pc:sldChg chg="del">
        <pc:chgData name="Sahaaya Arul Mary S A" userId="5e9c2bd099f20264" providerId="LiveId" clId="{1E99C674-EB58-455A-8506-1CEBDC8849D0}" dt="2023-06-15T11:25:58.237" v="32" actId="47"/>
        <pc:sldMkLst>
          <pc:docMk/>
          <pc:sldMk cId="1356167168" sldId="302"/>
        </pc:sldMkLst>
      </pc:sldChg>
      <pc:sldChg chg="del">
        <pc:chgData name="Sahaaya Arul Mary S A" userId="5e9c2bd099f20264" providerId="LiveId" clId="{1E99C674-EB58-455A-8506-1CEBDC8849D0}" dt="2023-06-15T11:25:58.699" v="33" actId="47"/>
        <pc:sldMkLst>
          <pc:docMk/>
          <pc:sldMk cId="5209940" sldId="303"/>
        </pc:sldMkLst>
      </pc:sldChg>
      <pc:sldChg chg="del">
        <pc:chgData name="Sahaaya Arul Mary S A" userId="5e9c2bd099f20264" providerId="LiveId" clId="{1E99C674-EB58-455A-8506-1CEBDC8849D0}" dt="2023-06-15T11:25:59.683" v="34" actId="47"/>
        <pc:sldMkLst>
          <pc:docMk/>
          <pc:sldMk cId="1724428483" sldId="304"/>
        </pc:sldMkLst>
      </pc:sldChg>
      <pc:sldChg chg="del">
        <pc:chgData name="Sahaaya Arul Mary S A" userId="5e9c2bd099f20264" providerId="LiveId" clId="{1E99C674-EB58-455A-8506-1CEBDC8849D0}" dt="2023-06-15T11:25:51.455" v="15" actId="47"/>
        <pc:sldMkLst>
          <pc:docMk/>
          <pc:sldMk cId="0" sldId="307"/>
        </pc:sldMkLst>
      </pc:sldChg>
      <pc:sldChg chg="del">
        <pc:chgData name="Sahaaya Arul Mary S A" userId="5e9c2bd099f20264" providerId="LiveId" clId="{1E99C674-EB58-455A-8506-1CEBDC8849D0}" dt="2023-06-15T11:25:51.634" v="16" actId="47"/>
        <pc:sldMkLst>
          <pc:docMk/>
          <pc:sldMk cId="0" sldId="308"/>
        </pc:sldMkLst>
      </pc:sldChg>
      <pc:sldChg chg="del">
        <pc:chgData name="Sahaaya Arul Mary S A" userId="5e9c2bd099f20264" providerId="LiveId" clId="{1E99C674-EB58-455A-8506-1CEBDC8849D0}" dt="2023-06-15T11:25:52.451" v="20" actId="47"/>
        <pc:sldMkLst>
          <pc:docMk/>
          <pc:sldMk cId="0" sldId="309"/>
        </pc:sldMkLst>
      </pc:sldChg>
      <pc:sldChg chg="del">
        <pc:chgData name="Sahaaya Arul Mary S A" userId="5e9c2bd099f20264" providerId="LiveId" clId="{1E99C674-EB58-455A-8506-1CEBDC8849D0}" dt="2023-06-15T11:25:52.710" v="21" actId="47"/>
        <pc:sldMkLst>
          <pc:docMk/>
          <pc:sldMk cId="0" sldId="310"/>
        </pc:sldMkLst>
      </pc:sldChg>
      <pc:sldChg chg="del">
        <pc:chgData name="Sahaaya Arul Mary S A" userId="5e9c2bd099f20264" providerId="LiveId" clId="{1E99C674-EB58-455A-8506-1CEBDC8849D0}" dt="2023-06-15T11:25:53.190" v="23" actId="47"/>
        <pc:sldMkLst>
          <pc:docMk/>
          <pc:sldMk cId="0" sldId="311"/>
        </pc:sldMkLst>
      </pc:sldChg>
      <pc:sldChg chg="del">
        <pc:chgData name="Sahaaya Arul Mary S A" userId="5e9c2bd099f20264" providerId="LiveId" clId="{1E99C674-EB58-455A-8506-1CEBDC8849D0}" dt="2023-06-15T11:25:53.426" v="24" actId="47"/>
        <pc:sldMkLst>
          <pc:docMk/>
          <pc:sldMk cId="0" sldId="312"/>
        </pc:sldMkLst>
      </pc:sldChg>
      <pc:sldChg chg="del">
        <pc:chgData name="Sahaaya Arul Mary S A" userId="5e9c2bd099f20264" providerId="LiveId" clId="{1E99C674-EB58-455A-8506-1CEBDC8849D0}" dt="2023-06-15T11:25:55.027" v="28" actId="47"/>
        <pc:sldMkLst>
          <pc:docMk/>
          <pc:sldMk cId="3759067539" sldId="315"/>
        </pc:sldMkLst>
      </pc:sldChg>
      <pc:sldChg chg="del">
        <pc:chgData name="Sahaaya Arul Mary S A" userId="5e9c2bd099f20264" providerId="LiveId" clId="{1E99C674-EB58-455A-8506-1CEBDC8849D0}" dt="2023-06-15T11:25:55.767" v="29" actId="47"/>
        <pc:sldMkLst>
          <pc:docMk/>
          <pc:sldMk cId="2229375820" sldId="316"/>
        </pc:sldMkLst>
      </pc:sldChg>
      <pc:sldChg chg="del">
        <pc:chgData name="Sahaaya Arul Mary S A" userId="5e9c2bd099f20264" providerId="LiveId" clId="{1E99C674-EB58-455A-8506-1CEBDC8849D0}" dt="2023-06-15T11:25:56.692" v="30" actId="47"/>
        <pc:sldMkLst>
          <pc:docMk/>
          <pc:sldMk cId="1982778753" sldId="317"/>
        </pc:sldMkLst>
      </pc:sldChg>
      <pc:sldChg chg="del">
        <pc:chgData name="Sahaaya Arul Mary S A" userId="5e9c2bd099f20264" providerId="LiveId" clId="{1E99C674-EB58-455A-8506-1CEBDC8849D0}" dt="2023-06-15T11:25:52.942" v="22" actId="47"/>
        <pc:sldMkLst>
          <pc:docMk/>
          <pc:sldMk cId="1611235923" sldId="318"/>
        </pc:sldMkLst>
      </pc:sldChg>
      <pc:sldChg chg="del">
        <pc:chgData name="Sahaaya Arul Mary S A" userId="5e9c2bd099f20264" providerId="LiveId" clId="{1E99C674-EB58-455A-8506-1CEBDC8849D0}" dt="2023-06-15T11:25:57.287" v="31" actId="47"/>
        <pc:sldMkLst>
          <pc:docMk/>
          <pc:sldMk cId="3531920944" sldId="319"/>
        </pc:sldMkLst>
      </pc:sldChg>
      <pc:sldChg chg="modSp mod">
        <pc:chgData name="Sahaaya Arul Mary S A" userId="5e9c2bd099f20264" providerId="LiveId" clId="{1E99C674-EB58-455A-8506-1CEBDC8849D0}" dt="2023-06-20T07:37:56.205" v="40" actId="1036"/>
        <pc:sldMkLst>
          <pc:docMk/>
          <pc:sldMk cId="2775981644" sldId="323"/>
        </pc:sldMkLst>
        <pc:picChg chg="mod">
          <ac:chgData name="Sahaaya Arul Mary S A" userId="5e9c2bd099f20264" providerId="LiveId" clId="{1E99C674-EB58-455A-8506-1CEBDC8849D0}" dt="2023-06-20T07:37:56.205" v="40" actId="1036"/>
          <ac:picMkLst>
            <pc:docMk/>
            <pc:sldMk cId="2775981644" sldId="323"/>
            <ac:picMk id="5" creationId="{5989BEAC-58DE-7F30-4ABB-3AFD11380626}"/>
          </ac:picMkLst>
        </pc:picChg>
      </pc:sldChg>
      <pc:sldChg chg="modSp mod">
        <pc:chgData name="Sahaaya Arul Mary S A" userId="5e9c2bd099f20264" providerId="LiveId" clId="{1E99C674-EB58-455A-8506-1CEBDC8849D0}" dt="2023-06-20T07:40:26.356" v="46" actId="1035"/>
        <pc:sldMkLst>
          <pc:docMk/>
          <pc:sldMk cId="1207783626" sldId="325"/>
        </pc:sldMkLst>
        <pc:picChg chg="mod">
          <ac:chgData name="Sahaaya Arul Mary S A" userId="5e9c2bd099f20264" providerId="LiveId" clId="{1E99C674-EB58-455A-8506-1CEBDC8849D0}" dt="2023-06-20T07:40:26.356" v="46" actId="1035"/>
          <ac:picMkLst>
            <pc:docMk/>
            <pc:sldMk cId="1207783626" sldId="325"/>
            <ac:picMk id="5" creationId="{34621E7C-7BD0-2035-E38F-6118E7E7683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5F399-3DB9-40D1-BD4C-6CC6BF725EE0}" type="datetimeFigureOut">
              <a:rPr lang="en-IN" smtClean="0"/>
              <a:t>20-06-2023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9154C9-FC4B-4498-B3E0-5D5C1C534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838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05FBF-3248-4891-A7E8-84117D8B1C6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860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28" y="565404"/>
            <a:ext cx="4538472" cy="286969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1055" y="565404"/>
            <a:ext cx="1639824" cy="284378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3063" y="3934967"/>
            <a:ext cx="1615439" cy="277520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18432" y="4823459"/>
            <a:ext cx="1915667" cy="64160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18089" y="177672"/>
            <a:ext cx="317753" cy="38735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82959" y="147446"/>
            <a:ext cx="618617" cy="25272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34501" y="237870"/>
            <a:ext cx="1666621" cy="68173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06180" y="1283461"/>
            <a:ext cx="370453" cy="45758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00897" y="1111630"/>
            <a:ext cx="3977290" cy="5471807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90181" y="354456"/>
            <a:ext cx="416471" cy="53213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256279" y="345566"/>
            <a:ext cx="514096" cy="380999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011417" y="5280533"/>
            <a:ext cx="189103" cy="793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276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BC22CD13-8706-4C23-85E7-8E6BE17174BB}" type="datetimeFigureOut">
              <a:rPr lang="en-US" smtClean="0"/>
              <a:pPr/>
              <a:t>6/20/2023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3BC27388-F121-4473-B2EC-ACD0DB933F8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719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99311" y="728217"/>
            <a:ext cx="8993377" cy="299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42740" y="1394460"/>
            <a:ext cx="7525384" cy="1769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3" Type="http://schemas.openxmlformats.org/officeDocument/2006/relationships/image" Target="../media/image32.jpg"/><Relationship Id="rId7" Type="http://schemas.openxmlformats.org/officeDocument/2006/relationships/image" Target="../media/image36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g"/><Relationship Id="rId4" Type="http://schemas.openxmlformats.org/officeDocument/2006/relationships/image" Target="../media/image23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3.jp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image" Target="../media/image42.jp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jp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44.jp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jpg"/><Relationship Id="rId7" Type="http://schemas.openxmlformats.org/officeDocument/2006/relationships/image" Target="../media/image64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jpg"/><Relationship Id="rId9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804" y="1033983"/>
            <a:ext cx="5803596" cy="7816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spcBef>
                <a:spcPts val="95"/>
              </a:spcBef>
            </a:pPr>
            <a:r>
              <a:rPr lang="en-IN" sz="5000" dirty="0"/>
              <a:t>Module 3 : part 2</a:t>
            </a:r>
            <a:endParaRPr sz="5000" dirty="0"/>
          </a:p>
        </p:txBody>
      </p:sp>
      <p:sp>
        <p:nvSpPr>
          <p:cNvPr id="3" name="object 3"/>
          <p:cNvSpPr txBox="1"/>
          <p:nvPr/>
        </p:nvSpPr>
        <p:spPr>
          <a:xfrm>
            <a:off x="2133601" y="2684992"/>
            <a:ext cx="6475095" cy="2801408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87020" indent="-274320">
              <a:spcBef>
                <a:spcPts val="7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20" dirty="0">
                <a:latin typeface="Constantia"/>
                <a:cs typeface="Constantia"/>
              </a:rPr>
              <a:t>Syntax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Directed</a:t>
            </a:r>
            <a:r>
              <a:rPr sz="2600" spc="3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Definitions</a:t>
            </a:r>
          </a:p>
          <a:p>
            <a:pPr marL="287020" indent="-274320"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15" dirty="0">
                <a:latin typeface="Constantia"/>
                <a:cs typeface="Constantia"/>
              </a:rPr>
              <a:t>Evaluation</a:t>
            </a:r>
            <a:r>
              <a:rPr sz="2600" spc="-4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Orders</a:t>
            </a:r>
            <a:r>
              <a:rPr sz="2600" spc="-8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of</a:t>
            </a:r>
            <a:r>
              <a:rPr sz="2600" spc="65" dirty="0">
                <a:latin typeface="Constantia"/>
                <a:cs typeface="Constantia"/>
              </a:rPr>
              <a:t> </a:t>
            </a:r>
            <a:r>
              <a:rPr sz="2600" spc="-30" dirty="0">
                <a:latin typeface="Constantia"/>
                <a:cs typeface="Constantia"/>
              </a:rPr>
              <a:t>SDD’s</a:t>
            </a:r>
            <a:endParaRPr sz="2600" dirty="0">
              <a:latin typeface="Constantia"/>
              <a:cs typeface="Constantia"/>
            </a:endParaRPr>
          </a:p>
          <a:p>
            <a:pPr marL="287020" indent="-274320">
              <a:spcBef>
                <a:spcPts val="63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10" dirty="0">
                <a:latin typeface="Constantia"/>
                <a:cs typeface="Constantia"/>
              </a:rPr>
              <a:t>Applications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of</a:t>
            </a:r>
            <a:r>
              <a:rPr sz="2600" spc="5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Syntax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Directed</a:t>
            </a:r>
            <a:r>
              <a:rPr sz="2600" spc="-1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Translation</a:t>
            </a:r>
            <a:endParaRPr sz="2600" dirty="0">
              <a:latin typeface="Constantia"/>
              <a:cs typeface="Constantia"/>
            </a:endParaRPr>
          </a:p>
          <a:p>
            <a:pPr marL="287020" indent="-274320"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20" dirty="0">
                <a:latin typeface="Constantia"/>
                <a:cs typeface="Constantia"/>
              </a:rPr>
              <a:t>Syntax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Directed</a:t>
            </a:r>
            <a:r>
              <a:rPr sz="2600" spc="-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Translation</a:t>
            </a:r>
            <a:r>
              <a:rPr sz="2600" spc="-5" dirty="0">
                <a:latin typeface="Constantia"/>
                <a:cs typeface="Constantia"/>
              </a:rPr>
              <a:t> Schemes</a:t>
            </a:r>
            <a:endParaRPr lang="en-IN" sz="2600" spc="-5" dirty="0">
              <a:latin typeface="Constantia"/>
              <a:cs typeface="Constantia"/>
            </a:endParaRPr>
          </a:p>
          <a:p>
            <a:pPr marL="287020" indent="-274320"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lang="en-US" sz="2600" dirty="0">
                <a:latin typeface="Constantia"/>
                <a:cs typeface="Constantia"/>
              </a:rPr>
              <a:t>Implementation of L attributed Syntax Directed Definition</a:t>
            </a:r>
            <a:endParaRPr lang="en-IN" sz="2600" dirty="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6910" y="2"/>
            <a:ext cx="7772400" cy="500041"/>
          </a:xfrm>
        </p:spPr>
        <p:txBody>
          <a:bodyPr>
            <a:normAutofit/>
          </a:bodyPr>
          <a:lstStyle/>
          <a:p>
            <a:r>
              <a:rPr lang="en-IN" b="1" dirty="0"/>
              <a:t>Syntax-Directed Translation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6400" y="609600"/>
            <a:ext cx="8763000" cy="6034110"/>
          </a:xfrm>
        </p:spPr>
        <p:txBody>
          <a:bodyPr>
            <a:normAutofit/>
          </a:bodyPr>
          <a:lstStyle/>
          <a:p>
            <a:pPr algn="just">
              <a:lnSpc>
                <a:spcPts val="3000"/>
              </a:lnSpc>
            </a:pPr>
            <a:r>
              <a:rPr lang="en-IN" dirty="0">
                <a:solidFill>
                  <a:schemeClr val="tx1"/>
                </a:solidFill>
              </a:rPr>
              <a:t>Syntax-directed translation (SDT) refers to a method of compiler implementation where the source language translation is completely driven by the parser, i.e., based on the syntax of the language.</a:t>
            </a:r>
          </a:p>
          <a:p>
            <a:pPr algn="just">
              <a:lnSpc>
                <a:spcPts val="3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algn="just">
              <a:lnSpc>
                <a:spcPts val="3000"/>
              </a:lnSpc>
            </a:pPr>
            <a:r>
              <a:rPr lang="en-IN" baseline="0" dirty="0">
                <a:solidFill>
                  <a:schemeClr val="tx1"/>
                </a:solidFill>
              </a:rPr>
              <a:t>The parsing process and parse trees are used to direct </a:t>
            </a:r>
            <a:r>
              <a:rPr lang="en-IN" b="1" baseline="0" dirty="0">
                <a:solidFill>
                  <a:schemeClr val="tx1"/>
                </a:solidFill>
              </a:rPr>
              <a:t>semantic analysis </a:t>
            </a:r>
            <a:r>
              <a:rPr lang="en-IN" baseline="0" dirty="0">
                <a:solidFill>
                  <a:schemeClr val="tx1"/>
                </a:solidFill>
              </a:rPr>
              <a:t>and the translation of the source program.</a:t>
            </a:r>
          </a:p>
          <a:p>
            <a:pPr algn="just">
              <a:lnSpc>
                <a:spcPts val="3000"/>
              </a:lnSpc>
            </a:pPr>
            <a:endParaRPr lang="en-IN" baseline="0" dirty="0">
              <a:solidFill>
                <a:schemeClr val="tx1"/>
              </a:solidFill>
            </a:endParaRPr>
          </a:p>
          <a:p>
            <a:pPr algn="just">
              <a:lnSpc>
                <a:spcPts val="3000"/>
              </a:lnSpc>
            </a:pPr>
            <a:r>
              <a:rPr lang="en-IN" dirty="0">
                <a:solidFill>
                  <a:schemeClr val="tx1"/>
                </a:solidFill>
              </a:rPr>
              <a:t>SDT can be a separate phase of a compiler or we can augment our conventional grammar with information to control the semantic analysis and translation. Such grammars are called </a:t>
            </a:r>
            <a:r>
              <a:rPr lang="en-IN" b="1" dirty="0">
                <a:solidFill>
                  <a:schemeClr val="tx1"/>
                </a:solidFill>
              </a:rPr>
              <a:t>attribute grammars.</a:t>
            </a:r>
          </a:p>
          <a:p>
            <a:pPr algn="just">
              <a:lnSpc>
                <a:spcPts val="3000"/>
              </a:lnSpc>
            </a:pPr>
            <a:endParaRPr lang="en-IN" b="1" dirty="0">
              <a:solidFill>
                <a:schemeClr val="tx1"/>
              </a:solidFill>
            </a:endParaRPr>
          </a:p>
          <a:p>
            <a:pPr algn="just">
              <a:lnSpc>
                <a:spcPts val="3000"/>
              </a:lnSpc>
            </a:pPr>
            <a:r>
              <a:rPr lang="en-IN" dirty="0">
                <a:solidFill>
                  <a:schemeClr val="tx1"/>
                </a:solidFill>
              </a:rPr>
              <a:t>We augment a grammar by associating </a:t>
            </a:r>
            <a:r>
              <a:rPr lang="en-IN" b="1" dirty="0">
                <a:solidFill>
                  <a:schemeClr val="tx1"/>
                </a:solidFill>
              </a:rPr>
              <a:t>attributes </a:t>
            </a:r>
            <a:r>
              <a:rPr lang="en-IN" dirty="0">
                <a:solidFill>
                  <a:schemeClr val="tx1"/>
                </a:solidFill>
              </a:rPr>
              <a:t>with each</a:t>
            </a:r>
            <a:r>
              <a:rPr lang="en-IN" b="1" dirty="0">
                <a:solidFill>
                  <a:schemeClr val="tx1"/>
                </a:solidFill>
              </a:rPr>
              <a:t> grammar symbol </a:t>
            </a:r>
            <a:r>
              <a:rPr lang="en-IN" dirty="0">
                <a:solidFill>
                  <a:schemeClr val="tx1"/>
                </a:solidFill>
              </a:rPr>
              <a:t>that describes its properties. With each production in a grammar, we give </a:t>
            </a:r>
            <a:r>
              <a:rPr lang="en-IN" b="1" dirty="0">
                <a:solidFill>
                  <a:schemeClr val="tx1"/>
                </a:solidFill>
              </a:rPr>
              <a:t>semantic rules/ actions, which describe how to compute the attribute values associated with each </a:t>
            </a:r>
            <a:r>
              <a:rPr lang="en-IN" dirty="0">
                <a:solidFill>
                  <a:schemeClr val="tx1"/>
                </a:solidFill>
              </a:rPr>
              <a:t>grammar symbol in a production.</a:t>
            </a:r>
            <a:endParaRPr lang="en-IN" b="1" dirty="0">
              <a:solidFill>
                <a:schemeClr val="tx1"/>
              </a:solidFill>
            </a:endParaRPr>
          </a:p>
          <a:p>
            <a:pPr algn="just">
              <a:lnSpc>
                <a:spcPts val="3300"/>
              </a:lnSpc>
            </a:pP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214290"/>
            <a:ext cx="9144000" cy="6643710"/>
          </a:xfrm>
        </p:spPr>
        <p:txBody>
          <a:bodyPr>
            <a:noAutofit/>
          </a:bodyPr>
          <a:lstStyle/>
          <a:p>
            <a:pPr>
              <a:lnSpc>
                <a:spcPts val="2500"/>
              </a:lnSpc>
            </a:pPr>
            <a:r>
              <a:rPr lang="en-IN" sz="2300" dirty="0"/>
              <a:t>The general approach to </a:t>
            </a:r>
            <a:r>
              <a:rPr lang="en-IN" sz="2300" b="1" dirty="0"/>
              <a:t>Syntax-Directed Translation </a:t>
            </a:r>
            <a:r>
              <a:rPr lang="en-IN" sz="2300" dirty="0"/>
              <a:t>is two fold </a:t>
            </a:r>
          </a:p>
          <a:p>
            <a:pPr>
              <a:lnSpc>
                <a:spcPts val="2500"/>
              </a:lnSpc>
            </a:pPr>
            <a:r>
              <a:rPr lang="en-IN" sz="2300" b="1" dirty="0"/>
              <a:t>1.To construct a parse tree or syntax tree </a:t>
            </a:r>
          </a:p>
          <a:p>
            <a:pPr marL="269875" indent="-269875">
              <a:lnSpc>
                <a:spcPts val="2500"/>
              </a:lnSpc>
            </a:pPr>
            <a:r>
              <a:rPr lang="en-IN" sz="2300" b="1" dirty="0"/>
              <a:t>2. compute the values of attributes at the nodes of the tree by visiting them in some order</a:t>
            </a:r>
            <a:r>
              <a:rPr lang="en-IN" sz="2300" dirty="0"/>
              <a:t>. </a:t>
            </a:r>
          </a:p>
          <a:p>
            <a:pPr marL="90488">
              <a:lnSpc>
                <a:spcPts val="2500"/>
              </a:lnSpc>
            </a:pPr>
            <a:r>
              <a:rPr lang="en-IN" sz="2300" dirty="0"/>
              <a:t>  In many cases, translation can be done during parsing without building an explicit tree.</a:t>
            </a:r>
          </a:p>
          <a:p>
            <a:pPr algn="ctr">
              <a:buNone/>
            </a:pPr>
            <a:r>
              <a:rPr lang="en-IN" sz="2300" b="1" dirty="0"/>
              <a:t>Types of translations </a:t>
            </a:r>
          </a:p>
          <a:p>
            <a:pPr marL="514350" indent="-514350">
              <a:buAutoNum type="arabicPeriod"/>
            </a:pPr>
            <a:r>
              <a:rPr lang="en-IN" sz="2300" b="1" dirty="0"/>
              <a:t>L-attributed translations</a:t>
            </a:r>
          </a:p>
          <a:p>
            <a:pPr marL="449263" indent="-88900">
              <a:lnSpc>
                <a:spcPts val="2500"/>
              </a:lnSpc>
            </a:pPr>
            <a:r>
              <a:rPr lang="en-IN" sz="2300" dirty="0"/>
              <a:t> L for left-to right</a:t>
            </a:r>
          </a:p>
          <a:p>
            <a:pPr marL="449263" indent="-88900">
              <a:lnSpc>
                <a:spcPts val="2500"/>
              </a:lnSpc>
            </a:pPr>
            <a:r>
              <a:rPr lang="en-IN" sz="2300" dirty="0"/>
              <a:t> Includes almost all translations that can be performed during parsing. </a:t>
            </a:r>
          </a:p>
          <a:p>
            <a:pPr marL="449263" indent="-88900">
              <a:lnSpc>
                <a:spcPts val="2500"/>
              </a:lnSpc>
            </a:pPr>
            <a:r>
              <a:rPr lang="en-US" sz="2300" dirty="0"/>
              <a:t> No need of explicit tree construction</a:t>
            </a:r>
            <a:endParaRPr lang="en-IN" sz="2300" dirty="0"/>
          </a:p>
          <a:p>
            <a:pPr>
              <a:buNone/>
            </a:pPr>
            <a:r>
              <a:rPr lang="en-IN" sz="2300" b="1" dirty="0"/>
              <a:t>2.   S-attributed translations</a:t>
            </a:r>
          </a:p>
          <a:p>
            <a:pPr marL="447675" indent="-87313">
              <a:lnSpc>
                <a:spcPts val="2500"/>
              </a:lnSpc>
            </a:pPr>
            <a:r>
              <a:rPr lang="en-IN" sz="2300" dirty="0"/>
              <a:t> S for synthesized</a:t>
            </a:r>
          </a:p>
          <a:p>
            <a:pPr marL="447675" indent="-87313">
              <a:lnSpc>
                <a:spcPts val="2500"/>
              </a:lnSpc>
            </a:pPr>
            <a:r>
              <a:rPr lang="en-IN" sz="2300" dirty="0"/>
              <a:t> Performed easily in connection with a bottom-up parse.</a:t>
            </a:r>
          </a:p>
          <a:p>
            <a:pPr marL="447675" indent="-87313">
              <a:lnSpc>
                <a:spcPts val="2500"/>
              </a:lnSpc>
            </a:pPr>
            <a:endParaRPr lang="en-IN" sz="2300" dirty="0"/>
          </a:p>
          <a:p>
            <a:pPr algn="ctr">
              <a:buNone/>
            </a:pPr>
            <a:r>
              <a:rPr lang="en-IN" sz="2300" dirty="0"/>
              <a:t>Two ways to </a:t>
            </a:r>
            <a:r>
              <a:rPr lang="en-IN" sz="2300" b="1" dirty="0"/>
              <a:t>represent the semantic rules </a:t>
            </a:r>
            <a:r>
              <a:rPr lang="en-IN" sz="2300" dirty="0"/>
              <a:t>associated with grammar symbols.</a:t>
            </a:r>
          </a:p>
          <a:p>
            <a:pPr marL="457200" indent="-457200">
              <a:lnSpc>
                <a:spcPts val="2600"/>
              </a:lnSpc>
              <a:buFont typeface="+mj-lt"/>
              <a:buAutoNum type="arabicPeriod"/>
            </a:pPr>
            <a:r>
              <a:rPr lang="en-IN" sz="2300" b="1" dirty="0"/>
              <a:t>Syntax-Directed Definitions (SDD)</a:t>
            </a:r>
          </a:p>
          <a:p>
            <a:pPr marL="457200" indent="-457200">
              <a:lnSpc>
                <a:spcPts val="2600"/>
              </a:lnSpc>
              <a:buFont typeface="+mj-lt"/>
              <a:buAutoNum type="arabicPeriod"/>
            </a:pPr>
            <a:r>
              <a:rPr lang="en-IN" sz="2300" b="1" dirty="0"/>
              <a:t>Syntax-Directed Translation Schemes (SDT)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A23656-3F52-E382-58D6-FEBC50F9A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57" y="64478"/>
            <a:ext cx="11613886" cy="672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896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621E7C-7BD0-2035-E38F-6118E7E7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-76200"/>
            <a:ext cx="107599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83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89BEAC-58DE-7F30-4ABB-3AFD11380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04" y="-76200"/>
            <a:ext cx="10813792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81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582594"/>
          </a:xfrm>
        </p:spPr>
        <p:txBody>
          <a:bodyPr>
            <a:normAutofit/>
          </a:bodyPr>
          <a:lstStyle/>
          <a:p>
            <a:r>
              <a:rPr lang="en-IN" sz="3200" b="1" dirty="0"/>
              <a:t>Syntax-Directed Translation Schemes (SDT)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642918"/>
            <a:ext cx="8763000" cy="5929354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SDT embeds program fragments called semantic actions within production bodies. 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The position of semantic action in a production body determines the order in which the action is executed.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Example: In the rule E        E1 + T   { print ‘+’ } </a:t>
            </a:r>
          </a:p>
          <a:p>
            <a:pPr algn="just"/>
            <a:endParaRPr lang="en-IN" b="1" dirty="0"/>
          </a:p>
          <a:p>
            <a:pPr algn="just"/>
            <a:r>
              <a:rPr lang="en-IN" dirty="0"/>
              <a:t>       the action is positioned after the body of the production.</a:t>
            </a:r>
          </a:p>
          <a:p>
            <a:pPr algn="just"/>
            <a:r>
              <a:rPr lang="en-IN" dirty="0"/>
              <a:t>SDTs are </a:t>
            </a:r>
            <a:r>
              <a:rPr lang="en-IN" b="1" dirty="0"/>
              <a:t>more efficient than SDDs </a:t>
            </a:r>
            <a:r>
              <a:rPr lang="en-IN" dirty="0"/>
              <a:t>as they indicate the </a:t>
            </a:r>
            <a:r>
              <a:rPr lang="en-IN" b="1" dirty="0"/>
              <a:t>order of evaluation </a:t>
            </a:r>
            <a:r>
              <a:rPr lang="en-IN" dirty="0"/>
              <a:t>of semantic actions associated with a production rule. </a:t>
            </a:r>
          </a:p>
          <a:p>
            <a:pPr algn="just"/>
            <a:r>
              <a:rPr lang="en-IN" dirty="0"/>
              <a:t>This also gives some information about implementation details.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257800" y="3200400"/>
            <a:ext cx="42862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66293"/>
            <a:ext cx="63207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Syntax</a:t>
            </a:r>
            <a:r>
              <a:rPr sz="4000" b="1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Directed</a:t>
            </a:r>
            <a:r>
              <a:rPr sz="40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Translations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9966" y="1098245"/>
            <a:ext cx="11389360" cy="173291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30" dirty="0">
                <a:latin typeface="Times New Roman"/>
                <a:cs typeface="Times New Roman"/>
              </a:rPr>
              <a:t>Till </a:t>
            </a:r>
            <a:r>
              <a:rPr sz="2800" spc="-50" dirty="0">
                <a:latin typeface="Times New Roman"/>
                <a:cs typeface="Times New Roman"/>
              </a:rPr>
              <a:t>now, </a:t>
            </a:r>
            <a:r>
              <a:rPr sz="2800" spc="-5" dirty="0">
                <a:latin typeface="Times New Roman"/>
                <a:cs typeface="Times New Roman"/>
              </a:rPr>
              <a:t>we are </a:t>
            </a:r>
            <a:r>
              <a:rPr sz="2800" dirty="0">
                <a:latin typeface="Times New Roman"/>
                <a:cs typeface="Times New Roman"/>
              </a:rPr>
              <a:t>given </a:t>
            </a:r>
            <a:r>
              <a:rPr sz="2800" spc="-10" dirty="0">
                <a:latin typeface="Times New Roman"/>
                <a:cs typeface="Times New Roman"/>
              </a:rPr>
              <a:t>some </a:t>
            </a:r>
            <a:r>
              <a:rPr sz="2800" spc="-20" dirty="0">
                <a:latin typeface="Times New Roman"/>
                <a:cs typeface="Times New Roman"/>
              </a:rPr>
              <a:t>grammar, </a:t>
            </a:r>
            <a:r>
              <a:rPr sz="2800" spc="-5" dirty="0">
                <a:latin typeface="Times New Roman"/>
                <a:cs typeface="Times New Roman"/>
              </a:rPr>
              <a:t>and for that </a:t>
            </a:r>
            <a:r>
              <a:rPr sz="2800" spc="-20" dirty="0">
                <a:latin typeface="Times New Roman"/>
                <a:cs typeface="Times New Roman"/>
              </a:rPr>
              <a:t>grammar, </a:t>
            </a:r>
            <a:r>
              <a:rPr sz="2800" spc="-5" dirty="0">
                <a:latin typeface="Times New Roman"/>
                <a:cs typeface="Times New Roman"/>
              </a:rPr>
              <a:t>we </a:t>
            </a:r>
            <a:r>
              <a:rPr sz="2800" dirty="0">
                <a:latin typeface="Times New Roman"/>
                <a:cs typeface="Times New Roman"/>
              </a:rPr>
              <a:t>are given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some </a:t>
            </a:r>
            <a:r>
              <a:rPr sz="2800" dirty="0">
                <a:latin typeface="Times New Roman"/>
                <a:cs typeface="Times New Roman"/>
              </a:rPr>
              <a:t>parsers. </a:t>
            </a:r>
            <a:r>
              <a:rPr sz="2800" spc="-5" dirty="0">
                <a:latin typeface="Times New Roman"/>
                <a:cs typeface="Times New Roman"/>
              </a:rPr>
              <a:t>In a practical implementation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compiler design and </a:t>
            </a:r>
            <a:r>
              <a:rPr sz="2800" spc="-20" dirty="0">
                <a:latin typeface="Times New Roman"/>
                <a:cs typeface="Times New Roman"/>
              </a:rPr>
              <a:t>grammar, 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there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some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association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notation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with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informal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notation.</a:t>
            </a:r>
            <a:endParaRPr sz="28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example: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66921" y="2501773"/>
          <a:ext cx="5833109" cy="30791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2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4968">
                <a:tc>
                  <a:txBody>
                    <a:bodyPr/>
                    <a:lstStyle/>
                    <a:p>
                      <a:pPr marL="68580">
                        <a:lnSpc>
                          <a:spcPts val="3315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Grammar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3315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sz="28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rules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(informal notations)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6046">
                <a:tc>
                  <a:txBody>
                    <a:bodyPr/>
                    <a:lstStyle/>
                    <a:p>
                      <a:pPr marL="68580">
                        <a:lnSpc>
                          <a:spcPts val="3215"/>
                        </a:lnSpc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E-&gt;E+T</a:t>
                      </a:r>
                      <a:r>
                        <a:rPr sz="2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8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3215"/>
                        </a:lnSpc>
                      </a:pP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E.value=E.value+T.value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ts val="3354"/>
                        </a:lnSpc>
                        <a:spcBef>
                          <a:spcPts val="225"/>
                        </a:spcBef>
                      </a:pP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E.value=T.value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269">
                <a:tc>
                  <a:txBody>
                    <a:bodyPr/>
                    <a:lstStyle/>
                    <a:p>
                      <a:pPr marL="68580">
                        <a:lnSpc>
                          <a:spcPts val="3265"/>
                        </a:lnSpc>
                      </a:pPr>
                      <a:r>
                        <a:rPr sz="2800" b="1" spc="-90" dirty="0">
                          <a:latin typeface="Times New Roman"/>
                          <a:cs typeface="Times New Roman"/>
                        </a:rPr>
                        <a:t>T-&gt;</a:t>
                      </a:r>
                      <a:r>
                        <a:rPr sz="28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T*F/</a:t>
                      </a:r>
                      <a:r>
                        <a:rPr sz="2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F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3265"/>
                        </a:lnSpc>
                      </a:pP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T.value=T.value*F.value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ts val="3354"/>
                        </a:lnSpc>
                        <a:spcBef>
                          <a:spcPts val="225"/>
                        </a:spcBef>
                      </a:pP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T.value=F.value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831">
                <a:tc>
                  <a:txBody>
                    <a:bodyPr/>
                    <a:lstStyle/>
                    <a:p>
                      <a:pPr marL="68580">
                        <a:lnSpc>
                          <a:spcPts val="3254"/>
                        </a:lnSpc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F-&gt;Num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3254"/>
                        </a:lnSpc>
                      </a:pP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F.val=num.value.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515872" y="6100064"/>
            <a:ext cx="94348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imes New Roman"/>
                <a:cs typeface="Times New Roman"/>
              </a:rPr>
              <a:t>Grammar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+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Semantic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Rules =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Syntax </a:t>
            </a:r>
            <a:r>
              <a:rPr sz="2800" spc="-10" dirty="0">
                <a:latin typeface="Times New Roman"/>
                <a:cs typeface="Times New Roman"/>
              </a:rPr>
              <a:t>Directed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Times New Roman"/>
                <a:cs typeface="Times New Roman"/>
              </a:rPr>
              <a:t>Translation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(SDT).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38213" y="265557"/>
            <a:ext cx="271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Syntax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Directed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Definitions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744982"/>
            <a:ext cx="77133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2+3*4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expression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evaluate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it.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14.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85" dirty="0">
                <a:latin typeface="Times New Roman"/>
                <a:cs typeface="Times New Roman"/>
              </a:rPr>
              <a:t>To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get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14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output,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carry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this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(table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data)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SDT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expression.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1842642"/>
            <a:ext cx="5819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dirty="0">
                <a:latin typeface="Times New Roman"/>
                <a:cs typeface="Times New Roman"/>
              </a:rPr>
              <a:t> 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rule,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first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derive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parser </a:t>
            </a:r>
            <a:r>
              <a:rPr sz="2400" dirty="0">
                <a:latin typeface="Times New Roman"/>
                <a:cs typeface="Times New Roman"/>
              </a:rPr>
              <a:t>tree.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084946" y="98171"/>
          <a:ext cx="3952240" cy="19818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0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2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881">
                <a:tc>
                  <a:txBody>
                    <a:bodyPr/>
                    <a:lstStyle/>
                    <a:p>
                      <a:pPr marL="69215">
                        <a:lnSpc>
                          <a:spcPts val="214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Grammar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140"/>
                        </a:lnSpc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rules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(informal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notations)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959">
                <a:tc>
                  <a:txBody>
                    <a:bodyPr/>
                    <a:lstStyle/>
                    <a:p>
                      <a:pPr marL="69215">
                        <a:lnSpc>
                          <a:spcPts val="2039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E-&gt;E+T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39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E.value=E.value+T.value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ts val="2120"/>
                        </a:lnSpc>
                        <a:spcBef>
                          <a:spcPts val="15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E.value=T.value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182">
                <a:tc>
                  <a:txBody>
                    <a:bodyPr/>
                    <a:lstStyle/>
                    <a:p>
                      <a:pPr marL="69215">
                        <a:lnSpc>
                          <a:spcPts val="2090"/>
                        </a:lnSpc>
                      </a:pPr>
                      <a:r>
                        <a:rPr sz="1800" b="1" spc="-17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-&gt;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T*F/ F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90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T.value=T.value*F.value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ts val="2120"/>
                        </a:lnSpc>
                        <a:spcBef>
                          <a:spcPts val="15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T.value=F.value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11">
                <a:tc>
                  <a:txBody>
                    <a:bodyPr/>
                    <a:lstStyle/>
                    <a:p>
                      <a:pPr marL="69215">
                        <a:lnSpc>
                          <a:spcPts val="2055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F-&gt;Num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55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F.val=num.value.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" y="2994660"/>
            <a:ext cx="2977896" cy="34198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787265" y="5436514"/>
            <a:ext cx="727329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720" algn="l"/>
              </a:tabLst>
            </a:pPr>
            <a:r>
              <a:rPr sz="2200" spc="-10" dirty="0">
                <a:latin typeface="Times New Roman"/>
                <a:cs typeface="Times New Roman"/>
              </a:rPr>
              <a:t>Here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number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nothing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token</a:t>
            </a:r>
            <a:r>
              <a:rPr sz="2200" dirty="0">
                <a:latin typeface="Times New Roman"/>
                <a:cs typeface="Times New Roman"/>
              </a:rPr>
              <a:t> 2,3,4 </a:t>
            </a:r>
            <a:r>
              <a:rPr sz="2200" spc="-5" dirty="0">
                <a:latin typeface="Times New Roman"/>
                <a:cs typeface="Times New Roman"/>
              </a:rPr>
              <a:t>are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lexical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values.</a:t>
            </a:r>
            <a:endParaRPr sz="22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00000"/>
              </a:lnSpc>
              <a:buFont typeface="Arial MT"/>
              <a:buChar char="•"/>
              <a:tabLst>
                <a:tab pos="299720" algn="l"/>
              </a:tabLst>
            </a:pPr>
            <a:r>
              <a:rPr sz="2200" spc="-5" dirty="0">
                <a:latin typeface="Times New Roman"/>
                <a:cs typeface="Times New Roman"/>
              </a:rPr>
              <a:t>Lexical values </a:t>
            </a:r>
            <a:r>
              <a:rPr sz="2200" spc="-10" dirty="0">
                <a:latin typeface="Times New Roman"/>
                <a:cs typeface="Times New Roman"/>
              </a:rPr>
              <a:t>mean what </a:t>
            </a:r>
            <a:r>
              <a:rPr sz="2200" spc="-5" dirty="0">
                <a:latin typeface="Times New Roman"/>
                <a:cs typeface="Times New Roman"/>
              </a:rPr>
              <a:t>does </a:t>
            </a:r>
            <a:r>
              <a:rPr sz="2200" spc="-10" dirty="0">
                <a:latin typeface="Times New Roman"/>
                <a:cs typeface="Times New Roman"/>
              </a:rPr>
              <a:t>this </a:t>
            </a:r>
            <a:r>
              <a:rPr sz="2200" spc="-5" dirty="0">
                <a:latin typeface="Times New Roman"/>
                <a:cs typeface="Times New Roman"/>
              </a:rPr>
              <a:t>number actually </a:t>
            </a:r>
            <a:r>
              <a:rPr sz="2200" spc="-10" dirty="0">
                <a:latin typeface="Times New Roman"/>
                <a:cs typeface="Times New Roman"/>
              </a:rPr>
              <a:t>mean. 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After </a:t>
            </a:r>
            <a:r>
              <a:rPr sz="2200" dirty="0">
                <a:latin typeface="Times New Roman"/>
                <a:cs typeface="Times New Roman"/>
              </a:rPr>
              <a:t>generating </a:t>
            </a:r>
            <a:r>
              <a:rPr sz="2200" spc="-5" dirty="0">
                <a:latin typeface="Times New Roman"/>
                <a:cs typeface="Times New Roman"/>
              </a:rPr>
              <a:t>the parse tree, we </a:t>
            </a:r>
            <a:r>
              <a:rPr sz="2200" dirty="0">
                <a:latin typeface="Times New Roman"/>
                <a:cs typeface="Times New Roman"/>
              </a:rPr>
              <a:t>are going </a:t>
            </a:r>
            <a:r>
              <a:rPr sz="2200" spc="-5" dirty="0">
                <a:latin typeface="Times New Roman"/>
                <a:cs typeface="Times New Roman"/>
              </a:rPr>
              <a:t>to traverse it top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down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left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right.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71180" y="2084578"/>
            <a:ext cx="3475354" cy="61404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  <a:tabLst>
                <a:tab pos="1173480" algn="l"/>
                <a:tab pos="1646555" algn="l"/>
              </a:tabLst>
            </a:pPr>
            <a:r>
              <a:rPr sz="1800" spc="-5" dirty="0">
                <a:latin typeface="Times New Roman"/>
                <a:cs typeface="Times New Roman"/>
              </a:rPr>
              <a:t>Grammar	</a:t>
            </a:r>
            <a:r>
              <a:rPr sz="1800" dirty="0">
                <a:latin typeface="Times New Roman"/>
                <a:cs typeface="Times New Roman"/>
              </a:rPr>
              <a:t>+	</a:t>
            </a:r>
            <a:r>
              <a:rPr sz="1800" spc="-5" dirty="0">
                <a:latin typeface="Times New Roman"/>
                <a:cs typeface="Times New Roman"/>
              </a:rPr>
              <a:t>Semantic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Rules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Syntax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Directed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Translation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(SDT).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132" y="17475"/>
            <a:ext cx="51943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dirty="0">
                <a:latin typeface="Times New Roman"/>
                <a:cs typeface="Times New Roman"/>
              </a:rPr>
              <a:t>Example:</a:t>
            </a:r>
            <a:r>
              <a:rPr sz="3500" b="1" spc="-35" dirty="0">
                <a:latin typeface="Times New Roman"/>
                <a:cs typeface="Times New Roman"/>
              </a:rPr>
              <a:t> </a:t>
            </a:r>
            <a:r>
              <a:rPr sz="3600" b="1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SDT:</a:t>
            </a:r>
            <a:r>
              <a:rPr sz="3600" b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Example-1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61788" y="2415539"/>
            <a:ext cx="2979419" cy="303276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518784" y="2108961"/>
            <a:ext cx="2260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Annotated</a:t>
            </a:r>
            <a:r>
              <a:rPr sz="18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Parse-Trees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0"/>
            <a:ext cx="1064133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SD</a:t>
            </a:r>
            <a:r>
              <a:rPr sz="2700" b="1" u="heavy" spc="-2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27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r>
              <a:rPr sz="2700" b="1" u="heavy" spc="-1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Anothe</a:t>
            </a:r>
            <a:r>
              <a:rPr sz="27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2700" b="1" u="heavy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</a:t>
            </a:r>
            <a:r>
              <a:rPr sz="2700" b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7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mpl</a:t>
            </a:r>
            <a:r>
              <a:rPr sz="2700" b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7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-2</a:t>
            </a:r>
            <a:r>
              <a:rPr sz="27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(with </a:t>
            </a:r>
            <a:r>
              <a:rPr sz="27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bot</a:t>
            </a:r>
            <a:r>
              <a:rPr sz="27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2700" b="1" spc="-60" dirty="0">
                <a:latin typeface="Times New Roman"/>
                <a:cs typeface="Times New Roman"/>
              </a:rPr>
              <a:t> </a:t>
            </a:r>
            <a:r>
              <a:rPr sz="2700" b="1" u="heavy" spc="-25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27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op</a:t>
            </a:r>
            <a:r>
              <a:rPr sz="2700" b="1" u="heavy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dow</a:t>
            </a:r>
            <a:r>
              <a:rPr sz="27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27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b="1" u="heavy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2700" b="1" u="heavy" spc="-10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Bott</a:t>
            </a:r>
            <a:r>
              <a:rPr sz="2700" b="1" u="heavy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</a:t>
            </a:r>
            <a:r>
              <a:rPr sz="27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sz="27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u</a:t>
            </a:r>
            <a:r>
              <a:rPr sz="27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 </a:t>
            </a:r>
            <a:r>
              <a:rPr sz="2700" b="1" u="heavy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app</a:t>
            </a:r>
            <a:r>
              <a:rPr sz="2700" b="1" u="heavy" spc="-45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2700" b="1" u="heavy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</a:t>
            </a:r>
            <a:r>
              <a:rPr sz="2700" b="1" u="heavy" spc="5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700" b="1" u="heavy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ch)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30902" y="1390040"/>
            <a:ext cx="7231380" cy="215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19685" indent="-287020">
              <a:lnSpc>
                <a:spcPct val="1068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  <a:tab pos="954405" algn="l"/>
                <a:tab pos="1635760" algn="l"/>
                <a:tab pos="1981835" algn="l"/>
                <a:tab pos="2778760" algn="l"/>
                <a:tab pos="3155315" algn="l"/>
                <a:tab pos="4150360" algn="l"/>
                <a:tab pos="4838065" algn="l"/>
                <a:tab pos="6189980" algn="l"/>
                <a:tab pos="6566534" algn="l"/>
              </a:tabLst>
            </a:pPr>
            <a:r>
              <a:rPr sz="2200" spc="-5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h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SD</a:t>
            </a:r>
            <a:r>
              <a:rPr sz="2200" spc="-5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Times New Roman"/>
                <a:cs typeface="Times New Roman"/>
              </a:rPr>
              <a:t>g</a:t>
            </a:r>
            <a:r>
              <a:rPr sz="2200" dirty="0">
                <a:latin typeface="Times New Roman"/>
                <a:cs typeface="Times New Roman"/>
              </a:rPr>
              <a:t>o</a:t>
            </a:r>
            <a:r>
              <a:rPr sz="2200" spc="-5" dirty="0">
                <a:latin typeface="Times New Roman"/>
                <a:cs typeface="Times New Roman"/>
              </a:rPr>
              <a:t>ing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c</a:t>
            </a:r>
            <a:r>
              <a:rPr sz="2200" spc="-5" dirty="0">
                <a:latin typeface="Times New Roman"/>
                <a:cs typeface="Times New Roman"/>
              </a:rPr>
              <a:t>o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-5" dirty="0">
                <a:latin typeface="Times New Roman"/>
                <a:cs typeface="Times New Roman"/>
              </a:rPr>
              <a:t>vert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Times New Roman"/>
                <a:cs typeface="Times New Roman"/>
              </a:rPr>
              <a:t>infix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Times New Roman"/>
                <a:cs typeface="Times New Roman"/>
              </a:rPr>
              <a:t>ex</a:t>
            </a:r>
            <a:r>
              <a:rPr sz="2200" dirty="0">
                <a:latin typeface="Times New Roman"/>
                <a:cs typeface="Times New Roman"/>
              </a:rPr>
              <a:t>p</a:t>
            </a:r>
            <a:r>
              <a:rPr sz="2200" spc="-5" dirty="0">
                <a:latin typeface="Times New Roman"/>
                <a:cs typeface="Times New Roman"/>
              </a:rPr>
              <a:t>res</a:t>
            </a:r>
            <a:r>
              <a:rPr sz="2200" spc="-15" dirty="0">
                <a:latin typeface="Times New Roman"/>
                <a:cs typeface="Times New Roman"/>
              </a:rPr>
              <a:t>s</a:t>
            </a:r>
            <a:r>
              <a:rPr sz="2200" spc="-5" dirty="0">
                <a:latin typeface="Times New Roman"/>
                <a:cs typeface="Times New Roman"/>
              </a:rPr>
              <a:t>ion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Times New Roman"/>
                <a:cs typeface="Times New Roman"/>
              </a:rPr>
              <a:t>p</a:t>
            </a:r>
            <a:r>
              <a:rPr sz="2200" dirty="0">
                <a:latin typeface="Times New Roman"/>
                <a:cs typeface="Times New Roman"/>
              </a:rPr>
              <a:t>o</a:t>
            </a:r>
            <a:r>
              <a:rPr sz="2200" spc="-10" dirty="0">
                <a:latin typeface="Times New Roman"/>
                <a:cs typeface="Times New Roman"/>
              </a:rPr>
              <a:t>stfi  </a:t>
            </a:r>
            <a:r>
              <a:rPr sz="2200" spc="-5" dirty="0">
                <a:latin typeface="Times New Roman"/>
                <a:cs typeface="Times New Roman"/>
              </a:rPr>
              <a:t>expression.</a:t>
            </a:r>
            <a:endParaRPr sz="22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299085" algn="l"/>
                <a:tab pos="299720" algn="l"/>
                <a:tab pos="942340" algn="l"/>
                <a:tab pos="1610995" algn="l"/>
                <a:tab pos="1945005" algn="l"/>
                <a:tab pos="2729865" algn="l"/>
                <a:tab pos="3094355" algn="l"/>
                <a:tab pos="3502660" algn="l"/>
                <a:tab pos="4424680" algn="l"/>
                <a:tab pos="4929505" algn="l"/>
                <a:tab pos="5697855" algn="l"/>
                <a:tab pos="6341110" algn="l"/>
                <a:tab pos="6610350" algn="l"/>
              </a:tabLst>
            </a:pPr>
            <a:r>
              <a:rPr sz="2200" spc="-5" dirty="0">
                <a:latin typeface="Times New Roman"/>
                <a:cs typeface="Times New Roman"/>
              </a:rPr>
              <a:t>This	</a:t>
            </a:r>
            <a:r>
              <a:rPr sz="2200" spc="-10" dirty="0">
                <a:latin typeface="Times New Roman"/>
                <a:cs typeface="Times New Roman"/>
              </a:rPr>
              <a:t>SDT	</a:t>
            </a:r>
            <a:r>
              <a:rPr sz="2200" spc="-5" dirty="0">
                <a:latin typeface="Times New Roman"/>
                <a:cs typeface="Times New Roman"/>
              </a:rPr>
              <a:t>is	going	to	</a:t>
            </a:r>
            <a:r>
              <a:rPr sz="2200" dirty="0">
                <a:latin typeface="Times New Roman"/>
                <a:cs typeface="Times New Roman"/>
              </a:rPr>
              <a:t>be	</a:t>
            </a:r>
            <a:r>
              <a:rPr sz="2200" spc="-5" dirty="0">
                <a:latin typeface="Times New Roman"/>
                <a:cs typeface="Times New Roman"/>
              </a:rPr>
              <a:t>carried	</a:t>
            </a:r>
            <a:r>
              <a:rPr sz="2200" dirty="0">
                <a:latin typeface="Times New Roman"/>
                <a:cs typeface="Times New Roman"/>
              </a:rPr>
              <a:t>out	along	</a:t>
            </a:r>
            <a:r>
              <a:rPr sz="2200" spc="-10" dirty="0">
                <a:latin typeface="Times New Roman"/>
                <a:cs typeface="Times New Roman"/>
              </a:rPr>
              <a:t>with	</a:t>
            </a:r>
            <a:r>
              <a:rPr sz="2200" spc="-5" dirty="0">
                <a:latin typeface="Times New Roman"/>
                <a:cs typeface="Times New Roman"/>
              </a:rPr>
              <a:t>a	synta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90"/>
              </a:spcBef>
            </a:pPr>
            <a:r>
              <a:rPr sz="2200" spc="-5" dirty="0">
                <a:latin typeface="Times New Roman"/>
                <a:cs typeface="Times New Roman"/>
              </a:rPr>
              <a:t>analyzer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parser.</a:t>
            </a:r>
            <a:endParaRPr sz="22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200" spc="-5" dirty="0">
                <a:latin typeface="Times New Roman"/>
                <a:cs typeface="Times New Roman"/>
              </a:rPr>
              <a:t>While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doing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parsing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itself,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parser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will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carry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all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actions associated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with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productions.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77915" y="4262780"/>
            <a:ext cx="6251575" cy="181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800"/>
              </a:lnSpc>
              <a:spcBef>
                <a:spcPts val="100"/>
              </a:spcBef>
            </a:pPr>
            <a:r>
              <a:rPr sz="2200" spc="-5" dirty="0">
                <a:latin typeface="Times New Roman"/>
                <a:cs typeface="Times New Roman"/>
              </a:rPr>
              <a:t>While</a:t>
            </a:r>
            <a:r>
              <a:rPr sz="2200" spc="4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Constructing</a:t>
            </a:r>
            <a:r>
              <a:rPr sz="2200" spc="43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4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parse</a:t>
            </a:r>
            <a:r>
              <a:rPr sz="2200" spc="4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tree,</a:t>
            </a:r>
            <a:r>
              <a:rPr sz="2200" spc="4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consider</a:t>
            </a:r>
            <a:r>
              <a:rPr sz="2200" spc="4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semantic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actions also.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2200" spc="-5" dirty="0">
                <a:latin typeface="Times New Roman"/>
                <a:cs typeface="Times New Roman"/>
              </a:rPr>
              <a:t>That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 a </a:t>
            </a:r>
            <a:r>
              <a:rPr sz="2200" spc="-10" dirty="0">
                <a:latin typeface="Times New Roman"/>
                <a:cs typeface="Times New Roman"/>
              </a:rPr>
              <a:t>semantic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actions</a:t>
            </a:r>
            <a:r>
              <a:rPr sz="2200" dirty="0">
                <a:latin typeface="Times New Roman"/>
                <a:cs typeface="Times New Roman"/>
              </a:rPr>
              <a:t> follow </a:t>
            </a:r>
            <a:r>
              <a:rPr sz="2200" spc="-5" dirty="0">
                <a:latin typeface="Times New Roman"/>
                <a:cs typeface="Times New Roman"/>
              </a:rPr>
              <a:t>each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production.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06800"/>
              </a:lnSpc>
              <a:spcBef>
                <a:spcPts val="15"/>
              </a:spcBef>
            </a:pPr>
            <a:r>
              <a:rPr sz="2200" spc="-5" dirty="0">
                <a:latin typeface="Times New Roman"/>
                <a:cs typeface="Times New Roman"/>
              </a:rPr>
              <a:t>This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means,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along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with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production,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write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semantic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actions.</a:t>
            </a:r>
            <a:endParaRPr sz="22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45287" y="544702"/>
          <a:ext cx="4176395" cy="2719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2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3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5020">
                <a:tc>
                  <a:txBody>
                    <a:bodyPr/>
                    <a:lstStyle/>
                    <a:p>
                      <a:pPr marL="68580">
                        <a:lnSpc>
                          <a:spcPts val="2565"/>
                        </a:lnSpc>
                      </a:pPr>
                      <a:r>
                        <a:rPr sz="22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Grammar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565"/>
                        </a:lnSpc>
                      </a:pPr>
                      <a:r>
                        <a:rPr sz="22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sz="22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rules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2610"/>
                        </a:lnSpc>
                        <a:spcBef>
                          <a:spcPts val="985"/>
                        </a:spcBef>
                      </a:pPr>
                      <a:r>
                        <a:rPr sz="22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(Informal</a:t>
                      </a:r>
                      <a:r>
                        <a:rPr sz="22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Notation)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644">
                <a:tc rowSpan="2">
                  <a:txBody>
                    <a:bodyPr/>
                    <a:lstStyle/>
                    <a:p>
                      <a:pPr marL="68580">
                        <a:lnSpc>
                          <a:spcPts val="2565"/>
                        </a:lnSpc>
                      </a:pPr>
                      <a:r>
                        <a:rPr sz="2200" b="1" spc="-5" dirty="0">
                          <a:latin typeface="Times New Roman"/>
                          <a:cs typeface="Times New Roman"/>
                        </a:rPr>
                        <a:t>E-&gt;E+T</a:t>
                      </a:r>
                      <a:r>
                        <a:rPr sz="22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latin typeface="Times New Roman"/>
                          <a:cs typeface="Times New Roman"/>
                        </a:rPr>
                        <a:t>/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483234">
                        <a:lnSpc>
                          <a:spcPts val="2610"/>
                        </a:lnSpc>
                        <a:spcBef>
                          <a:spcPts val="98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T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535"/>
                        </a:lnSpc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{printf(“+”);}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565"/>
                        </a:lnSpc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645">
                <a:tc rowSpan="2">
                  <a:txBody>
                    <a:bodyPr/>
                    <a:lstStyle/>
                    <a:p>
                      <a:pPr marR="336550" algn="ctr">
                        <a:lnSpc>
                          <a:spcPts val="2565"/>
                        </a:lnSpc>
                      </a:pPr>
                      <a:r>
                        <a:rPr sz="2200" b="1" spc="-204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-&gt;</a:t>
                      </a:r>
                      <a:r>
                        <a:rPr sz="2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T*F/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R="238125" algn="ctr">
                        <a:lnSpc>
                          <a:spcPts val="2610"/>
                        </a:lnSpc>
                        <a:spcBef>
                          <a:spcPts val="98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535"/>
                        </a:lnSpc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{printf(“*”);</a:t>
                      </a:r>
                      <a:r>
                        <a:rPr sz="2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570"/>
                        </a:lnSpc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L="68580">
                        <a:lnSpc>
                          <a:spcPts val="2535"/>
                        </a:lnSpc>
                      </a:pPr>
                      <a:r>
                        <a:rPr sz="2200" b="1" spc="-5" dirty="0">
                          <a:latin typeface="Times New Roman"/>
                          <a:cs typeface="Times New Roman"/>
                        </a:rPr>
                        <a:t>F-&gt;Num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535"/>
                        </a:lnSpc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{print(num.lval)}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5755" y="4019930"/>
          <a:ext cx="4573905" cy="27197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5019">
                <a:tc>
                  <a:txBody>
                    <a:bodyPr/>
                    <a:lstStyle/>
                    <a:p>
                      <a:pPr marL="68580">
                        <a:lnSpc>
                          <a:spcPts val="2570"/>
                        </a:lnSpc>
                      </a:pPr>
                      <a:r>
                        <a:rPr sz="22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Grammar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570"/>
                        </a:lnSpc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sz="2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rules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2605"/>
                        </a:lnSpc>
                        <a:spcBef>
                          <a:spcPts val="980"/>
                        </a:spcBef>
                      </a:pPr>
                      <a:r>
                        <a:rPr sz="22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(Informal</a:t>
                      </a:r>
                      <a:r>
                        <a:rPr sz="22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Notation)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644">
                <a:tc rowSpan="2">
                  <a:txBody>
                    <a:bodyPr/>
                    <a:lstStyle/>
                    <a:p>
                      <a:pPr marL="68580">
                        <a:lnSpc>
                          <a:spcPts val="2570"/>
                        </a:lnSpc>
                      </a:pPr>
                      <a:r>
                        <a:rPr sz="2200" b="1" spc="-5" dirty="0">
                          <a:latin typeface="Times New Roman"/>
                          <a:cs typeface="Times New Roman"/>
                        </a:rPr>
                        <a:t>E-&gt;E+T</a:t>
                      </a:r>
                      <a:r>
                        <a:rPr sz="22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latin typeface="Times New Roman"/>
                          <a:cs typeface="Times New Roman"/>
                        </a:rPr>
                        <a:t>/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482600">
                        <a:lnSpc>
                          <a:spcPts val="2600"/>
                        </a:lnSpc>
                        <a:spcBef>
                          <a:spcPts val="98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T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535"/>
                        </a:lnSpc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{printf(“+”);}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535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4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575"/>
                        </a:lnSpc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575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645">
                <a:tc rowSpan="2">
                  <a:txBody>
                    <a:bodyPr/>
                    <a:lstStyle/>
                    <a:p>
                      <a:pPr marR="346075" algn="ctr">
                        <a:lnSpc>
                          <a:spcPts val="2575"/>
                        </a:lnSpc>
                      </a:pPr>
                      <a:r>
                        <a:rPr sz="2200" b="1" spc="-204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-&gt;</a:t>
                      </a:r>
                      <a:r>
                        <a:rPr sz="2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T*F/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R="248285" algn="ctr">
                        <a:lnSpc>
                          <a:spcPts val="2600"/>
                        </a:lnSpc>
                        <a:spcBef>
                          <a:spcPts val="98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535"/>
                        </a:lnSpc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{printf(“*”);</a:t>
                      </a:r>
                      <a:r>
                        <a:rPr sz="2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535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575"/>
                        </a:lnSpc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575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641">
                <a:tc>
                  <a:txBody>
                    <a:bodyPr/>
                    <a:lstStyle/>
                    <a:p>
                      <a:pPr marL="68580">
                        <a:lnSpc>
                          <a:spcPts val="2535"/>
                        </a:lnSpc>
                      </a:pPr>
                      <a:r>
                        <a:rPr sz="2200" b="1" spc="-5" dirty="0">
                          <a:latin typeface="Times New Roman"/>
                          <a:cs typeface="Times New Roman"/>
                        </a:rPr>
                        <a:t>F-&gt;Num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535"/>
                        </a:lnSpc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{print(num.lval)}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535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15823" y="3256915"/>
            <a:ext cx="3475990" cy="61404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  <a:tabLst>
                <a:tab pos="1174115" algn="l"/>
                <a:tab pos="1646555" algn="l"/>
              </a:tabLst>
            </a:pPr>
            <a:r>
              <a:rPr sz="1800" spc="-5" dirty="0">
                <a:latin typeface="Times New Roman"/>
                <a:cs typeface="Times New Roman"/>
              </a:rPr>
              <a:t>Grammar	</a:t>
            </a:r>
            <a:r>
              <a:rPr sz="1800" dirty="0">
                <a:latin typeface="Times New Roman"/>
                <a:cs typeface="Times New Roman"/>
              </a:rPr>
              <a:t>+	</a:t>
            </a:r>
            <a:r>
              <a:rPr sz="1800" spc="-5" dirty="0">
                <a:latin typeface="Times New Roman"/>
                <a:cs typeface="Times New Roman"/>
              </a:rPr>
              <a:t>Semantic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Rules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Syntax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Directed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Translation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(SDT).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88204" y="619455"/>
            <a:ext cx="731837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Convert</a:t>
            </a:r>
            <a:r>
              <a:rPr sz="2500" u="heavy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infix</a:t>
            </a:r>
            <a:r>
              <a:rPr sz="2500" u="heavy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expression</a:t>
            </a:r>
            <a:r>
              <a:rPr sz="2500" u="heavy" spc="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25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postfix</a:t>
            </a:r>
            <a:r>
              <a:rPr sz="2500" u="heavy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expression</a:t>
            </a:r>
            <a:r>
              <a:rPr sz="2500" u="heavy" spc="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b="1" u="heavy" spc="-8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</a:t>
            </a:r>
            <a:r>
              <a:rPr sz="2500" b="1" u="heavy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b="1" u="heavy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down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0"/>
            <a:ext cx="1010666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SD</a:t>
            </a:r>
            <a:r>
              <a:rPr sz="2700" b="1" u="heavy" spc="-2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27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r>
              <a:rPr sz="2700" b="1" u="heavy" spc="-1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Anothe</a:t>
            </a:r>
            <a:r>
              <a:rPr sz="27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2700" b="1" u="heavy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</a:t>
            </a:r>
            <a:r>
              <a:rPr sz="2700" b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7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mpl</a:t>
            </a:r>
            <a:r>
              <a:rPr sz="2700" b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7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-</a:t>
            </a:r>
            <a:r>
              <a:rPr sz="2700" b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700" u="heavy" dirty="0">
                <a:uFill>
                  <a:solidFill>
                    <a:srgbClr val="000000"/>
                  </a:solidFill>
                </a:uFill>
              </a:rPr>
              <a:t>(with</a:t>
            </a:r>
            <a:r>
              <a:rPr sz="2700" u="heavy" spc="-2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700" u="heavy" dirty="0">
                <a:uFill>
                  <a:solidFill>
                    <a:srgbClr val="000000"/>
                  </a:solidFill>
                </a:uFill>
              </a:rPr>
              <a:t>b</a:t>
            </a:r>
            <a:r>
              <a:rPr sz="2700" u="heavy" spc="5" dirty="0">
                <a:uFill>
                  <a:solidFill>
                    <a:srgbClr val="000000"/>
                  </a:solidFill>
                </a:uFill>
              </a:rPr>
              <a:t>o</a:t>
            </a:r>
            <a:r>
              <a:rPr sz="2700" u="heavy" dirty="0">
                <a:uFill>
                  <a:solidFill>
                    <a:srgbClr val="000000"/>
                  </a:solidFill>
                </a:uFill>
              </a:rPr>
              <a:t>th</a:t>
            </a:r>
            <a:r>
              <a:rPr sz="2700" u="heavy" spc="-7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700" u="heavy" spc="-200" dirty="0">
                <a:uFill>
                  <a:solidFill>
                    <a:srgbClr val="000000"/>
                  </a:solidFill>
                </a:uFill>
              </a:rPr>
              <a:t>T</a:t>
            </a:r>
            <a:r>
              <a:rPr sz="2700" u="heavy" dirty="0">
                <a:uFill>
                  <a:solidFill>
                    <a:srgbClr val="000000"/>
                  </a:solidFill>
                </a:uFill>
              </a:rPr>
              <a:t>op</a:t>
            </a:r>
            <a:r>
              <a:rPr sz="2700" u="heavy" spc="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700" u="heavy" dirty="0">
                <a:uFill>
                  <a:solidFill>
                    <a:srgbClr val="000000"/>
                  </a:solidFill>
                </a:uFill>
              </a:rPr>
              <a:t>d</a:t>
            </a:r>
            <a:r>
              <a:rPr sz="2700" u="heavy" spc="5" dirty="0">
                <a:uFill>
                  <a:solidFill>
                    <a:srgbClr val="000000"/>
                  </a:solidFill>
                </a:uFill>
              </a:rPr>
              <a:t>o</a:t>
            </a:r>
            <a:r>
              <a:rPr sz="2700" u="heavy" spc="-5" dirty="0">
                <a:uFill>
                  <a:solidFill>
                    <a:srgbClr val="000000"/>
                  </a:solidFill>
                </a:uFill>
              </a:rPr>
              <a:t>w</a:t>
            </a:r>
            <a:r>
              <a:rPr sz="2700" u="heavy" dirty="0">
                <a:uFill>
                  <a:solidFill>
                    <a:srgbClr val="000000"/>
                  </a:solidFill>
                </a:uFill>
              </a:rPr>
              <a:t>n</a:t>
            </a:r>
            <a:r>
              <a:rPr sz="2700" u="heavy" spc="-1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700" u="heavy" dirty="0">
                <a:uFill>
                  <a:solidFill>
                    <a:srgbClr val="000000"/>
                  </a:solidFill>
                </a:uFill>
              </a:rPr>
              <a:t>and</a:t>
            </a:r>
            <a:r>
              <a:rPr sz="2700" u="heavy" spc="-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700" u="heavy" dirty="0">
                <a:uFill>
                  <a:solidFill>
                    <a:srgbClr val="000000"/>
                  </a:solidFill>
                </a:uFill>
              </a:rPr>
              <a:t>Bo</a:t>
            </a:r>
            <a:r>
              <a:rPr sz="2700" u="heavy" spc="5" dirty="0">
                <a:uFill>
                  <a:solidFill>
                    <a:srgbClr val="000000"/>
                  </a:solidFill>
                </a:uFill>
              </a:rPr>
              <a:t>t</a:t>
            </a:r>
            <a:r>
              <a:rPr sz="2700" u="heavy" dirty="0">
                <a:uFill>
                  <a:solidFill>
                    <a:srgbClr val="000000"/>
                  </a:solidFill>
                </a:uFill>
              </a:rPr>
              <a:t>t</a:t>
            </a:r>
            <a:r>
              <a:rPr sz="2700" u="heavy" spc="5" dirty="0">
                <a:uFill>
                  <a:solidFill>
                    <a:srgbClr val="000000"/>
                  </a:solidFill>
                </a:uFill>
              </a:rPr>
              <a:t>o</a:t>
            </a:r>
            <a:r>
              <a:rPr sz="2700" u="heavy" dirty="0">
                <a:uFill>
                  <a:solidFill>
                    <a:srgbClr val="000000"/>
                  </a:solidFill>
                </a:uFill>
              </a:rPr>
              <a:t>m</a:t>
            </a:r>
            <a:r>
              <a:rPr sz="2700" u="heavy" spc="-1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700" u="heavy" dirty="0">
                <a:uFill>
                  <a:solidFill>
                    <a:srgbClr val="000000"/>
                  </a:solidFill>
                </a:uFill>
              </a:rPr>
              <a:t>up</a:t>
            </a:r>
            <a:r>
              <a:rPr sz="2700" u="heavy" spc="-1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700" u="heavy" dirty="0">
                <a:uFill>
                  <a:solidFill>
                    <a:srgbClr val="000000"/>
                  </a:solidFill>
                </a:uFill>
              </a:rPr>
              <a:t>ap</a:t>
            </a:r>
            <a:r>
              <a:rPr sz="2700" u="heavy" spc="10" dirty="0">
                <a:uFill>
                  <a:solidFill>
                    <a:srgbClr val="000000"/>
                  </a:solidFill>
                </a:uFill>
              </a:rPr>
              <a:t>p</a:t>
            </a:r>
            <a:r>
              <a:rPr sz="2700" u="heavy" dirty="0">
                <a:uFill>
                  <a:solidFill>
                    <a:srgbClr val="000000"/>
                  </a:solidFill>
                </a:uFill>
              </a:rPr>
              <a:t>ro</a:t>
            </a:r>
            <a:r>
              <a:rPr sz="2700" u="heavy" spc="5" dirty="0">
                <a:uFill>
                  <a:solidFill>
                    <a:srgbClr val="000000"/>
                  </a:solidFill>
                </a:uFill>
              </a:rPr>
              <a:t>a</a:t>
            </a:r>
            <a:r>
              <a:rPr sz="2700" u="heavy" dirty="0">
                <a:uFill>
                  <a:solidFill>
                    <a:srgbClr val="000000"/>
                  </a:solidFill>
                </a:uFill>
              </a:rPr>
              <a:t>ch)</a:t>
            </a:r>
            <a:endParaRPr sz="27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" y="2427732"/>
            <a:ext cx="3806952" cy="40538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99761" y="3895725"/>
            <a:ext cx="6753859" cy="252666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How </a:t>
            </a:r>
            <a:r>
              <a:rPr sz="1800" dirty="0">
                <a:latin typeface="Times New Roman"/>
                <a:cs typeface="Times New Roman"/>
              </a:rPr>
              <a:t>does 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Top-down </a:t>
            </a:r>
            <a:r>
              <a:rPr sz="1800" spc="-5" dirty="0">
                <a:latin typeface="Times New Roman"/>
                <a:cs typeface="Times New Roman"/>
              </a:rPr>
              <a:t>parser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work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5" dirty="0">
                <a:latin typeface="Times New Roman"/>
                <a:cs typeface="Times New Roman"/>
              </a:rPr>
              <a:t> grammar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is,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top-down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parser</a:t>
            </a:r>
            <a:r>
              <a:rPr sz="1800" dirty="0">
                <a:latin typeface="Times New Roman"/>
                <a:cs typeface="Times New Roman"/>
              </a:rPr>
              <a:t> takes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SDT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constructs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parse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tree.</a:t>
            </a:r>
            <a:endParaRPr sz="18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6700"/>
              </a:lnSpc>
              <a:spcBef>
                <a:spcPts val="1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After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constructing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parse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tree,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way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evaluates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is,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traverse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parse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tree 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top-down 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left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right.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Times New Roman"/>
                <a:cs typeface="Times New Roman"/>
              </a:rPr>
              <a:t>Whenever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come</a:t>
            </a:r>
            <a:r>
              <a:rPr sz="1800" dirty="0">
                <a:latin typeface="Times New Roman"/>
                <a:cs typeface="Times New Roman"/>
              </a:rPr>
              <a:t> across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semantic </a:t>
            </a:r>
            <a:r>
              <a:rPr sz="1800" dirty="0">
                <a:latin typeface="Times New Roman"/>
                <a:cs typeface="Times New Roman"/>
              </a:rPr>
              <a:t>actions,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perform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action.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Times New Roman"/>
              <a:cs typeface="Times New Roman"/>
            </a:endParaRPr>
          </a:p>
          <a:p>
            <a:pPr marL="1181735" marR="3700779">
              <a:lnSpc>
                <a:spcPts val="2940"/>
              </a:lnSpc>
            </a:pPr>
            <a:r>
              <a:rPr sz="2500" spc="-5" dirty="0">
                <a:latin typeface="Times New Roman"/>
                <a:cs typeface="Times New Roman"/>
              </a:rPr>
              <a:t>Input: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2+3*4 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Output: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234*+</a:t>
            </a:r>
            <a:endParaRPr sz="25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610602" y="530479"/>
          <a:ext cx="4574539" cy="2719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5020">
                <a:tc>
                  <a:txBody>
                    <a:bodyPr/>
                    <a:lstStyle/>
                    <a:p>
                      <a:pPr marL="69215">
                        <a:lnSpc>
                          <a:spcPts val="2565"/>
                        </a:lnSpc>
                      </a:pPr>
                      <a:r>
                        <a:rPr sz="22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Grammar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565"/>
                        </a:lnSpc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sz="2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rules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ts val="2610"/>
                        </a:lnSpc>
                        <a:spcBef>
                          <a:spcPts val="980"/>
                        </a:spcBef>
                      </a:pPr>
                      <a:r>
                        <a:rPr sz="22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(Informal</a:t>
                      </a:r>
                      <a:r>
                        <a:rPr sz="22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Notation)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645">
                <a:tc rowSpan="2">
                  <a:txBody>
                    <a:bodyPr/>
                    <a:lstStyle/>
                    <a:p>
                      <a:pPr marL="69215">
                        <a:lnSpc>
                          <a:spcPts val="2565"/>
                        </a:lnSpc>
                      </a:pPr>
                      <a:r>
                        <a:rPr sz="2200" b="1" spc="-5" dirty="0">
                          <a:latin typeface="Times New Roman"/>
                          <a:cs typeface="Times New Roman"/>
                        </a:rPr>
                        <a:t>E-&gt;E+T</a:t>
                      </a:r>
                      <a:r>
                        <a:rPr sz="22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latin typeface="Times New Roman"/>
                          <a:cs typeface="Times New Roman"/>
                        </a:rPr>
                        <a:t>/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483870">
                        <a:lnSpc>
                          <a:spcPts val="2610"/>
                        </a:lnSpc>
                        <a:spcBef>
                          <a:spcPts val="98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T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535"/>
                        </a:lnSpc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{printf(“+”);}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2535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570"/>
                        </a:lnSpc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2570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644">
                <a:tc rowSpan="2">
                  <a:txBody>
                    <a:bodyPr/>
                    <a:lstStyle/>
                    <a:p>
                      <a:pPr marR="344170" algn="ctr">
                        <a:lnSpc>
                          <a:spcPts val="2565"/>
                        </a:lnSpc>
                      </a:pPr>
                      <a:r>
                        <a:rPr sz="2200" b="1" spc="-2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200" b="1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sz="2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T*F/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R="246379" algn="ctr">
                        <a:lnSpc>
                          <a:spcPts val="2605"/>
                        </a:lnSpc>
                        <a:spcBef>
                          <a:spcPts val="98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535"/>
                        </a:lnSpc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{printf(“*”);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2535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565"/>
                        </a:lnSpc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2565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L="69215">
                        <a:lnSpc>
                          <a:spcPts val="2535"/>
                        </a:lnSpc>
                      </a:pPr>
                      <a:r>
                        <a:rPr sz="2200" b="1" spc="-5" dirty="0">
                          <a:latin typeface="Times New Roman"/>
                          <a:cs typeface="Times New Roman"/>
                        </a:rPr>
                        <a:t>F-&gt;Num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535"/>
                        </a:lnSpc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{print(num.lval)}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2535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21944" y="688593"/>
            <a:ext cx="6678930" cy="1557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970"/>
              </a:lnSpc>
              <a:spcBef>
                <a:spcPts val="95"/>
              </a:spcBef>
            </a:pPr>
            <a:r>
              <a:rPr sz="25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Convert</a:t>
            </a:r>
            <a:r>
              <a:rPr sz="2500" u="heavy" spc="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infix</a:t>
            </a:r>
            <a:r>
              <a:rPr sz="2500" u="heavy" spc="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expression</a:t>
            </a:r>
            <a:r>
              <a:rPr sz="2500" u="heavy" spc="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2500" u="heavy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postfix</a:t>
            </a:r>
            <a:r>
              <a:rPr sz="2500" u="heavy" spc="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expression</a:t>
            </a:r>
            <a:r>
              <a:rPr sz="2500" u="heavy" spc="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using</a:t>
            </a:r>
            <a:endParaRPr sz="2500">
              <a:latin typeface="Times New Roman"/>
              <a:cs typeface="Times New Roman"/>
            </a:endParaRPr>
          </a:p>
          <a:p>
            <a:pPr marR="5715" algn="ctr">
              <a:lnSpc>
                <a:spcPts val="2970"/>
              </a:lnSpc>
            </a:pPr>
            <a:r>
              <a:rPr sz="2500" b="1" u="heavy" spc="-2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25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op</a:t>
            </a:r>
            <a:r>
              <a:rPr sz="2500" b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dow</a:t>
            </a:r>
            <a:r>
              <a:rPr sz="25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2500" b="1" u="heavy" spc="-1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App</a:t>
            </a:r>
            <a:r>
              <a:rPr sz="2500" b="1" u="heavy" spc="-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25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oa</a:t>
            </a:r>
            <a:r>
              <a:rPr sz="2500" b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25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h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450">
              <a:latin typeface="Times New Roman"/>
              <a:cs typeface="Times New Roman"/>
            </a:endParaRPr>
          </a:p>
          <a:p>
            <a:pPr marL="485775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Annotated</a:t>
            </a:r>
            <a:r>
              <a:rPr sz="18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Parse-Trees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3240" y="4518659"/>
            <a:ext cx="1508759" cy="10698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11" y="1074419"/>
            <a:ext cx="1903476" cy="20269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02282" y="1336293"/>
            <a:ext cx="2465705" cy="1200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72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Here semantic action </a:t>
            </a:r>
            <a:r>
              <a:rPr sz="1800" dirty="0">
                <a:latin typeface="Times New Roman"/>
                <a:cs typeface="Times New Roman"/>
              </a:rPr>
              <a:t>is 5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 is print </a:t>
            </a:r>
            <a:r>
              <a:rPr sz="1800" spc="-5" dirty="0">
                <a:latin typeface="Times New Roman"/>
                <a:cs typeface="Times New Roman"/>
              </a:rPr>
              <a:t>lexical value </a:t>
            </a:r>
            <a:r>
              <a:rPr sz="1800" dirty="0">
                <a:latin typeface="Times New Roman"/>
                <a:cs typeface="Times New Roman"/>
              </a:rPr>
              <a:t> that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2.</a:t>
            </a:r>
            <a:endParaRPr sz="18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45"/>
              </a:spcBef>
            </a:pPr>
            <a:r>
              <a:rPr sz="1800" spc="-5" dirty="0">
                <a:latin typeface="Times New Roman"/>
                <a:cs typeface="Times New Roman"/>
              </a:rPr>
              <a:t>Display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2,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36947" y="1395983"/>
            <a:ext cx="1912620" cy="21122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524625" y="1688719"/>
            <a:ext cx="3170555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72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  <a:tab pos="1160145" algn="l"/>
                <a:tab pos="2345690" algn="l"/>
              </a:tabLst>
            </a:pPr>
            <a:r>
              <a:rPr sz="1800" spc="-5" dirty="0">
                <a:latin typeface="Times New Roman"/>
                <a:cs typeface="Times New Roman"/>
              </a:rPr>
              <a:t>Durin</a:t>
            </a:r>
            <a:r>
              <a:rPr sz="1800" dirty="0">
                <a:latin typeface="Times New Roman"/>
                <a:cs typeface="Times New Roman"/>
              </a:rPr>
              <a:t>g	tr</a:t>
            </a:r>
            <a:r>
              <a:rPr sz="1800" spc="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ver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spc="-1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ng,	</a:t>
            </a:r>
            <a:r>
              <a:rPr sz="1800" spc="-5" dirty="0">
                <a:latin typeface="Times New Roman"/>
                <a:cs typeface="Times New Roman"/>
              </a:rPr>
              <a:t>se</a:t>
            </a:r>
            <a:r>
              <a:rPr sz="1800" spc="-10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5" dirty="0">
                <a:latin typeface="Times New Roman"/>
                <a:cs typeface="Times New Roman"/>
              </a:rPr>
              <a:t>t</a:t>
            </a:r>
            <a:r>
              <a:rPr sz="1800" spc="-10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c  actions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nothing.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24625" y="2278507"/>
            <a:ext cx="3170555" cy="1193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marR="5080" indent="-287020" algn="just">
              <a:lnSpc>
                <a:spcPct val="107000"/>
              </a:lnSpc>
              <a:spcBef>
                <a:spcPts val="90"/>
              </a:spcBef>
              <a:buFont typeface="Arial MT"/>
              <a:buChar char="•"/>
              <a:tabLst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After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continuing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traversing, </a:t>
            </a:r>
            <a:r>
              <a:rPr sz="1800" dirty="0">
                <a:latin typeface="Times New Roman"/>
                <a:cs typeface="Times New Roman"/>
              </a:rPr>
              <a:t> again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semantic</a:t>
            </a:r>
            <a:r>
              <a:rPr sz="1800" dirty="0">
                <a:latin typeface="Times New Roman"/>
                <a:cs typeface="Times New Roman"/>
              </a:rPr>
              <a:t> action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5, </a:t>
            </a:r>
            <a:r>
              <a:rPr sz="1800" spc="-5" dirty="0">
                <a:latin typeface="Times New Roman"/>
                <a:cs typeface="Times New Roman"/>
              </a:rPr>
              <a:t> which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lexical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value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3.</a:t>
            </a:r>
            <a:endParaRPr sz="180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Display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81488" y="2014727"/>
            <a:ext cx="1237488" cy="6812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9852" y="3508247"/>
            <a:ext cx="2478024" cy="256794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897251" y="3722877"/>
            <a:ext cx="5636260" cy="2845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9235" marR="1807845" algn="just">
              <a:lnSpc>
                <a:spcPct val="1072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During traversing semantic action, </a:t>
            </a:r>
            <a:r>
              <a:rPr sz="1800" dirty="0">
                <a:latin typeface="Times New Roman"/>
                <a:cs typeface="Times New Roman"/>
              </a:rPr>
              <a:t>4 is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nothing.</a:t>
            </a:r>
            <a:endParaRPr sz="1800">
              <a:latin typeface="Times New Roman"/>
              <a:cs typeface="Times New Roman"/>
            </a:endParaRPr>
          </a:p>
          <a:p>
            <a:pPr marL="229235" marR="1809114" algn="just">
              <a:lnSpc>
                <a:spcPct val="106900"/>
              </a:lnSpc>
              <a:spcBef>
                <a:spcPts val="5"/>
              </a:spcBef>
            </a:pPr>
            <a:r>
              <a:rPr sz="1800" spc="-5" dirty="0">
                <a:latin typeface="Times New Roman"/>
                <a:cs typeface="Times New Roman"/>
              </a:rPr>
              <a:t>After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continuing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traversing,</a:t>
            </a:r>
            <a:r>
              <a:rPr sz="1800" dirty="0">
                <a:latin typeface="Times New Roman"/>
                <a:cs typeface="Times New Roman"/>
              </a:rPr>
              <a:t> again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semantic</a:t>
            </a:r>
            <a:r>
              <a:rPr sz="1800" dirty="0">
                <a:latin typeface="Times New Roman"/>
                <a:cs typeface="Times New Roman"/>
              </a:rPr>
              <a:t> action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which</a:t>
            </a:r>
            <a:r>
              <a:rPr sz="1800" dirty="0">
                <a:latin typeface="Times New Roman"/>
                <a:cs typeface="Times New Roman"/>
              </a:rPr>
              <a:t> is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print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lexical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value</a:t>
            </a:r>
            <a:r>
              <a:rPr sz="1800" spc="-5" dirty="0">
                <a:latin typeface="Times New Roman"/>
                <a:cs typeface="Times New Roman"/>
              </a:rPr>
              <a:t> 4.</a:t>
            </a:r>
            <a:endParaRPr sz="1800">
              <a:latin typeface="Times New Roman"/>
              <a:cs typeface="Times New Roman"/>
            </a:endParaRPr>
          </a:p>
          <a:p>
            <a:pPr marL="229235" algn="just">
              <a:lnSpc>
                <a:spcPct val="100000"/>
              </a:lnSpc>
              <a:spcBef>
                <a:spcPts val="150"/>
              </a:spcBef>
            </a:pPr>
            <a:r>
              <a:rPr sz="1800" spc="-5" dirty="0">
                <a:latin typeface="Times New Roman"/>
                <a:cs typeface="Times New Roman"/>
              </a:rPr>
              <a:t>Display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4.</a:t>
            </a:r>
            <a:endParaRPr sz="18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85"/>
              </a:spcBef>
            </a:pPr>
            <a:r>
              <a:rPr sz="1800" spc="-5" dirty="0">
                <a:latin typeface="Times New Roman"/>
                <a:cs typeface="Times New Roman"/>
              </a:rPr>
              <a:t>After </a:t>
            </a:r>
            <a:r>
              <a:rPr sz="1800" dirty="0">
                <a:latin typeface="Times New Roman"/>
                <a:cs typeface="Times New Roman"/>
              </a:rPr>
              <a:t>continuing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traversing,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5" dirty="0">
                <a:latin typeface="Times New Roman"/>
                <a:cs typeface="Times New Roman"/>
              </a:rPr>
              <a:t> semantic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action</a:t>
            </a:r>
            <a:r>
              <a:rPr sz="1800" spc="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3, </a:t>
            </a:r>
            <a:r>
              <a:rPr sz="1800" dirty="0">
                <a:latin typeface="Times New Roman"/>
                <a:cs typeface="Times New Roman"/>
              </a:rPr>
              <a:t>display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00">
              <a:latin typeface="Times New Roman"/>
              <a:cs typeface="Times New Roman"/>
            </a:endParaRPr>
          </a:p>
          <a:p>
            <a:pPr marL="177800" algn="just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After </a:t>
            </a:r>
            <a:r>
              <a:rPr sz="1800" dirty="0">
                <a:latin typeface="Times New Roman"/>
                <a:cs typeface="Times New Roman"/>
              </a:rPr>
              <a:t>continuing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traversing,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5" dirty="0">
                <a:latin typeface="Times New Roman"/>
                <a:cs typeface="Times New Roman"/>
              </a:rPr>
              <a:t> semantic </a:t>
            </a:r>
            <a:r>
              <a:rPr sz="1800" dirty="0">
                <a:latin typeface="Times New Roman"/>
                <a:cs typeface="Times New Roman"/>
              </a:rPr>
              <a:t>action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display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63940" y="5542788"/>
            <a:ext cx="1400555" cy="43891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49283" y="6257542"/>
            <a:ext cx="1551431" cy="48615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16814" y="97281"/>
            <a:ext cx="835088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u="heavy" spc="-5" dirty="0">
                <a:uFill>
                  <a:solidFill>
                    <a:srgbClr val="000000"/>
                  </a:solidFill>
                </a:uFill>
              </a:rPr>
              <a:t>Convert</a:t>
            </a:r>
            <a:r>
              <a:rPr sz="2200" u="heavy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</a:rPr>
              <a:t>infix</a:t>
            </a:r>
            <a:r>
              <a:rPr sz="2200" u="heavy" spc="1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</a:rPr>
              <a:t>expression</a:t>
            </a:r>
            <a:r>
              <a:rPr sz="2200" u="heavy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</a:rPr>
              <a:t>to</a:t>
            </a:r>
            <a:r>
              <a:rPr sz="2200" u="heavy" spc="1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</a:rPr>
              <a:t>postfix expression</a:t>
            </a:r>
            <a:r>
              <a:rPr sz="2200" u="heavy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</a:rPr>
              <a:t>using</a:t>
            </a:r>
            <a:r>
              <a:rPr sz="2200" u="heavy" spc="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200" b="1" u="heavy" spc="-7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</a:t>
            </a:r>
            <a:r>
              <a:rPr sz="2200" b="1" u="heavy" spc="1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down</a:t>
            </a:r>
            <a:r>
              <a:rPr sz="2200" b="1" u="heavy" spc="-12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heavy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Approach</a:t>
            </a:r>
            <a:endParaRPr sz="2200">
              <a:latin typeface="Times New Roman"/>
              <a:cs typeface="Times New Roman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8992107" y="20954"/>
          <a:ext cx="3133725" cy="16983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0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331"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Grammar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sz="16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rules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2">
                <a:tc rowSpan="2">
                  <a:txBody>
                    <a:bodyPr/>
                    <a:lstStyle/>
                    <a:p>
                      <a:pPr marR="151765" algn="ctr">
                        <a:lnSpc>
                          <a:spcPts val="1855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E-&gt;E+T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/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195580" algn="ctr">
                        <a:lnSpc>
                          <a:spcPts val="1880"/>
                        </a:lnSpc>
                        <a:spcBef>
                          <a:spcPts val="93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{printf(“+”);}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45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6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6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332">
                <a:tc rowSpan="2">
                  <a:txBody>
                    <a:bodyPr/>
                    <a:lstStyle/>
                    <a:p>
                      <a:pPr marR="193040" algn="ctr">
                        <a:lnSpc>
                          <a:spcPts val="1855"/>
                        </a:lnSpc>
                      </a:pPr>
                      <a:r>
                        <a:rPr sz="1600" spc="-15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T*F/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99695" algn="ctr">
                        <a:lnSpc>
                          <a:spcPts val="1880"/>
                        </a:lnSpc>
                        <a:spcBef>
                          <a:spcPts val="93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{printf(“*”); 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5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6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6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331"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F-&gt;Num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{print(num.lval)}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31133" y="930402"/>
            <a:ext cx="7577455" cy="2037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200" spc="-5" dirty="0">
                <a:latin typeface="Times New Roman"/>
                <a:cs typeface="Times New Roman"/>
              </a:rPr>
              <a:t>For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15" dirty="0">
                <a:latin typeface="Times New Roman"/>
                <a:cs typeface="Times New Roman"/>
              </a:rPr>
              <a:t>same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example,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how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Bottom-up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parser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will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work.</a:t>
            </a:r>
            <a:endParaRPr sz="22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200" spc="-5" dirty="0">
                <a:latin typeface="Times New Roman"/>
                <a:cs typeface="Times New Roman"/>
              </a:rPr>
              <a:t>Bottom-up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parsers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are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mainly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focused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reductions.</a:t>
            </a:r>
            <a:endParaRPr sz="2200">
              <a:latin typeface="Times New Roman"/>
              <a:cs typeface="Times New Roman"/>
            </a:endParaRPr>
          </a:p>
          <a:p>
            <a:pPr marL="299085" marR="19494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Therefore,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they try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reduce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terminals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variables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(i.e.,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right-hand</a:t>
            </a:r>
            <a:r>
              <a:rPr sz="2200" spc="-10" dirty="0">
                <a:latin typeface="Times New Roman"/>
                <a:cs typeface="Times New Roman"/>
              </a:rPr>
              <a:t> side</a:t>
            </a:r>
            <a:r>
              <a:rPr sz="2200" spc="-5" dirty="0">
                <a:latin typeface="Times New Roman"/>
                <a:cs typeface="Times New Roman"/>
              </a:rPr>
              <a:t> 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left-hand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side).</a:t>
            </a:r>
            <a:endParaRPr sz="22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200" spc="-5" dirty="0">
                <a:latin typeface="Times New Roman"/>
                <a:cs typeface="Times New Roman"/>
              </a:rPr>
              <a:t>Simple,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Whenever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they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go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reduction,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take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production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then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perform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action.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847" y="3750564"/>
            <a:ext cx="1711452" cy="7025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8559" y="3918203"/>
            <a:ext cx="1897380" cy="26045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4551" y="37846"/>
            <a:ext cx="93840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u="heavy" spc="-5" dirty="0">
                <a:uFill>
                  <a:solidFill>
                    <a:srgbClr val="000000"/>
                  </a:solidFill>
                </a:uFill>
              </a:rPr>
              <a:t>Convert</a:t>
            </a:r>
            <a:r>
              <a:rPr sz="2500" u="heavy" spc="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500" u="heavy" spc="-5" dirty="0">
                <a:uFill>
                  <a:solidFill>
                    <a:srgbClr val="000000"/>
                  </a:solidFill>
                </a:uFill>
              </a:rPr>
              <a:t>infix</a:t>
            </a:r>
            <a:r>
              <a:rPr sz="2500" u="heavy" spc="3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500" u="heavy" spc="-10" dirty="0">
                <a:uFill>
                  <a:solidFill>
                    <a:srgbClr val="000000"/>
                  </a:solidFill>
                </a:uFill>
              </a:rPr>
              <a:t>expression</a:t>
            </a:r>
            <a:r>
              <a:rPr sz="2500" u="heavy" spc="6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500" u="heavy" spc="-5" dirty="0">
                <a:uFill>
                  <a:solidFill>
                    <a:srgbClr val="000000"/>
                  </a:solidFill>
                </a:uFill>
              </a:rPr>
              <a:t>to</a:t>
            </a:r>
            <a:r>
              <a:rPr sz="2500" u="heavy" spc="1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500" u="heavy" spc="-5" dirty="0">
                <a:uFill>
                  <a:solidFill>
                    <a:srgbClr val="000000"/>
                  </a:solidFill>
                </a:uFill>
              </a:rPr>
              <a:t>postfix</a:t>
            </a:r>
            <a:r>
              <a:rPr sz="2500" u="heavy" spc="5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500" u="heavy" spc="-10" dirty="0">
                <a:uFill>
                  <a:solidFill>
                    <a:srgbClr val="000000"/>
                  </a:solidFill>
                </a:uFill>
              </a:rPr>
              <a:t>expression</a:t>
            </a:r>
            <a:r>
              <a:rPr sz="2500" u="heavy" spc="5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500" u="heavy" spc="-5" dirty="0">
                <a:uFill>
                  <a:solidFill>
                    <a:srgbClr val="000000"/>
                  </a:solidFill>
                </a:uFill>
              </a:rPr>
              <a:t>using</a:t>
            </a:r>
            <a:r>
              <a:rPr sz="2500" u="heavy" spc="4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800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</a:rPr>
              <a:t>Bottom-up</a:t>
            </a:r>
            <a:r>
              <a:rPr sz="2800" u="heavy" spc="2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2800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</a:rPr>
              <a:t>parsers</a:t>
            </a:r>
            <a:endParaRPr sz="280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46492" y="2900172"/>
            <a:ext cx="2650236" cy="3537204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01815" y="1009903"/>
          <a:ext cx="3133725" cy="16983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0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332">
                <a:tc>
                  <a:txBody>
                    <a:bodyPr/>
                    <a:lstStyle/>
                    <a:p>
                      <a:pPr marL="67945">
                        <a:lnSpc>
                          <a:spcPts val="1814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Grammar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rules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1">
                <a:tc rowSpan="2">
                  <a:txBody>
                    <a:bodyPr/>
                    <a:lstStyle/>
                    <a:p>
                      <a:pPr marR="154940" algn="ctr">
                        <a:lnSpc>
                          <a:spcPts val="186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E-&gt;E+T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/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198120" algn="ctr">
                        <a:lnSpc>
                          <a:spcPts val="1875"/>
                        </a:lnSpc>
                        <a:spcBef>
                          <a:spcPts val="93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{printf(“+”);}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5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332">
                <a:tc rowSpan="2">
                  <a:txBody>
                    <a:bodyPr/>
                    <a:lstStyle/>
                    <a:p>
                      <a:pPr marL="67945">
                        <a:lnSpc>
                          <a:spcPts val="1860"/>
                        </a:lnSpc>
                      </a:pPr>
                      <a:r>
                        <a:rPr sz="1600" spc="-15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T*F/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102870" algn="ctr">
                        <a:lnSpc>
                          <a:spcPts val="1875"/>
                        </a:lnSpc>
                        <a:spcBef>
                          <a:spcPts val="93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{printf(“*”); 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45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332">
                <a:tc>
                  <a:txBody>
                    <a:bodyPr/>
                    <a:lstStyle/>
                    <a:p>
                      <a:pPr marL="67945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F-&gt;Num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{print(num.lval)}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7780"/>
            <a:ext cx="1794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Bo</a:t>
            </a:r>
            <a:r>
              <a:rPr b="1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</a:t>
            </a:r>
            <a:r>
              <a:rPr b="1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</a:t>
            </a:r>
            <a:r>
              <a:rPr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om-up</a:t>
            </a:r>
            <a:r>
              <a:rPr b="1" u="heavy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</a:t>
            </a:r>
            <a:r>
              <a:rPr b="1" u="heavy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</a:t>
            </a:r>
            <a:r>
              <a:rPr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</a:t>
            </a:r>
            <a:r>
              <a:rPr b="1" u="heavy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b="1" u="heavy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</a:t>
            </a:r>
            <a:r>
              <a:rPr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983" y="3819144"/>
            <a:ext cx="1933955" cy="28468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983" y="2970276"/>
            <a:ext cx="1711452" cy="7025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05125" y="3970146"/>
            <a:ext cx="3116580" cy="120078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800" spc="-5" dirty="0">
                <a:latin typeface="Times New Roman"/>
                <a:cs typeface="Times New Roman"/>
              </a:rPr>
              <a:t>Now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reduction,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69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action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for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production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 print lexical value, that is 2,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Print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2,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00571" y="3514344"/>
            <a:ext cx="2238755" cy="315163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711310" y="3547617"/>
            <a:ext cx="266890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Now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reduction,</a:t>
            </a:r>
            <a:endParaRPr sz="18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Times New Roman"/>
                <a:cs typeface="Times New Roman"/>
              </a:rPr>
              <a:t>The action is for that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production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print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lexical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value,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3,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Print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3,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08364" y="5774435"/>
            <a:ext cx="876300" cy="553211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239386" y="735202"/>
          <a:ext cx="3133725" cy="16983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0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332"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Grammar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rules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1">
                <a:tc rowSpan="2">
                  <a:txBody>
                    <a:bodyPr/>
                    <a:lstStyle/>
                    <a:p>
                      <a:pPr marR="153670" algn="ctr">
                        <a:lnSpc>
                          <a:spcPts val="186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E-&gt;E+T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/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197485" algn="ctr">
                        <a:lnSpc>
                          <a:spcPts val="1875"/>
                        </a:lnSpc>
                        <a:spcBef>
                          <a:spcPts val="93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{printf(“+”);}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14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5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6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332">
                <a:tc rowSpan="2">
                  <a:txBody>
                    <a:bodyPr/>
                    <a:lstStyle/>
                    <a:p>
                      <a:pPr marR="194945" algn="ctr">
                        <a:lnSpc>
                          <a:spcPts val="1860"/>
                        </a:lnSpc>
                      </a:pPr>
                      <a:r>
                        <a:rPr sz="1600" spc="-15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T*F/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101600" algn="ctr">
                        <a:lnSpc>
                          <a:spcPts val="1875"/>
                        </a:lnSpc>
                        <a:spcBef>
                          <a:spcPts val="93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{printf(“*”);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14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45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6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332"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F-&gt;Num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{print(num.lval)}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14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5400"/>
            <a:ext cx="1918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Bottom-up</a:t>
            </a:r>
            <a:r>
              <a:rPr b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parsers</a:t>
            </a:r>
            <a:r>
              <a:rPr b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4372" y="147828"/>
            <a:ext cx="1077468" cy="4419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1167" y="280415"/>
            <a:ext cx="1781556" cy="24505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26611" y="2774060"/>
            <a:ext cx="2089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60755" algn="l"/>
                <a:tab pos="1922145" algn="l"/>
              </a:tabLst>
            </a:pPr>
            <a:r>
              <a:rPr sz="1800" spc="-5" dirty="0">
                <a:latin typeface="Times New Roman"/>
                <a:cs typeface="Times New Roman"/>
              </a:rPr>
              <a:t>No</a:t>
            </a:r>
            <a:r>
              <a:rPr sz="1800" dirty="0">
                <a:latin typeface="Times New Roman"/>
                <a:cs typeface="Times New Roman"/>
              </a:rPr>
              <a:t>w	th</a:t>
            </a:r>
            <a:r>
              <a:rPr sz="1800" spc="5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re	is  reduction,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26611" y="3322701"/>
            <a:ext cx="20897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action </a:t>
            </a:r>
            <a:r>
              <a:rPr sz="1800" dirty="0">
                <a:latin typeface="Times New Roman"/>
                <a:cs typeface="Times New Roman"/>
              </a:rPr>
              <a:t>is </a:t>
            </a:r>
            <a:r>
              <a:rPr sz="1800" spc="-5" dirty="0">
                <a:latin typeface="Times New Roman"/>
                <a:cs typeface="Times New Roman"/>
              </a:rPr>
              <a:t>for </a:t>
            </a:r>
            <a:r>
              <a:rPr sz="1800" dirty="0">
                <a:latin typeface="Times New Roman"/>
                <a:cs typeface="Times New Roman"/>
              </a:rPr>
              <a:t>that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production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print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lexical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value,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4,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Print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4,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93591" y="4658867"/>
            <a:ext cx="1077467" cy="60045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57544" y="368808"/>
            <a:ext cx="2138172" cy="304647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184138" y="3664457"/>
            <a:ext cx="233045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Now </a:t>
            </a:r>
            <a:r>
              <a:rPr sz="1800" dirty="0">
                <a:latin typeface="Times New Roman"/>
                <a:cs typeface="Times New Roman"/>
              </a:rPr>
              <a:t>there is reduction,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T*F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 redu</a:t>
            </a:r>
            <a:r>
              <a:rPr sz="1800" spc="5" dirty="0">
                <a:latin typeface="Times New Roman"/>
                <a:cs typeface="Times New Roman"/>
              </a:rPr>
              <a:t>c</a:t>
            </a:r>
            <a:r>
              <a:rPr sz="1800" dirty="0">
                <a:latin typeface="Times New Roman"/>
                <a:cs typeface="Times New Roman"/>
              </a:rPr>
              <a:t>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30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 action is for that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production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print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*Print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*,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79464" y="5175503"/>
            <a:ext cx="1423415" cy="56235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72016" y="348995"/>
            <a:ext cx="2289048" cy="30876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170669" y="3533013"/>
            <a:ext cx="2494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0395" algn="l"/>
                <a:tab pos="1243965" algn="l"/>
                <a:tab pos="1560830" algn="l"/>
              </a:tabLst>
            </a:pPr>
            <a:r>
              <a:rPr sz="1800" spc="-5" dirty="0">
                <a:latin typeface="Times New Roman"/>
                <a:cs typeface="Times New Roman"/>
              </a:rPr>
              <a:t>Now	</a:t>
            </a:r>
            <a:r>
              <a:rPr sz="1800" dirty="0">
                <a:latin typeface="Times New Roman"/>
                <a:cs typeface="Times New Roman"/>
              </a:rPr>
              <a:t>there	is	</a:t>
            </a:r>
            <a:r>
              <a:rPr sz="1800" spc="-5" dirty="0">
                <a:latin typeface="Times New Roman"/>
                <a:cs typeface="Times New Roman"/>
              </a:rPr>
              <a:t>reduction,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70669" y="3807333"/>
            <a:ext cx="1953895" cy="906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6900"/>
              </a:lnSpc>
              <a:spcBef>
                <a:spcPts val="105"/>
              </a:spcBef>
            </a:pPr>
            <a:r>
              <a:rPr sz="1800" dirty="0">
                <a:latin typeface="Times New Roman"/>
                <a:cs typeface="Times New Roman"/>
              </a:rPr>
              <a:t>E*T is reduced to </a:t>
            </a:r>
            <a:r>
              <a:rPr sz="1800" spc="-175" dirty="0">
                <a:latin typeface="Times New Roman"/>
                <a:cs typeface="Times New Roman"/>
              </a:rPr>
              <a:t>W,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action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production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print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296904" y="4121277"/>
            <a:ext cx="369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th</a:t>
            </a:r>
            <a:r>
              <a:rPr sz="1800" spc="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t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72016" y="4954523"/>
            <a:ext cx="1754124" cy="783335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75602" y="1040638"/>
          <a:ext cx="3133725" cy="16983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0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332"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Grammar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rules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1">
                <a:tc rowSpan="2">
                  <a:txBody>
                    <a:bodyPr/>
                    <a:lstStyle/>
                    <a:p>
                      <a:pPr marR="154305" algn="ctr">
                        <a:lnSpc>
                          <a:spcPts val="186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E-&gt;E+T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/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198120" algn="ctr">
                        <a:lnSpc>
                          <a:spcPts val="1875"/>
                        </a:lnSpc>
                        <a:spcBef>
                          <a:spcPts val="93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{printf(“+”);}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4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331">
                <a:tc rowSpan="2"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sz="1600" spc="-15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T*F/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102870" algn="ctr">
                        <a:lnSpc>
                          <a:spcPts val="1875"/>
                        </a:lnSpc>
                        <a:spcBef>
                          <a:spcPts val="93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{printf(“*”); 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5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332"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F-&gt;Num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{print(num.lval)}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2808" y="5753811"/>
            <a:ext cx="112306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Note: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We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getting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same </a:t>
            </a:r>
            <a:r>
              <a:rPr sz="1800" dirty="0">
                <a:latin typeface="Times New Roman"/>
                <a:cs typeface="Times New Roman"/>
              </a:rPr>
              <a:t>answer using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both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top-down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bottom-up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approaches.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Therefore </a:t>
            </a:r>
            <a:r>
              <a:rPr sz="1800" spc="-5" dirty="0">
                <a:latin typeface="Times New Roman"/>
                <a:cs typeface="Times New Roman"/>
              </a:rPr>
              <a:t>SDT </a:t>
            </a:r>
            <a:r>
              <a:rPr sz="1800" dirty="0">
                <a:latin typeface="Times New Roman"/>
                <a:cs typeface="Times New Roman"/>
              </a:rPr>
              <a:t>can be </a:t>
            </a:r>
            <a:r>
              <a:rPr sz="1800" spc="-5" dirty="0">
                <a:latin typeface="Times New Roman"/>
                <a:cs typeface="Times New Roman"/>
              </a:rPr>
              <a:t>used </a:t>
            </a:r>
            <a:r>
              <a:rPr sz="1800" dirty="0">
                <a:latin typeface="Times New Roman"/>
                <a:cs typeface="Times New Roman"/>
              </a:rPr>
              <a:t>both by the bottom-up </a:t>
            </a:r>
            <a:r>
              <a:rPr sz="1800" spc="-5" dirty="0">
                <a:latin typeface="Times New Roman"/>
                <a:cs typeface="Times New Roman"/>
              </a:rPr>
              <a:t>parser </a:t>
            </a:r>
            <a:r>
              <a:rPr sz="1800" dirty="0">
                <a:latin typeface="Times New Roman"/>
                <a:cs typeface="Times New Roman"/>
              </a:rPr>
              <a:t>as </a:t>
            </a:r>
            <a:r>
              <a:rPr sz="1800" spc="-5" dirty="0">
                <a:latin typeface="Times New Roman"/>
                <a:cs typeface="Times New Roman"/>
              </a:rPr>
              <a:t>well </a:t>
            </a:r>
            <a:r>
              <a:rPr sz="1800" dirty="0">
                <a:latin typeface="Times New Roman"/>
                <a:cs typeface="Times New Roman"/>
              </a:rPr>
              <a:t>as the top-down </a:t>
            </a:r>
            <a:r>
              <a:rPr sz="1800" spc="-20" dirty="0">
                <a:latin typeface="Times New Roman"/>
                <a:cs typeface="Times New Roman"/>
              </a:rPr>
              <a:t>parser. </a:t>
            </a:r>
            <a:r>
              <a:rPr sz="1800" spc="-5" dirty="0">
                <a:latin typeface="Times New Roman"/>
                <a:cs typeface="Times New Roman"/>
              </a:rPr>
              <a:t>Just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difference </a:t>
            </a:r>
            <a:r>
              <a:rPr sz="1800" dirty="0">
                <a:latin typeface="Times New Roman"/>
                <a:cs typeface="Times New Roman"/>
              </a:rPr>
              <a:t>is </a:t>
            </a:r>
            <a:r>
              <a:rPr sz="1800" spc="-5" dirty="0">
                <a:latin typeface="Times New Roman"/>
                <a:cs typeface="Times New Roman"/>
              </a:rPr>
              <a:t>when parser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going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 actions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303" y="1677923"/>
            <a:ext cx="1429511" cy="5867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58300" y="1225296"/>
            <a:ext cx="1711452" cy="7025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6804" y="2471927"/>
            <a:ext cx="2929127" cy="30708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04147" y="2075688"/>
            <a:ext cx="3220211" cy="33390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63440" y="3814571"/>
            <a:ext cx="2275332" cy="101498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42275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T</a:t>
            </a:r>
            <a:r>
              <a:rPr dirty="0"/>
              <a:t>o</a:t>
            </a:r>
            <a:r>
              <a:rPr spc="-5" dirty="0"/>
              <a:t>p</a:t>
            </a:r>
            <a:r>
              <a:rPr dirty="0"/>
              <a:t>-down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87653" y="1063828"/>
            <a:ext cx="10166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Bottom-up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998086" y="266445"/>
          <a:ext cx="3133725" cy="16983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0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331"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Grammar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14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sz="16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rules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2">
                <a:tc rowSpan="2">
                  <a:txBody>
                    <a:bodyPr/>
                    <a:lstStyle/>
                    <a:p>
                      <a:pPr marR="153035" algn="ctr">
                        <a:lnSpc>
                          <a:spcPts val="186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E-&gt;E+T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/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196850" algn="ctr">
                        <a:lnSpc>
                          <a:spcPts val="1875"/>
                        </a:lnSpc>
                        <a:spcBef>
                          <a:spcPts val="93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{printf(“+”);}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14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5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55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5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331">
                <a:tc rowSpan="2">
                  <a:txBody>
                    <a:bodyPr/>
                    <a:lstStyle/>
                    <a:p>
                      <a:pPr marR="194310" algn="ctr">
                        <a:lnSpc>
                          <a:spcPts val="1860"/>
                        </a:lnSpc>
                      </a:pPr>
                      <a:r>
                        <a:rPr sz="1600" spc="-15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T*F/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101600" algn="ctr">
                        <a:lnSpc>
                          <a:spcPts val="1875"/>
                        </a:lnSpc>
                        <a:spcBef>
                          <a:spcPts val="93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{printf(“*”); 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14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4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55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5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331"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F-&gt;Num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{print(num.lval)}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14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60993" y="283845"/>
            <a:ext cx="18440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expr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→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term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→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term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54196" y="283845"/>
            <a:ext cx="1205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{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print('+')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{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print('-’)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60993" y="832484"/>
            <a:ext cx="32308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term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→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term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factor</a:t>
            </a:r>
            <a:r>
              <a:rPr sz="1800" spc="4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print(‘*')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}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term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→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term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 factor</a:t>
            </a:r>
            <a:r>
              <a:rPr sz="1800" spc="4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print('/')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60993" y="1381125"/>
            <a:ext cx="13214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term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→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factor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factor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→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num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9761" y="1381125"/>
            <a:ext cx="16198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{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null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22923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{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print(‘lval')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7318" y="595630"/>
          <a:ext cx="3133725" cy="16983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0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332"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Grammar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rules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2">
                <a:tc rowSpan="2">
                  <a:txBody>
                    <a:bodyPr/>
                    <a:lstStyle/>
                    <a:p>
                      <a:pPr marR="154305" algn="ctr">
                        <a:lnSpc>
                          <a:spcPts val="186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E-&gt;E+T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/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198120" algn="ctr">
                        <a:lnSpc>
                          <a:spcPts val="1875"/>
                        </a:lnSpc>
                        <a:spcBef>
                          <a:spcPts val="93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{printf(“+”);}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45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55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5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332">
                <a:tc rowSpan="2">
                  <a:txBody>
                    <a:bodyPr/>
                    <a:lstStyle/>
                    <a:p>
                      <a:pPr marR="195580" algn="ctr">
                        <a:lnSpc>
                          <a:spcPts val="1860"/>
                        </a:lnSpc>
                      </a:pPr>
                      <a:r>
                        <a:rPr sz="1600" spc="-15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T*F/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102235" algn="ctr">
                        <a:lnSpc>
                          <a:spcPts val="1875"/>
                        </a:lnSpc>
                        <a:spcBef>
                          <a:spcPts val="93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{printf(“*”); 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5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331"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F-&gt;Num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{print(num.lval)}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14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428746" y="690753"/>
            <a:ext cx="41205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Here,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grammar </a:t>
            </a:r>
            <a:r>
              <a:rPr sz="1800" dirty="0">
                <a:latin typeface="Times New Roman"/>
                <a:cs typeface="Times New Roman"/>
              </a:rPr>
              <a:t>contains only +,*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terminals.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5" dirty="0">
                <a:latin typeface="Times New Roman"/>
                <a:cs typeface="Times New Roman"/>
              </a:rPr>
              <a:t> more </a:t>
            </a:r>
            <a:r>
              <a:rPr sz="1800" dirty="0">
                <a:latin typeface="Times New Roman"/>
                <a:cs typeface="Times New Roman"/>
              </a:rPr>
              <a:t>terminal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there,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such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division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(\),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subtraction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(-),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new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SDT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is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263" y="3231535"/>
            <a:ext cx="6183973" cy="34311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70738" y="2599766"/>
            <a:ext cx="55937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diagram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1+2/3-4*5 </a:t>
            </a:r>
            <a:r>
              <a:rPr sz="1800" spc="-5" dirty="0">
                <a:latin typeface="Times New Roman"/>
                <a:cs typeface="Times New Roman"/>
              </a:rPr>
              <a:t>with</a:t>
            </a:r>
            <a:r>
              <a:rPr sz="1800" dirty="0">
                <a:latin typeface="Times New Roman"/>
                <a:cs typeface="Times New Roman"/>
              </a:rPr>
              <a:t> attached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semantic </a:t>
            </a:r>
            <a:r>
              <a:rPr sz="1800" dirty="0">
                <a:latin typeface="Times New Roman"/>
                <a:cs typeface="Times New Roman"/>
              </a:rPr>
              <a:t>actions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0738" y="2868548"/>
            <a:ext cx="17900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shown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right.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74091" y="8381"/>
            <a:ext cx="39312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Infix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→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postfix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translator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22744" y="2717419"/>
            <a:ext cx="5393690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Given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input,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e.g.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our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favorite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1+2/3-4*5,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we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just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do </a:t>
            </a:r>
            <a:r>
              <a:rPr sz="1800" spc="-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depth </a:t>
            </a:r>
            <a:r>
              <a:rPr sz="1800" spc="-5" dirty="0">
                <a:latin typeface="Times New Roman"/>
                <a:cs typeface="Times New Roman"/>
              </a:rPr>
              <a:t>first (postorder) traversal </a:t>
            </a:r>
            <a:r>
              <a:rPr sz="1800" dirty="0">
                <a:latin typeface="Times New Roman"/>
                <a:cs typeface="Times New Roman"/>
              </a:rPr>
              <a:t>of the </a:t>
            </a:r>
            <a:r>
              <a:rPr sz="1800" spc="-5" dirty="0">
                <a:latin typeface="Times New Roman"/>
                <a:cs typeface="Times New Roman"/>
              </a:rPr>
              <a:t>corresponding </a:t>
            </a:r>
            <a:r>
              <a:rPr sz="1800" dirty="0">
                <a:latin typeface="Times New Roman"/>
                <a:cs typeface="Times New Roman"/>
              </a:rPr>
              <a:t> diagram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perform</a:t>
            </a:r>
            <a:r>
              <a:rPr sz="1800" dirty="0">
                <a:latin typeface="Times New Roman"/>
                <a:cs typeface="Times New Roman"/>
              </a:rPr>
              <a:t> 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semantic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actions</a:t>
            </a:r>
            <a:r>
              <a:rPr sz="1800" dirty="0">
                <a:latin typeface="Times New Roman"/>
                <a:cs typeface="Times New Roman"/>
              </a:rPr>
              <a:t> as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they 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occur.</a:t>
            </a:r>
            <a:endParaRPr sz="1800">
              <a:latin typeface="Times New Roman"/>
              <a:cs typeface="Times New Roman"/>
            </a:endParaRPr>
          </a:p>
          <a:p>
            <a:pPr marL="299085" marR="7620" indent="-287020" algn="just">
              <a:lnSpc>
                <a:spcPct val="100000"/>
              </a:lnSpc>
              <a:buFont typeface="Arial MT"/>
              <a:buChar char="•"/>
              <a:tabLst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When </a:t>
            </a:r>
            <a:r>
              <a:rPr sz="1800" dirty="0">
                <a:latin typeface="Times New Roman"/>
                <a:cs typeface="Times New Roman"/>
              </a:rPr>
              <a:t>these </a:t>
            </a:r>
            <a:r>
              <a:rPr sz="1800" spc="-5" dirty="0">
                <a:latin typeface="Times New Roman"/>
                <a:cs typeface="Times New Roman"/>
              </a:rPr>
              <a:t>actions </a:t>
            </a:r>
            <a:r>
              <a:rPr sz="1800" dirty="0">
                <a:latin typeface="Times New Roman"/>
                <a:cs typeface="Times New Roman"/>
              </a:rPr>
              <a:t>are </a:t>
            </a:r>
            <a:r>
              <a:rPr sz="1800" spc="-5" dirty="0">
                <a:latin typeface="Times New Roman"/>
                <a:cs typeface="Times New Roman"/>
              </a:rPr>
              <a:t>print statements </a:t>
            </a:r>
            <a:r>
              <a:rPr sz="1800" dirty="0">
                <a:latin typeface="Times New Roman"/>
                <a:cs typeface="Times New Roman"/>
              </a:rPr>
              <a:t>as </a:t>
            </a:r>
            <a:r>
              <a:rPr sz="1800" spc="-5" dirty="0">
                <a:latin typeface="Times New Roman"/>
                <a:cs typeface="Times New Roman"/>
              </a:rPr>
              <a:t>above, </a:t>
            </a:r>
            <a:r>
              <a:rPr sz="1800" spc="-20" dirty="0">
                <a:latin typeface="Times New Roman"/>
                <a:cs typeface="Times New Roman"/>
              </a:rPr>
              <a:t>we 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5" dirty="0">
                <a:latin typeface="Times New Roman"/>
                <a:cs typeface="Times New Roman"/>
              </a:rPr>
              <a:t> said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emitting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translation.</a:t>
            </a:r>
            <a:endParaRPr sz="180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buFont typeface="Arial MT"/>
              <a:buChar char="•"/>
              <a:tabLst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Do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depth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first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traversal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of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diagram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on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board,</a:t>
            </a:r>
            <a:endParaRPr sz="1800">
              <a:latin typeface="Times New Roman"/>
              <a:cs typeface="Times New Roman"/>
            </a:endParaRPr>
          </a:p>
          <a:p>
            <a:pPr marL="299085" algn="just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/>
                <a:cs typeface="Times New Roman"/>
              </a:rPr>
              <a:t>performing</a:t>
            </a:r>
            <a:r>
              <a:rPr sz="1800" dirty="0">
                <a:latin typeface="Times New Roman"/>
                <a:cs typeface="Times New Roman"/>
              </a:rPr>
              <a:t> the </a:t>
            </a:r>
            <a:r>
              <a:rPr sz="1800" spc="-5" dirty="0">
                <a:latin typeface="Times New Roman"/>
                <a:cs typeface="Times New Roman"/>
              </a:rPr>
              <a:t>semantic</a:t>
            </a:r>
            <a:r>
              <a:rPr sz="1800" dirty="0">
                <a:latin typeface="Times New Roman"/>
                <a:cs typeface="Times New Roman"/>
              </a:rPr>
              <a:t> actions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occur,</a:t>
            </a:r>
            <a:endParaRPr sz="180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buFont typeface="Arial MT"/>
              <a:buChar char="•"/>
              <a:tabLst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Final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output: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123/+45*-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14801" y="2973451"/>
            <a:ext cx="2259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Annotated</a:t>
            </a:r>
            <a:r>
              <a:rPr sz="18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Parse-Trees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699" y="11125"/>
            <a:ext cx="8736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273139"/>
                </a:solidFill>
              </a:rPr>
              <a:t>Conversion</a:t>
            </a:r>
            <a:r>
              <a:rPr sz="4000" spc="-10" dirty="0">
                <a:solidFill>
                  <a:srgbClr val="273139"/>
                </a:solidFill>
              </a:rPr>
              <a:t> </a:t>
            </a:r>
            <a:r>
              <a:rPr sz="4000" spc="-5" dirty="0">
                <a:solidFill>
                  <a:srgbClr val="273139"/>
                </a:solidFill>
              </a:rPr>
              <a:t>from </a:t>
            </a:r>
            <a:r>
              <a:rPr sz="4000" dirty="0">
                <a:solidFill>
                  <a:srgbClr val="273139"/>
                </a:solidFill>
              </a:rPr>
              <a:t>infix</a:t>
            </a:r>
            <a:r>
              <a:rPr sz="4000" spc="-5" dirty="0">
                <a:solidFill>
                  <a:srgbClr val="273139"/>
                </a:solidFill>
              </a:rPr>
              <a:t> to</a:t>
            </a:r>
            <a:r>
              <a:rPr sz="4000" dirty="0">
                <a:solidFill>
                  <a:srgbClr val="273139"/>
                </a:solidFill>
              </a:rPr>
              <a:t> </a:t>
            </a:r>
            <a:r>
              <a:rPr sz="4000" spc="-5" dirty="0">
                <a:solidFill>
                  <a:srgbClr val="273139"/>
                </a:solidFill>
              </a:rPr>
              <a:t>prefix</a:t>
            </a:r>
            <a:r>
              <a:rPr sz="4000" spc="15" dirty="0">
                <a:solidFill>
                  <a:srgbClr val="273139"/>
                </a:solidFill>
              </a:rPr>
              <a:t> </a:t>
            </a:r>
            <a:r>
              <a:rPr sz="4000" spc="-5" dirty="0">
                <a:solidFill>
                  <a:srgbClr val="273139"/>
                </a:solidFill>
              </a:rPr>
              <a:t>expression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15797" y="3046221"/>
            <a:ext cx="2260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Annotated</a:t>
            </a:r>
            <a:r>
              <a:rPr sz="18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Parse-Trees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29629" y="4008246"/>
            <a:ext cx="3339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Actions</a:t>
            </a:r>
            <a:r>
              <a:rPr sz="1800" spc="-10" dirty="0">
                <a:latin typeface="Calibri"/>
                <a:cs typeface="Calibri"/>
              </a:rPr>
              <a:t> translating </a:t>
            </a:r>
            <a:r>
              <a:rPr sz="1800" dirty="0">
                <a:latin typeface="Calibri"/>
                <a:cs typeface="Calibri"/>
              </a:rPr>
              <a:t>9-5+2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into </a:t>
            </a:r>
            <a:r>
              <a:rPr sz="1800" spc="-5" dirty="0">
                <a:latin typeface="Calibri"/>
                <a:cs typeface="Calibri"/>
              </a:rPr>
              <a:t>-+952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9499" y="987044"/>
            <a:ext cx="99142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annotated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parse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tree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9-5+2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based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following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syntax </a:t>
            </a:r>
            <a:r>
              <a:rPr sz="1800" spc="-10" dirty="0">
                <a:latin typeface="Calibri"/>
                <a:cs typeface="Calibri"/>
              </a:rPr>
              <a:t>directed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definition.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||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represents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string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concatenation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037" y="3700271"/>
            <a:ext cx="4755838" cy="21645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50635" y="1615439"/>
            <a:ext cx="5486400" cy="21122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699" y="16002"/>
            <a:ext cx="38620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latin typeface="Times New Roman"/>
                <a:cs typeface="Times New Roman"/>
              </a:rPr>
              <a:t>Prefix </a:t>
            </a:r>
            <a:r>
              <a:rPr sz="2800" b="1" dirty="0">
                <a:latin typeface="Times New Roman"/>
                <a:cs typeface="Times New Roman"/>
              </a:rPr>
              <a:t>to infix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translation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42740" y="1394460"/>
          <a:ext cx="7505700" cy="1756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8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Production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457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Rule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→ +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{ print('(')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}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23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print(')+(')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}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spc="23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print(')')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}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P.t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:=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'('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||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.t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||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')+('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||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P.t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||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')'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print('(')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} P</a:t>
                      </a:r>
                      <a:r>
                        <a:rPr sz="1800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209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print(')-(')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}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spc="23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print(')')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}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P.t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:=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'('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||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.t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||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')-('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||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P.t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||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')'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734"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print('1')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}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P.t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:=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'1'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print('2')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}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P.t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:=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'2'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print('3')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}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P.t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:=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'3'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8739" y="697484"/>
            <a:ext cx="11898630" cy="38715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99100"/>
              </a:lnSpc>
              <a:spcBef>
                <a:spcPts val="120"/>
              </a:spcBef>
            </a:pPr>
            <a:r>
              <a:rPr sz="2200" spc="-5" dirty="0">
                <a:latin typeface="Times New Roman"/>
                <a:cs typeface="Times New Roman"/>
              </a:rPr>
              <a:t>The following </a:t>
            </a:r>
            <a:r>
              <a:rPr sz="2200" spc="-15" dirty="0">
                <a:latin typeface="Times New Roman"/>
                <a:cs typeface="Times New Roman"/>
              </a:rPr>
              <a:t>grammar, </a:t>
            </a:r>
            <a:r>
              <a:rPr sz="2200" spc="-10" dirty="0">
                <a:latin typeface="Times New Roman"/>
                <a:cs typeface="Times New Roman"/>
              </a:rPr>
              <a:t>which </a:t>
            </a:r>
            <a:r>
              <a:rPr sz="2200" spc="-5" dirty="0">
                <a:latin typeface="Times New Roman"/>
                <a:cs typeface="Times New Roman"/>
              </a:rPr>
              <a:t>generates the </a:t>
            </a:r>
            <a:r>
              <a:rPr sz="2200" spc="-10" dirty="0">
                <a:latin typeface="Times New Roman"/>
                <a:cs typeface="Times New Roman"/>
              </a:rPr>
              <a:t>simple </a:t>
            </a:r>
            <a:r>
              <a:rPr sz="2200" spc="-5" dirty="0">
                <a:latin typeface="Times New Roman"/>
                <a:cs typeface="Times New Roman"/>
              </a:rPr>
              <a:t>language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prefix </a:t>
            </a:r>
            <a:r>
              <a:rPr sz="2200" dirty="0">
                <a:latin typeface="Times New Roman"/>
                <a:cs typeface="Times New Roman"/>
              </a:rPr>
              <a:t>expressions </a:t>
            </a:r>
            <a:r>
              <a:rPr sz="2200" spc="-5" dirty="0">
                <a:latin typeface="Times New Roman"/>
                <a:cs typeface="Times New Roman"/>
              </a:rPr>
              <a:t>consisting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addition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 subtraction of </a:t>
            </a:r>
            <a:r>
              <a:rPr sz="2200" dirty="0">
                <a:latin typeface="Times New Roman"/>
                <a:cs typeface="Times New Roman"/>
              </a:rPr>
              <a:t>digits </a:t>
            </a:r>
            <a:r>
              <a:rPr sz="2200" spc="-5" dirty="0">
                <a:latin typeface="Times New Roman"/>
                <a:cs typeface="Times New Roman"/>
              </a:rPr>
              <a:t>between 1 and 3 without parentheses </a:t>
            </a:r>
            <a:r>
              <a:rPr sz="2200" dirty="0">
                <a:latin typeface="Times New Roman"/>
                <a:cs typeface="Times New Roman"/>
              </a:rPr>
              <a:t>(prefix notation </a:t>
            </a:r>
            <a:r>
              <a:rPr sz="2200" spc="-10" dirty="0">
                <a:latin typeface="Times New Roman"/>
                <a:cs typeface="Times New Roman"/>
              </a:rPr>
              <a:t>and </a:t>
            </a:r>
            <a:r>
              <a:rPr sz="2200" spc="-5" dirty="0">
                <a:latin typeface="Times New Roman"/>
                <a:cs typeface="Times New Roman"/>
              </a:rPr>
              <a:t>postfix notation do not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 parentheses).</a:t>
            </a:r>
            <a:endParaRPr sz="2200">
              <a:latin typeface="Times New Roman"/>
              <a:cs typeface="Times New Roman"/>
            </a:endParaRPr>
          </a:p>
          <a:p>
            <a:pPr marL="177165">
              <a:lnSpc>
                <a:spcPct val="100000"/>
              </a:lnSpc>
              <a:spcBef>
                <a:spcPts val="2070"/>
              </a:spcBef>
            </a:pPr>
            <a:r>
              <a:rPr sz="2200" spc="-5" dirty="0">
                <a:latin typeface="Times New Roman"/>
                <a:cs typeface="Times New Roman"/>
              </a:rPr>
              <a:t>P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→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+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|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-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|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1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|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2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|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21907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Input: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+1-32</a:t>
            </a:r>
            <a:endParaRPr sz="1800">
              <a:latin typeface="Times New Roman"/>
              <a:cs typeface="Times New Roman"/>
            </a:endParaRPr>
          </a:p>
          <a:p>
            <a:pPr marL="549275">
              <a:lnSpc>
                <a:spcPct val="100000"/>
              </a:lnSpc>
              <a:spcBef>
                <a:spcPts val="1115"/>
              </a:spcBef>
            </a:pP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Annotated</a:t>
            </a:r>
            <a:r>
              <a:rPr sz="18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Parse-Trees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 marL="5013960" marR="1254760">
              <a:lnSpc>
                <a:spcPct val="98900"/>
              </a:lnSpc>
            </a:pPr>
            <a:r>
              <a:rPr sz="1800" dirty="0">
                <a:latin typeface="Times New Roman"/>
                <a:cs typeface="Times New Roman"/>
              </a:rPr>
              <a:t>The resulting </a:t>
            </a:r>
            <a:r>
              <a:rPr sz="1800" spc="-5" dirty="0">
                <a:latin typeface="Times New Roman"/>
                <a:cs typeface="Times New Roman"/>
              </a:rPr>
              <a:t>parse </a:t>
            </a:r>
            <a:r>
              <a:rPr sz="1800" dirty="0">
                <a:latin typeface="Times New Roman"/>
                <a:cs typeface="Times New Roman"/>
              </a:rPr>
              <a:t>tree for +1-32 </a:t>
            </a:r>
            <a:r>
              <a:rPr sz="1800" spc="-5" dirty="0">
                <a:latin typeface="Times New Roman"/>
                <a:cs typeface="Times New Roman"/>
              </a:rPr>
              <a:t>with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semantic </a:t>
            </a:r>
            <a:r>
              <a:rPr sz="1800" dirty="0">
                <a:latin typeface="Times New Roman"/>
                <a:cs typeface="Times New Roman"/>
              </a:rPr>
              <a:t>actions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attached is </a:t>
            </a:r>
            <a:r>
              <a:rPr sz="1800" spc="-5" dirty="0">
                <a:latin typeface="Times New Roman"/>
                <a:cs typeface="Times New Roman"/>
              </a:rPr>
              <a:t>shown </a:t>
            </a:r>
            <a:r>
              <a:rPr sz="1800" dirty="0">
                <a:latin typeface="Times New Roman"/>
                <a:cs typeface="Times New Roman"/>
              </a:rPr>
              <a:t>on the right. </a:t>
            </a:r>
            <a:r>
              <a:rPr sz="1800" spc="-5" dirty="0">
                <a:latin typeface="Times New Roman"/>
                <a:cs typeface="Times New Roman"/>
              </a:rPr>
              <a:t>Note </a:t>
            </a:r>
            <a:r>
              <a:rPr sz="1800" dirty="0">
                <a:latin typeface="Times New Roman"/>
                <a:cs typeface="Times New Roman"/>
              </a:rPr>
              <a:t>that the </a:t>
            </a:r>
            <a:r>
              <a:rPr sz="1800" b="1" spc="-5" dirty="0">
                <a:latin typeface="Times New Roman"/>
                <a:cs typeface="Times New Roman"/>
              </a:rPr>
              <a:t>output </a:t>
            </a:r>
            <a:r>
              <a:rPr sz="1800" dirty="0">
                <a:latin typeface="Times New Roman"/>
                <a:cs typeface="Times New Roman"/>
              </a:rPr>
              <a:t>language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(infix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notation)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parentheses.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25" y="3468815"/>
            <a:ext cx="4583612" cy="28856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610" y="0"/>
            <a:ext cx="37877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SD</a:t>
            </a:r>
            <a:r>
              <a:rPr sz="2800" b="1" u="heavy" spc="-2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r>
              <a:rPr sz="2800" b="1" u="heavy" spc="-1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er</a:t>
            </a:r>
            <a:r>
              <a:rPr sz="2800" b="1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-3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84" y="408431"/>
            <a:ext cx="3694176" cy="23972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63084" y="594359"/>
            <a:ext cx="3717036" cy="7117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89220" y="2115311"/>
            <a:ext cx="3585972" cy="13990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10839" y="3229355"/>
            <a:ext cx="1769364" cy="3314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01907" y="2343911"/>
            <a:ext cx="247960" cy="17729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24026" y="306450"/>
            <a:ext cx="1074901" cy="46913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840091" y="1047241"/>
            <a:ext cx="19685" cy="46355"/>
          </a:xfrm>
          <a:custGeom>
            <a:avLst/>
            <a:gdLst/>
            <a:ahLst/>
            <a:cxnLst/>
            <a:rect l="l" t="t" r="r" b="b"/>
            <a:pathLst>
              <a:path w="19684" h="46355">
                <a:moveTo>
                  <a:pt x="1598" y="36029"/>
                </a:moveTo>
                <a:lnTo>
                  <a:pt x="126" y="38481"/>
                </a:lnTo>
                <a:lnTo>
                  <a:pt x="0" y="40767"/>
                </a:lnTo>
                <a:lnTo>
                  <a:pt x="1210" y="42925"/>
                </a:lnTo>
                <a:lnTo>
                  <a:pt x="2158" y="44704"/>
                </a:lnTo>
                <a:lnTo>
                  <a:pt x="4317" y="45974"/>
                </a:lnTo>
                <a:lnTo>
                  <a:pt x="6476" y="45974"/>
                </a:lnTo>
                <a:lnTo>
                  <a:pt x="8762" y="46100"/>
                </a:lnTo>
                <a:lnTo>
                  <a:pt x="10794" y="44831"/>
                </a:lnTo>
                <a:lnTo>
                  <a:pt x="12019" y="42799"/>
                </a:lnTo>
                <a:lnTo>
                  <a:pt x="13080" y="41148"/>
                </a:lnTo>
                <a:lnTo>
                  <a:pt x="13764" y="38608"/>
                </a:lnTo>
                <a:lnTo>
                  <a:pt x="13588" y="38608"/>
                </a:lnTo>
                <a:lnTo>
                  <a:pt x="13678" y="37846"/>
                </a:lnTo>
                <a:lnTo>
                  <a:pt x="1397" y="37846"/>
                </a:lnTo>
                <a:lnTo>
                  <a:pt x="1524" y="36449"/>
                </a:lnTo>
                <a:lnTo>
                  <a:pt x="1598" y="36029"/>
                </a:lnTo>
                <a:close/>
              </a:path>
              <a:path w="19684" h="46355">
                <a:moveTo>
                  <a:pt x="13901" y="37088"/>
                </a:moveTo>
                <a:lnTo>
                  <a:pt x="13755" y="37284"/>
                </a:lnTo>
                <a:lnTo>
                  <a:pt x="13588" y="38608"/>
                </a:lnTo>
                <a:lnTo>
                  <a:pt x="13854" y="37846"/>
                </a:lnTo>
                <a:lnTo>
                  <a:pt x="13901" y="37088"/>
                </a:lnTo>
                <a:close/>
              </a:path>
              <a:path w="19684" h="46355">
                <a:moveTo>
                  <a:pt x="13945" y="37581"/>
                </a:moveTo>
                <a:lnTo>
                  <a:pt x="13588" y="38608"/>
                </a:lnTo>
                <a:lnTo>
                  <a:pt x="13764" y="38608"/>
                </a:lnTo>
                <a:lnTo>
                  <a:pt x="13969" y="37846"/>
                </a:lnTo>
                <a:lnTo>
                  <a:pt x="13945" y="37581"/>
                </a:lnTo>
                <a:close/>
              </a:path>
              <a:path w="19684" h="46355">
                <a:moveTo>
                  <a:pt x="2412" y="34671"/>
                </a:moveTo>
                <a:lnTo>
                  <a:pt x="1598" y="36029"/>
                </a:lnTo>
                <a:lnTo>
                  <a:pt x="1524" y="36449"/>
                </a:lnTo>
                <a:lnTo>
                  <a:pt x="1397" y="37846"/>
                </a:lnTo>
                <a:lnTo>
                  <a:pt x="2412" y="34671"/>
                </a:lnTo>
                <a:close/>
              </a:path>
              <a:path w="19684" h="46355">
                <a:moveTo>
                  <a:pt x="15697" y="34671"/>
                </a:moveTo>
                <a:lnTo>
                  <a:pt x="2412" y="34671"/>
                </a:lnTo>
                <a:lnTo>
                  <a:pt x="1397" y="37846"/>
                </a:lnTo>
                <a:lnTo>
                  <a:pt x="13678" y="37846"/>
                </a:lnTo>
                <a:lnTo>
                  <a:pt x="13715" y="37337"/>
                </a:lnTo>
                <a:lnTo>
                  <a:pt x="13842" y="36449"/>
                </a:lnTo>
                <a:lnTo>
                  <a:pt x="14194" y="36449"/>
                </a:lnTo>
                <a:lnTo>
                  <a:pt x="14604" y="35687"/>
                </a:lnTo>
                <a:lnTo>
                  <a:pt x="14942" y="35687"/>
                </a:lnTo>
                <a:lnTo>
                  <a:pt x="15697" y="34671"/>
                </a:lnTo>
                <a:close/>
              </a:path>
              <a:path w="19684" h="46355">
                <a:moveTo>
                  <a:pt x="14307" y="36541"/>
                </a:moveTo>
                <a:lnTo>
                  <a:pt x="13961" y="37007"/>
                </a:lnTo>
                <a:lnTo>
                  <a:pt x="13945" y="37581"/>
                </a:lnTo>
                <a:lnTo>
                  <a:pt x="14307" y="36541"/>
                </a:lnTo>
                <a:close/>
              </a:path>
              <a:path w="19684" h="46355">
                <a:moveTo>
                  <a:pt x="13742" y="37302"/>
                </a:moveTo>
                <a:close/>
              </a:path>
              <a:path w="19684" h="46355">
                <a:moveTo>
                  <a:pt x="13893" y="37007"/>
                </a:moveTo>
                <a:lnTo>
                  <a:pt x="13742" y="37302"/>
                </a:lnTo>
                <a:lnTo>
                  <a:pt x="13901" y="37088"/>
                </a:lnTo>
                <a:close/>
              </a:path>
              <a:path w="19684" h="46355">
                <a:moveTo>
                  <a:pt x="13842" y="36449"/>
                </a:moveTo>
                <a:lnTo>
                  <a:pt x="13744" y="37284"/>
                </a:lnTo>
                <a:lnTo>
                  <a:pt x="13850" y="37088"/>
                </a:lnTo>
                <a:lnTo>
                  <a:pt x="13842" y="36449"/>
                </a:lnTo>
                <a:close/>
              </a:path>
              <a:path w="19684" h="46355">
                <a:moveTo>
                  <a:pt x="14604" y="35687"/>
                </a:moveTo>
                <a:lnTo>
                  <a:pt x="13893" y="37007"/>
                </a:lnTo>
                <a:lnTo>
                  <a:pt x="14307" y="36541"/>
                </a:lnTo>
                <a:lnTo>
                  <a:pt x="14604" y="35687"/>
                </a:lnTo>
                <a:close/>
              </a:path>
              <a:path w="19684" h="46355">
                <a:moveTo>
                  <a:pt x="14194" y="36449"/>
                </a:moveTo>
                <a:lnTo>
                  <a:pt x="13842" y="36449"/>
                </a:lnTo>
                <a:lnTo>
                  <a:pt x="13893" y="37007"/>
                </a:lnTo>
                <a:lnTo>
                  <a:pt x="14194" y="36449"/>
                </a:lnTo>
                <a:close/>
              </a:path>
              <a:path w="19684" h="46355">
                <a:moveTo>
                  <a:pt x="14942" y="35687"/>
                </a:moveTo>
                <a:lnTo>
                  <a:pt x="14604" y="35687"/>
                </a:lnTo>
                <a:lnTo>
                  <a:pt x="14307" y="36541"/>
                </a:lnTo>
                <a:lnTo>
                  <a:pt x="14942" y="35687"/>
                </a:lnTo>
                <a:close/>
              </a:path>
              <a:path w="19684" h="46355">
                <a:moveTo>
                  <a:pt x="7136" y="26322"/>
                </a:moveTo>
                <a:lnTo>
                  <a:pt x="4190" y="29463"/>
                </a:lnTo>
                <a:lnTo>
                  <a:pt x="3048" y="31369"/>
                </a:lnTo>
                <a:lnTo>
                  <a:pt x="1904" y="34290"/>
                </a:lnTo>
                <a:lnTo>
                  <a:pt x="1598" y="36029"/>
                </a:lnTo>
                <a:lnTo>
                  <a:pt x="2412" y="34671"/>
                </a:lnTo>
                <a:lnTo>
                  <a:pt x="15697" y="34671"/>
                </a:lnTo>
                <a:lnTo>
                  <a:pt x="17017" y="32893"/>
                </a:lnTo>
                <a:lnTo>
                  <a:pt x="18160" y="30099"/>
                </a:lnTo>
                <a:lnTo>
                  <a:pt x="18523" y="27559"/>
                </a:lnTo>
                <a:lnTo>
                  <a:pt x="6730" y="27559"/>
                </a:lnTo>
                <a:lnTo>
                  <a:pt x="7136" y="26322"/>
                </a:lnTo>
                <a:close/>
              </a:path>
              <a:path w="19684" h="46355">
                <a:moveTo>
                  <a:pt x="8000" y="25400"/>
                </a:moveTo>
                <a:lnTo>
                  <a:pt x="7136" y="26322"/>
                </a:lnTo>
                <a:lnTo>
                  <a:pt x="6730" y="27559"/>
                </a:lnTo>
                <a:lnTo>
                  <a:pt x="8000" y="25400"/>
                </a:lnTo>
                <a:close/>
              </a:path>
              <a:path w="19684" h="46355">
                <a:moveTo>
                  <a:pt x="18832" y="25400"/>
                </a:moveTo>
                <a:lnTo>
                  <a:pt x="8000" y="25400"/>
                </a:lnTo>
                <a:lnTo>
                  <a:pt x="6730" y="27559"/>
                </a:lnTo>
                <a:lnTo>
                  <a:pt x="18523" y="27559"/>
                </a:lnTo>
                <a:lnTo>
                  <a:pt x="18832" y="25400"/>
                </a:lnTo>
                <a:close/>
              </a:path>
              <a:path w="19684" h="46355">
                <a:moveTo>
                  <a:pt x="10824" y="15468"/>
                </a:moveTo>
                <a:lnTo>
                  <a:pt x="9270" y="19685"/>
                </a:lnTo>
                <a:lnTo>
                  <a:pt x="7136" y="26322"/>
                </a:lnTo>
                <a:lnTo>
                  <a:pt x="8000" y="25400"/>
                </a:lnTo>
                <a:lnTo>
                  <a:pt x="18832" y="25400"/>
                </a:lnTo>
                <a:lnTo>
                  <a:pt x="19303" y="22098"/>
                </a:lnTo>
                <a:lnTo>
                  <a:pt x="19303" y="21844"/>
                </a:lnTo>
                <a:lnTo>
                  <a:pt x="19684" y="16763"/>
                </a:lnTo>
                <a:lnTo>
                  <a:pt x="19684" y="16129"/>
                </a:lnTo>
                <a:lnTo>
                  <a:pt x="10794" y="16129"/>
                </a:lnTo>
                <a:lnTo>
                  <a:pt x="10824" y="15468"/>
                </a:lnTo>
                <a:close/>
              </a:path>
              <a:path w="19684" h="46355">
                <a:moveTo>
                  <a:pt x="11049" y="14859"/>
                </a:moveTo>
                <a:lnTo>
                  <a:pt x="10824" y="15468"/>
                </a:lnTo>
                <a:lnTo>
                  <a:pt x="10794" y="16129"/>
                </a:lnTo>
                <a:lnTo>
                  <a:pt x="11049" y="14859"/>
                </a:lnTo>
                <a:close/>
              </a:path>
              <a:path w="19684" h="46355">
                <a:moveTo>
                  <a:pt x="19555" y="14859"/>
                </a:moveTo>
                <a:lnTo>
                  <a:pt x="11049" y="14859"/>
                </a:lnTo>
                <a:lnTo>
                  <a:pt x="10794" y="16129"/>
                </a:lnTo>
                <a:lnTo>
                  <a:pt x="19684" y="16129"/>
                </a:lnTo>
                <a:lnTo>
                  <a:pt x="19679" y="15468"/>
                </a:lnTo>
                <a:lnTo>
                  <a:pt x="19555" y="14859"/>
                </a:lnTo>
                <a:close/>
              </a:path>
              <a:path w="19684" h="46355">
                <a:moveTo>
                  <a:pt x="18645" y="10413"/>
                </a:moveTo>
                <a:lnTo>
                  <a:pt x="11049" y="10413"/>
                </a:lnTo>
                <a:lnTo>
                  <a:pt x="11556" y="12573"/>
                </a:lnTo>
                <a:lnTo>
                  <a:pt x="10953" y="12573"/>
                </a:lnTo>
                <a:lnTo>
                  <a:pt x="10824" y="15468"/>
                </a:lnTo>
                <a:lnTo>
                  <a:pt x="11049" y="14859"/>
                </a:lnTo>
                <a:lnTo>
                  <a:pt x="19555" y="14859"/>
                </a:lnTo>
                <a:lnTo>
                  <a:pt x="19087" y="12573"/>
                </a:lnTo>
                <a:lnTo>
                  <a:pt x="11556" y="12573"/>
                </a:lnTo>
                <a:lnTo>
                  <a:pt x="10996" y="11584"/>
                </a:lnTo>
                <a:lnTo>
                  <a:pt x="18885" y="11584"/>
                </a:lnTo>
                <a:lnTo>
                  <a:pt x="18645" y="10413"/>
                </a:lnTo>
                <a:close/>
              </a:path>
              <a:path w="19684" h="46355">
                <a:moveTo>
                  <a:pt x="11049" y="10413"/>
                </a:moveTo>
                <a:lnTo>
                  <a:pt x="10996" y="11584"/>
                </a:lnTo>
                <a:lnTo>
                  <a:pt x="11556" y="12573"/>
                </a:lnTo>
                <a:lnTo>
                  <a:pt x="11049" y="10413"/>
                </a:lnTo>
                <a:close/>
              </a:path>
              <a:path w="19684" h="46355">
                <a:moveTo>
                  <a:pt x="9398" y="0"/>
                </a:moveTo>
                <a:lnTo>
                  <a:pt x="8127" y="888"/>
                </a:lnTo>
                <a:lnTo>
                  <a:pt x="6730" y="1778"/>
                </a:lnTo>
                <a:lnTo>
                  <a:pt x="6350" y="3556"/>
                </a:lnTo>
                <a:lnTo>
                  <a:pt x="7238" y="4953"/>
                </a:lnTo>
                <a:lnTo>
                  <a:pt x="10996" y="11584"/>
                </a:lnTo>
                <a:lnTo>
                  <a:pt x="11049" y="10413"/>
                </a:lnTo>
                <a:lnTo>
                  <a:pt x="18645" y="10413"/>
                </a:lnTo>
                <a:lnTo>
                  <a:pt x="18541" y="9906"/>
                </a:lnTo>
                <a:lnTo>
                  <a:pt x="17779" y="8255"/>
                </a:lnTo>
                <a:lnTo>
                  <a:pt x="12191" y="1397"/>
                </a:lnTo>
                <a:lnTo>
                  <a:pt x="11175" y="254"/>
                </a:lnTo>
                <a:lnTo>
                  <a:pt x="939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565023"/>
            <a:ext cx="97694" cy="2034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339722"/>
            <a:ext cx="153526" cy="24180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2032000"/>
            <a:ext cx="110340" cy="26555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5794502" y="674877"/>
            <a:ext cx="458470" cy="589915"/>
          </a:xfrm>
          <a:custGeom>
            <a:avLst/>
            <a:gdLst/>
            <a:ahLst/>
            <a:cxnLst/>
            <a:rect l="l" t="t" r="r" b="b"/>
            <a:pathLst>
              <a:path w="458470" h="589915">
                <a:moveTo>
                  <a:pt x="98171" y="0"/>
                </a:moveTo>
                <a:lnTo>
                  <a:pt x="96138" y="254"/>
                </a:lnTo>
                <a:lnTo>
                  <a:pt x="91439" y="1524"/>
                </a:lnTo>
                <a:lnTo>
                  <a:pt x="91186" y="1650"/>
                </a:lnTo>
                <a:lnTo>
                  <a:pt x="85089" y="3810"/>
                </a:lnTo>
                <a:lnTo>
                  <a:pt x="51688" y="28321"/>
                </a:lnTo>
                <a:lnTo>
                  <a:pt x="51308" y="28701"/>
                </a:lnTo>
                <a:lnTo>
                  <a:pt x="44450" y="38481"/>
                </a:lnTo>
                <a:lnTo>
                  <a:pt x="43814" y="39497"/>
                </a:lnTo>
                <a:lnTo>
                  <a:pt x="37211" y="53848"/>
                </a:lnTo>
                <a:lnTo>
                  <a:pt x="29845" y="71247"/>
                </a:lnTo>
                <a:lnTo>
                  <a:pt x="22098" y="93091"/>
                </a:lnTo>
                <a:lnTo>
                  <a:pt x="13715" y="116459"/>
                </a:lnTo>
                <a:lnTo>
                  <a:pt x="13335" y="117475"/>
                </a:lnTo>
                <a:lnTo>
                  <a:pt x="7874" y="145542"/>
                </a:lnTo>
                <a:lnTo>
                  <a:pt x="2286" y="176149"/>
                </a:lnTo>
                <a:lnTo>
                  <a:pt x="2175" y="178562"/>
                </a:lnTo>
                <a:lnTo>
                  <a:pt x="0" y="211200"/>
                </a:lnTo>
                <a:lnTo>
                  <a:pt x="5" y="212089"/>
                </a:lnTo>
                <a:lnTo>
                  <a:pt x="1606" y="249047"/>
                </a:lnTo>
                <a:lnTo>
                  <a:pt x="1650" y="250571"/>
                </a:lnTo>
                <a:lnTo>
                  <a:pt x="5969" y="291211"/>
                </a:lnTo>
                <a:lnTo>
                  <a:pt x="5969" y="291464"/>
                </a:lnTo>
                <a:lnTo>
                  <a:pt x="11684" y="332486"/>
                </a:lnTo>
                <a:lnTo>
                  <a:pt x="11811" y="332994"/>
                </a:lnTo>
                <a:lnTo>
                  <a:pt x="20320" y="374776"/>
                </a:lnTo>
                <a:lnTo>
                  <a:pt x="20447" y="374904"/>
                </a:lnTo>
                <a:lnTo>
                  <a:pt x="29718" y="414909"/>
                </a:lnTo>
                <a:lnTo>
                  <a:pt x="29845" y="415289"/>
                </a:lnTo>
                <a:lnTo>
                  <a:pt x="40639" y="452755"/>
                </a:lnTo>
                <a:lnTo>
                  <a:pt x="40639" y="453136"/>
                </a:lnTo>
                <a:lnTo>
                  <a:pt x="52450" y="486918"/>
                </a:lnTo>
                <a:lnTo>
                  <a:pt x="82931" y="540893"/>
                </a:lnTo>
                <a:lnTo>
                  <a:pt x="132207" y="576580"/>
                </a:lnTo>
                <a:lnTo>
                  <a:pt x="206883" y="589788"/>
                </a:lnTo>
                <a:lnTo>
                  <a:pt x="208025" y="589788"/>
                </a:lnTo>
                <a:lnTo>
                  <a:pt x="253746" y="586486"/>
                </a:lnTo>
                <a:lnTo>
                  <a:pt x="254635" y="586359"/>
                </a:lnTo>
                <a:lnTo>
                  <a:pt x="303402" y="576834"/>
                </a:lnTo>
                <a:lnTo>
                  <a:pt x="303657" y="576834"/>
                </a:lnTo>
                <a:lnTo>
                  <a:pt x="310932" y="575056"/>
                </a:lnTo>
                <a:lnTo>
                  <a:pt x="207137" y="575056"/>
                </a:lnTo>
                <a:lnTo>
                  <a:pt x="207873" y="575017"/>
                </a:lnTo>
                <a:lnTo>
                  <a:pt x="171125" y="571500"/>
                </a:lnTo>
                <a:lnTo>
                  <a:pt x="170942" y="571500"/>
                </a:lnTo>
                <a:lnTo>
                  <a:pt x="169799" y="571373"/>
                </a:lnTo>
                <a:lnTo>
                  <a:pt x="170471" y="571373"/>
                </a:lnTo>
                <a:lnTo>
                  <a:pt x="139422" y="562991"/>
                </a:lnTo>
                <a:lnTo>
                  <a:pt x="138937" y="562991"/>
                </a:lnTo>
                <a:lnTo>
                  <a:pt x="137540" y="562483"/>
                </a:lnTo>
                <a:lnTo>
                  <a:pt x="137912" y="562483"/>
                </a:lnTo>
                <a:lnTo>
                  <a:pt x="115088" y="551180"/>
                </a:lnTo>
                <a:lnTo>
                  <a:pt x="114173" y="551180"/>
                </a:lnTo>
                <a:lnTo>
                  <a:pt x="112268" y="549783"/>
                </a:lnTo>
                <a:lnTo>
                  <a:pt x="112775" y="549783"/>
                </a:lnTo>
                <a:lnTo>
                  <a:pt x="95503" y="532511"/>
                </a:lnTo>
                <a:lnTo>
                  <a:pt x="94361" y="531368"/>
                </a:lnTo>
                <a:lnTo>
                  <a:pt x="94601" y="531368"/>
                </a:lnTo>
                <a:lnTo>
                  <a:pt x="79429" y="509016"/>
                </a:lnTo>
                <a:lnTo>
                  <a:pt x="78739" y="508000"/>
                </a:lnTo>
                <a:lnTo>
                  <a:pt x="78894" y="508000"/>
                </a:lnTo>
                <a:lnTo>
                  <a:pt x="65912" y="480568"/>
                </a:lnTo>
                <a:lnTo>
                  <a:pt x="54869" y="448563"/>
                </a:lnTo>
                <a:lnTo>
                  <a:pt x="44016" y="411480"/>
                </a:lnTo>
                <a:lnTo>
                  <a:pt x="44009" y="411225"/>
                </a:lnTo>
                <a:lnTo>
                  <a:pt x="34700" y="371729"/>
                </a:lnTo>
                <a:lnTo>
                  <a:pt x="26113" y="330454"/>
                </a:lnTo>
                <a:lnTo>
                  <a:pt x="26107" y="330073"/>
                </a:lnTo>
                <a:lnTo>
                  <a:pt x="20356" y="289687"/>
                </a:lnTo>
                <a:lnTo>
                  <a:pt x="16042" y="249427"/>
                </a:lnTo>
                <a:lnTo>
                  <a:pt x="14135" y="212089"/>
                </a:lnTo>
                <a:lnTo>
                  <a:pt x="16083" y="178562"/>
                </a:lnTo>
                <a:lnTo>
                  <a:pt x="21313" y="148082"/>
                </a:lnTo>
                <a:lnTo>
                  <a:pt x="26378" y="120904"/>
                </a:lnTo>
                <a:lnTo>
                  <a:pt x="26543" y="120014"/>
                </a:lnTo>
                <a:lnTo>
                  <a:pt x="34544" y="97536"/>
                </a:lnTo>
                <a:lnTo>
                  <a:pt x="41910" y="75819"/>
                </a:lnTo>
                <a:lnTo>
                  <a:pt x="48895" y="58800"/>
                </a:lnTo>
                <a:lnTo>
                  <a:pt x="54799" y="45593"/>
                </a:lnTo>
                <a:lnTo>
                  <a:pt x="54610" y="45593"/>
                </a:lnTo>
                <a:lnTo>
                  <a:pt x="55245" y="44576"/>
                </a:lnTo>
                <a:lnTo>
                  <a:pt x="60991" y="36322"/>
                </a:lnTo>
                <a:lnTo>
                  <a:pt x="61340" y="35813"/>
                </a:lnTo>
                <a:lnTo>
                  <a:pt x="67902" y="28321"/>
                </a:lnTo>
                <a:lnTo>
                  <a:pt x="68452" y="27686"/>
                </a:lnTo>
                <a:lnTo>
                  <a:pt x="68582" y="27686"/>
                </a:lnTo>
                <a:lnTo>
                  <a:pt x="75308" y="22098"/>
                </a:lnTo>
                <a:lnTo>
                  <a:pt x="75057" y="22098"/>
                </a:lnTo>
                <a:lnTo>
                  <a:pt x="76073" y="21462"/>
                </a:lnTo>
                <a:lnTo>
                  <a:pt x="82931" y="17652"/>
                </a:lnTo>
                <a:lnTo>
                  <a:pt x="83204" y="17652"/>
                </a:lnTo>
                <a:lnTo>
                  <a:pt x="89271" y="14732"/>
                </a:lnTo>
                <a:lnTo>
                  <a:pt x="88900" y="14732"/>
                </a:lnTo>
                <a:lnTo>
                  <a:pt x="94996" y="12573"/>
                </a:lnTo>
                <a:lnTo>
                  <a:pt x="98784" y="11302"/>
                </a:lnTo>
                <a:lnTo>
                  <a:pt x="98171" y="11302"/>
                </a:lnTo>
                <a:lnTo>
                  <a:pt x="99568" y="11049"/>
                </a:lnTo>
                <a:lnTo>
                  <a:pt x="101980" y="11049"/>
                </a:lnTo>
                <a:lnTo>
                  <a:pt x="103250" y="10922"/>
                </a:lnTo>
                <a:lnTo>
                  <a:pt x="104521" y="10668"/>
                </a:lnTo>
                <a:lnTo>
                  <a:pt x="105156" y="10413"/>
                </a:lnTo>
                <a:lnTo>
                  <a:pt x="105537" y="10413"/>
                </a:lnTo>
                <a:lnTo>
                  <a:pt x="106552" y="10160"/>
                </a:lnTo>
                <a:lnTo>
                  <a:pt x="107061" y="10160"/>
                </a:lnTo>
                <a:lnTo>
                  <a:pt x="107950" y="10033"/>
                </a:lnTo>
                <a:lnTo>
                  <a:pt x="110362" y="9779"/>
                </a:lnTo>
                <a:lnTo>
                  <a:pt x="112204" y="9779"/>
                </a:lnTo>
                <a:lnTo>
                  <a:pt x="114173" y="9651"/>
                </a:lnTo>
                <a:lnTo>
                  <a:pt x="116712" y="9525"/>
                </a:lnTo>
                <a:lnTo>
                  <a:pt x="119507" y="9271"/>
                </a:lnTo>
                <a:lnTo>
                  <a:pt x="121412" y="9271"/>
                </a:lnTo>
                <a:lnTo>
                  <a:pt x="122936" y="7620"/>
                </a:lnTo>
                <a:lnTo>
                  <a:pt x="122936" y="3810"/>
                </a:lnTo>
                <a:lnTo>
                  <a:pt x="121412" y="2159"/>
                </a:lnTo>
                <a:lnTo>
                  <a:pt x="119507" y="2032"/>
                </a:lnTo>
                <a:lnTo>
                  <a:pt x="116586" y="1905"/>
                </a:lnTo>
                <a:lnTo>
                  <a:pt x="114173" y="1777"/>
                </a:lnTo>
                <a:lnTo>
                  <a:pt x="110236" y="1524"/>
                </a:lnTo>
                <a:lnTo>
                  <a:pt x="107823" y="1397"/>
                </a:lnTo>
                <a:lnTo>
                  <a:pt x="107061" y="1270"/>
                </a:lnTo>
                <a:lnTo>
                  <a:pt x="106552" y="1270"/>
                </a:lnTo>
                <a:lnTo>
                  <a:pt x="105537" y="1016"/>
                </a:lnTo>
                <a:lnTo>
                  <a:pt x="105155" y="888"/>
                </a:lnTo>
                <a:lnTo>
                  <a:pt x="103250" y="508"/>
                </a:lnTo>
                <a:lnTo>
                  <a:pt x="98171" y="0"/>
                </a:lnTo>
                <a:close/>
              </a:path>
              <a:path w="458470" h="589915">
                <a:moveTo>
                  <a:pt x="207873" y="575017"/>
                </a:moveTo>
                <a:lnTo>
                  <a:pt x="207137" y="575056"/>
                </a:lnTo>
                <a:lnTo>
                  <a:pt x="208280" y="575056"/>
                </a:lnTo>
                <a:lnTo>
                  <a:pt x="207873" y="575017"/>
                </a:lnTo>
                <a:close/>
              </a:path>
              <a:path w="458470" h="589915">
                <a:moveTo>
                  <a:pt x="301244" y="564896"/>
                </a:moveTo>
                <a:lnTo>
                  <a:pt x="252222" y="572643"/>
                </a:lnTo>
                <a:lnTo>
                  <a:pt x="252857" y="572643"/>
                </a:lnTo>
                <a:lnTo>
                  <a:pt x="207873" y="575017"/>
                </a:lnTo>
                <a:lnTo>
                  <a:pt x="208280" y="575056"/>
                </a:lnTo>
                <a:lnTo>
                  <a:pt x="310932" y="575056"/>
                </a:lnTo>
                <a:lnTo>
                  <a:pt x="351985" y="565023"/>
                </a:lnTo>
                <a:lnTo>
                  <a:pt x="300989" y="565023"/>
                </a:lnTo>
                <a:lnTo>
                  <a:pt x="301244" y="564896"/>
                </a:lnTo>
                <a:close/>
              </a:path>
              <a:path w="458470" h="589915">
                <a:moveTo>
                  <a:pt x="169799" y="571373"/>
                </a:moveTo>
                <a:lnTo>
                  <a:pt x="170942" y="571500"/>
                </a:lnTo>
                <a:lnTo>
                  <a:pt x="169799" y="571373"/>
                </a:lnTo>
                <a:close/>
              </a:path>
              <a:path w="458470" h="589915">
                <a:moveTo>
                  <a:pt x="170840" y="571472"/>
                </a:moveTo>
                <a:lnTo>
                  <a:pt x="171125" y="571500"/>
                </a:lnTo>
                <a:lnTo>
                  <a:pt x="170840" y="571472"/>
                </a:lnTo>
                <a:close/>
              </a:path>
              <a:path w="458470" h="589915">
                <a:moveTo>
                  <a:pt x="170471" y="571373"/>
                </a:moveTo>
                <a:lnTo>
                  <a:pt x="169799" y="571373"/>
                </a:lnTo>
                <a:lnTo>
                  <a:pt x="170840" y="571472"/>
                </a:lnTo>
                <a:lnTo>
                  <a:pt x="170471" y="571373"/>
                </a:lnTo>
                <a:close/>
              </a:path>
              <a:path w="458470" h="589915">
                <a:moveTo>
                  <a:pt x="352298" y="554355"/>
                </a:moveTo>
                <a:lnTo>
                  <a:pt x="300989" y="565023"/>
                </a:lnTo>
                <a:lnTo>
                  <a:pt x="351985" y="565023"/>
                </a:lnTo>
                <a:lnTo>
                  <a:pt x="354584" y="564388"/>
                </a:lnTo>
                <a:lnTo>
                  <a:pt x="354838" y="564261"/>
                </a:lnTo>
                <a:lnTo>
                  <a:pt x="385727" y="554482"/>
                </a:lnTo>
                <a:lnTo>
                  <a:pt x="351917" y="554482"/>
                </a:lnTo>
                <a:lnTo>
                  <a:pt x="352298" y="554355"/>
                </a:lnTo>
                <a:close/>
              </a:path>
              <a:path w="458470" h="589915">
                <a:moveTo>
                  <a:pt x="137540" y="562483"/>
                </a:moveTo>
                <a:lnTo>
                  <a:pt x="138937" y="562991"/>
                </a:lnTo>
                <a:lnTo>
                  <a:pt x="138357" y="562703"/>
                </a:lnTo>
                <a:lnTo>
                  <a:pt x="137540" y="562483"/>
                </a:lnTo>
                <a:close/>
              </a:path>
              <a:path w="458470" h="589915">
                <a:moveTo>
                  <a:pt x="138357" y="562703"/>
                </a:moveTo>
                <a:lnTo>
                  <a:pt x="138937" y="562991"/>
                </a:lnTo>
                <a:lnTo>
                  <a:pt x="139422" y="562991"/>
                </a:lnTo>
                <a:lnTo>
                  <a:pt x="138357" y="562703"/>
                </a:lnTo>
                <a:close/>
              </a:path>
              <a:path w="458470" h="589915">
                <a:moveTo>
                  <a:pt x="137912" y="562483"/>
                </a:moveTo>
                <a:lnTo>
                  <a:pt x="137540" y="562483"/>
                </a:lnTo>
                <a:lnTo>
                  <a:pt x="138357" y="562703"/>
                </a:lnTo>
                <a:lnTo>
                  <a:pt x="137912" y="562483"/>
                </a:lnTo>
                <a:close/>
              </a:path>
              <a:path w="458470" h="589915">
                <a:moveTo>
                  <a:pt x="455040" y="521081"/>
                </a:moveTo>
                <a:lnTo>
                  <a:pt x="453389" y="521716"/>
                </a:lnTo>
                <a:lnTo>
                  <a:pt x="402717" y="540258"/>
                </a:lnTo>
                <a:lnTo>
                  <a:pt x="402971" y="540258"/>
                </a:lnTo>
                <a:lnTo>
                  <a:pt x="351917" y="554482"/>
                </a:lnTo>
                <a:lnTo>
                  <a:pt x="385727" y="554482"/>
                </a:lnTo>
                <a:lnTo>
                  <a:pt x="405384" y="548259"/>
                </a:lnTo>
                <a:lnTo>
                  <a:pt x="405638" y="548132"/>
                </a:lnTo>
                <a:lnTo>
                  <a:pt x="455802" y="527938"/>
                </a:lnTo>
                <a:lnTo>
                  <a:pt x="457453" y="527176"/>
                </a:lnTo>
                <a:lnTo>
                  <a:pt x="458215" y="525272"/>
                </a:lnTo>
                <a:lnTo>
                  <a:pt x="456946" y="521970"/>
                </a:lnTo>
                <a:lnTo>
                  <a:pt x="455040" y="521081"/>
                </a:lnTo>
                <a:close/>
              </a:path>
              <a:path w="458470" h="589915">
                <a:moveTo>
                  <a:pt x="112268" y="549783"/>
                </a:moveTo>
                <a:lnTo>
                  <a:pt x="114173" y="551180"/>
                </a:lnTo>
                <a:lnTo>
                  <a:pt x="113274" y="550281"/>
                </a:lnTo>
                <a:lnTo>
                  <a:pt x="112268" y="549783"/>
                </a:lnTo>
                <a:close/>
              </a:path>
              <a:path w="458470" h="589915">
                <a:moveTo>
                  <a:pt x="113274" y="550281"/>
                </a:moveTo>
                <a:lnTo>
                  <a:pt x="114173" y="551180"/>
                </a:lnTo>
                <a:lnTo>
                  <a:pt x="115088" y="551180"/>
                </a:lnTo>
                <a:lnTo>
                  <a:pt x="113274" y="550281"/>
                </a:lnTo>
                <a:close/>
              </a:path>
              <a:path w="458470" h="589915">
                <a:moveTo>
                  <a:pt x="112775" y="549783"/>
                </a:moveTo>
                <a:lnTo>
                  <a:pt x="112268" y="549783"/>
                </a:lnTo>
                <a:lnTo>
                  <a:pt x="113274" y="550281"/>
                </a:lnTo>
                <a:lnTo>
                  <a:pt x="112775" y="549783"/>
                </a:lnTo>
                <a:close/>
              </a:path>
              <a:path w="458470" h="589915">
                <a:moveTo>
                  <a:pt x="94361" y="531368"/>
                </a:moveTo>
                <a:lnTo>
                  <a:pt x="95376" y="532511"/>
                </a:lnTo>
                <a:lnTo>
                  <a:pt x="95108" y="532115"/>
                </a:lnTo>
                <a:lnTo>
                  <a:pt x="94361" y="531368"/>
                </a:lnTo>
                <a:close/>
              </a:path>
              <a:path w="458470" h="589915">
                <a:moveTo>
                  <a:pt x="95108" y="532115"/>
                </a:moveTo>
                <a:lnTo>
                  <a:pt x="95376" y="532511"/>
                </a:lnTo>
                <a:lnTo>
                  <a:pt x="95108" y="532115"/>
                </a:lnTo>
                <a:close/>
              </a:path>
              <a:path w="458470" h="589915">
                <a:moveTo>
                  <a:pt x="94601" y="531368"/>
                </a:moveTo>
                <a:lnTo>
                  <a:pt x="94361" y="531368"/>
                </a:lnTo>
                <a:lnTo>
                  <a:pt x="95108" y="532115"/>
                </a:lnTo>
                <a:lnTo>
                  <a:pt x="94601" y="531368"/>
                </a:lnTo>
                <a:close/>
              </a:path>
              <a:path w="458470" h="589915">
                <a:moveTo>
                  <a:pt x="78739" y="508000"/>
                </a:moveTo>
                <a:lnTo>
                  <a:pt x="79375" y="509016"/>
                </a:lnTo>
                <a:lnTo>
                  <a:pt x="79249" y="508750"/>
                </a:lnTo>
                <a:lnTo>
                  <a:pt x="78739" y="508000"/>
                </a:lnTo>
                <a:close/>
              </a:path>
              <a:path w="458470" h="589915">
                <a:moveTo>
                  <a:pt x="79249" y="508750"/>
                </a:moveTo>
                <a:lnTo>
                  <a:pt x="79375" y="509016"/>
                </a:lnTo>
                <a:lnTo>
                  <a:pt x="79249" y="508750"/>
                </a:lnTo>
                <a:close/>
              </a:path>
              <a:path w="458470" h="589915">
                <a:moveTo>
                  <a:pt x="78894" y="508000"/>
                </a:moveTo>
                <a:lnTo>
                  <a:pt x="78739" y="508000"/>
                </a:lnTo>
                <a:lnTo>
                  <a:pt x="79249" y="508750"/>
                </a:lnTo>
                <a:lnTo>
                  <a:pt x="78894" y="508000"/>
                </a:lnTo>
                <a:close/>
              </a:path>
              <a:path w="458470" h="589915">
                <a:moveTo>
                  <a:pt x="66028" y="480568"/>
                </a:moveTo>
                <a:lnTo>
                  <a:pt x="66294" y="481330"/>
                </a:lnTo>
                <a:lnTo>
                  <a:pt x="66028" y="480568"/>
                </a:lnTo>
                <a:close/>
              </a:path>
              <a:path w="458470" h="589915">
                <a:moveTo>
                  <a:pt x="54833" y="448459"/>
                </a:moveTo>
                <a:close/>
              </a:path>
              <a:path w="458470" h="589915">
                <a:moveTo>
                  <a:pt x="54752" y="448183"/>
                </a:moveTo>
                <a:lnTo>
                  <a:pt x="54833" y="448459"/>
                </a:lnTo>
                <a:lnTo>
                  <a:pt x="54752" y="448183"/>
                </a:lnTo>
                <a:close/>
              </a:path>
              <a:path w="458470" h="589915">
                <a:moveTo>
                  <a:pt x="44009" y="411225"/>
                </a:moveTo>
                <a:lnTo>
                  <a:pt x="44069" y="411480"/>
                </a:lnTo>
                <a:lnTo>
                  <a:pt x="44009" y="411225"/>
                </a:lnTo>
                <a:close/>
              </a:path>
              <a:path w="458470" h="589915">
                <a:moveTo>
                  <a:pt x="34671" y="371601"/>
                </a:moveTo>
                <a:lnTo>
                  <a:pt x="34671" y="371729"/>
                </a:lnTo>
                <a:lnTo>
                  <a:pt x="34671" y="371601"/>
                </a:lnTo>
                <a:close/>
              </a:path>
              <a:path w="458470" h="589915">
                <a:moveTo>
                  <a:pt x="26107" y="330073"/>
                </a:moveTo>
                <a:lnTo>
                  <a:pt x="26162" y="330454"/>
                </a:lnTo>
                <a:lnTo>
                  <a:pt x="26107" y="330073"/>
                </a:lnTo>
                <a:close/>
              </a:path>
              <a:path w="458470" h="589915">
                <a:moveTo>
                  <a:pt x="20320" y="289433"/>
                </a:moveTo>
                <a:lnTo>
                  <a:pt x="20320" y="289687"/>
                </a:lnTo>
                <a:lnTo>
                  <a:pt x="20320" y="289433"/>
                </a:lnTo>
                <a:close/>
              </a:path>
              <a:path w="458470" h="589915">
                <a:moveTo>
                  <a:pt x="16001" y="249047"/>
                </a:moveTo>
                <a:lnTo>
                  <a:pt x="16001" y="249427"/>
                </a:lnTo>
                <a:lnTo>
                  <a:pt x="16001" y="249047"/>
                </a:lnTo>
                <a:close/>
              </a:path>
              <a:path w="458470" h="589915">
                <a:moveTo>
                  <a:pt x="14117" y="211741"/>
                </a:moveTo>
                <a:lnTo>
                  <a:pt x="14097" y="212089"/>
                </a:lnTo>
                <a:lnTo>
                  <a:pt x="14117" y="211741"/>
                </a:lnTo>
                <a:close/>
              </a:path>
              <a:path w="458470" h="589915">
                <a:moveTo>
                  <a:pt x="14142" y="211327"/>
                </a:moveTo>
                <a:lnTo>
                  <a:pt x="14117" y="211741"/>
                </a:lnTo>
                <a:lnTo>
                  <a:pt x="14142" y="211327"/>
                </a:lnTo>
                <a:close/>
              </a:path>
              <a:path w="458470" h="589915">
                <a:moveTo>
                  <a:pt x="16126" y="177850"/>
                </a:moveTo>
                <a:lnTo>
                  <a:pt x="16001" y="178562"/>
                </a:lnTo>
                <a:lnTo>
                  <a:pt x="16126" y="177850"/>
                </a:lnTo>
                <a:close/>
              </a:path>
              <a:path w="458470" h="589915">
                <a:moveTo>
                  <a:pt x="21359" y="147955"/>
                </a:moveTo>
                <a:close/>
              </a:path>
              <a:path w="458470" h="589915">
                <a:moveTo>
                  <a:pt x="26543" y="120014"/>
                </a:moveTo>
                <a:lnTo>
                  <a:pt x="26288" y="120904"/>
                </a:lnTo>
                <a:lnTo>
                  <a:pt x="26476" y="120372"/>
                </a:lnTo>
                <a:lnTo>
                  <a:pt x="26543" y="120014"/>
                </a:lnTo>
                <a:close/>
              </a:path>
              <a:path w="458470" h="589915">
                <a:moveTo>
                  <a:pt x="26476" y="120372"/>
                </a:moveTo>
                <a:lnTo>
                  <a:pt x="26288" y="120904"/>
                </a:lnTo>
                <a:lnTo>
                  <a:pt x="26476" y="120372"/>
                </a:lnTo>
                <a:close/>
              </a:path>
              <a:path w="458470" h="589915">
                <a:moveTo>
                  <a:pt x="26603" y="120014"/>
                </a:moveTo>
                <a:lnTo>
                  <a:pt x="26476" y="120372"/>
                </a:lnTo>
                <a:lnTo>
                  <a:pt x="26603" y="120014"/>
                </a:lnTo>
                <a:close/>
              </a:path>
              <a:path w="458470" h="589915">
                <a:moveTo>
                  <a:pt x="41938" y="75819"/>
                </a:moveTo>
                <a:lnTo>
                  <a:pt x="41783" y="76200"/>
                </a:lnTo>
                <a:lnTo>
                  <a:pt x="41938" y="75819"/>
                </a:lnTo>
                <a:close/>
              </a:path>
              <a:path w="458470" h="589915">
                <a:moveTo>
                  <a:pt x="49006" y="58800"/>
                </a:moveTo>
                <a:lnTo>
                  <a:pt x="48895" y="59055"/>
                </a:lnTo>
                <a:lnTo>
                  <a:pt x="49006" y="58800"/>
                </a:lnTo>
                <a:close/>
              </a:path>
              <a:path w="458470" h="589915">
                <a:moveTo>
                  <a:pt x="55245" y="44576"/>
                </a:moveTo>
                <a:lnTo>
                  <a:pt x="54610" y="45593"/>
                </a:lnTo>
                <a:lnTo>
                  <a:pt x="55132" y="44834"/>
                </a:lnTo>
                <a:lnTo>
                  <a:pt x="55245" y="44576"/>
                </a:lnTo>
                <a:close/>
              </a:path>
              <a:path w="458470" h="589915">
                <a:moveTo>
                  <a:pt x="55132" y="44834"/>
                </a:moveTo>
                <a:lnTo>
                  <a:pt x="54610" y="45593"/>
                </a:lnTo>
                <a:lnTo>
                  <a:pt x="54799" y="45593"/>
                </a:lnTo>
                <a:lnTo>
                  <a:pt x="55132" y="44834"/>
                </a:lnTo>
                <a:close/>
              </a:path>
              <a:path w="458470" h="589915">
                <a:moveTo>
                  <a:pt x="55309" y="44576"/>
                </a:moveTo>
                <a:lnTo>
                  <a:pt x="55132" y="44834"/>
                </a:lnTo>
                <a:lnTo>
                  <a:pt x="55309" y="44576"/>
                </a:lnTo>
                <a:close/>
              </a:path>
              <a:path w="458470" h="589915">
                <a:moveTo>
                  <a:pt x="61340" y="35813"/>
                </a:moveTo>
                <a:lnTo>
                  <a:pt x="60960" y="36322"/>
                </a:lnTo>
                <a:lnTo>
                  <a:pt x="61111" y="36147"/>
                </a:lnTo>
                <a:lnTo>
                  <a:pt x="61340" y="35813"/>
                </a:lnTo>
                <a:close/>
              </a:path>
              <a:path w="458470" h="589915">
                <a:moveTo>
                  <a:pt x="61111" y="36147"/>
                </a:moveTo>
                <a:lnTo>
                  <a:pt x="60960" y="36322"/>
                </a:lnTo>
                <a:lnTo>
                  <a:pt x="61111" y="36147"/>
                </a:lnTo>
                <a:close/>
              </a:path>
              <a:path w="458470" h="589915">
                <a:moveTo>
                  <a:pt x="61400" y="35813"/>
                </a:moveTo>
                <a:lnTo>
                  <a:pt x="61111" y="36147"/>
                </a:lnTo>
                <a:lnTo>
                  <a:pt x="61400" y="35813"/>
                </a:lnTo>
                <a:close/>
              </a:path>
              <a:path w="458470" h="589915">
                <a:moveTo>
                  <a:pt x="68452" y="27686"/>
                </a:moveTo>
                <a:lnTo>
                  <a:pt x="67818" y="28321"/>
                </a:lnTo>
                <a:lnTo>
                  <a:pt x="68119" y="28070"/>
                </a:lnTo>
                <a:lnTo>
                  <a:pt x="68452" y="27686"/>
                </a:lnTo>
                <a:close/>
              </a:path>
              <a:path w="458470" h="589915">
                <a:moveTo>
                  <a:pt x="68119" y="28070"/>
                </a:moveTo>
                <a:lnTo>
                  <a:pt x="67818" y="28321"/>
                </a:lnTo>
                <a:lnTo>
                  <a:pt x="68119" y="28070"/>
                </a:lnTo>
                <a:close/>
              </a:path>
              <a:path w="458470" h="589915">
                <a:moveTo>
                  <a:pt x="68582" y="27686"/>
                </a:moveTo>
                <a:lnTo>
                  <a:pt x="68452" y="27686"/>
                </a:lnTo>
                <a:lnTo>
                  <a:pt x="68119" y="28070"/>
                </a:lnTo>
                <a:lnTo>
                  <a:pt x="68582" y="27686"/>
                </a:lnTo>
                <a:close/>
              </a:path>
              <a:path w="458470" h="589915">
                <a:moveTo>
                  <a:pt x="76073" y="21462"/>
                </a:moveTo>
                <a:lnTo>
                  <a:pt x="75057" y="22098"/>
                </a:lnTo>
                <a:lnTo>
                  <a:pt x="75842" y="21654"/>
                </a:lnTo>
                <a:lnTo>
                  <a:pt x="76073" y="21462"/>
                </a:lnTo>
                <a:close/>
              </a:path>
              <a:path w="458470" h="589915">
                <a:moveTo>
                  <a:pt x="75842" y="21654"/>
                </a:moveTo>
                <a:lnTo>
                  <a:pt x="75057" y="22098"/>
                </a:lnTo>
                <a:lnTo>
                  <a:pt x="75308" y="22098"/>
                </a:lnTo>
                <a:lnTo>
                  <a:pt x="75842" y="21654"/>
                </a:lnTo>
                <a:close/>
              </a:path>
              <a:path w="458470" h="589915">
                <a:moveTo>
                  <a:pt x="76181" y="21462"/>
                </a:moveTo>
                <a:lnTo>
                  <a:pt x="75842" y="21654"/>
                </a:lnTo>
                <a:lnTo>
                  <a:pt x="76181" y="21462"/>
                </a:lnTo>
                <a:close/>
              </a:path>
              <a:path w="458470" h="589915">
                <a:moveTo>
                  <a:pt x="83204" y="17652"/>
                </a:moveTo>
                <a:lnTo>
                  <a:pt x="82931" y="17652"/>
                </a:lnTo>
                <a:lnTo>
                  <a:pt x="82676" y="17907"/>
                </a:lnTo>
                <a:lnTo>
                  <a:pt x="83204" y="17652"/>
                </a:lnTo>
                <a:close/>
              </a:path>
              <a:path w="458470" h="589915">
                <a:moveTo>
                  <a:pt x="89535" y="14605"/>
                </a:moveTo>
                <a:lnTo>
                  <a:pt x="88900" y="14732"/>
                </a:lnTo>
                <a:lnTo>
                  <a:pt x="89271" y="14732"/>
                </a:lnTo>
                <a:lnTo>
                  <a:pt x="89535" y="14605"/>
                </a:lnTo>
                <a:close/>
              </a:path>
              <a:path w="458470" h="589915">
                <a:moveTo>
                  <a:pt x="99568" y="11049"/>
                </a:moveTo>
                <a:lnTo>
                  <a:pt x="98171" y="11302"/>
                </a:lnTo>
                <a:lnTo>
                  <a:pt x="98896" y="11266"/>
                </a:lnTo>
                <a:lnTo>
                  <a:pt x="99568" y="11049"/>
                </a:lnTo>
                <a:close/>
              </a:path>
              <a:path w="458470" h="589915">
                <a:moveTo>
                  <a:pt x="98896" y="11266"/>
                </a:moveTo>
                <a:lnTo>
                  <a:pt x="98171" y="11302"/>
                </a:lnTo>
                <a:lnTo>
                  <a:pt x="98784" y="11302"/>
                </a:lnTo>
                <a:close/>
              </a:path>
              <a:path w="458470" h="589915">
                <a:moveTo>
                  <a:pt x="101980" y="11049"/>
                </a:moveTo>
                <a:lnTo>
                  <a:pt x="99568" y="11049"/>
                </a:lnTo>
                <a:lnTo>
                  <a:pt x="98896" y="11266"/>
                </a:lnTo>
                <a:lnTo>
                  <a:pt x="100711" y="11175"/>
                </a:lnTo>
                <a:lnTo>
                  <a:pt x="101980" y="11049"/>
                </a:lnTo>
                <a:close/>
              </a:path>
              <a:path w="458470" h="589915">
                <a:moveTo>
                  <a:pt x="105663" y="10413"/>
                </a:moveTo>
                <a:lnTo>
                  <a:pt x="105156" y="10413"/>
                </a:lnTo>
                <a:lnTo>
                  <a:pt x="104648" y="10668"/>
                </a:lnTo>
                <a:lnTo>
                  <a:pt x="105663" y="10413"/>
                </a:lnTo>
                <a:close/>
              </a:path>
              <a:path w="458470" h="589915">
                <a:moveTo>
                  <a:pt x="107061" y="10160"/>
                </a:moveTo>
                <a:lnTo>
                  <a:pt x="106552" y="10160"/>
                </a:lnTo>
                <a:lnTo>
                  <a:pt x="106172" y="10287"/>
                </a:lnTo>
                <a:lnTo>
                  <a:pt x="107061" y="10160"/>
                </a:lnTo>
                <a:close/>
              </a:path>
              <a:path w="458470" h="589915">
                <a:moveTo>
                  <a:pt x="112204" y="9779"/>
                </a:moveTo>
                <a:lnTo>
                  <a:pt x="110362" y="9779"/>
                </a:lnTo>
                <a:lnTo>
                  <a:pt x="112204" y="9779"/>
                </a:lnTo>
                <a:close/>
              </a:path>
              <a:path w="458470" h="589915">
                <a:moveTo>
                  <a:pt x="106172" y="1143"/>
                </a:moveTo>
                <a:lnTo>
                  <a:pt x="106552" y="1270"/>
                </a:lnTo>
                <a:lnTo>
                  <a:pt x="107061" y="1270"/>
                </a:lnTo>
                <a:lnTo>
                  <a:pt x="106172" y="1143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379971" y="2384551"/>
            <a:ext cx="186308" cy="47752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971856" y="2086229"/>
            <a:ext cx="262063" cy="89433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669279" y="2206244"/>
            <a:ext cx="401574" cy="795020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7389241" y="2690876"/>
            <a:ext cx="67945" cy="14604"/>
          </a:xfrm>
          <a:custGeom>
            <a:avLst/>
            <a:gdLst/>
            <a:ahLst/>
            <a:cxnLst/>
            <a:rect l="l" t="t" r="r" b="b"/>
            <a:pathLst>
              <a:path w="67945" h="14605">
                <a:moveTo>
                  <a:pt x="6603" y="0"/>
                </a:moveTo>
                <a:lnTo>
                  <a:pt x="4063" y="635"/>
                </a:lnTo>
                <a:lnTo>
                  <a:pt x="2412" y="2412"/>
                </a:lnTo>
                <a:lnTo>
                  <a:pt x="634" y="4190"/>
                </a:lnTo>
                <a:lnTo>
                  <a:pt x="0" y="6731"/>
                </a:lnTo>
                <a:lnTo>
                  <a:pt x="761" y="9016"/>
                </a:lnTo>
                <a:lnTo>
                  <a:pt x="1397" y="11429"/>
                </a:lnTo>
                <a:lnTo>
                  <a:pt x="3428" y="13208"/>
                </a:lnTo>
                <a:lnTo>
                  <a:pt x="5841" y="13715"/>
                </a:lnTo>
                <a:lnTo>
                  <a:pt x="8635" y="14224"/>
                </a:lnTo>
                <a:lnTo>
                  <a:pt x="10286" y="14350"/>
                </a:lnTo>
                <a:lnTo>
                  <a:pt x="29336" y="13588"/>
                </a:lnTo>
                <a:lnTo>
                  <a:pt x="29590" y="13588"/>
                </a:lnTo>
                <a:lnTo>
                  <a:pt x="38480" y="12700"/>
                </a:lnTo>
                <a:lnTo>
                  <a:pt x="64515" y="11049"/>
                </a:lnTo>
                <a:lnTo>
                  <a:pt x="66166" y="10922"/>
                </a:lnTo>
                <a:lnTo>
                  <a:pt x="67563" y="9525"/>
                </a:lnTo>
                <a:lnTo>
                  <a:pt x="67563" y="6096"/>
                </a:lnTo>
                <a:lnTo>
                  <a:pt x="66166" y="4699"/>
                </a:lnTo>
                <a:lnTo>
                  <a:pt x="64515" y="4699"/>
                </a:lnTo>
                <a:lnTo>
                  <a:pt x="38353" y="3048"/>
                </a:lnTo>
                <a:lnTo>
                  <a:pt x="29590" y="2159"/>
                </a:lnTo>
                <a:lnTo>
                  <a:pt x="16721" y="1650"/>
                </a:lnTo>
                <a:lnTo>
                  <a:pt x="11810" y="1650"/>
                </a:lnTo>
                <a:lnTo>
                  <a:pt x="10286" y="1397"/>
                </a:lnTo>
                <a:lnTo>
                  <a:pt x="11009" y="1397"/>
                </a:lnTo>
                <a:lnTo>
                  <a:pt x="6603" y="0"/>
                </a:lnTo>
                <a:close/>
              </a:path>
              <a:path w="67945" h="14605">
                <a:moveTo>
                  <a:pt x="10286" y="1397"/>
                </a:moveTo>
                <a:lnTo>
                  <a:pt x="11810" y="1650"/>
                </a:lnTo>
                <a:lnTo>
                  <a:pt x="11112" y="1429"/>
                </a:lnTo>
                <a:lnTo>
                  <a:pt x="10286" y="1397"/>
                </a:lnTo>
                <a:close/>
              </a:path>
              <a:path w="67945" h="14605">
                <a:moveTo>
                  <a:pt x="11112" y="1429"/>
                </a:moveTo>
                <a:lnTo>
                  <a:pt x="11810" y="1650"/>
                </a:lnTo>
                <a:lnTo>
                  <a:pt x="16721" y="1650"/>
                </a:lnTo>
                <a:lnTo>
                  <a:pt x="11112" y="1429"/>
                </a:lnTo>
                <a:close/>
              </a:path>
              <a:path w="67945" h="14605">
                <a:moveTo>
                  <a:pt x="11009" y="1397"/>
                </a:moveTo>
                <a:lnTo>
                  <a:pt x="10286" y="1397"/>
                </a:lnTo>
                <a:lnTo>
                  <a:pt x="11112" y="142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814691" y="2725801"/>
            <a:ext cx="36195" cy="24765"/>
          </a:xfrm>
          <a:custGeom>
            <a:avLst/>
            <a:gdLst/>
            <a:ahLst/>
            <a:cxnLst/>
            <a:rect l="l" t="t" r="r" b="b"/>
            <a:pathLst>
              <a:path w="36195" h="24764">
                <a:moveTo>
                  <a:pt x="23827" y="21413"/>
                </a:moveTo>
                <a:lnTo>
                  <a:pt x="22986" y="21589"/>
                </a:lnTo>
                <a:lnTo>
                  <a:pt x="22225" y="21844"/>
                </a:lnTo>
                <a:lnTo>
                  <a:pt x="21397" y="21989"/>
                </a:lnTo>
                <a:lnTo>
                  <a:pt x="20827" y="22606"/>
                </a:lnTo>
                <a:lnTo>
                  <a:pt x="20605" y="22610"/>
                </a:lnTo>
                <a:lnTo>
                  <a:pt x="20192" y="22987"/>
                </a:lnTo>
                <a:lnTo>
                  <a:pt x="16491" y="23680"/>
                </a:lnTo>
                <a:lnTo>
                  <a:pt x="18795" y="24257"/>
                </a:lnTo>
                <a:lnTo>
                  <a:pt x="23827" y="21413"/>
                </a:lnTo>
                <a:close/>
              </a:path>
              <a:path w="36195" h="24764">
                <a:moveTo>
                  <a:pt x="14162" y="23098"/>
                </a:moveTo>
                <a:lnTo>
                  <a:pt x="16128" y="23749"/>
                </a:lnTo>
                <a:lnTo>
                  <a:pt x="16491" y="23680"/>
                </a:lnTo>
                <a:lnTo>
                  <a:pt x="14162" y="23098"/>
                </a:lnTo>
                <a:close/>
              </a:path>
              <a:path w="36195" h="24764">
                <a:moveTo>
                  <a:pt x="20605" y="22610"/>
                </a:moveTo>
                <a:lnTo>
                  <a:pt x="16855" y="22688"/>
                </a:lnTo>
                <a:lnTo>
                  <a:pt x="14162" y="23098"/>
                </a:lnTo>
                <a:lnTo>
                  <a:pt x="16491" y="23680"/>
                </a:lnTo>
                <a:lnTo>
                  <a:pt x="20192" y="22987"/>
                </a:lnTo>
                <a:lnTo>
                  <a:pt x="20605" y="22610"/>
                </a:lnTo>
                <a:close/>
              </a:path>
              <a:path w="36195" h="24764">
                <a:moveTo>
                  <a:pt x="12991" y="22807"/>
                </a:moveTo>
                <a:lnTo>
                  <a:pt x="10742" y="22902"/>
                </a:lnTo>
                <a:lnTo>
                  <a:pt x="11556" y="23495"/>
                </a:lnTo>
                <a:lnTo>
                  <a:pt x="14075" y="23111"/>
                </a:lnTo>
                <a:lnTo>
                  <a:pt x="13379" y="22902"/>
                </a:lnTo>
                <a:lnTo>
                  <a:pt x="12991" y="22807"/>
                </a:lnTo>
                <a:close/>
              </a:path>
              <a:path w="36195" h="24764">
                <a:moveTo>
                  <a:pt x="13498" y="22932"/>
                </a:moveTo>
                <a:lnTo>
                  <a:pt x="14075" y="23111"/>
                </a:lnTo>
                <a:lnTo>
                  <a:pt x="13498" y="22932"/>
                </a:lnTo>
                <a:close/>
              </a:path>
              <a:path w="36195" h="24764">
                <a:moveTo>
                  <a:pt x="16855" y="22688"/>
                </a:moveTo>
                <a:lnTo>
                  <a:pt x="14731" y="22733"/>
                </a:lnTo>
                <a:lnTo>
                  <a:pt x="13081" y="22803"/>
                </a:lnTo>
                <a:lnTo>
                  <a:pt x="13498" y="22932"/>
                </a:lnTo>
                <a:lnTo>
                  <a:pt x="14162" y="23098"/>
                </a:lnTo>
                <a:lnTo>
                  <a:pt x="16855" y="22688"/>
                </a:lnTo>
                <a:close/>
              </a:path>
              <a:path w="36195" h="24764">
                <a:moveTo>
                  <a:pt x="8230" y="22494"/>
                </a:moveTo>
                <a:lnTo>
                  <a:pt x="8762" y="22987"/>
                </a:lnTo>
                <a:lnTo>
                  <a:pt x="10742" y="22902"/>
                </a:lnTo>
                <a:lnTo>
                  <a:pt x="10302" y="22582"/>
                </a:lnTo>
                <a:lnTo>
                  <a:pt x="8230" y="22494"/>
                </a:lnTo>
                <a:close/>
              </a:path>
              <a:path w="36195" h="24764">
                <a:moveTo>
                  <a:pt x="13081" y="22803"/>
                </a:moveTo>
                <a:lnTo>
                  <a:pt x="13498" y="22932"/>
                </a:lnTo>
                <a:lnTo>
                  <a:pt x="13081" y="22803"/>
                </a:lnTo>
                <a:close/>
              </a:path>
              <a:path w="36195" h="24764">
                <a:moveTo>
                  <a:pt x="10302" y="22582"/>
                </a:moveTo>
                <a:lnTo>
                  <a:pt x="10742" y="22902"/>
                </a:lnTo>
                <a:lnTo>
                  <a:pt x="12991" y="22807"/>
                </a:lnTo>
                <a:lnTo>
                  <a:pt x="12445" y="22673"/>
                </a:lnTo>
                <a:lnTo>
                  <a:pt x="10302" y="22582"/>
                </a:lnTo>
                <a:close/>
              </a:path>
              <a:path w="36195" h="24764">
                <a:moveTo>
                  <a:pt x="12445" y="22673"/>
                </a:moveTo>
                <a:lnTo>
                  <a:pt x="12991" y="22807"/>
                </a:lnTo>
                <a:lnTo>
                  <a:pt x="12698" y="22684"/>
                </a:lnTo>
                <a:lnTo>
                  <a:pt x="12445" y="22673"/>
                </a:lnTo>
                <a:close/>
              </a:path>
              <a:path w="36195" h="24764">
                <a:moveTo>
                  <a:pt x="12698" y="22684"/>
                </a:moveTo>
                <a:lnTo>
                  <a:pt x="13081" y="22803"/>
                </a:lnTo>
                <a:lnTo>
                  <a:pt x="14731" y="22733"/>
                </a:lnTo>
                <a:lnTo>
                  <a:pt x="13842" y="22733"/>
                </a:lnTo>
                <a:lnTo>
                  <a:pt x="12698" y="22684"/>
                </a:lnTo>
                <a:close/>
              </a:path>
              <a:path w="36195" h="24764">
                <a:moveTo>
                  <a:pt x="11429" y="22225"/>
                </a:moveTo>
                <a:lnTo>
                  <a:pt x="12698" y="22684"/>
                </a:lnTo>
                <a:lnTo>
                  <a:pt x="13842" y="22733"/>
                </a:lnTo>
                <a:lnTo>
                  <a:pt x="14224" y="22733"/>
                </a:lnTo>
                <a:lnTo>
                  <a:pt x="11429" y="22225"/>
                </a:lnTo>
                <a:close/>
              </a:path>
              <a:path w="36195" h="24764">
                <a:moveTo>
                  <a:pt x="19938" y="22225"/>
                </a:moveTo>
                <a:lnTo>
                  <a:pt x="11429" y="22225"/>
                </a:lnTo>
                <a:lnTo>
                  <a:pt x="14224" y="22733"/>
                </a:lnTo>
                <a:lnTo>
                  <a:pt x="16855" y="22688"/>
                </a:lnTo>
                <a:lnTo>
                  <a:pt x="18414" y="22478"/>
                </a:lnTo>
                <a:lnTo>
                  <a:pt x="14224" y="22351"/>
                </a:lnTo>
                <a:lnTo>
                  <a:pt x="18541" y="22351"/>
                </a:lnTo>
                <a:lnTo>
                  <a:pt x="19938" y="22225"/>
                </a:lnTo>
                <a:close/>
              </a:path>
              <a:path w="36195" h="24764">
                <a:moveTo>
                  <a:pt x="21257" y="22014"/>
                </a:moveTo>
                <a:lnTo>
                  <a:pt x="20539" y="22141"/>
                </a:lnTo>
                <a:lnTo>
                  <a:pt x="20192" y="22478"/>
                </a:lnTo>
                <a:lnTo>
                  <a:pt x="18414" y="22478"/>
                </a:lnTo>
                <a:lnTo>
                  <a:pt x="16855" y="22688"/>
                </a:lnTo>
                <a:lnTo>
                  <a:pt x="20605" y="22610"/>
                </a:lnTo>
                <a:lnTo>
                  <a:pt x="20749" y="22478"/>
                </a:lnTo>
                <a:lnTo>
                  <a:pt x="18452" y="22441"/>
                </a:lnTo>
                <a:lnTo>
                  <a:pt x="20789" y="22441"/>
                </a:lnTo>
                <a:lnTo>
                  <a:pt x="21257" y="22014"/>
                </a:lnTo>
                <a:close/>
              </a:path>
              <a:path w="36195" h="24764">
                <a:moveTo>
                  <a:pt x="14783" y="958"/>
                </a:moveTo>
                <a:lnTo>
                  <a:pt x="13842" y="1143"/>
                </a:lnTo>
                <a:lnTo>
                  <a:pt x="9269" y="1938"/>
                </a:lnTo>
                <a:lnTo>
                  <a:pt x="7080" y="3465"/>
                </a:lnTo>
                <a:lnTo>
                  <a:pt x="6044" y="4935"/>
                </a:lnTo>
                <a:lnTo>
                  <a:pt x="5079" y="9651"/>
                </a:lnTo>
                <a:lnTo>
                  <a:pt x="4978" y="10540"/>
                </a:lnTo>
                <a:lnTo>
                  <a:pt x="4851" y="11175"/>
                </a:lnTo>
                <a:lnTo>
                  <a:pt x="4786" y="11900"/>
                </a:lnTo>
                <a:lnTo>
                  <a:pt x="5118" y="13843"/>
                </a:lnTo>
                <a:lnTo>
                  <a:pt x="5884" y="18878"/>
                </a:lnTo>
                <a:lnTo>
                  <a:pt x="6443" y="19775"/>
                </a:lnTo>
                <a:lnTo>
                  <a:pt x="9405" y="21930"/>
                </a:lnTo>
                <a:lnTo>
                  <a:pt x="12445" y="22673"/>
                </a:lnTo>
                <a:lnTo>
                  <a:pt x="12698" y="22684"/>
                </a:lnTo>
                <a:lnTo>
                  <a:pt x="11429" y="22225"/>
                </a:lnTo>
                <a:lnTo>
                  <a:pt x="20065" y="22225"/>
                </a:lnTo>
                <a:lnTo>
                  <a:pt x="20539" y="22141"/>
                </a:lnTo>
                <a:lnTo>
                  <a:pt x="25145" y="17652"/>
                </a:lnTo>
                <a:lnTo>
                  <a:pt x="25271" y="11686"/>
                </a:lnTo>
                <a:lnTo>
                  <a:pt x="25148" y="5329"/>
                </a:lnTo>
                <a:lnTo>
                  <a:pt x="22971" y="3095"/>
                </a:lnTo>
                <a:lnTo>
                  <a:pt x="19190" y="1697"/>
                </a:lnTo>
                <a:lnTo>
                  <a:pt x="18287" y="1397"/>
                </a:lnTo>
                <a:lnTo>
                  <a:pt x="14783" y="958"/>
                </a:lnTo>
                <a:close/>
              </a:path>
              <a:path w="36195" h="24764">
                <a:moveTo>
                  <a:pt x="9405" y="21930"/>
                </a:moveTo>
                <a:lnTo>
                  <a:pt x="10302" y="22582"/>
                </a:lnTo>
                <a:lnTo>
                  <a:pt x="12445" y="22673"/>
                </a:lnTo>
                <a:lnTo>
                  <a:pt x="9405" y="21930"/>
                </a:lnTo>
                <a:close/>
              </a:path>
              <a:path w="36195" h="24764">
                <a:moveTo>
                  <a:pt x="21397" y="21989"/>
                </a:moveTo>
                <a:lnTo>
                  <a:pt x="21257" y="22014"/>
                </a:lnTo>
                <a:lnTo>
                  <a:pt x="20605" y="22610"/>
                </a:lnTo>
                <a:lnTo>
                  <a:pt x="20827" y="22606"/>
                </a:lnTo>
                <a:lnTo>
                  <a:pt x="21397" y="21989"/>
                </a:lnTo>
                <a:close/>
              </a:path>
              <a:path w="36195" h="24764">
                <a:moveTo>
                  <a:pt x="10578" y="1025"/>
                </a:moveTo>
                <a:lnTo>
                  <a:pt x="7812" y="1143"/>
                </a:lnTo>
                <a:lnTo>
                  <a:pt x="7404" y="1524"/>
                </a:lnTo>
                <a:lnTo>
                  <a:pt x="3540" y="5816"/>
                </a:lnTo>
                <a:lnTo>
                  <a:pt x="3444" y="12625"/>
                </a:lnTo>
                <a:lnTo>
                  <a:pt x="3668" y="17931"/>
                </a:lnTo>
                <a:lnTo>
                  <a:pt x="5879" y="20320"/>
                </a:lnTo>
                <a:lnTo>
                  <a:pt x="8230" y="22494"/>
                </a:lnTo>
                <a:lnTo>
                  <a:pt x="10302" y="22582"/>
                </a:lnTo>
                <a:lnTo>
                  <a:pt x="9405" y="21930"/>
                </a:lnTo>
                <a:lnTo>
                  <a:pt x="7492" y="21462"/>
                </a:lnTo>
                <a:lnTo>
                  <a:pt x="6443" y="19775"/>
                </a:lnTo>
                <a:lnTo>
                  <a:pt x="5968" y="19431"/>
                </a:lnTo>
                <a:lnTo>
                  <a:pt x="5884" y="18878"/>
                </a:lnTo>
                <a:lnTo>
                  <a:pt x="3936" y="15748"/>
                </a:lnTo>
                <a:lnTo>
                  <a:pt x="4706" y="11900"/>
                </a:lnTo>
                <a:lnTo>
                  <a:pt x="4660" y="11175"/>
                </a:lnTo>
                <a:lnTo>
                  <a:pt x="4063" y="7747"/>
                </a:lnTo>
                <a:lnTo>
                  <a:pt x="6044" y="4935"/>
                </a:lnTo>
                <a:lnTo>
                  <a:pt x="6223" y="4063"/>
                </a:lnTo>
                <a:lnTo>
                  <a:pt x="7080" y="3465"/>
                </a:lnTo>
                <a:lnTo>
                  <a:pt x="8000" y="2159"/>
                </a:lnTo>
                <a:lnTo>
                  <a:pt x="9269" y="1938"/>
                </a:lnTo>
                <a:lnTo>
                  <a:pt x="10578" y="1025"/>
                </a:lnTo>
                <a:close/>
              </a:path>
              <a:path w="36195" h="24764">
                <a:moveTo>
                  <a:pt x="5860" y="20301"/>
                </a:moveTo>
                <a:lnTo>
                  <a:pt x="7874" y="22478"/>
                </a:lnTo>
                <a:lnTo>
                  <a:pt x="8230" y="22494"/>
                </a:lnTo>
                <a:lnTo>
                  <a:pt x="5860" y="20301"/>
                </a:lnTo>
                <a:close/>
              </a:path>
              <a:path w="36195" h="24764">
                <a:moveTo>
                  <a:pt x="20539" y="22141"/>
                </a:moveTo>
                <a:lnTo>
                  <a:pt x="20065" y="22225"/>
                </a:lnTo>
                <a:lnTo>
                  <a:pt x="18541" y="22351"/>
                </a:lnTo>
                <a:lnTo>
                  <a:pt x="20192" y="22478"/>
                </a:lnTo>
                <a:lnTo>
                  <a:pt x="20539" y="22141"/>
                </a:lnTo>
                <a:close/>
              </a:path>
              <a:path w="36195" h="24764">
                <a:moveTo>
                  <a:pt x="18541" y="22351"/>
                </a:moveTo>
                <a:lnTo>
                  <a:pt x="14224" y="22351"/>
                </a:lnTo>
                <a:lnTo>
                  <a:pt x="18452" y="22441"/>
                </a:lnTo>
                <a:close/>
              </a:path>
              <a:path w="36195" h="24764">
                <a:moveTo>
                  <a:pt x="8498" y="508"/>
                </a:moveTo>
                <a:lnTo>
                  <a:pt x="4699" y="508"/>
                </a:lnTo>
                <a:lnTo>
                  <a:pt x="120" y="5207"/>
                </a:lnTo>
                <a:lnTo>
                  <a:pt x="0" y="17652"/>
                </a:lnTo>
                <a:lnTo>
                  <a:pt x="4699" y="22351"/>
                </a:lnTo>
                <a:lnTo>
                  <a:pt x="7756" y="22351"/>
                </a:lnTo>
                <a:lnTo>
                  <a:pt x="5860" y="20301"/>
                </a:lnTo>
                <a:lnTo>
                  <a:pt x="3736" y="18337"/>
                </a:lnTo>
                <a:lnTo>
                  <a:pt x="3668" y="17931"/>
                </a:lnTo>
                <a:lnTo>
                  <a:pt x="3292" y="17525"/>
                </a:lnTo>
                <a:lnTo>
                  <a:pt x="3175" y="6223"/>
                </a:lnTo>
                <a:lnTo>
                  <a:pt x="3540" y="5816"/>
                </a:lnTo>
                <a:lnTo>
                  <a:pt x="3665" y="4978"/>
                </a:lnTo>
                <a:lnTo>
                  <a:pt x="7518" y="1397"/>
                </a:lnTo>
                <a:lnTo>
                  <a:pt x="7747" y="1143"/>
                </a:lnTo>
                <a:lnTo>
                  <a:pt x="8498" y="508"/>
                </a:lnTo>
                <a:close/>
              </a:path>
              <a:path w="36195" h="24764">
                <a:moveTo>
                  <a:pt x="25273" y="11578"/>
                </a:moveTo>
                <a:lnTo>
                  <a:pt x="25145" y="17652"/>
                </a:lnTo>
                <a:lnTo>
                  <a:pt x="20539" y="22141"/>
                </a:lnTo>
                <a:lnTo>
                  <a:pt x="21257" y="22014"/>
                </a:lnTo>
                <a:lnTo>
                  <a:pt x="22010" y="21327"/>
                </a:lnTo>
                <a:lnTo>
                  <a:pt x="25409" y="17652"/>
                </a:lnTo>
                <a:lnTo>
                  <a:pt x="25273" y="11578"/>
                </a:lnTo>
                <a:close/>
              </a:path>
              <a:path w="36195" h="24764">
                <a:moveTo>
                  <a:pt x="22010" y="21327"/>
                </a:moveTo>
                <a:lnTo>
                  <a:pt x="21257" y="22014"/>
                </a:lnTo>
                <a:lnTo>
                  <a:pt x="21397" y="21989"/>
                </a:lnTo>
                <a:lnTo>
                  <a:pt x="22010" y="21327"/>
                </a:lnTo>
                <a:close/>
              </a:path>
              <a:path w="36195" h="24764">
                <a:moveTo>
                  <a:pt x="25394" y="18337"/>
                </a:moveTo>
                <a:lnTo>
                  <a:pt x="23113" y="20320"/>
                </a:lnTo>
                <a:lnTo>
                  <a:pt x="22010" y="21327"/>
                </a:lnTo>
                <a:lnTo>
                  <a:pt x="21397" y="21989"/>
                </a:lnTo>
                <a:lnTo>
                  <a:pt x="22225" y="21844"/>
                </a:lnTo>
                <a:lnTo>
                  <a:pt x="22986" y="21589"/>
                </a:lnTo>
                <a:lnTo>
                  <a:pt x="23827" y="21413"/>
                </a:lnTo>
                <a:lnTo>
                  <a:pt x="24637" y="20954"/>
                </a:lnTo>
                <a:lnTo>
                  <a:pt x="25394" y="18337"/>
                </a:lnTo>
                <a:close/>
              </a:path>
              <a:path w="36195" h="24764">
                <a:moveTo>
                  <a:pt x="6443" y="19775"/>
                </a:moveTo>
                <a:lnTo>
                  <a:pt x="7492" y="21462"/>
                </a:lnTo>
                <a:lnTo>
                  <a:pt x="9405" y="21930"/>
                </a:lnTo>
                <a:lnTo>
                  <a:pt x="6443" y="19775"/>
                </a:lnTo>
                <a:close/>
              </a:path>
              <a:path w="36195" h="24764">
                <a:moveTo>
                  <a:pt x="23047" y="2292"/>
                </a:moveTo>
                <a:lnTo>
                  <a:pt x="25273" y="3810"/>
                </a:lnTo>
                <a:lnTo>
                  <a:pt x="25501" y="4978"/>
                </a:lnTo>
                <a:lnTo>
                  <a:pt x="27939" y="9651"/>
                </a:lnTo>
                <a:lnTo>
                  <a:pt x="27275" y="11900"/>
                </a:lnTo>
                <a:lnTo>
                  <a:pt x="27177" y="13208"/>
                </a:lnTo>
                <a:lnTo>
                  <a:pt x="27304" y="13843"/>
                </a:lnTo>
                <a:lnTo>
                  <a:pt x="26034" y="17779"/>
                </a:lnTo>
                <a:lnTo>
                  <a:pt x="25394" y="18337"/>
                </a:lnTo>
                <a:lnTo>
                  <a:pt x="24637" y="20954"/>
                </a:lnTo>
                <a:lnTo>
                  <a:pt x="23827" y="21413"/>
                </a:lnTo>
                <a:lnTo>
                  <a:pt x="25400" y="21082"/>
                </a:lnTo>
                <a:lnTo>
                  <a:pt x="28320" y="19685"/>
                </a:lnTo>
                <a:lnTo>
                  <a:pt x="32257" y="17018"/>
                </a:lnTo>
                <a:lnTo>
                  <a:pt x="34416" y="15621"/>
                </a:lnTo>
                <a:lnTo>
                  <a:pt x="35686" y="13208"/>
                </a:lnTo>
                <a:lnTo>
                  <a:pt x="35813" y="7620"/>
                </a:lnTo>
                <a:lnTo>
                  <a:pt x="34798" y="5587"/>
                </a:lnTo>
                <a:lnTo>
                  <a:pt x="33019" y="4190"/>
                </a:lnTo>
                <a:lnTo>
                  <a:pt x="32384" y="3810"/>
                </a:lnTo>
                <a:lnTo>
                  <a:pt x="28469" y="2539"/>
                </a:lnTo>
                <a:lnTo>
                  <a:pt x="25400" y="2539"/>
                </a:lnTo>
                <a:lnTo>
                  <a:pt x="23047" y="2292"/>
                </a:lnTo>
                <a:close/>
              </a:path>
              <a:path w="36195" h="24764">
                <a:moveTo>
                  <a:pt x="22983" y="3099"/>
                </a:moveTo>
                <a:lnTo>
                  <a:pt x="25145" y="5207"/>
                </a:lnTo>
                <a:lnTo>
                  <a:pt x="25276" y="5461"/>
                </a:lnTo>
                <a:lnTo>
                  <a:pt x="25287" y="11900"/>
                </a:lnTo>
                <a:lnTo>
                  <a:pt x="25409" y="17652"/>
                </a:lnTo>
                <a:lnTo>
                  <a:pt x="22010" y="21327"/>
                </a:lnTo>
                <a:lnTo>
                  <a:pt x="23844" y="19685"/>
                </a:lnTo>
                <a:lnTo>
                  <a:pt x="25394" y="18337"/>
                </a:lnTo>
                <a:lnTo>
                  <a:pt x="27061" y="12625"/>
                </a:lnTo>
                <a:lnTo>
                  <a:pt x="26542" y="10033"/>
                </a:lnTo>
                <a:lnTo>
                  <a:pt x="26415" y="9651"/>
                </a:lnTo>
                <a:lnTo>
                  <a:pt x="25501" y="4978"/>
                </a:lnTo>
                <a:lnTo>
                  <a:pt x="24891" y="3810"/>
                </a:lnTo>
                <a:lnTo>
                  <a:pt x="22983" y="3099"/>
                </a:lnTo>
                <a:close/>
              </a:path>
              <a:path w="36195" h="24764">
                <a:moveTo>
                  <a:pt x="3668" y="17931"/>
                </a:moveTo>
                <a:lnTo>
                  <a:pt x="3736" y="18337"/>
                </a:lnTo>
                <a:lnTo>
                  <a:pt x="5860" y="20301"/>
                </a:lnTo>
                <a:lnTo>
                  <a:pt x="3668" y="17931"/>
                </a:lnTo>
                <a:close/>
              </a:path>
              <a:path w="36195" h="24764">
                <a:moveTo>
                  <a:pt x="5884" y="18878"/>
                </a:moveTo>
                <a:lnTo>
                  <a:pt x="5968" y="19431"/>
                </a:lnTo>
                <a:lnTo>
                  <a:pt x="6443" y="19775"/>
                </a:lnTo>
                <a:lnTo>
                  <a:pt x="5884" y="18878"/>
                </a:lnTo>
                <a:close/>
              </a:path>
              <a:path w="36195" h="24764">
                <a:moveTo>
                  <a:pt x="4749" y="11686"/>
                </a:moveTo>
                <a:lnTo>
                  <a:pt x="3936" y="15748"/>
                </a:lnTo>
                <a:lnTo>
                  <a:pt x="5884" y="18878"/>
                </a:lnTo>
                <a:lnTo>
                  <a:pt x="4749" y="11686"/>
                </a:lnTo>
                <a:close/>
              </a:path>
              <a:path w="36195" h="24764">
                <a:moveTo>
                  <a:pt x="27061" y="12625"/>
                </a:moveTo>
                <a:lnTo>
                  <a:pt x="25394" y="18337"/>
                </a:lnTo>
                <a:lnTo>
                  <a:pt x="26034" y="17779"/>
                </a:lnTo>
                <a:lnTo>
                  <a:pt x="27304" y="13843"/>
                </a:lnTo>
                <a:lnTo>
                  <a:pt x="27061" y="12625"/>
                </a:lnTo>
                <a:close/>
              </a:path>
              <a:path w="36195" h="24764">
                <a:moveTo>
                  <a:pt x="3414" y="11900"/>
                </a:moveTo>
                <a:lnTo>
                  <a:pt x="3292" y="17525"/>
                </a:lnTo>
                <a:lnTo>
                  <a:pt x="3668" y="17931"/>
                </a:lnTo>
                <a:lnTo>
                  <a:pt x="3414" y="11900"/>
                </a:lnTo>
                <a:close/>
              </a:path>
              <a:path w="36195" h="24764">
                <a:moveTo>
                  <a:pt x="25501" y="4978"/>
                </a:moveTo>
                <a:lnTo>
                  <a:pt x="26415" y="9651"/>
                </a:lnTo>
                <a:lnTo>
                  <a:pt x="26542" y="10033"/>
                </a:lnTo>
                <a:lnTo>
                  <a:pt x="27061" y="12625"/>
                </a:lnTo>
                <a:lnTo>
                  <a:pt x="27939" y="9651"/>
                </a:lnTo>
                <a:lnTo>
                  <a:pt x="25501" y="4978"/>
                </a:lnTo>
                <a:close/>
              </a:path>
              <a:path w="36195" h="24764">
                <a:moveTo>
                  <a:pt x="3540" y="5816"/>
                </a:moveTo>
                <a:lnTo>
                  <a:pt x="3175" y="6223"/>
                </a:lnTo>
                <a:lnTo>
                  <a:pt x="3414" y="11900"/>
                </a:lnTo>
                <a:lnTo>
                  <a:pt x="3540" y="5816"/>
                </a:lnTo>
                <a:close/>
              </a:path>
              <a:path w="36195" h="24764">
                <a:moveTo>
                  <a:pt x="6044" y="4935"/>
                </a:moveTo>
                <a:lnTo>
                  <a:pt x="4063" y="7747"/>
                </a:lnTo>
                <a:lnTo>
                  <a:pt x="4749" y="11686"/>
                </a:lnTo>
                <a:lnTo>
                  <a:pt x="4978" y="10540"/>
                </a:lnTo>
                <a:lnTo>
                  <a:pt x="5079" y="9651"/>
                </a:lnTo>
                <a:lnTo>
                  <a:pt x="6044" y="4935"/>
                </a:lnTo>
                <a:close/>
              </a:path>
              <a:path w="36195" h="24764">
                <a:moveTo>
                  <a:pt x="25148" y="5329"/>
                </a:moveTo>
                <a:lnTo>
                  <a:pt x="25273" y="11578"/>
                </a:lnTo>
                <a:lnTo>
                  <a:pt x="25276" y="5461"/>
                </a:lnTo>
                <a:lnTo>
                  <a:pt x="25148" y="5329"/>
                </a:lnTo>
                <a:close/>
              </a:path>
              <a:path w="36195" h="24764">
                <a:moveTo>
                  <a:pt x="7422" y="1503"/>
                </a:moveTo>
                <a:lnTo>
                  <a:pt x="3665" y="4978"/>
                </a:lnTo>
                <a:lnTo>
                  <a:pt x="3540" y="5816"/>
                </a:lnTo>
                <a:lnTo>
                  <a:pt x="7422" y="1503"/>
                </a:lnTo>
                <a:close/>
              </a:path>
              <a:path w="36195" h="24764">
                <a:moveTo>
                  <a:pt x="22971" y="3095"/>
                </a:moveTo>
                <a:lnTo>
                  <a:pt x="25148" y="5329"/>
                </a:lnTo>
                <a:lnTo>
                  <a:pt x="22971" y="3095"/>
                </a:lnTo>
                <a:close/>
              </a:path>
              <a:path w="36195" h="24764">
                <a:moveTo>
                  <a:pt x="21618" y="1706"/>
                </a:moveTo>
                <a:lnTo>
                  <a:pt x="22983" y="3099"/>
                </a:lnTo>
                <a:lnTo>
                  <a:pt x="24891" y="3810"/>
                </a:lnTo>
                <a:lnTo>
                  <a:pt x="25501" y="4978"/>
                </a:lnTo>
                <a:lnTo>
                  <a:pt x="25273" y="3810"/>
                </a:lnTo>
                <a:lnTo>
                  <a:pt x="22357" y="1822"/>
                </a:lnTo>
                <a:lnTo>
                  <a:pt x="22225" y="1777"/>
                </a:lnTo>
                <a:lnTo>
                  <a:pt x="21618" y="1706"/>
                </a:lnTo>
                <a:close/>
              </a:path>
              <a:path w="36195" h="24764">
                <a:moveTo>
                  <a:pt x="7080" y="3465"/>
                </a:moveTo>
                <a:lnTo>
                  <a:pt x="6223" y="4063"/>
                </a:lnTo>
                <a:lnTo>
                  <a:pt x="6044" y="4935"/>
                </a:lnTo>
                <a:lnTo>
                  <a:pt x="7080" y="3465"/>
                </a:lnTo>
                <a:close/>
              </a:path>
              <a:path w="36195" h="24764">
                <a:moveTo>
                  <a:pt x="9269" y="1938"/>
                </a:moveTo>
                <a:lnTo>
                  <a:pt x="8000" y="2159"/>
                </a:lnTo>
                <a:lnTo>
                  <a:pt x="7080" y="3465"/>
                </a:lnTo>
                <a:lnTo>
                  <a:pt x="9269" y="1938"/>
                </a:lnTo>
                <a:close/>
              </a:path>
              <a:path w="36195" h="24764">
                <a:moveTo>
                  <a:pt x="15685" y="782"/>
                </a:moveTo>
                <a:lnTo>
                  <a:pt x="14783" y="958"/>
                </a:lnTo>
                <a:lnTo>
                  <a:pt x="18287" y="1397"/>
                </a:lnTo>
                <a:lnTo>
                  <a:pt x="19549" y="1822"/>
                </a:lnTo>
                <a:lnTo>
                  <a:pt x="22971" y="3095"/>
                </a:lnTo>
                <a:lnTo>
                  <a:pt x="21544" y="1697"/>
                </a:lnTo>
                <a:lnTo>
                  <a:pt x="20065" y="1524"/>
                </a:lnTo>
                <a:lnTo>
                  <a:pt x="18541" y="1270"/>
                </a:lnTo>
                <a:lnTo>
                  <a:pt x="18393" y="1140"/>
                </a:lnTo>
                <a:lnTo>
                  <a:pt x="15685" y="782"/>
                </a:lnTo>
                <a:close/>
              </a:path>
              <a:path w="36195" h="24764">
                <a:moveTo>
                  <a:pt x="21544" y="1697"/>
                </a:moveTo>
                <a:lnTo>
                  <a:pt x="22830" y="2950"/>
                </a:lnTo>
                <a:lnTo>
                  <a:pt x="21618" y="1706"/>
                </a:lnTo>
                <a:close/>
              </a:path>
              <a:path w="36195" h="24764">
                <a:moveTo>
                  <a:pt x="22357" y="1822"/>
                </a:moveTo>
                <a:lnTo>
                  <a:pt x="23047" y="2292"/>
                </a:lnTo>
                <a:lnTo>
                  <a:pt x="25400" y="2539"/>
                </a:lnTo>
                <a:lnTo>
                  <a:pt x="22986" y="2032"/>
                </a:lnTo>
                <a:lnTo>
                  <a:pt x="22357" y="1822"/>
                </a:lnTo>
                <a:close/>
              </a:path>
              <a:path w="36195" h="24764">
                <a:moveTo>
                  <a:pt x="27685" y="2286"/>
                </a:moveTo>
                <a:lnTo>
                  <a:pt x="24193" y="2286"/>
                </a:lnTo>
                <a:lnTo>
                  <a:pt x="25400" y="2539"/>
                </a:lnTo>
                <a:lnTo>
                  <a:pt x="28469" y="2539"/>
                </a:lnTo>
                <a:lnTo>
                  <a:pt x="27685" y="2286"/>
                </a:lnTo>
                <a:close/>
              </a:path>
              <a:path w="36195" h="24764">
                <a:moveTo>
                  <a:pt x="23037" y="2286"/>
                </a:moveTo>
                <a:close/>
              </a:path>
              <a:path w="36195" h="24764">
                <a:moveTo>
                  <a:pt x="14224" y="888"/>
                </a:moveTo>
                <a:lnTo>
                  <a:pt x="13842" y="888"/>
                </a:lnTo>
                <a:lnTo>
                  <a:pt x="10578" y="1025"/>
                </a:lnTo>
                <a:lnTo>
                  <a:pt x="9269" y="1938"/>
                </a:lnTo>
                <a:lnTo>
                  <a:pt x="13857" y="1140"/>
                </a:lnTo>
                <a:lnTo>
                  <a:pt x="14783" y="958"/>
                </a:lnTo>
                <a:lnTo>
                  <a:pt x="14224" y="888"/>
                </a:lnTo>
                <a:close/>
              </a:path>
              <a:path w="36195" h="24764">
                <a:moveTo>
                  <a:pt x="20243" y="381"/>
                </a:moveTo>
                <a:lnTo>
                  <a:pt x="20450" y="632"/>
                </a:lnTo>
                <a:lnTo>
                  <a:pt x="21618" y="1706"/>
                </a:lnTo>
                <a:lnTo>
                  <a:pt x="22225" y="1777"/>
                </a:lnTo>
                <a:lnTo>
                  <a:pt x="22357" y="1822"/>
                </a:lnTo>
                <a:lnTo>
                  <a:pt x="20243" y="381"/>
                </a:lnTo>
                <a:close/>
              </a:path>
              <a:path w="36195" h="24764">
                <a:moveTo>
                  <a:pt x="20450" y="632"/>
                </a:moveTo>
                <a:lnTo>
                  <a:pt x="21544" y="1697"/>
                </a:lnTo>
                <a:lnTo>
                  <a:pt x="20574" y="635"/>
                </a:lnTo>
                <a:close/>
              </a:path>
              <a:path w="36195" h="24764">
                <a:moveTo>
                  <a:pt x="16844" y="555"/>
                </a:moveTo>
                <a:lnTo>
                  <a:pt x="15685" y="782"/>
                </a:lnTo>
                <a:lnTo>
                  <a:pt x="18414" y="1143"/>
                </a:lnTo>
                <a:lnTo>
                  <a:pt x="19938" y="1397"/>
                </a:lnTo>
                <a:lnTo>
                  <a:pt x="21544" y="1697"/>
                </a:lnTo>
                <a:lnTo>
                  <a:pt x="20450" y="632"/>
                </a:lnTo>
                <a:lnTo>
                  <a:pt x="16844" y="555"/>
                </a:lnTo>
                <a:close/>
              </a:path>
              <a:path w="36195" h="24764">
                <a:moveTo>
                  <a:pt x="7815" y="1140"/>
                </a:moveTo>
                <a:lnTo>
                  <a:pt x="7422" y="1503"/>
                </a:lnTo>
                <a:lnTo>
                  <a:pt x="7815" y="1140"/>
                </a:lnTo>
                <a:close/>
              </a:path>
              <a:path w="36195" h="24764">
                <a:moveTo>
                  <a:pt x="8635" y="381"/>
                </a:moveTo>
                <a:lnTo>
                  <a:pt x="7815" y="1140"/>
                </a:lnTo>
                <a:lnTo>
                  <a:pt x="10578" y="1025"/>
                </a:lnTo>
                <a:lnTo>
                  <a:pt x="11356" y="482"/>
                </a:lnTo>
                <a:lnTo>
                  <a:pt x="8635" y="381"/>
                </a:lnTo>
                <a:close/>
              </a:path>
              <a:path w="36195" h="24764">
                <a:moveTo>
                  <a:pt x="11417" y="440"/>
                </a:moveTo>
                <a:lnTo>
                  <a:pt x="10578" y="1025"/>
                </a:lnTo>
                <a:lnTo>
                  <a:pt x="13842" y="888"/>
                </a:lnTo>
                <a:lnTo>
                  <a:pt x="15141" y="888"/>
                </a:lnTo>
                <a:lnTo>
                  <a:pt x="15685" y="782"/>
                </a:lnTo>
                <a:lnTo>
                  <a:pt x="13415" y="482"/>
                </a:lnTo>
                <a:lnTo>
                  <a:pt x="11417" y="440"/>
                </a:lnTo>
                <a:close/>
              </a:path>
              <a:path w="36195" h="24764">
                <a:moveTo>
                  <a:pt x="15141" y="888"/>
                </a:moveTo>
                <a:lnTo>
                  <a:pt x="14224" y="888"/>
                </a:lnTo>
                <a:lnTo>
                  <a:pt x="14783" y="958"/>
                </a:lnTo>
                <a:lnTo>
                  <a:pt x="15141" y="888"/>
                </a:lnTo>
                <a:close/>
              </a:path>
              <a:path w="36195" h="24764">
                <a:moveTo>
                  <a:pt x="13415" y="482"/>
                </a:moveTo>
                <a:lnTo>
                  <a:pt x="15685" y="782"/>
                </a:lnTo>
                <a:lnTo>
                  <a:pt x="16844" y="555"/>
                </a:lnTo>
                <a:lnTo>
                  <a:pt x="14604" y="508"/>
                </a:lnTo>
                <a:lnTo>
                  <a:pt x="14224" y="508"/>
                </a:lnTo>
                <a:lnTo>
                  <a:pt x="14414" y="503"/>
                </a:lnTo>
                <a:lnTo>
                  <a:pt x="13415" y="482"/>
                </a:lnTo>
                <a:close/>
              </a:path>
              <a:path w="36195" h="24764">
                <a:moveTo>
                  <a:pt x="20192" y="381"/>
                </a:moveTo>
                <a:lnTo>
                  <a:pt x="17435" y="440"/>
                </a:lnTo>
                <a:lnTo>
                  <a:pt x="16844" y="555"/>
                </a:lnTo>
                <a:lnTo>
                  <a:pt x="20450" y="632"/>
                </a:lnTo>
                <a:lnTo>
                  <a:pt x="20192" y="381"/>
                </a:lnTo>
                <a:close/>
              </a:path>
              <a:path w="36195" h="24764">
                <a:moveTo>
                  <a:pt x="17438" y="439"/>
                </a:moveTo>
                <a:lnTo>
                  <a:pt x="14414" y="503"/>
                </a:lnTo>
                <a:lnTo>
                  <a:pt x="16844" y="555"/>
                </a:lnTo>
                <a:lnTo>
                  <a:pt x="17438" y="439"/>
                </a:lnTo>
                <a:close/>
              </a:path>
              <a:path w="36195" h="24764">
                <a:moveTo>
                  <a:pt x="14414" y="503"/>
                </a:moveTo>
                <a:lnTo>
                  <a:pt x="14224" y="508"/>
                </a:lnTo>
                <a:lnTo>
                  <a:pt x="14604" y="508"/>
                </a:lnTo>
                <a:lnTo>
                  <a:pt x="14414" y="503"/>
                </a:lnTo>
                <a:close/>
              </a:path>
              <a:path w="36195" h="24764">
                <a:moveTo>
                  <a:pt x="11683" y="253"/>
                </a:moveTo>
                <a:lnTo>
                  <a:pt x="11417" y="440"/>
                </a:lnTo>
                <a:lnTo>
                  <a:pt x="13415" y="482"/>
                </a:lnTo>
                <a:lnTo>
                  <a:pt x="11683" y="253"/>
                </a:lnTo>
                <a:close/>
              </a:path>
              <a:path w="36195" h="24764">
                <a:moveTo>
                  <a:pt x="19684" y="0"/>
                </a:moveTo>
                <a:lnTo>
                  <a:pt x="17438" y="439"/>
                </a:lnTo>
                <a:lnTo>
                  <a:pt x="20192" y="381"/>
                </a:lnTo>
                <a:lnTo>
                  <a:pt x="1968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725534" y="2630042"/>
            <a:ext cx="624078" cy="39573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442048" y="266318"/>
            <a:ext cx="343178" cy="94856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850642" y="3001898"/>
            <a:ext cx="2041270" cy="349881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586219" y="410591"/>
            <a:ext cx="560070" cy="92481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07008" y="1181480"/>
            <a:ext cx="305384" cy="367029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3419728" y="1887347"/>
            <a:ext cx="762000" cy="808355"/>
          </a:xfrm>
          <a:custGeom>
            <a:avLst/>
            <a:gdLst/>
            <a:ahLst/>
            <a:cxnLst/>
            <a:rect l="l" t="t" r="r" b="b"/>
            <a:pathLst>
              <a:path w="762000" h="808355">
                <a:moveTo>
                  <a:pt x="102328" y="717930"/>
                </a:moveTo>
                <a:lnTo>
                  <a:pt x="75692" y="717930"/>
                </a:lnTo>
                <a:lnTo>
                  <a:pt x="75819" y="718185"/>
                </a:lnTo>
                <a:lnTo>
                  <a:pt x="86360" y="739901"/>
                </a:lnTo>
                <a:lnTo>
                  <a:pt x="86741" y="740537"/>
                </a:lnTo>
                <a:lnTo>
                  <a:pt x="97409" y="759713"/>
                </a:lnTo>
                <a:lnTo>
                  <a:pt x="107061" y="776477"/>
                </a:lnTo>
                <a:lnTo>
                  <a:pt x="133858" y="804290"/>
                </a:lnTo>
                <a:lnTo>
                  <a:pt x="143510" y="807338"/>
                </a:lnTo>
                <a:lnTo>
                  <a:pt x="145287" y="807847"/>
                </a:lnTo>
                <a:lnTo>
                  <a:pt x="147066" y="807974"/>
                </a:lnTo>
                <a:lnTo>
                  <a:pt x="148844" y="807719"/>
                </a:lnTo>
                <a:lnTo>
                  <a:pt x="163830" y="805814"/>
                </a:lnTo>
                <a:lnTo>
                  <a:pt x="165862" y="805052"/>
                </a:lnTo>
                <a:lnTo>
                  <a:pt x="185547" y="791463"/>
                </a:lnTo>
                <a:lnTo>
                  <a:pt x="187325" y="790066"/>
                </a:lnTo>
                <a:lnTo>
                  <a:pt x="194553" y="782954"/>
                </a:lnTo>
                <a:lnTo>
                  <a:pt x="150749" y="782954"/>
                </a:lnTo>
                <a:lnTo>
                  <a:pt x="148081" y="782827"/>
                </a:lnTo>
                <a:lnTo>
                  <a:pt x="145796" y="782827"/>
                </a:lnTo>
                <a:lnTo>
                  <a:pt x="140970" y="780288"/>
                </a:lnTo>
                <a:lnTo>
                  <a:pt x="142893" y="780288"/>
                </a:lnTo>
                <a:lnTo>
                  <a:pt x="137668" y="775715"/>
                </a:lnTo>
                <a:lnTo>
                  <a:pt x="137413" y="775715"/>
                </a:lnTo>
                <a:lnTo>
                  <a:pt x="135636" y="773938"/>
                </a:lnTo>
                <a:lnTo>
                  <a:pt x="136058" y="773938"/>
                </a:lnTo>
                <a:lnTo>
                  <a:pt x="128506" y="764031"/>
                </a:lnTo>
                <a:lnTo>
                  <a:pt x="127635" y="762888"/>
                </a:lnTo>
                <a:lnTo>
                  <a:pt x="118567" y="747649"/>
                </a:lnTo>
                <a:lnTo>
                  <a:pt x="107696" y="728726"/>
                </a:lnTo>
                <a:lnTo>
                  <a:pt x="102328" y="717930"/>
                </a:lnTo>
                <a:close/>
              </a:path>
              <a:path w="762000" h="808355">
                <a:moveTo>
                  <a:pt x="148210" y="782262"/>
                </a:moveTo>
                <a:lnTo>
                  <a:pt x="145615" y="782669"/>
                </a:lnTo>
                <a:lnTo>
                  <a:pt x="150749" y="782954"/>
                </a:lnTo>
                <a:lnTo>
                  <a:pt x="148210" y="782262"/>
                </a:lnTo>
                <a:close/>
              </a:path>
              <a:path w="762000" h="808355">
                <a:moveTo>
                  <a:pt x="155332" y="781145"/>
                </a:moveTo>
                <a:lnTo>
                  <a:pt x="148210" y="782262"/>
                </a:lnTo>
                <a:lnTo>
                  <a:pt x="150749" y="782954"/>
                </a:lnTo>
                <a:lnTo>
                  <a:pt x="152781" y="782954"/>
                </a:lnTo>
                <a:lnTo>
                  <a:pt x="155332" y="781145"/>
                </a:lnTo>
                <a:close/>
              </a:path>
              <a:path w="762000" h="808355">
                <a:moveTo>
                  <a:pt x="158369" y="780668"/>
                </a:moveTo>
                <a:lnTo>
                  <a:pt x="155332" y="781145"/>
                </a:lnTo>
                <a:lnTo>
                  <a:pt x="152781" y="782954"/>
                </a:lnTo>
                <a:lnTo>
                  <a:pt x="158369" y="780668"/>
                </a:lnTo>
                <a:close/>
              </a:path>
              <a:path w="762000" h="808355">
                <a:moveTo>
                  <a:pt x="196877" y="780668"/>
                </a:moveTo>
                <a:lnTo>
                  <a:pt x="158369" y="780668"/>
                </a:lnTo>
                <a:lnTo>
                  <a:pt x="152781" y="782954"/>
                </a:lnTo>
                <a:lnTo>
                  <a:pt x="194553" y="782954"/>
                </a:lnTo>
                <a:lnTo>
                  <a:pt x="196877" y="780668"/>
                </a:lnTo>
                <a:close/>
              </a:path>
              <a:path w="762000" h="808355">
                <a:moveTo>
                  <a:pt x="145568" y="782708"/>
                </a:moveTo>
                <a:lnTo>
                  <a:pt x="145796" y="782827"/>
                </a:lnTo>
                <a:lnTo>
                  <a:pt x="145664" y="782712"/>
                </a:lnTo>
                <a:close/>
              </a:path>
              <a:path w="762000" h="808355">
                <a:moveTo>
                  <a:pt x="145664" y="782712"/>
                </a:moveTo>
                <a:lnTo>
                  <a:pt x="145796" y="782827"/>
                </a:lnTo>
                <a:lnTo>
                  <a:pt x="148081" y="782827"/>
                </a:lnTo>
                <a:lnTo>
                  <a:pt x="145664" y="782712"/>
                </a:lnTo>
                <a:close/>
              </a:path>
              <a:path w="762000" h="808355">
                <a:moveTo>
                  <a:pt x="145615" y="782669"/>
                </a:moveTo>
                <a:close/>
              </a:path>
              <a:path w="762000" h="808355">
                <a:moveTo>
                  <a:pt x="145522" y="782684"/>
                </a:moveTo>
                <a:close/>
              </a:path>
              <a:path w="762000" h="808355">
                <a:moveTo>
                  <a:pt x="140970" y="780288"/>
                </a:moveTo>
                <a:lnTo>
                  <a:pt x="145522" y="782684"/>
                </a:lnTo>
                <a:lnTo>
                  <a:pt x="143763" y="781050"/>
                </a:lnTo>
                <a:lnTo>
                  <a:pt x="140970" y="780288"/>
                </a:lnTo>
                <a:close/>
              </a:path>
              <a:path w="762000" h="808355">
                <a:moveTo>
                  <a:pt x="143763" y="781050"/>
                </a:moveTo>
                <a:lnTo>
                  <a:pt x="145615" y="782669"/>
                </a:lnTo>
                <a:lnTo>
                  <a:pt x="148210" y="782262"/>
                </a:lnTo>
                <a:lnTo>
                  <a:pt x="143763" y="781050"/>
                </a:lnTo>
                <a:close/>
              </a:path>
              <a:path w="762000" h="808355">
                <a:moveTo>
                  <a:pt x="169786" y="770894"/>
                </a:moveTo>
                <a:lnTo>
                  <a:pt x="155332" y="781145"/>
                </a:lnTo>
                <a:lnTo>
                  <a:pt x="158369" y="780668"/>
                </a:lnTo>
                <a:lnTo>
                  <a:pt x="196877" y="780668"/>
                </a:lnTo>
                <a:lnTo>
                  <a:pt x="206041" y="771651"/>
                </a:lnTo>
                <a:lnTo>
                  <a:pt x="169037" y="771651"/>
                </a:lnTo>
                <a:lnTo>
                  <a:pt x="169786" y="770894"/>
                </a:lnTo>
                <a:close/>
              </a:path>
              <a:path w="762000" h="808355">
                <a:moveTo>
                  <a:pt x="142893" y="780288"/>
                </a:moveTo>
                <a:lnTo>
                  <a:pt x="140970" y="780288"/>
                </a:lnTo>
                <a:lnTo>
                  <a:pt x="143763" y="781050"/>
                </a:lnTo>
                <a:lnTo>
                  <a:pt x="142893" y="780288"/>
                </a:lnTo>
                <a:close/>
              </a:path>
              <a:path w="762000" h="808355">
                <a:moveTo>
                  <a:pt x="135636" y="773938"/>
                </a:moveTo>
                <a:lnTo>
                  <a:pt x="137413" y="775715"/>
                </a:lnTo>
                <a:lnTo>
                  <a:pt x="136905" y="775048"/>
                </a:lnTo>
                <a:lnTo>
                  <a:pt x="135636" y="773938"/>
                </a:lnTo>
                <a:close/>
              </a:path>
              <a:path w="762000" h="808355">
                <a:moveTo>
                  <a:pt x="136905" y="775048"/>
                </a:moveTo>
                <a:lnTo>
                  <a:pt x="137413" y="775715"/>
                </a:lnTo>
                <a:lnTo>
                  <a:pt x="137668" y="775715"/>
                </a:lnTo>
                <a:lnTo>
                  <a:pt x="136905" y="775048"/>
                </a:lnTo>
                <a:close/>
              </a:path>
              <a:path w="762000" h="808355">
                <a:moveTo>
                  <a:pt x="136058" y="773938"/>
                </a:moveTo>
                <a:lnTo>
                  <a:pt x="135636" y="773938"/>
                </a:lnTo>
                <a:lnTo>
                  <a:pt x="136905" y="775048"/>
                </a:lnTo>
                <a:lnTo>
                  <a:pt x="136058" y="773938"/>
                </a:lnTo>
                <a:close/>
              </a:path>
              <a:path w="762000" h="808355">
                <a:moveTo>
                  <a:pt x="170687" y="770254"/>
                </a:moveTo>
                <a:lnTo>
                  <a:pt x="169786" y="770894"/>
                </a:lnTo>
                <a:lnTo>
                  <a:pt x="169037" y="771651"/>
                </a:lnTo>
                <a:lnTo>
                  <a:pt x="170687" y="770254"/>
                </a:lnTo>
                <a:close/>
              </a:path>
              <a:path w="762000" h="808355">
                <a:moveTo>
                  <a:pt x="207461" y="770254"/>
                </a:moveTo>
                <a:lnTo>
                  <a:pt x="170687" y="770254"/>
                </a:lnTo>
                <a:lnTo>
                  <a:pt x="169037" y="771651"/>
                </a:lnTo>
                <a:lnTo>
                  <a:pt x="206041" y="771651"/>
                </a:lnTo>
                <a:lnTo>
                  <a:pt x="207461" y="770254"/>
                </a:lnTo>
                <a:close/>
              </a:path>
              <a:path w="762000" h="808355">
                <a:moveTo>
                  <a:pt x="227435" y="748156"/>
                </a:moveTo>
                <a:lnTo>
                  <a:pt x="192278" y="748156"/>
                </a:lnTo>
                <a:lnTo>
                  <a:pt x="169786" y="770894"/>
                </a:lnTo>
                <a:lnTo>
                  <a:pt x="170687" y="770254"/>
                </a:lnTo>
                <a:lnTo>
                  <a:pt x="207461" y="770254"/>
                </a:lnTo>
                <a:lnTo>
                  <a:pt x="210947" y="766826"/>
                </a:lnTo>
                <a:lnTo>
                  <a:pt x="211455" y="766190"/>
                </a:lnTo>
                <a:lnTo>
                  <a:pt x="227435" y="748156"/>
                </a:lnTo>
                <a:close/>
              </a:path>
              <a:path w="762000" h="808355">
                <a:moveTo>
                  <a:pt x="127635" y="762888"/>
                </a:moveTo>
                <a:lnTo>
                  <a:pt x="128397" y="764031"/>
                </a:lnTo>
                <a:lnTo>
                  <a:pt x="127992" y="763358"/>
                </a:lnTo>
                <a:lnTo>
                  <a:pt x="127635" y="762888"/>
                </a:lnTo>
                <a:close/>
              </a:path>
              <a:path w="762000" h="808355">
                <a:moveTo>
                  <a:pt x="127992" y="763358"/>
                </a:moveTo>
                <a:lnTo>
                  <a:pt x="128397" y="764031"/>
                </a:lnTo>
                <a:lnTo>
                  <a:pt x="127992" y="763358"/>
                </a:lnTo>
                <a:close/>
              </a:path>
              <a:path w="762000" h="808355">
                <a:moveTo>
                  <a:pt x="127711" y="762888"/>
                </a:moveTo>
                <a:lnTo>
                  <a:pt x="127992" y="763358"/>
                </a:lnTo>
                <a:lnTo>
                  <a:pt x="127711" y="762888"/>
                </a:lnTo>
                <a:close/>
              </a:path>
              <a:path w="762000" h="808355">
                <a:moveTo>
                  <a:pt x="258251" y="712977"/>
                </a:moveTo>
                <a:lnTo>
                  <a:pt x="222885" y="712977"/>
                </a:lnTo>
                <a:lnTo>
                  <a:pt x="191643" y="748664"/>
                </a:lnTo>
                <a:lnTo>
                  <a:pt x="192278" y="748156"/>
                </a:lnTo>
                <a:lnTo>
                  <a:pt x="227435" y="748156"/>
                </a:lnTo>
                <a:lnTo>
                  <a:pt x="243078" y="730503"/>
                </a:lnTo>
                <a:lnTo>
                  <a:pt x="258251" y="712977"/>
                </a:lnTo>
                <a:close/>
              </a:path>
              <a:path w="762000" h="808355">
                <a:moveTo>
                  <a:pt x="118544" y="747522"/>
                </a:moveTo>
                <a:close/>
              </a:path>
              <a:path w="762000" h="808355">
                <a:moveTo>
                  <a:pt x="107757" y="728726"/>
                </a:moveTo>
                <a:lnTo>
                  <a:pt x="108076" y="729361"/>
                </a:lnTo>
                <a:lnTo>
                  <a:pt x="107757" y="728726"/>
                </a:lnTo>
                <a:close/>
              </a:path>
              <a:path w="762000" h="808355">
                <a:moveTo>
                  <a:pt x="75738" y="718026"/>
                </a:moveTo>
                <a:lnTo>
                  <a:pt x="75815" y="718185"/>
                </a:lnTo>
                <a:lnTo>
                  <a:pt x="75738" y="718026"/>
                </a:lnTo>
                <a:close/>
              </a:path>
              <a:path w="762000" h="808355">
                <a:moveTo>
                  <a:pt x="91376" y="696467"/>
                </a:moveTo>
                <a:lnTo>
                  <a:pt x="64770" y="696467"/>
                </a:lnTo>
                <a:lnTo>
                  <a:pt x="75738" y="718026"/>
                </a:lnTo>
                <a:lnTo>
                  <a:pt x="102328" y="717930"/>
                </a:lnTo>
                <a:lnTo>
                  <a:pt x="97028" y="707389"/>
                </a:lnTo>
                <a:lnTo>
                  <a:pt x="91376" y="696467"/>
                </a:lnTo>
                <a:close/>
              </a:path>
              <a:path w="762000" h="808355">
                <a:moveTo>
                  <a:pt x="296900" y="666495"/>
                </a:moveTo>
                <a:lnTo>
                  <a:pt x="262636" y="666495"/>
                </a:lnTo>
                <a:lnTo>
                  <a:pt x="262128" y="667130"/>
                </a:lnTo>
                <a:lnTo>
                  <a:pt x="222758" y="713104"/>
                </a:lnTo>
                <a:lnTo>
                  <a:pt x="258251" y="712977"/>
                </a:lnTo>
                <a:lnTo>
                  <a:pt x="283210" y="684149"/>
                </a:lnTo>
                <a:lnTo>
                  <a:pt x="283718" y="683640"/>
                </a:lnTo>
                <a:lnTo>
                  <a:pt x="296900" y="666495"/>
                </a:lnTo>
                <a:close/>
              </a:path>
              <a:path w="762000" h="808355">
                <a:moveTo>
                  <a:pt x="66724" y="655701"/>
                </a:moveTo>
                <a:lnTo>
                  <a:pt x="39116" y="655701"/>
                </a:lnTo>
                <a:lnTo>
                  <a:pt x="39878" y="656716"/>
                </a:lnTo>
                <a:lnTo>
                  <a:pt x="52324" y="675639"/>
                </a:lnTo>
                <a:lnTo>
                  <a:pt x="65150" y="697229"/>
                </a:lnTo>
                <a:lnTo>
                  <a:pt x="64770" y="696467"/>
                </a:lnTo>
                <a:lnTo>
                  <a:pt x="91376" y="696467"/>
                </a:lnTo>
                <a:lnTo>
                  <a:pt x="85725" y="685673"/>
                </a:lnTo>
                <a:lnTo>
                  <a:pt x="71882" y="663066"/>
                </a:lnTo>
                <a:lnTo>
                  <a:pt x="71500" y="662686"/>
                </a:lnTo>
                <a:lnTo>
                  <a:pt x="66724" y="655701"/>
                </a:lnTo>
                <a:close/>
              </a:path>
              <a:path w="762000" h="808355">
                <a:moveTo>
                  <a:pt x="51943" y="675131"/>
                </a:moveTo>
                <a:lnTo>
                  <a:pt x="52246" y="675639"/>
                </a:lnTo>
                <a:lnTo>
                  <a:pt x="51943" y="675131"/>
                </a:lnTo>
                <a:close/>
              </a:path>
              <a:path w="762000" h="808355">
                <a:moveTo>
                  <a:pt x="262419" y="666748"/>
                </a:moveTo>
                <a:lnTo>
                  <a:pt x="262092" y="667130"/>
                </a:lnTo>
                <a:lnTo>
                  <a:pt x="262419" y="666748"/>
                </a:lnTo>
                <a:close/>
              </a:path>
              <a:path w="762000" h="808355">
                <a:moveTo>
                  <a:pt x="340143" y="609726"/>
                </a:moveTo>
                <a:lnTo>
                  <a:pt x="305943" y="609726"/>
                </a:lnTo>
                <a:lnTo>
                  <a:pt x="262419" y="666748"/>
                </a:lnTo>
                <a:lnTo>
                  <a:pt x="262636" y="666495"/>
                </a:lnTo>
                <a:lnTo>
                  <a:pt x="296900" y="666495"/>
                </a:lnTo>
                <a:lnTo>
                  <a:pt x="327713" y="626437"/>
                </a:lnTo>
                <a:lnTo>
                  <a:pt x="327913" y="626237"/>
                </a:lnTo>
                <a:lnTo>
                  <a:pt x="340143" y="609726"/>
                </a:lnTo>
                <a:close/>
              </a:path>
              <a:path w="762000" h="808355">
                <a:moveTo>
                  <a:pt x="39428" y="656173"/>
                </a:moveTo>
                <a:lnTo>
                  <a:pt x="39789" y="656716"/>
                </a:lnTo>
                <a:lnTo>
                  <a:pt x="39428" y="656173"/>
                </a:lnTo>
                <a:close/>
              </a:path>
              <a:path w="762000" h="808355">
                <a:moveTo>
                  <a:pt x="39116" y="655701"/>
                </a:moveTo>
                <a:lnTo>
                  <a:pt x="39428" y="656173"/>
                </a:lnTo>
                <a:lnTo>
                  <a:pt x="39878" y="656716"/>
                </a:lnTo>
                <a:lnTo>
                  <a:pt x="39116" y="655701"/>
                </a:lnTo>
                <a:close/>
              </a:path>
              <a:path w="762000" h="808355">
                <a:moveTo>
                  <a:pt x="57446" y="642112"/>
                </a:moveTo>
                <a:lnTo>
                  <a:pt x="27812" y="642112"/>
                </a:lnTo>
                <a:lnTo>
                  <a:pt x="39428" y="656173"/>
                </a:lnTo>
                <a:lnTo>
                  <a:pt x="39116" y="655701"/>
                </a:lnTo>
                <a:lnTo>
                  <a:pt x="66724" y="655701"/>
                </a:lnTo>
                <a:lnTo>
                  <a:pt x="57446" y="642112"/>
                </a:lnTo>
                <a:close/>
              </a:path>
              <a:path w="762000" h="808355">
                <a:moveTo>
                  <a:pt x="28416" y="642842"/>
                </a:moveTo>
                <a:close/>
              </a:path>
              <a:path w="762000" h="808355">
                <a:moveTo>
                  <a:pt x="11032" y="626437"/>
                </a:moveTo>
                <a:lnTo>
                  <a:pt x="18161" y="632460"/>
                </a:lnTo>
                <a:lnTo>
                  <a:pt x="28416" y="642842"/>
                </a:lnTo>
                <a:lnTo>
                  <a:pt x="27812" y="642112"/>
                </a:lnTo>
                <a:lnTo>
                  <a:pt x="57446" y="642112"/>
                </a:lnTo>
                <a:lnTo>
                  <a:pt x="57276" y="641857"/>
                </a:lnTo>
                <a:lnTo>
                  <a:pt x="45053" y="627888"/>
                </a:lnTo>
                <a:lnTo>
                  <a:pt x="23368" y="627888"/>
                </a:lnTo>
                <a:lnTo>
                  <a:pt x="20682" y="626872"/>
                </a:lnTo>
                <a:lnTo>
                  <a:pt x="11684" y="626872"/>
                </a:lnTo>
                <a:lnTo>
                  <a:pt x="11032" y="626437"/>
                </a:lnTo>
                <a:close/>
              </a:path>
              <a:path w="762000" h="808355">
                <a:moveTo>
                  <a:pt x="17525" y="631951"/>
                </a:moveTo>
                <a:lnTo>
                  <a:pt x="18034" y="632460"/>
                </a:lnTo>
                <a:lnTo>
                  <a:pt x="17525" y="631951"/>
                </a:lnTo>
                <a:close/>
              </a:path>
              <a:path w="762000" h="808355">
                <a:moveTo>
                  <a:pt x="28860" y="625220"/>
                </a:moveTo>
                <a:lnTo>
                  <a:pt x="16129" y="625220"/>
                </a:lnTo>
                <a:lnTo>
                  <a:pt x="16891" y="625475"/>
                </a:lnTo>
                <a:lnTo>
                  <a:pt x="18669" y="626110"/>
                </a:lnTo>
                <a:lnTo>
                  <a:pt x="23368" y="627888"/>
                </a:lnTo>
                <a:lnTo>
                  <a:pt x="28701" y="625601"/>
                </a:lnTo>
                <a:lnTo>
                  <a:pt x="28860" y="625220"/>
                </a:lnTo>
                <a:close/>
              </a:path>
              <a:path w="762000" h="808355">
                <a:moveTo>
                  <a:pt x="32497" y="616085"/>
                </a:moveTo>
                <a:lnTo>
                  <a:pt x="32598" y="616548"/>
                </a:lnTo>
                <a:lnTo>
                  <a:pt x="30554" y="621156"/>
                </a:lnTo>
                <a:lnTo>
                  <a:pt x="28701" y="625601"/>
                </a:lnTo>
                <a:lnTo>
                  <a:pt x="23368" y="627888"/>
                </a:lnTo>
                <a:lnTo>
                  <a:pt x="45053" y="627888"/>
                </a:lnTo>
                <a:lnTo>
                  <a:pt x="44831" y="627633"/>
                </a:lnTo>
                <a:lnTo>
                  <a:pt x="43603" y="626437"/>
                </a:lnTo>
                <a:lnTo>
                  <a:pt x="32497" y="616085"/>
                </a:lnTo>
                <a:close/>
              </a:path>
              <a:path w="762000" h="808355">
                <a:moveTo>
                  <a:pt x="10795" y="626237"/>
                </a:moveTo>
                <a:lnTo>
                  <a:pt x="11112" y="626490"/>
                </a:lnTo>
                <a:lnTo>
                  <a:pt x="11684" y="626872"/>
                </a:lnTo>
                <a:lnTo>
                  <a:pt x="10795" y="626237"/>
                </a:lnTo>
                <a:close/>
              </a:path>
              <a:path w="762000" h="808355">
                <a:moveTo>
                  <a:pt x="19004" y="626237"/>
                </a:moveTo>
                <a:lnTo>
                  <a:pt x="10795" y="626237"/>
                </a:lnTo>
                <a:lnTo>
                  <a:pt x="11684" y="626872"/>
                </a:lnTo>
                <a:lnTo>
                  <a:pt x="20682" y="626872"/>
                </a:lnTo>
                <a:lnTo>
                  <a:pt x="19004" y="626237"/>
                </a:lnTo>
                <a:close/>
              </a:path>
              <a:path w="762000" h="808355">
                <a:moveTo>
                  <a:pt x="10789" y="625466"/>
                </a:moveTo>
                <a:lnTo>
                  <a:pt x="9739" y="625575"/>
                </a:lnTo>
                <a:lnTo>
                  <a:pt x="11032" y="626437"/>
                </a:lnTo>
                <a:lnTo>
                  <a:pt x="10795" y="626237"/>
                </a:lnTo>
                <a:lnTo>
                  <a:pt x="19004" y="626237"/>
                </a:lnTo>
                <a:lnTo>
                  <a:pt x="17217" y="625601"/>
                </a:lnTo>
                <a:lnTo>
                  <a:pt x="11937" y="625601"/>
                </a:lnTo>
                <a:lnTo>
                  <a:pt x="10789" y="625466"/>
                </a:lnTo>
                <a:close/>
              </a:path>
              <a:path w="762000" h="808355">
                <a:moveTo>
                  <a:pt x="6561" y="625003"/>
                </a:moveTo>
                <a:lnTo>
                  <a:pt x="8255" y="625728"/>
                </a:lnTo>
                <a:lnTo>
                  <a:pt x="9739" y="625575"/>
                </a:lnTo>
                <a:lnTo>
                  <a:pt x="9325" y="625299"/>
                </a:lnTo>
                <a:lnTo>
                  <a:pt x="6561" y="625003"/>
                </a:lnTo>
                <a:close/>
              </a:path>
              <a:path w="762000" h="808355">
                <a:moveTo>
                  <a:pt x="11399" y="625403"/>
                </a:moveTo>
                <a:lnTo>
                  <a:pt x="10789" y="625466"/>
                </a:lnTo>
                <a:lnTo>
                  <a:pt x="11937" y="625601"/>
                </a:lnTo>
                <a:lnTo>
                  <a:pt x="11399" y="625403"/>
                </a:lnTo>
                <a:close/>
              </a:path>
              <a:path w="762000" h="808355">
                <a:moveTo>
                  <a:pt x="15178" y="624948"/>
                </a:moveTo>
                <a:lnTo>
                  <a:pt x="14859" y="624966"/>
                </a:lnTo>
                <a:lnTo>
                  <a:pt x="15112" y="624966"/>
                </a:lnTo>
                <a:lnTo>
                  <a:pt x="11399" y="625403"/>
                </a:lnTo>
                <a:lnTo>
                  <a:pt x="11937" y="625601"/>
                </a:lnTo>
                <a:lnTo>
                  <a:pt x="17217" y="625601"/>
                </a:lnTo>
                <a:lnTo>
                  <a:pt x="16478" y="625348"/>
                </a:lnTo>
                <a:lnTo>
                  <a:pt x="15178" y="624948"/>
                </a:lnTo>
                <a:close/>
              </a:path>
              <a:path w="762000" h="808355">
                <a:moveTo>
                  <a:pt x="9325" y="625299"/>
                </a:moveTo>
                <a:lnTo>
                  <a:pt x="9739" y="625575"/>
                </a:lnTo>
                <a:lnTo>
                  <a:pt x="10789" y="625466"/>
                </a:lnTo>
                <a:lnTo>
                  <a:pt x="9325" y="625299"/>
                </a:lnTo>
                <a:close/>
              </a:path>
              <a:path w="762000" h="808355">
                <a:moveTo>
                  <a:pt x="16590" y="625382"/>
                </a:moveTo>
                <a:lnTo>
                  <a:pt x="16854" y="625475"/>
                </a:lnTo>
                <a:lnTo>
                  <a:pt x="16590" y="625382"/>
                </a:lnTo>
                <a:close/>
              </a:path>
              <a:path w="762000" h="808355">
                <a:moveTo>
                  <a:pt x="7112" y="623824"/>
                </a:moveTo>
                <a:lnTo>
                  <a:pt x="9325" y="625299"/>
                </a:lnTo>
                <a:lnTo>
                  <a:pt x="10789" y="625466"/>
                </a:lnTo>
                <a:lnTo>
                  <a:pt x="11399" y="625403"/>
                </a:lnTo>
                <a:lnTo>
                  <a:pt x="7112" y="623824"/>
                </a:lnTo>
                <a:close/>
              </a:path>
              <a:path w="762000" h="808355">
                <a:moveTo>
                  <a:pt x="29442" y="623824"/>
                </a:moveTo>
                <a:lnTo>
                  <a:pt x="7112" y="623824"/>
                </a:lnTo>
                <a:lnTo>
                  <a:pt x="11399" y="625403"/>
                </a:lnTo>
                <a:lnTo>
                  <a:pt x="15112" y="624966"/>
                </a:lnTo>
                <a:lnTo>
                  <a:pt x="14859" y="624966"/>
                </a:lnTo>
                <a:lnTo>
                  <a:pt x="15178" y="624948"/>
                </a:lnTo>
                <a:lnTo>
                  <a:pt x="13588" y="624458"/>
                </a:lnTo>
                <a:lnTo>
                  <a:pt x="29178" y="624458"/>
                </a:lnTo>
                <a:lnTo>
                  <a:pt x="29442" y="623824"/>
                </a:lnTo>
                <a:close/>
              </a:path>
              <a:path w="762000" h="808355">
                <a:moveTo>
                  <a:pt x="29178" y="624458"/>
                </a:moveTo>
                <a:lnTo>
                  <a:pt x="13588" y="624458"/>
                </a:lnTo>
                <a:lnTo>
                  <a:pt x="17018" y="624839"/>
                </a:lnTo>
                <a:lnTo>
                  <a:pt x="15178" y="624948"/>
                </a:lnTo>
                <a:lnTo>
                  <a:pt x="16590" y="625382"/>
                </a:lnTo>
                <a:lnTo>
                  <a:pt x="16129" y="625220"/>
                </a:lnTo>
                <a:lnTo>
                  <a:pt x="28860" y="625220"/>
                </a:lnTo>
                <a:lnTo>
                  <a:pt x="29178" y="624458"/>
                </a:lnTo>
                <a:close/>
              </a:path>
              <a:path w="762000" h="808355">
                <a:moveTo>
                  <a:pt x="10789" y="604909"/>
                </a:moveTo>
                <a:lnTo>
                  <a:pt x="122" y="615568"/>
                </a:lnTo>
                <a:lnTo>
                  <a:pt x="217" y="616548"/>
                </a:lnTo>
                <a:lnTo>
                  <a:pt x="2019" y="620453"/>
                </a:lnTo>
                <a:lnTo>
                  <a:pt x="2540" y="621156"/>
                </a:lnTo>
                <a:lnTo>
                  <a:pt x="4214" y="623520"/>
                </a:lnTo>
                <a:lnTo>
                  <a:pt x="5849" y="624698"/>
                </a:lnTo>
                <a:lnTo>
                  <a:pt x="6561" y="625003"/>
                </a:lnTo>
                <a:lnTo>
                  <a:pt x="9325" y="625299"/>
                </a:lnTo>
                <a:lnTo>
                  <a:pt x="7112" y="623824"/>
                </a:lnTo>
                <a:lnTo>
                  <a:pt x="29442" y="623824"/>
                </a:lnTo>
                <a:lnTo>
                  <a:pt x="30607" y="621029"/>
                </a:lnTo>
                <a:lnTo>
                  <a:pt x="32598" y="616548"/>
                </a:lnTo>
                <a:lnTo>
                  <a:pt x="32486" y="616076"/>
                </a:lnTo>
                <a:lnTo>
                  <a:pt x="14859" y="605408"/>
                </a:lnTo>
                <a:lnTo>
                  <a:pt x="15112" y="605408"/>
                </a:lnTo>
                <a:lnTo>
                  <a:pt x="11937" y="605027"/>
                </a:lnTo>
                <a:lnTo>
                  <a:pt x="10789" y="604909"/>
                </a:lnTo>
                <a:close/>
              </a:path>
              <a:path w="762000" h="808355">
                <a:moveTo>
                  <a:pt x="5849" y="624698"/>
                </a:moveTo>
                <a:lnTo>
                  <a:pt x="6223" y="624966"/>
                </a:lnTo>
                <a:lnTo>
                  <a:pt x="6561" y="625003"/>
                </a:lnTo>
                <a:lnTo>
                  <a:pt x="5849" y="624698"/>
                </a:lnTo>
                <a:close/>
              </a:path>
              <a:path w="762000" h="808355">
                <a:moveTo>
                  <a:pt x="13588" y="624458"/>
                </a:moveTo>
                <a:lnTo>
                  <a:pt x="15178" y="624948"/>
                </a:lnTo>
                <a:lnTo>
                  <a:pt x="17018" y="624839"/>
                </a:lnTo>
                <a:lnTo>
                  <a:pt x="13588" y="624458"/>
                </a:lnTo>
                <a:close/>
              </a:path>
              <a:path w="762000" h="808355">
                <a:moveTo>
                  <a:pt x="4214" y="623520"/>
                </a:moveTo>
                <a:lnTo>
                  <a:pt x="4699" y="624204"/>
                </a:lnTo>
                <a:lnTo>
                  <a:pt x="5849" y="624698"/>
                </a:lnTo>
                <a:lnTo>
                  <a:pt x="4214" y="623520"/>
                </a:lnTo>
                <a:close/>
              </a:path>
              <a:path w="762000" h="808355">
                <a:moveTo>
                  <a:pt x="2019" y="620453"/>
                </a:moveTo>
                <a:lnTo>
                  <a:pt x="3048" y="622680"/>
                </a:lnTo>
                <a:lnTo>
                  <a:pt x="4214" y="623520"/>
                </a:lnTo>
                <a:lnTo>
                  <a:pt x="2019" y="620453"/>
                </a:lnTo>
                <a:close/>
              </a:path>
              <a:path w="762000" h="808355">
                <a:moveTo>
                  <a:pt x="217" y="616548"/>
                </a:moveTo>
                <a:lnTo>
                  <a:pt x="381" y="618236"/>
                </a:lnTo>
                <a:lnTo>
                  <a:pt x="2019" y="620453"/>
                </a:lnTo>
                <a:lnTo>
                  <a:pt x="217" y="616548"/>
                </a:lnTo>
                <a:close/>
              </a:path>
              <a:path w="762000" h="808355">
                <a:moveTo>
                  <a:pt x="86" y="615188"/>
                </a:moveTo>
                <a:lnTo>
                  <a:pt x="58" y="616203"/>
                </a:lnTo>
                <a:lnTo>
                  <a:pt x="217" y="616548"/>
                </a:lnTo>
                <a:lnTo>
                  <a:pt x="86" y="615188"/>
                </a:lnTo>
                <a:close/>
              </a:path>
              <a:path w="762000" h="808355">
                <a:moveTo>
                  <a:pt x="17235" y="605587"/>
                </a:moveTo>
                <a:lnTo>
                  <a:pt x="22860" y="608711"/>
                </a:lnTo>
                <a:lnTo>
                  <a:pt x="24130" y="609600"/>
                </a:lnTo>
                <a:lnTo>
                  <a:pt x="31876" y="615568"/>
                </a:lnTo>
                <a:lnTo>
                  <a:pt x="32497" y="616085"/>
                </a:lnTo>
                <a:lnTo>
                  <a:pt x="30607" y="611124"/>
                </a:lnTo>
                <a:lnTo>
                  <a:pt x="26162" y="608964"/>
                </a:lnTo>
                <a:lnTo>
                  <a:pt x="23622" y="607694"/>
                </a:lnTo>
                <a:lnTo>
                  <a:pt x="19685" y="606170"/>
                </a:lnTo>
                <a:lnTo>
                  <a:pt x="17235" y="605587"/>
                </a:lnTo>
                <a:close/>
              </a:path>
              <a:path w="762000" h="808355">
                <a:moveTo>
                  <a:pt x="217" y="613827"/>
                </a:moveTo>
                <a:lnTo>
                  <a:pt x="0" y="614299"/>
                </a:lnTo>
                <a:lnTo>
                  <a:pt x="86" y="615188"/>
                </a:lnTo>
                <a:lnTo>
                  <a:pt x="217" y="613827"/>
                </a:lnTo>
                <a:close/>
              </a:path>
              <a:path w="762000" h="808355">
                <a:moveTo>
                  <a:pt x="2019" y="609922"/>
                </a:moveTo>
                <a:lnTo>
                  <a:pt x="381" y="612139"/>
                </a:lnTo>
                <a:lnTo>
                  <a:pt x="217" y="613827"/>
                </a:lnTo>
                <a:lnTo>
                  <a:pt x="2019" y="609922"/>
                </a:lnTo>
                <a:close/>
              </a:path>
              <a:path w="762000" h="808355">
                <a:moveTo>
                  <a:pt x="4214" y="606855"/>
                </a:moveTo>
                <a:lnTo>
                  <a:pt x="3048" y="607694"/>
                </a:lnTo>
                <a:lnTo>
                  <a:pt x="2019" y="609922"/>
                </a:lnTo>
                <a:lnTo>
                  <a:pt x="2540" y="609218"/>
                </a:lnTo>
                <a:lnTo>
                  <a:pt x="4214" y="606855"/>
                </a:lnTo>
                <a:close/>
              </a:path>
              <a:path w="762000" h="808355">
                <a:moveTo>
                  <a:pt x="760578" y="16637"/>
                </a:moveTo>
                <a:lnTo>
                  <a:pt x="739013" y="16637"/>
                </a:lnTo>
                <a:lnTo>
                  <a:pt x="737997" y="17906"/>
                </a:lnTo>
                <a:lnTo>
                  <a:pt x="719582" y="38862"/>
                </a:lnTo>
                <a:lnTo>
                  <a:pt x="697103" y="71627"/>
                </a:lnTo>
                <a:lnTo>
                  <a:pt x="665099" y="117728"/>
                </a:lnTo>
                <a:lnTo>
                  <a:pt x="572008" y="244601"/>
                </a:lnTo>
                <a:lnTo>
                  <a:pt x="517398" y="320293"/>
                </a:lnTo>
                <a:lnTo>
                  <a:pt x="462534" y="398525"/>
                </a:lnTo>
                <a:lnTo>
                  <a:pt x="406908" y="473075"/>
                </a:lnTo>
                <a:lnTo>
                  <a:pt x="305816" y="609853"/>
                </a:lnTo>
                <a:lnTo>
                  <a:pt x="340143" y="609726"/>
                </a:lnTo>
                <a:lnTo>
                  <a:pt x="484886" y="414654"/>
                </a:lnTo>
                <a:lnTo>
                  <a:pt x="485013" y="414274"/>
                </a:lnTo>
                <a:lnTo>
                  <a:pt x="539750" y="336041"/>
                </a:lnTo>
                <a:lnTo>
                  <a:pt x="593851" y="260603"/>
                </a:lnTo>
                <a:lnTo>
                  <a:pt x="644398" y="191007"/>
                </a:lnTo>
                <a:lnTo>
                  <a:pt x="686308" y="132841"/>
                </a:lnTo>
                <a:lnTo>
                  <a:pt x="717931" y="85851"/>
                </a:lnTo>
                <a:lnTo>
                  <a:pt x="718058" y="85598"/>
                </a:lnTo>
                <a:lnTo>
                  <a:pt x="739394" y="52069"/>
                </a:lnTo>
                <a:lnTo>
                  <a:pt x="755650" y="30099"/>
                </a:lnTo>
                <a:lnTo>
                  <a:pt x="757301" y="26924"/>
                </a:lnTo>
                <a:lnTo>
                  <a:pt x="760578" y="16637"/>
                </a:lnTo>
                <a:close/>
              </a:path>
              <a:path w="762000" h="808355">
                <a:moveTo>
                  <a:pt x="5849" y="605677"/>
                </a:moveTo>
                <a:lnTo>
                  <a:pt x="4699" y="606170"/>
                </a:lnTo>
                <a:lnTo>
                  <a:pt x="4214" y="606855"/>
                </a:lnTo>
                <a:lnTo>
                  <a:pt x="5849" y="605677"/>
                </a:lnTo>
                <a:close/>
              </a:path>
              <a:path w="762000" h="808355">
                <a:moveTo>
                  <a:pt x="6561" y="605372"/>
                </a:moveTo>
                <a:lnTo>
                  <a:pt x="6223" y="605408"/>
                </a:lnTo>
                <a:lnTo>
                  <a:pt x="5849" y="605677"/>
                </a:lnTo>
                <a:lnTo>
                  <a:pt x="6561" y="605372"/>
                </a:lnTo>
                <a:close/>
              </a:path>
              <a:path w="762000" h="808355">
                <a:moveTo>
                  <a:pt x="14097" y="604647"/>
                </a:moveTo>
                <a:lnTo>
                  <a:pt x="11937" y="604774"/>
                </a:lnTo>
                <a:lnTo>
                  <a:pt x="10789" y="604909"/>
                </a:lnTo>
                <a:lnTo>
                  <a:pt x="11937" y="605027"/>
                </a:lnTo>
                <a:lnTo>
                  <a:pt x="15112" y="605408"/>
                </a:lnTo>
                <a:lnTo>
                  <a:pt x="14859" y="605408"/>
                </a:lnTo>
                <a:lnTo>
                  <a:pt x="17018" y="605536"/>
                </a:lnTo>
                <a:lnTo>
                  <a:pt x="17235" y="605587"/>
                </a:lnTo>
                <a:lnTo>
                  <a:pt x="16256" y="605027"/>
                </a:lnTo>
                <a:lnTo>
                  <a:pt x="14097" y="604647"/>
                </a:lnTo>
                <a:close/>
              </a:path>
              <a:path w="762000" h="808355">
                <a:moveTo>
                  <a:pt x="8255" y="604647"/>
                </a:moveTo>
                <a:lnTo>
                  <a:pt x="6561" y="605372"/>
                </a:lnTo>
                <a:lnTo>
                  <a:pt x="10789" y="604909"/>
                </a:lnTo>
                <a:lnTo>
                  <a:pt x="8255" y="604647"/>
                </a:lnTo>
                <a:close/>
              </a:path>
              <a:path w="762000" h="808355">
                <a:moveTo>
                  <a:pt x="462788" y="398144"/>
                </a:moveTo>
                <a:lnTo>
                  <a:pt x="462503" y="398525"/>
                </a:lnTo>
                <a:lnTo>
                  <a:pt x="462788" y="398144"/>
                </a:lnTo>
                <a:close/>
              </a:path>
              <a:path w="762000" h="808355">
                <a:moveTo>
                  <a:pt x="539804" y="336041"/>
                </a:moveTo>
                <a:lnTo>
                  <a:pt x="539623" y="336295"/>
                </a:lnTo>
                <a:lnTo>
                  <a:pt x="539804" y="336041"/>
                </a:lnTo>
                <a:close/>
              </a:path>
              <a:path w="762000" h="808355">
                <a:moveTo>
                  <a:pt x="665226" y="117475"/>
                </a:moveTo>
                <a:lnTo>
                  <a:pt x="665040" y="117728"/>
                </a:lnTo>
                <a:lnTo>
                  <a:pt x="665226" y="117475"/>
                </a:lnTo>
                <a:close/>
              </a:path>
              <a:path w="762000" h="808355">
                <a:moveTo>
                  <a:pt x="739480" y="52069"/>
                </a:moveTo>
                <a:lnTo>
                  <a:pt x="739013" y="52704"/>
                </a:lnTo>
                <a:lnTo>
                  <a:pt x="739480" y="52069"/>
                </a:lnTo>
                <a:close/>
              </a:path>
              <a:path w="762000" h="808355">
                <a:moveTo>
                  <a:pt x="738259" y="17499"/>
                </a:moveTo>
                <a:lnTo>
                  <a:pt x="737902" y="17906"/>
                </a:lnTo>
                <a:lnTo>
                  <a:pt x="738259" y="17499"/>
                </a:lnTo>
                <a:close/>
              </a:path>
              <a:path w="762000" h="808355">
                <a:moveTo>
                  <a:pt x="739013" y="16637"/>
                </a:moveTo>
                <a:lnTo>
                  <a:pt x="738259" y="17499"/>
                </a:lnTo>
                <a:lnTo>
                  <a:pt x="737997" y="17906"/>
                </a:lnTo>
                <a:lnTo>
                  <a:pt x="739013" y="16637"/>
                </a:lnTo>
                <a:close/>
              </a:path>
              <a:path w="762000" h="808355">
                <a:moveTo>
                  <a:pt x="742413" y="11036"/>
                </a:moveTo>
                <a:lnTo>
                  <a:pt x="738259" y="17499"/>
                </a:lnTo>
                <a:lnTo>
                  <a:pt x="739013" y="16637"/>
                </a:lnTo>
                <a:lnTo>
                  <a:pt x="760578" y="16637"/>
                </a:lnTo>
                <a:lnTo>
                  <a:pt x="761508" y="13715"/>
                </a:lnTo>
                <a:lnTo>
                  <a:pt x="747649" y="13715"/>
                </a:lnTo>
                <a:lnTo>
                  <a:pt x="743907" y="11254"/>
                </a:lnTo>
                <a:lnTo>
                  <a:pt x="742413" y="11036"/>
                </a:lnTo>
                <a:close/>
              </a:path>
              <a:path w="762000" h="808355">
                <a:moveTo>
                  <a:pt x="743907" y="11254"/>
                </a:moveTo>
                <a:lnTo>
                  <a:pt x="747649" y="13715"/>
                </a:lnTo>
                <a:lnTo>
                  <a:pt x="746712" y="11429"/>
                </a:lnTo>
                <a:lnTo>
                  <a:pt x="745109" y="11429"/>
                </a:lnTo>
                <a:lnTo>
                  <a:pt x="743907" y="11254"/>
                </a:lnTo>
                <a:close/>
              </a:path>
              <a:path w="762000" h="808355">
                <a:moveTo>
                  <a:pt x="759341" y="5968"/>
                </a:moveTo>
                <a:lnTo>
                  <a:pt x="744474" y="5968"/>
                </a:lnTo>
                <a:lnTo>
                  <a:pt x="747649" y="13715"/>
                </a:lnTo>
                <a:lnTo>
                  <a:pt x="761508" y="13715"/>
                </a:lnTo>
                <a:lnTo>
                  <a:pt x="761873" y="12573"/>
                </a:lnTo>
                <a:lnTo>
                  <a:pt x="761655" y="10287"/>
                </a:lnTo>
                <a:lnTo>
                  <a:pt x="761544" y="9778"/>
                </a:lnTo>
                <a:lnTo>
                  <a:pt x="760349" y="7747"/>
                </a:lnTo>
                <a:lnTo>
                  <a:pt x="759341" y="5968"/>
                </a:lnTo>
                <a:close/>
              </a:path>
              <a:path w="762000" h="808355">
                <a:moveTo>
                  <a:pt x="742823" y="10540"/>
                </a:moveTo>
                <a:lnTo>
                  <a:pt x="743907" y="11254"/>
                </a:lnTo>
                <a:lnTo>
                  <a:pt x="745109" y="11429"/>
                </a:lnTo>
                <a:lnTo>
                  <a:pt x="742823" y="10540"/>
                </a:lnTo>
                <a:close/>
              </a:path>
              <a:path w="762000" h="808355">
                <a:moveTo>
                  <a:pt x="746347" y="10540"/>
                </a:moveTo>
                <a:lnTo>
                  <a:pt x="742823" y="10540"/>
                </a:lnTo>
                <a:lnTo>
                  <a:pt x="745109" y="11429"/>
                </a:lnTo>
                <a:lnTo>
                  <a:pt x="746712" y="11429"/>
                </a:lnTo>
                <a:lnTo>
                  <a:pt x="746347" y="10540"/>
                </a:lnTo>
                <a:close/>
              </a:path>
              <a:path w="762000" h="808355">
                <a:moveTo>
                  <a:pt x="743909" y="8709"/>
                </a:moveTo>
                <a:lnTo>
                  <a:pt x="742413" y="11036"/>
                </a:lnTo>
                <a:lnTo>
                  <a:pt x="743907" y="11254"/>
                </a:lnTo>
                <a:lnTo>
                  <a:pt x="742823" y="10540"/>
                </a:lnTo>
                <a:lnTo>
                  <a:pt x="746347" y="10540"/>
                </a:lnTo>
                <a:lnTo>
                  <a:pt x="746243" y="10287"/>
                </a:lnTo>
                <a:lnTo>
                  <a:pt x="743585" y="10287"/>
                </a:lnTo>
                <a:lnTo>
                  <a:pt x="743909" y="8709"/>
                </a:lnTo>
                <a:close/>
              </a:path>
              <a:path w="762000" h="808355">
                <a:moveTo>
                  <a:pt x="746125" y="0"/>
                </a:moveTo>
                <a:lnTo>
                  <a:pt x="745109" y="0"/>
                </a:lnTo>
                <a:lnTo>
                  <a:pt x="733806" y="1650"/>
                </a:lnTo>
                <a:lnTo>
                  <a:pt x="731901" y="2031"/>
                </a:lnTo>
                <a:lnTo>
                  <a:pt x="730376" y="3682"/>
                </a:lnTo>
                <a:lnTo>
                  <a:pt x="730376" y="7747"/>
                </a:lnTo>
                <a:lnTo>
                  <a:pt x="731901" y="9398"/>
                </a:lnTo>
                <a:lnTo>
                  <a:pt x="733806" y="9778"/>
                </a:lnTo>
                <a:lnTo>
                  <a:pt x="742413" y="11036"/>
                </a:lnTo>
                <a:lnTo>
                  <a:pt x="743909" y="8709"/>
                </a:lnTo>
                <a:lnTo>
                  <a:pt x="744474" y="5968"/>
                </a:lnTo>
                <a:lnTo>
                  <a:pt x="759341" y="5968"/>
                </a:lnTo>
                <a:lnTo>
                  <a:pt x="756920" y="1650"/>
                </a:lnTo>
                <a:lnTo>
                  <a:pt x="754507" y="126"/>
                </a:lnTo>
                <a:lnTo>
                  <a:pt x="751840" y="126"/>
                </a:lnTo>
                <a:lnTo>
                  <a:pt x="746125" y="0"/>
                </a:lnTo>
                <a:close/>
              </a:path>
              <a:path w="762000" h="808355">
                <a:moveTo>
                  <a:pt x="744855" y="7238"/>
                </a:moveTo>
                <a:lnTo>
                  <a:pt x="743909" y="8709"/>
                </a:lnTo>
                <a:lnTo>
                  <a:pt x="743585" y="10287"/>
                </a:lnTo>
                <a:lnTo>
                  <a:pt x="744855" y="7238"/>
                </a:lnTo>
                <a:close/>
              </a:path>
              <a:path w="762000" h="808355">
                <a:moveTo>
                  <a:pt x="744994" y="7238"/>
                </a:moveTo>
                <a:lnTo>
                  <a:pt x="744855" y="7238"/>
                </a:lnTo>
                <a:lnTo>
                  <a:pt x="743585" y="10287"/>
                </a:lnTo>
                <a:lnTo>
                  <a:pt x="746243" y="10287"/>
                </a:lnTo>
                <a:lnTo>
                  <a:pt x="744994" y="7238"/>
                </a:lnTo>
                <a:close/>
              </a:path>
              <a:path w="762000" h="808355">
                <a:moveTo>
                  <a:pt x="744474" y="5968"/>
                </a:moveTo>
                <a:lnTo>
                  <a:pt x="743909" y="8709"/>
                </a:lnTo>
                <a:lnTo>
                  <a:pt x="744855" y="7238"/>
                </a:lnTo>
                <a:lnTo>
                  <a:pt x="744994" y="7238"/>
                </a:lnTo>
                <a:lnTo>
                  <a:pt x="744474" y="5968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4414" y="22352"/>
            <a:ext cx="2444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18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1800" b="1" u="heavy" spc="-1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r>
              <a:rPr sz="1800" b="1" u="heavy" spc="-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18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other</a:t>
            </a:r>
            <a:r>
              <a:rPr sz="1800" b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pl</a:t>
            </a:r>
            <a:r>
              <a:rPr sz="1800" b="1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-4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843" y="304800"/>
            <a:ext cx="3279648" cy="13944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8847" y="173736"/>
            <a:ext cx="3781044" cy="8290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08847" y="1335024"/>
            <a:ext cx="2929128" cy="13563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44013" y="1834514"/>
            <a:ext cx="266954" cy="30772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0540" y="409955"/>
            <a:ext cx="390778" cy="5334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54995" y="245745"/>
            <a:ext cx="184150" cy="59143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044575" y="14731"/>
            <a:ext cx="6062345" cy="6515734"/>
            <a:chOff x="1044575" y="14731"/>
            <a:chExt cx="6062345" cy="6515734"/>
          </a:xfrm>
        </p:grpSpPr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4575" y="14731"/>
              <a:ext cx="6061836" cy="651569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52089" y="680847"/>
              <a:ext cx="352883" cy="337185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658960" y="194182"/>
            <a:ext cx="41910" cy="29209"/>
          </a:xfrm>
          <a:custGeom>
            <a:avLst/>
            <a:gdLst/>
            <a:ahLst/>
            <a:cxnLst/>
            <a:rect l="l" t="t" r="r" b="b"/>
            <a:pathLst>
              <a:path w="41909" h="29210">
                <a:moveTo>
                  <a:pt x="22271" y="20336"/>
                </a:moveTo>
                <a:lnTo>
                  <a:pt x="25543" y="22351"/>
                </a:lnTo>
                <a:lnTo>
                  <a:pt x="25696" y="22478"/>
                </a:lnTo>
                <a:lnTo>
                  <a:pt x="31081" y="25400"/>
                </a:lnTo>
                <a:lnTo>
                  <a:pt x="37050" y="28194"/>
                </a:lnTo>
                <a:lnTo>
                  <a:pt x="38485" y="28828"/>
                </a:lnTo>
                <a:lnTo>
                  <a:pt x="40174" y="28321"/>
                </a:lnTo>
                <a:lnTo>
                  <a:pt x="41799" y="25526"/>
                </a:lnTo>
                <a:lnTo>
                  <a:pt x="41469" y="23875"/>
                </a:lnTo>
                <a:lnTo>
                  <a:pt x="40212" y="22860"/>
                </a:lnTo>
                <a:lnTo>
                  <a:pt x="37067" y="20447"/>
                </a:lnTo>
                <a:lnTo>
                  <a:pt x="23372" y="20447"/>
                </a:lnTo>
                <a:lnTo>
                  <a:pt x="22271" y="20336"/>
                </a:lnTo>
                <a:close/>
              </a:path>
              <a:path w="41909" h="29210">
                <a:moveTo>
                  <a:pt x="21213" y="19685"/>
                </a:moveTo>
                <a:lnTo>
                  <a:pt x="22271" y="20336"/>
                </a:lnTo>
                <a:lnTo>
                  <a:pt x="23372" y="20447"/>
                </a:lnTo>
                <a:lnTo>
                  <a:pt x="21213" y="19685"/>
                </a:lnTo>
                <a:close/>
              </a:path>
              <a:path w="41909" h="29210">
                <a:moveTo>
                  <a:pt x="36074" y="19685"/>
                </a:moveTo>
                <a:lnTo>
                  <a:pt x="21213" y="19685"/>
                </a:lnTo>
                <a:lnTo>
                  <a:pt x="23372" y="20447"/>
                </a:lnTo>
                <a:lnTo>
                  <a:pt x="37067" y="20447"/>
                </a:lnTo>
                <a:lnTo>
                  <a:pt x="36074" y="19685"/>
                </a:lnTo>
                <a:close/>
              </a:path>
              <a:path w="41909" h="29210">
                <a:moveTo>
                  <a:pt x="4548" y="14707"/>
                </a:moveTo>
                <a:lnTo>
                  <a:pt x="5300" y="15875"/>
                </a:lnTo>
                <a:lnTo>
                  <a:pt x="9300" y="18542"/>
                </a:lnTo>
                <a:lnTo>
                  <a:pt x="13212" y="19431"/>
                </a:lnTo>
                <a:lnTo>
                  <a:pt x="22271" y="20336"/>
                </a:lnTo>
                <a:lnTo>
                  <a:pt x="21213" y="19685"/>
                </a:lnTo>
                <a:lnTo>
                  <a:pt x="36074" y="19685"/>
                </a:lnTo>
                <a:lnTo>
                  <a:pt x="35577" y="19303"/>
                </a:lnTo>
                <a:lnTo>
                  <a:pt x="31343" y="15494"/>
                </a:lnTo>
                <a:lnTo>
                  <a:pt x="31208" y="15494"/>
                </a:lnTo>
                <a:lnTo>
                  <a:pt x="5414" y="15367"/>
                </a:lnTo>
                <a:lnTo>
                  <a:pt x="4548" y="14707"/>
                </a:lnTo>
                <a:close/>
              </a:path>
              <a:path w="41909" h="29210">
                <a:moveTo>
                  <a:pt x="35246" y="19050"/>
                </a:moveTo>
                <a:lnTo>
                  <a:pt x="35488" y="19303"/>
                </a:lnTo>
                <a:lnTo>
                  <a:pt x="35246" y="19050"/>
                </a:lnTo>
                <a:close/>
              </a:path>
              <a:path w="41909" h="29210">
                <a:moveTo>
                  <a:pt x="30928" y="15113"/>
                </a:moveTo>
                <a:lnTo>
                  <a:pt x="31208" y="15494"/>
                </a:lnTo>
                <a:lnTo>
                  <a:pt x="31343" y="15494"/>
                </a:lnTo>
                <a:lnTo>
                  <a:pt x="30928" y="15113"/>
                </a:lnTo>
                <a:close/>
              </a:path>
              <a:path w="41909" h="29210">
                <a:moveTo>
                  <a:pt x="3992" y="13843"/>
                </a:moveTo>
                <a:lnTo>
                  <a:pt x="4548" y="14707"/>
                </a:lnTo>
                <a:lnTo>
                  <a:pt x="5414" y="15367"/>
                </a:lnTo>
                <a:lnTo>
                  <a:pt x="3992" y="13843"/>
                </a:lnTo>
                <a:close/>
              </a:path>
              <a:path w="41909" h="29210">
                <a:moveTo>
                  <a:pt x="4573" y="13843"/>
                </a:moveTo>
                <a:lnTo>
                  <a:pt x="3992" y="13843"/>
                </a:lnTo>
                <a:lnTo>
                  <a:pt x="5414" y="15367"/>
                </a:lnTo>
                <a:lnTo>
                  <a:pt x="31093" y="15367"/>
                </a:lnTo>
                <a:lnTo>
                  <a:pt x="30522" y="14732"/>
                </a:lnTo>
                <a:lnTo>
                  <a:pt x="6125" y="14732"/>
                </a:lnTo>
                <a:lnTo>
                  <a:pt x="4944" y="14224"/>
                </a:lnTo>
                <a:lnTo>
                  <a:pt x="4573" y="13843"/>
                </a:lnTo>
                <a:close/>
              </a:path>
              <a:path w="41909" h="29210">
                <a:moveTo>
                  <a:pt x="4269" y="13531"/>
                </a:moveTo>
                <a:lnTo>
                  <a:pt x="4944" y="14224"/>
                </a:lnTo>
                <a:lnTo>
                  <a:pt x="6125" y="14732"/>
                </a:lnTo>
                <a:lnTo>
                  <a:pt x="8602" y="14732"/>
                </a:lnTo>
                <a:lnTo>
                  <a:pt x="9795" y="14224"/>
                </a:lnTo>
                <a:lnTo>
                  <a:pt x="10160" y="13843"/>
                </a:lnTo>
                <a:lnTo>
                  <a:pt x="4715" y="13843"/>
                </a:lnTo>
                <a:lnTo>
                  <a:pt x="4269" y="13531"/>
                </a:lnTo>
                <a:close/>
              </a:path>
              <a:path w="41909" h="29210">
                <a:moveTo>
                  <a:pt x="14497" y="7916"/>
                </a:moveTo>
                <a:lnTo>
                  <a:pt x="14215" y="9651"/>
                </a:lnTo>
                <a:lnTo>
                  <a:pt x="12272" y="11684"/>
                </a:lnTo>
                <a:lnTo>
                  <a:pt x="9795" y="14224"/>
                </a:lnTo>
                <a:lnTo>
                  <a:pt x="8602" y="14732"/>
                </a:lnTo>
                <a:lnTo>
                  <a:pt x="30522" y="14732"/>
                </a:lnTo>
                <a:lnTo>
                  <a:pt x="27779" y="11684"/>
                </a:lnTo>
                <a:lnTo>
                  <a:pt x="25201" y="10160"/>
                </a:lnTo>
                <a:lnTo>
                  <a:pt x="16565" y="10160"/>
                </a:lnTo>
                <a:lnTo>
                  <a:pt x="16096" y="9651"/>
                </a:lnTo>
                <a:lnTo>
                  <a:pt x="15218" y="9651"/>
                </a:lnTo>
                <a:lnTo>
                  <a:pt x="14777" y="8220"/>
                </a:lnTo>
                <a:lnTo>
                  <a:pt x="14497" y="7916"/>
                </a:lnTo>
                <a:close/>
              </a:path>
              <a:path w="41909" h="29210">
                <a:moveTo>
                  <a:pt x="2114" y="12105"/>
                </a:moveTo>
                <a:lnTo>
                  <a:pt x="2747" y="13335"/>
                </a:lnTo>
                <a:lnTo>
                  <a:pt x="4548" y="14707"/>
                </a:lnTo>
                <a:lnTo>
                  <a:pt x="3992" y="13843"/>
                </a:lnTo>
                <a:lnTo>
                  <a:pt x="4573" y="13843"/>
                </a:lnTo>
                <a:lnTo>
                  <a:pt x="4269" y="13531"/>
                </a:lnTo>
                <a:lnTo>
                  <a:pt x="3623" y="13081"/>
                </a:lnTo>
                <a:lnTo>
                  <a:pt x="2114" y="12105"/>
                </a:lnTo>
                <a:close/>
              </a:path>
              <a:path w="41909" h="29210">
                <a:moveTo>
                  <a:pt x="1604" y="8636"/>
                </a:moveTo>
                <a:lnTo>
                  <a:pt x="1787" y="10972"/>
                </a:lnTo>
                <a:lnTo>
                  <a:pt x="4269" y="13531"/>
                </a:lnTo>
                <a:lnTo>
                  <a:pt x="4715" y="13843"/>
                </a:lnTo>
                <a:lnTo>
                  <a:pt x="1604" y="8636"/>
                </a:lnTo>
                <a:close/>
              </a:path>
              <a:path w="41909" h="29210">
                <a:moveTo>
                  <a:pt x="14380" y="8636"/>
                </a:moveTo>
                <a:lnTo>
                  <a:pt x="1604" y="8636"/>
                </a:lnTo>
                <a:lnTo>
                  <a:pt x="4715" y="13843"/>
                </a:lnTo>
                <a:lnTo>
                  <a:pt x="10160" y="13843"/>
                </a:lnTo>
                <a:lnTo>
                  <a:pt x="12515" y="11430"/>
                </a:lnTo>
                <a:lnTo>
                  <a:pt x="14215" y="9651"/>
                </a:lnTo>
                <a:lnTo>
                  <a:pt x="14380" y="8636"/>
                </a:lnTo>
                <a:close/>
              </a:path>
              <a:path w="41909" h="29210">
                <a:moveTo>
                  <a:pt x="1787" y="10972"/>
                </a:moveTo>
                <a:lnTo>
                  <a:pt x="1898" y="11684"/>
                </a:lnTo>
                <a:lnTo>
                  <a:pt x="2114" y="12105"/>
                </a:lnTo>
                <a:lnTo>
                  <a:pt x="3623" y="13081"/>
                </a:lnTo>
                <a:lnTo>
                  <a:pt x="4269" y="13531"/>
                </a:lnTo>
                <a:lnTo>
                  <a:pt x="1787" y="10972"/>
                </a:lnTo>
                <a:close/>
              </a:path>
              <a:path w="41909" h="29210">
                <a:moveTo>
                  <a:pt x="169" y="7465"/>
                </a:moveTo>
                <a:lnTo>
                  <a:pt x="120" y="7636"/>
                </a:lnTo>
                <a:lnTo>
                  <a:pt x="0" y="8636"/>
                </a:lnTo>
                <a:lnTo>
                  <a:pt x="1071" y="11430"/>
                </a:lnTo>
                <a:lnTo>
                  <a:pt x="2114" y="12105"/>
                </a:lnTo>
                <a:lnTo>
                  <a:pt x="1898" y="11684"/>
                </a:lnTo>
                <a:lnTo>
                  <a:pt x="1787" y="10972"/>
                </a:lnTo>
                <a:lnTo>
                  <a:pt x="524" y="9651"/>
                </a:lnTo>
                <a:lnTo>
                  <a:pt x="169" y="7465"/>
                </a:lnTo>
                <a:close/>
              </a:path>
              <a:path w="41909" h="29210">
                <a:moveTo>
                  <a:pt x="7370" y="205"/>
                </a:moveTo>
                <a:lnTo>
                  <a:pt x="6836" y="253"/>
                </a:lnTo>
                <a:lnTo>
                  <a:pt x="4467" y="361"/>
                </a:lnTo>
                <a:lnTo>
                  <a:pt x="3194" y="1092"/>
                </a:lnTo>
                <a:lnTo>
                  <a:pt x="2276" y="1873"/>
                </a:lnTo>
                <a:lnTo>
                  <a:pt x="1041" y="4473"/>
                </a:lnTo>
                <a:lnTo>
                  <a:pt x="251" y="7184"/>
                </a:lnTo>
                <a:lnTo>
                  <a:pt x="256" y="8000"/>
                </a:lnTo>
                <a:lnTo>
                  <a:pt x="524" y="9651"/>
                </a:lnTo>
                <a:lnTo>
                  <a:pt x="1787" y="10972"/>
                </a:lnTo>
                <a:lnTo>
                  <a:pt x="1604" y="8636"/>
                </a:lnTo>
                <a:lnTo>
                  <a:pt x="14380" y="8636"/>
                </a:lnTo>
                <a:lnTo>
                  <a:pt x="14341" y="7747"/>
                </a:lnTo>
                <a:lnTo>
                  <a:pt x="13288" y="6603"/>
                </a:lnTo>
                <a:lnTo>
                  <a:pt x="14279" y="6603"/>
                </a:lnTo>
                <a:lnTo>
                  <a:pt x="13882" y="5314"/>
                </a:lnTo>
                <a:lnTo>
                  <a:pt x="11269" y="1650"/>
                </a:lnTo>
                <a:lnTo>
                  <a:pt x="12202" y="1650"/>
                </a:lnTo>
                <a:lnTo>
                  <a:pt x="11546" y="1092"/>
                </a:lnTo>
                <a:lnTo>
                  <a:pt x="10272" y="361"/>
                </a:lnTo>
                <a:lnTo>
                  <a:pt x="7903" y="253"/>
                </a:lnTo>
                <a:lnTo>
                  <a:pt x="7370" y="205"/>
                </a:lnTo>
                <a:close/>
              </a:path>
              <a:path w="41909" h="29210">
                <a:moveTo>
                  <a:pt x="15359" y="7770"/>
                </a:moveTo>
                <a:lnTo>
                  <a:pt x="15284" y="8770"/>
                </a:lnTo>
                <a:lnTo>
                  <a:pt x="16565" y="10160"/>
                </a:lnTo>
                <a:lnTo>
                  <a:pt x="15788" y="8127"/>
                </a:lnTo>
                <a:lnTo>
                  <a:pt x="15675" y="7882"/>
                </a:lnTo>
                <a:lnTo>
                  <a:pt x="15359" y="7770"/>
                </a:lnTo>
                <a:close/>
              </a:path>
              <a:path w="41909" h="29210">
                <a:moveTo>
                  <a:pt x="15675" y="7882"/>
                </a:moveTo>
                <a:lnTo>
                  <a:pt x="16565" y="10160"/>
                </a:lnTo>
                <a:lnTo>
                  <a:pt x="25201" y="10160"/>
                </a:lnTo>
                <a:lnTo>
                  <a:pt x="16859" y="8127"/>
                </a:lnTo>
                <a:lnTo>
                  <a:pt x="16361" y="8127"/>
                </a:lnTo>
                <a:lnTo>
                  <a:pt x="15675" y="7882"/>
                </a:lnTo>
                <a:close/>
              </a:path>
              <a:path w="41909" h="29210">
                <a:moveTo>
                  <a:pt x="14777" y="8220"/>
                </a:moveTo>
                <a:lnTo>
                  <a:pt x="15218" y="9651"/>
                </a:lnTo>
                <a:lnTo>
                  <a:pt x="15160" y="8636"/>
                </a:lnTo>
                <a:lnTo>
                  <a:pt x="14777" y="8220"/>
                </a:lnTo>
                <a:close/>
              </a:path>
              <a:path w="41909" h="29210">
                <a:moveTo>
                  <a:pt x="15284" y="8770"/>
                </a:moveTo>
                <a:lnTo>
                  <a:pt x="15218" y="9651"/>
                </a:lnTo>
                <a:lnTo>
                  <a:pt x="16096" y="9651"/>
                </a:lnTo>
                <a:lnTo>
                  <a:pt x="15284" y="8770"/>
                </a:lnTo>
                <a:close/>
              </a:path>
              <a:path w="41909" h="29210">
                <a:moveTo>
                  <a:pt x="14604" y="7256"/>
                </a:moveTo>
                <a:lnTo>
                  <a:pt x="14658" y="7833"/>
                </a:lnTo>
                <a:lnTo>
                  <a:pt x="14777" y="8220"/>
                </a:lnTo>
                <a:lnTo>
                  <a:pt x="15284" y="8770"/>
                </a:lnTo>
                <a:lnTo>
                  <a:pt x="15370" y="7636"/>
                </a:lnTo>
                <a:lnTo>
                  <a:pt x="14604" y="7256"/>
                </a:lnTo>
                <a:close/>
              </a:path>
              <a:path w="41909" h="29210">
                <a:moveTo>
                  <a:pt x="14561" y="7520"/>
                </a:moveTo>
                <a:lnTo>
                  <a:pt x="14575" y="8000"/>
                </a:lnTo>
                <a:lnTo>
                  <a:pt x="14777" y="8220"/>
                </a:lnTo>
                <a:lnTo>
                  <a:pt x="14561" y="7520"/>
                </a:lnTo>
                <a:close/>
              </a:path>
              <a:path w="41909" h="29210">
                <a:moveTo>
                  <a:pt x="15648" y="7833"/>
                </a:moveTo>
                <a:lnTo>
                  <a:pt x="16361" y="8127"/>
                </a:lnTo>
                <a:lnTo>
                  <a:pt x="15853" y="7882"/>
                </a:lnTo>
                <a:lnTo>
                  <a:pt x="15648" y="7833"/>
                </a:lnTo>
                <a:close/>
              </a:path>
              <a:path w="41909" h="29210">
                <a:moveTo>
                  <a:pt x="15881" y="7889"/>
                </a:moveTo>
                <a:lnTo>
                  <a:pt x="16361" y="8127"/>
                </a:lnTo>
                <a:lnTo>
                  <a:pt x="16859" y="8127"/>
                </a:lnTo>
                <a:lnTo>
                  <a:pt x="15881" y="7889"/>
                </a:lnTo>
                <a:close/>
              </a:path>
              <a:path w="41909" h="29210">
                <a:moveTo>
                  <a:pt x="13288" y="6603"/>
                </a:moveTo>
                <a:lnTo>
                  <a:pt x="14497" y="7916"/>
                </a:lnTo>
                <a:lnTo>
                  <a:pt x="14458" y="7184"/>
                </a:lnTo>
                <a:lnTo>
                  <a:pt x="13288" y="6603"/>
                </a:lnTo>
                <a:close/>
              </a:path>
              <a:path w="41909" h="29210">
                <a:moveTo>
                  <a:pt x="15605" y="7753"/>
                </a:moveTo>
                <a:lnTo>
                  <a:pt x="15881" y="7889"/>
                </a:lnTo>
                <a:lnTo>
                  <a:pt x="15605" y="7753"/>
                </a:lnTo>
                <a:close/>
              </a:path>
              <a:path w="41909" h="29210">
                <a:moveTo>
                  <a:pt x="15360" y="7762"/>
                </a:moveTo>
                <a:lnTo>
                  <a:pt x="15675" y="7882"/>
                </a:lnTo>
                <a:lnTo>
                  <a:pt x="15360" y="7762"/>
                </a:lnTo>
                <a:close/>
              </a:path>
              <a:path w="41909" h="29210">
                <a:moveTo>
                  <a:pt x="15370" y="7636"/>
                </a:moveTo>
                <a:lnTo>
                  <a:pt x="15390" y="7770"/>
                </a:lnTo>
                <a:lnTo>
                  <a:pt x="15648" y="7833"/>
                </a:lnTo>
                <a:lnTo>
                  <a:pt x="15370" y="7636"/>
                </a:lnTo>
                <a:close/>
              </a:path>
              <a:path w="41909" h="29210">
                <a:moveTo>
                  <a:pt x="15361" y="7747"/>
                </a:moveTo>
                <a:close/>
              </a:path>
              <a:path w="41909" h="29210">
                <a:moveTo>
                  <a:pt x="15391" y="7355"/>
                </a:moveTo>
                <a:lnTo>
                  <a:pt x="15370" y="7636"/>
                </a:lnTo>
                <a:lnTo>
                  <a:pt x="15605" y="7753"/>
                </a:lnTo>
                <a:lnTo>
                  <a:pt x="15391" y="7355"/>
                </a:lnTo>
                <a:close/>
              </a:path>
              <a:path w="41909" h="29210">
                <a:moveTo>
                  <a:pt x="14139" y="5401"/>
                </a:moveTo>
                <a:lnTo>
                  <a:pt x="14710" y="6603"/>
                </a:lnTo>
                <a:lnTo>
                  <a:pt x="14604" y="7256"/>
                </a:lnTo>
                <a:lnTo>
                  <a:pt x="15370" y="7636"/>
                </a:lnTo>
                <a:lnTo>
                  <a:pt x="15298" y="7184"/>
                </a:lnTo>
                <a:lnTo>
                  <a:pt x="14710" y="6096"/>
                </a:lnTo>
                <a:lnTo>
                  <a:pt x="14139" y="5401"/>
                </a:lnTo>
                <a:close/>
              </a:path>
              <a:path w="41909" h="29210">
                <a:moveTo>
                  <a:pt x="14458" y="7184"/>
                </a:moveTo>
                <a:lnTo>
                  <a:pt x="14561" y="7520"/>
                </a:lnTo>
                <a:lnTo>
                  <a:pt x="14604" y="7256"/>
                </a:lnTo>
                <a:lnTo>
                  <a:pt x="14458" y="7184"/>
                </a:lnTo>
                <a:close/>
              </a:path>
              <a:path w="41909" h="29210">
                <a:moveTo>
                  <a:pt x="1042" y="4471"/>
                </a:moveTo>
                <a:lnTo>
                  <a:pt x="29" y="6603"/>
                </a:lnTo>
                <a:lnTo>
                  <a:pt x="169" y="7465"/>
                </a:lnTo>
                <a:lnTo>
                  <a:pt x="1042" y="4471"/>
                </a:lnTo>
                <a:close/>
              </a:path>
              <a:path w="41909" h="29210">
                <a:moveTo>
                  <a:pt x="13290" y="3073"/>
                </a:moveTo>
                <a:lnTo>
                  <a:pt x="13699" y="4473"/>
                </a:lnTo>
                <a:lnTo>
                  <a:pt x="14098" y="5314"/>
                </a:lnTo>
                <a:lnTo>
                  <a:pt x="14188" y="5461"/>
                </a:lnTo>
                <a:lnTo>
                  <a:pt x="14710" y="6096"/>
                </a:lnTo>
                <a:lnTo>
                  <a:pt x="15391" y="7355"/>
                </a:lnTo>
                <a:lnTo>
                  <a:pt x="15485" y="6096"/>
                </a:lnTo>
                <a:lnTo>
                  <a:pt x="14355" y="3810"/>
                </a:lnTo>
                <a:lnTo>
                  <a:pt x="13290" y="3073"/>
                </a:lnTo>
                <a:close/>
              </a:path>
              <a:path w="41909" h="29210">
                <a:moveTo>
                  <a:pt x="13876" y="5080"/>
                </a:moveTo>
                <a:lnTo>
                  <a:pt x="13986" y="5461"/>
                </a:lnTo>
                <a:lnTo>
                  <a:pt x="14458" y="7184"/>
                </a:lnTo>
                <a:lnTo>
                  <a:pt x="14604" y="7256"/>
                </a:lnTo>
                <a:lnTo>
                  <a:pt x="14710" y="6603"/>
                </a:lnTo>
                <a:lnTo>
                  <a:pt x="14167" y="5461"/>
                </a:lnTo>
                <a:lnTo>
                  <a:pt x="13876" y="5080"/>
                </a:lnTo>
                <a:close/>
              </a:path>
              <a:path w="41909" h="29210">
                <a:moveTo>
                  <a:pt x="14279" y="6603"/>
                </a:moveTo>
                <a:lnTo>
                  <a:pt x="13288" y="6603"/>
                </a:lnTo>
                <a:lnTo>
                  <a:pt x="14458" y="7184"/>
                </a:lnTo>
                <a:lnTo>
                  <a:pt x="14279" y="6603"/>
                </a:lnTo>
                <a:close/>
              </a:path>
              <a:path w="41909" h="29210">
                <a:moveTo>
                  <a:pt x="13882" y="5314"/>
                </a:moveTo>
                <a:lnTo>
                  <a:pt x="13927" y="5461"/>
                </a:lnTo>
                <a:lnTo>
                  <a:pt x="13882" y="5314"/>
                </a:lnTo>
                <a:close/>
              </a:path>
              <a:path w="41909" h="29210">
                <a:moveTo>
                  <a:pt x="13771" y="4952"/>
                </a:moveTo>
                <a:lnTo>
                  <a:pt x="13882" y="5314"/>
                </a:lnTo>
                <a:lnTo>
                  <a:pt x="13986" y="5461"/>
                </a:lnTo>
                <a:lnTo>
                  <a:pt x="13876" y="5080"/>
                </a:lnTo>
                <a:lnTo>
                  <a:pt x="13771" y="4952"/>
                </a:lnTo>
                <a:close/>
              </a:path>
              <a:path w="41909" h="29210">
                <a:moveTo>
                  <a:pt x="13699" y="4473"/>
                </a:moveTo>
                <a:lnTo>
                  <a:pt x="13876" y="5080"/>
                </a:lnTo>
                <a:lnTo>
                  <a:pt x="14139" y="5401"/>
                </a:lnTo>
                <a:lnTo>
                  <a:pt x="13699" y="4473"/>
                </a:lnTo>
                <a:close/>
              </a:path>
              <a:path w="41909" h="29210">
                <a:moveTo>
                  <a:pt x="11269" y="1650"/>
                </a:moveTo>
                <a:lnTo>
                  <a:pt x="13882" y="5314"/>
                </a:lnTo>
                <a:lnTo>
                  <a:pt x="13838" y="4952"/>
                </a:lnTo>
                <a:lnTo>
                  <a:pt x="13698" y="4471"/>
                </a:lnTo>
                <a:lnTo>
                  <a:pt x="12908" y="2808"/>
                </a:lnTo>
                <a:lnTo>
                  <a:pt x="11269" y="1650"/>
                </a:lnTo>
                <a:close/>
              </a:path>
              <a:path w="41909" h="29210">
                <a:moveTo>
                  <a:pt x="13838" y="4952"/>
                </a:moveTo>
                <a:lnTo>
                  <a:pt x="13876" y="5080"/>
                </a:lnTo>
                <a:lnTo>
                  <a:pt x="13838" y="4952"/>
                </a:lnTo>
                <a:close/>
              </a:path>
              <a:path w="41909" h="29210">
                <a:moveTo>
                  <a:pt x="12908" y="2808"/>
                </a:moveTo>
                <a:lnTo>
                  <a:pt x="13699" y="4473"/>
                </a:lnTo>
                <a:lnTo>
                  <a:pt x="13290" y="3073"/>
                </a:lnTo>
                <a:lnTo>
                  <a:pt x="12908" y="2808"/>
                </a:lnTo>
                <a:close/>
              </a:path>
              <a:path w="41909" h="29210">
                <a:moveTo>
                  <a:pt x="2276" y="1873"/>
                </a:moveTo>
                <a:lnTo>
                  <a:pt x="1642" y="2413"/>
                </a:lnTo>
                <a:lnTo>
                  <a:pt x="1042" y="4471"/>
                </a:lnTo>
                <a:lnTo>
                  <a:pt x="2276" y="1873"/>
                </a:lnTo>
                <a:close/>
              </a:path>
              <a:path w="41909" h="29210">
                <a:moveTo>
                  <a:pt x="12463" y="1873"/>
                </a:moveTo>
                <a:lnTo>
                  <a:pt x="12908" y="2808"/>
                </a:lnTo>
                <a:lnTo>
                  <a:pt x="13290" y="3073"/>
                </a:lnTo>
                <a:lnTo>
                  <a:pt x="13097" y="2413"/>
                </a:lnTo>
                <a:lnTo>
                  <a:pt x="12463" y="1873"/>
                </a:lnTo>
                <a:close/>
              </a:path>
              <a:path w="41909" h="29210">
                <a:moveTo>
                  <a:pt x="12202" y="1650"/>
                </a:moveTo>
                <a:lnTo>
                  <a:pt x="11269" y="1650"/>
                </a:lnTo>
                <a:lnTo>
                  <a:pt x="12908" y="2808"/>
                </a:lnTo>
                <a:lnTo>
                  <a:pt x="12463" y="1873"/>
                </a:lnTo>
                <a:lnTo>
                  <a:pt x="12202" y="1650"/>
                </a:lnTo>
                <a:close/>
              </a:path>
              <a:path w="41909" h="29210">
                <a:moveTo>
                  <a:pt x="3194" y="1092"/>
                </a:moveTo>
                <a:lnTo>
                  <a:pt x="2442" y="1524"/>
                </a:lnTo>
                <a:lnTo>
                  <a:pt x="2276" y="1873"/>
                </a:lnTo>
                <a:lnTo>
                  <a:pt x="3194" y="1092"/>
                </a:lnTo>
                <a:close/>
              </a:path>
              <a:path w="41909" h="29210">
                <a:moveTo>
                  <a:pt x="11546" y="1092"/>
                </a:moveTo>
                <a:lnTo>
                  <a:pt x="12463" y="1873"/>
                </a:lnTo>
                <a:lnTo>
                  <a:pt x="12297" y="1524"/>
                </a:lnTo>
                <a:lnTo>
                  <a:pt x="11546" y="1092"/>
                </a:lnTo>
                <a:close/>
              </a:path>
              <a:path w="41909" h="29210">
                <a:moveTo>
                  <a:pt x="4467" y="361"/>
                </a:moveTo>
                <a:lnTo>
                  <a:pt x="4030" y="381"/>
                </a:lnTo>
                <a:lnTo>
                  <a:pt x="3194" y="1092"/>
                </a:lnTo>
                <a:lnTo>
                  <a:pt x="4467" y="361"/>
                </a:lnTo>
                <a:close/>
              </a:path>
              <a:path w="41909" h="29210">
                <a:moveTo>
                  <a:pt x="10272" y="361"/>
                </a:moveTo>
                <a:lnTo>
                  <a:pt x="11546" y="1092"/>
                </a:lnTo>
                <a:lnTo>
                  <a:pt x="10710" y="381"/>
                </a:lnTo>
                <a:lnTo>
                  <a:pt x="10272" y="361"/>
                </a:lnTo>
                <a:close/>
              </a:path>
              <a:path w="41909" h="29210">
                <a:moveTo>
                  <a:pt x="5096" y="0"/>
                </a:moveTo>
                <a:lnTo>
                  <a:pt x="4467" y="361"/>
                </a:lnTo>
                <a:lnTo>
                  <a:pt x="6836" y="253"/>
                </a:lnTo>
                <a:lnTo>
                  <a:pt x="7370" y="205"/>
                </a:lnTo>
                <a:lnTo>
                  <a:pt x="5096" y="0"/>
                </a:lnTo>
                <a:close/>
              </a:path>
              <a:path w="41909" h="29210">
                <a:moveTo>
                  <a:pt x="9643" y="0"/>
                </a:moveTo>
                <a:lnTo>
                  <a:pt x="7370" y="205"/>
                </a:lnTo>
                <a:lnTo>
                  <a:pt x="7903" y="253"/>
                </a:lnTo>
                <a:lnTo>
                  <a:pt x="10272" y="361"/>
                </a:lnTo>
                <a:lnTo>
                  <a:pt x="9643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81457" y="0"/>
            <a:ext cx="2444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SD</a:t>
            </a:r>
            <a:r>
              <a:rPr sz="1800" b="1" u="heavy" spc="-1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r>
              <a:rPr sz="1800" b="1" u="heavy" spc="-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Anoth</a:t>
            </a:r>
            <a:r>
              <a:rPr sz="1800" b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18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xa</a:t>
            </a:r>
            <a:r>
              <a:rPr sz="1800" b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pl</a:t>
            </a:r>
            <a:r>
              <a:rPr sz="18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-5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888DBC-6478-FE9D-8270-4906D881F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19200"/>
            <a:ext cx="9829799" cy="441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80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E51BF0-5581-5789-8151-54F18121E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9" y="0"/>
            <a:ext cx="101398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588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07167B-E825-0D99-1139-97DF0D2FD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67" y="0"/>
            <a:ext cx="108680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046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52535C-0C35-96DA-731D-0E824F8FA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13" y="0"/>
            <a:ext cx="105169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00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2952</TotalTime>
  <Words>2079</Words>
  <Application>Microsoft Office PowerPoint</Application>
  <PresentationFormat>Widescreen</PresentationFormat>
  <Paragraphs>333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 MT</vt:lpstr>
      <vt:lpstr>Calibri</vt:lpstr>
      <vt:lpstr>Constantia</vt:lpstr>
      <vt:lpstr>Segoe UI Symbol</vt:lpstr>
      <vt:lpstr>Times New Roman</vt:lpstr>
      <vt:lpstr>Office Theme</vt:lpstr>
      <vt:lpstr>Module 3 : part 2</vt:lpstr>
      <vt:lpstr>Syntax-Directed Translation</vt:lpstr>
      <vt:lpstr>PowerPoint Presentation</vt:lpstr>
      <vt:lpstr>PowerPoint Presentation</vt:lpstr>
      <vt:lpstr>PowerPoint Presentation</vt:lpstr>
      <vt:lpstr>PowerPoint Presentation</vt:lpstr>
      <vt:lpstr>Syntax-Directed Translation Schemes (SDT)</vt:lpstr>
      <vt:lpstr>Syntax Directed Translations</vt:lpstr>
      <vt:lpstr>Example: SDT: Example-1</vt:lpstr>
      <vt:lpstr>SDT: Another example-2 (with both Top down and Bottom up approach)</vt:lpstr>
      <vt:lpstr>SDT: Another example-2(with both Top down and Bottom up approach)</vt:lpstr>
      <vt:lpstr>Convert infix expression to postfix expression using Top down Approach</vt:lpstr>
      <vt:lpstr>Convert infix expression to postfix expression using Bottom-up parsers</vt:lpstr>
      <vt:lpstr>Bottom-up parsers</vt:lpstr>
      <vt:lpstr>Bottom-up parsers </vt:lpstr>
      <vt:lpstr>Top-down</vt:lpstr>
      <vt:lpstr>Infix → postfix translator</vt:lpstr>
      <vt:lpstr>Conversion from infix to prefix expression</vt:lpstr>
      <vt:lpstr>Prefix to infix translation</vt:lpstr>
      <vt:lpstr>SDT: Another example-3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Compiler Design</dc:title>
  <dc:creator>PhaniKrishna</dc:creator>
  <cp:lastModifiedBy>Sahaaya Arul Mary S A</cp:lastModifiedBy>
  <cp:revision>3</cp:revision>
  <dcterms:created xsi:type="dcterms:W3CDTF">2023-03-09T09:56:50Z</dcterms:created>
  <dcterms:modified xsi:type="dcterms:W3CDTF">2023-06-20T07:40:33Z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2023-02-20T00:00:00Z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2023-03-09T00:00:00Z</vt:filetime>
  </property>
</Properties>
</file>