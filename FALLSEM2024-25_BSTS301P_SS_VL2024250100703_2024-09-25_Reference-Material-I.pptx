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0" r:id="rId2"/>
    <p:sldMasterId id="2147483669" r:id="rId3"/>
  </p:sldMasterIdLst>
  <p:notesMasterIdLst>
    <p:notesMasterId r:id="rId19"/>
  </p:notesMasterIdLst>
  <p:sldIdLst>
    <p:sldId id="256" r:id="rId4"/>
    <p:sldId id="257" r:id="rId5"/>
    <p:sldId id="333" r:id="rId6"/>
    <p:sldId id="258" r:id="rId7"/>
    <p:sldId id="304" r:id="rId8"/>
    <p:sldId id="334" r:id="rId9"/>
    <p:sldId id="259" r:id="rId10"/>
    <p:sldId id="260" r:id="rId11"/>
    <p:sldId id="261" r:id="rId12"/>
    <p:sldId id="262" r:id="rId13"/>
    <p:sldId id="263" r:id="rId14"/>
    <p:sldId id="335" r:id="rId15"/>
    <p:sldId id="336" r:id="rId16"/>
    <p:sldId id="337" r:id="rId17"/>
    <p:sldId id="303" r:id="rId18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20"/>
      <p:bold r:id="rId21"/>
      <p:italic r:id="rId22"/>
      <p:boldItalic r:id="rId23"/>
    </p:embeddedFont>
    <p:embeddedFont>
      <p:font typeface="Roboto" panose="02000000000000000000" pitchFamily="2" charset="0"/>
      <p:regular r:id="rId24"/>
      <p:bold r:id="rId25"/>
      <p:italic r:id="rId26"/>
      <p:boldItalic r:id="rId27"/>
    </p:embeddedFont>
    <p:embeddedFont>
      <p:font typeface="Roboto Black" panose="02000000000000000000" pitchFamily="2" charset="0"/>
      <p:bold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454">
          <p15:clr>
            <a:srgbClr val="FF00FF"/>
          </p15:clr>
        </p15:guide>
        <p15:guide id="2" orient="horz" pos="2755">
          <p15:clr>
            <a:srgbClr val="FF0000"/>
          </p15:clr>
        </p15:guide>
        <p15:guide id="3" orient="horz" pos="907">
          <p15:clr>
            <a:srgbClr val="FF0000"/>
          </p15:clr>
        </p15:guide>
        <p15:guide id="4" pos="5272">
          <p15:clr>
            <a:srgbClr val="FF00FF"/>
          </p15:clr>
        </p15:guide>
        <p15:guide id="5" orient="horz" pos="737">
          <p15:clr>
            <a:srgbClr val="00FF00"/>
          </p15:clr>
        </p15:guide>
        <p15:guide id="6" orient="horz" pos="397">
          <p15:clr>
            <a:srgbClr val="00FF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6" roundtripDataSignature="AMtx7miHiSzDa0vTNjS1xHGCbJH/tB5ZD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181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7" y="720"/>
      </p:cViewPr>
      <p:guideLst>
        <p:guide pos="454"/>
        <p:guide orient="horz" pos="2755"/>
        <p:guide orient="horz" pos="907"/>
        <p:guide pos="5272"/>
        <p:guide orient="horz" pos="737"/>
        <p:guide orient="horz" pos="39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font" Target="fonts/font7.fntdata"/><Relationship Id="rId3" Type="http://schemas.openxmlformats.org/officeDocument/2006/relationships/slideMaster" Target="slideMasters/slideMaster3.xml"/><Relationship Id="rId21" Type="http://schemas.openxmlformats.org/officeDocument/2006/relationships/font" Target="fonts/font2.fntdata"/><Relationship Id="rId68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font" Target="fonts/font6.fntdata"/><Relationship Id="rId6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font" Target="fonts/font5.fntdata"/><Relationship Id="rId66" Type="http://customschemas.google.com/relationships/presentationmetadata" Target="metadata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7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69" Type="http://schemas.openxmlformats.org/officeDocument/2006/relationships/theme" Target="theme/theme1.xml"/><Relationship Id="rId8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7" name="Google Shape;147;p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529098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887368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f1834e442a_2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0" name="Google Shape;170;g2f1834e442a_2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Answer: C</a:t>
            </a: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Explanation: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    Each letter in the word is moved one step backward to obtain the corresponding letter of the code.</a:t>
            </a: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f1834e442a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5" name="Google Shape;175;g2f1834e442a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Answer: C</a:t>
            </a: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Explanation: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    Each letter in the word is moved one step backward to obtain the corresponding letter of the code.</a:t>
            </a: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f1834e442a_2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g2f1834e442a_2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Answer: C</a:t>
            </a: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Explanation: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    Each letter in the word is moved one step backward to obtain the corresponding letter of the code.</a:t>
            </a: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f1834e442a_2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7" name="Google Shape;187;g2f1834e442a_2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Answer: C</a:t>
            </a: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Explanation: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    Each letter in the word is moved one step backward to obtain the corresponding letter of the code.</a:t>
            </a: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f1834e442a_2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7" name="Google Shape;187;g2f1834e442a_2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Answer: C</a:t>
            </a: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Explanation: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    Each letter in the word is moved one step backward to obtain the corresponding letter of the code.</a:t>
            </a: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20611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f1834e442a_2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7" name="Google Shape;187;g2f1834e442a_2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Answer: C</a:t>
            </a: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Explanation: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    Each letter in the word is moved one step backward to obtain the corresponding letter of the code.</a:t>
            </a: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88653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f1834e442a_2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7" name="Google Shape;187;g2f1834e442a_2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Answer: C</a:t>
            </a: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Explanation: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    Each letter in the word is moved one step backward to obtain the corresponding letter of the code.</a:t>
            </a: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75860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9" name="Google Shape;459;p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6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6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6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4" name="Google Shape;14;p6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7219"/>
            <a:ext cx="9144001" cy="51362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5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5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" name="Google Shape;21;p5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54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5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2" name="Google Shape;32;p5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5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6" name="Google Shape;36;p5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5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5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1" name="Google Shape;41;p5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5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5" name="Google Shape;45;p5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6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6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6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67" name="Google Shape;67;p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4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71" name="Google Shape;71;p4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72" name="Google Shape;72;p4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3" name="Google Shape;73;p4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76" name="Google Shape;76;p4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9" name="Google Shape;79;p4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0" name="Google Shape;80;p4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">
  <p:cSld name="4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44" descr="A close up of a logo&#10;&#10;Description generated with high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76800" y="183600"/>
            <a:ext cx="1022401" cy="766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44" descr="A picture containing colorful, colored&#10;&#10;Description generated with very high confidence"/>
          <p:cNvPicPr preferRelativeResize="0"/>
          <p:nvPr/>
        </p:nvPicPr>
        <p:blipFill rotWithShape="1">
          <a:blip r:embed="rId3">
            <a:alphaModFix/>
          </a:blip>
          <a:srcRect t="55602" b="37530"/>
          <a:stretch/>
        </p:blipFill>
        <p:spPr>
          <a:xfrm>
            <a:off x="0" y="4849200"/>
            <a:ext cx="9144000" cy="2943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44"/>
          <p:cNvSpPr/>
          <p:nvPr/>
        </p:nvSpPr>
        <p:spPr>
          <a:xfrm>
            <a:off x="894683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44"/>
          <p:cNvSpPr/>
          <p:nvPr/>
        </p:nvSpPr>
        <p:spPr>
          <a:xfrm>
            <a:off x="887040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44"/>
          <p:cNvSpPr/>
          <p:nvPr/>
        </p:nvSpPr>
        <p:spPr>
          <a:xfrm>
            <a:off x="879397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44"/>
          <p:cNvSpPr/>
          <p:nvPr/>
        </p:nvSpPr>
        <p:spPr>
          <a:xfrm>
            <a:off x="871754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6" name="Google Shape;96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8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4" name="Google Shape;104;p68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05" name="Google Shape;105;p6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2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4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12" name="Google Shape;112;p4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4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16" name="Google Shape;116;p4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17" name="Google Shape;117;p4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18" name="Google Shape;118;p4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121" name="Google Shape;121;p4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4" name="Google Shape;124;p5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5" name="Google Shape;125;p5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">
  <p:cSld name="4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51" descr="A close up of a logo&#10;&#10;Description generated with high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76800" y="183600"/>
            <a:ext cx="1022401" cy="766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51" descr="A picture containing colorful, colored&#10;&#10;Description generated with very high confidence"/>
          <p:cNvPicPr preferRelativeResize="0"/>
          <p:nvPr/>
        </p:nvPicPr>
        <p:blipFill rotWithShape="1">
          <a:blip r:embed="rId3">
            <a:alphaModFix/>
          </a:blip>
          <a:srcRect t="55603" b="37530"/>
          <a:stretch/>
        </p:blipFill>
        <p:spPr>
          <a:xfrm>
            <a:off x="0" y="4849200"/>
            <a:ext cx="9144000" cy="29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51"/>
          <p:cNvSpPr/>
          <p:nvPr/>
        </p:nvSpPr>
        <p:spPr>
          <a:xfrm>
            <a:off x="894683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51"/>
          <p:cNvSpPr/>
          <p:nvPr/>
        </p:nvSpPr>
        <p:spPr>
          <a:xfrm>
            <a:off x="887040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51"/>
          <p:cNvSpPr/>
          <p:nvPr/>
        </p:nvSpPr>
        <p:spPr>
          <a:xfrm>
            <a:off x="879397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51"/>
          <p:cNvSpPr/>
          <p:nvPr/>
        </p:nvSpPr>
        <p:spPr>
          <a:xfrm>
            <a:off x="871754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f1834e442a_2_1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5" name="Google Shape;135;g2f1834e442a_2_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10" Type="http://schemas.openxmlformats.org/officeDocument/2006/relationships/image" Target="../media/image1.jpg"/><Relationship Id="rId4" Type="http://schemas.openxmlformats.org/officeDocument/2006/relationships/slideLayout" Target="../slideLayouts/slideLayout15.xml"/><Relationship Id="rId9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image" Target="../media/image1.jpg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9" name="Google Shape;9;p24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-1" y="7219"/>
            <a:ext cx="9144001" cy="513628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" name="Google Shape;54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6" name="Google Shape;56;p26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-1" y="7219"/>
            <a:ext cx="9144001" cy="513628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0" name="Google Shape;90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1" name="Google Shape;91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92" name="Google Shape;92;p29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-1" y="7219"/>
            <a:ext cx="9144001" cy="513628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70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forms.gle/UgBKp3nRGePA2eXMA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endParaRPr/>
          </a:p>
        </p:txBody>
      </p:sp>
      <p:sp>
        <p:nvSpPr>
          <p:cNvPr id="141" name="Google Shape;141;p6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pic>
        <p:nvPicPr>
          <p:cNvPr id="142" name="Google Shape;142;p6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4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6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4604" y="600291"/>
            <a:ext cx="4134799" cy="29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6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200054" y="3386141"/>
            <a:ext cx="4743901" cy="115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/>
          </a:p>
        </p:txBody>
      </p:sp>
      <p:sp>
        <p:nvSpPr>
          <p:cNvPr id="150" name="Google Shape;150;p6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/>
          </a:p>
        </p:txBody>
      </p:sp>
      <p:pic>
        <p:nvPicPr>
          <p:cNvPr id="151" name="Google Shape;151;p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4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63"/>
          <p:cNvSpPr txBox="1"/>
          <p:nvPr/>
        </p:nvSpPr>
        <p:spPr>
          <a:xfrm>
            <a:off x="163133" y="1771546"/>
            <a:ext cx="4690800" cy="1317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lnSpc>
                <a:spcPct val="115000"/>
              </a:lnSpc>
              <a:buSzPts val="3200"/>
            </a:pPr>
            <a:r>
              <a:rPr lang="en-IN" sz="3200" b="1" dirty="0">
                <a:solidFill>
                  <a:schemeClr val="bg1"/>
                </a:solidFill>
              </a:rPr>
              <a:t>NATURAL SORT ORDER</a:t>
            </a:r>
          </a:p>
        </p:txBody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AE7A698-1E89-EEDC-617C-0B18D34664B4}"/>
              </a:ext>
            </a:extLst>
          </p:cNvPr>
          <p:cNvSpPr txBox="1"/>
          <p:nvPr/>
        </p:nvSpPr>
        <p:spPr>
          <a:xfrm>
            <a:off x="-1121664" y="638592"/>
            <a:ext cx="985113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                    TEST TIME ON LEXICOGRAPHICALLY FIRST PALINDROMIC STRING</a:t>
            </a:r>
            <a:endParaRPr lang="en-US" b="0">
              <a:effectLst/>
            </a:endParaRPr>
          </a:p>
          <a:p>
            <a:br>
              <a:rPr lang="en-US" b="0">
                <a:effectLst/>
              </a:rPr>
            </a:br>
            <a:br>
              <a:rPr lang="en-US" b="0">
                <a:effectLst/>
              </a:rPr>
            </a:b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F42A57-20AB-50D4-0F73-7EFC5353AB34}"/>
              </a:ext>
            </a:extLst>
          </p:cNvPr>
          <p:cNvSpPr txBox="1"/>
          <p:nvPr/>
        </p:nvSpPr>
        <p:spPr>
          <a:xfrm>
            <a:off x="1450848" y="1457921"/>
            <a:ext cx="513283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IN" sz="1400" b="1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URL</a:t>
            </a:r>
            <a:r>
              <a:rPr lang="en-IN" sz="1400" b="1" i="0" u="none" strike="noStrike" dirty="0">
                <a:solidFill>
                  <a:srgbClr val="373737"/>
                </a:solidFill>
                <a:effectLst/>
                <a:latin typeface="Roboto" panose="02000000000000000000" pitchFamily="2" charset="0"/>
              </a:rPr>
              <a:t>: </a:t>
            </a:r>
            <a:r>
              <a:rPr lang="en-IN" sz="1400" b="1" i="0" u="sng" strike="noStrike" dirty="0">
                <a:solidFill>
                  <a:srgbClr val="0097A7"/>
                </a:solidFill>
                <a:effectLst/>
                <a:latin typeface="Roboto" panose="02000000000000000000" pitchFamily="2" charset="0"/>
                <a:hlinkClick r:id="rId2"/>
              </a:rPr>
              <a:t>https://forms.gle/UgBKp3nRGePA2eXMA</a:t>
            </a:r>
            <a:endParaRPr lang="en-IN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en-IN" b="0" dirty="0">
                <a:effectLst/>
              </a:rPr>
            </a:br>
            <a:r>
              <a:rPr lang="en-IN" sz="1400" b="1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QR CODE</a:t>
            </a:r>
            <a:r>
              <a:rPr lang="en-IN" sz="1400" b="1" i="0" u="none" strike="noStrike" dirty="0">
                <a:solidFill>
                  <a:srgbClr val="373737"/>
                </a:solidFill>
                <a:effectLst/>
                <a:latin typeface="Roboto" panose="02000000000000000000" pitchFamily="2" charset="0"/>
              </a:rPr>
              <a:t>:</a:t>
            </a:r>
            <a:endParaRPr lang="en-IN" b="0" dirty="0">
              <a:effectLst/>
            </a:endParaRPr>
          </a:p>
          <a:p>
            <a:endParaRPr lang="en-IN" b="0" dirty="0">
              <a:effectLst/>
            </a:endParaRPr>
          </a:p>
          <a:p>
            <a:endParaRPr lang="en-IN" dirty="0"/>
          </a:p>
          <a:p>
            <a:endParaRPr lang="en-IN" b="0" dirty="0">
              <a:effectLst/>
            </a:endParaRPr>
          </a:p>
          <a:p>
            <a:endParaRPr lang="en-IN" dirty="0"/>
          </a:p>
          <a:p>
            <a:r>
              <a:rPr lang="en-IN" b="0" dirty="0">
                <a:effectLst/>
              </a:rPr>
              <a:t>                            </a:t>
            </a:r>
            <a:br>
              <a:rPr lang="en-IN" b="0" dirty="0">
                <a:effectLst/>
              </a:rPr>
            </a:br>
            <a:endParaRPr lang="en-IN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D4CAC48E-9139-3D6A-8F4D-A64422927B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6842" y="2306622"/>
            <a:ext cx="2986278" cy="2365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0373281"/>
      </p:ext>
    </p:extLst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"/>
          <p:cNvSpPr txBox="1"/>
          <p:nvPr/>
        </p:nvSpPr>
        <p:spPr>
          <a:xfrm>
            <a:off x="1045150" y="1175063"/>
            <a:ext cx="5220300" cy="463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IN" sz="2100" b="0" i="0" u="none" strike="noStrike" cap="none" dirty="0">
                <a:solidFill>
                  <a:srgbClr val="8181EF"/>
                </a:solidFill>
                <a:latin typeface="Roboto Black"/>
                <a:ea typeface="Roboto Black"/>
                <a:cs typeface="Roboto Black"/>
                <a:sym typeface="Roboto Black"/>
              </a:rPr>
              <a:t>INTRODUCTION</a:t>
            </a:r>
            <a:endParaRPr sz="2100" b="0" i="0" u="none" strike="noStrike" cap="none" dirty="0">
              <a:solidFill>
                <a:srgbClr val="8181E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3" name="Google Shape;71;p13">
            <a:extLst>
              <a:ext uri="{FF2B5EF4-FFF2-40B4-BE49-F238E27FC236}">
                <a16:creationId xmlns:a16="http://schemas.microsoft.com/office/drawing/2014/main" id="{C800A413-1C21-9A16-5175-32A9E615B884}"/>
              </a:ext>
            </a:extLst>
          </p:cNvPr>
          <p:cNvSpPr/>
          <p:nvPr/>
        </p:nvSpPr>
        <p:spPr>
          <a:xfrm>
            <a:off x="2111298" y="435726"/>
            <a:ext cx="4921404" cy="4494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1600" b="1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NATURAL SORT ORDER</a:t>
            </a:r>
            <a:endParaRPr/>
          </a:p>
        </p:txBody>
      </p:sp>
      <p:sp>
        <p:nvSpPr>
          <p:cNvPr id="4" name="Google Shape;69;p13">
            <a:extLst>
              <a:ext uri="{FF2B5EF4-FFF2-40B4-BE49-F238E27FC236}">
                <a16:creationId xmlns:a16="http://schemas.microsoft.com/office/drawing/2014/main" id="{B6EAB110-948C-2043-F33E-A638A08C1814}"/>
              </a:ext>
            </a:extLst>
          </p:cNvPr>
          <p:cNvSpPr/>
          <p:nvPr/>
        </p:nvSpPr>
        <p:spPr>
          <a:xfrm>
            <a:off x="1045150" y="1928933"/>
            <a:ext cx="7544880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  <a:buSzPts val="1800"/>
            </a:pPr>
            <a:r>
              <a:rPr lang="en-U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Natural sorting is the sorting of text that does more than rely on the order of individual characters codes to make the finding of individual strings easier for a human reader.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"/>
          <p:cNvSpPr txBox="1"/>
          <p:nvPr/>
        </p:nvSpPr>
        <p:spPr>
          <a:xfrm>
            <a:off x="801310" y="1098053"/>
            <a:ext cx="5220300" cy="463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IN" sz="2100" b="0" i="0" u="none" strike="noStrike" cap="none" dirty="0">
                <a:solidFill>
                  <a:srgbClr val="8181EF"/>
                </a:solidFill>
                <a:latin typeface="Roboto Black"/>
                <a:ea typeface="Roboto Black"/>
                <a:cs typeface="Roboto Black"/>
                <a:sym typeface="Roboto Black"/>
              </a:rPr>
              <a:t>INTRODUCTION</a:t>
            </a:r>
          </a:p>
        </p:txBody>
      </p:sp>
      <p:sp>
        <p:nvSpPr>
          <p:cNvPr id="2" name="Google Shape;69;p13">
            <a:extLst>
              <a:ext uri="{FF2B5EF4-FFF2-40B4-BE49-F238E27FC236}">
                <a16:creationId xmlns:a16="http://schemas.microsoft.com/office/drawing/2014/main" id="{E18E02B9-8F86-DE2A-866F-B80EC7A612B9}"/>
              </a:ext>
            </a:extLst>
          </p:cNvPr>
          <p:cNvSpPr/>
          <p:nvPr/>
        </p:nvSpPr>
        <p:spPr>
          <a:xfrm>
            <a:off x="911038" y="1561986"/>
            <a:ext cx="7544880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  <a:buSzPts val="1800"/>
            </a:pPr>
            <a:r>
              <a:rPr lang="en-U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 alphabetical sorting, "z11" would be sorted before "z2" because the "1" in the first string is sorted as smaller than "2“.</a:t>
            </a:r>
            <a:endParaRPr dirty="0"/>
          </a:p>
        </p:txBody>
      </p:sp>
      <p:sp>
        <p:nvSpPr>
          <p:cNvPr id="4" name="Google Shape;71;p13">
            <a:extLst>
              <a:ext uri="{FF2B5EF4-FFF2-40B4-BE49-F238E27FC236}">
                <a16:creationId xmlns:a16="http://schemas.microsoft.com/office/drawing/2014/main" id="{56B9EC32-7037-F578-D6C7-695292920EBB}"/>
              </a:ext>
            </a:extLst>
          </p:cNvPr>
          <p:cNvSpPr/>
          <p:nvPr/>
        </p:nvSpPr>
        <p:spPr>
          <a:xfrm>
            <a:off x="2222776" y="423115"/>
            <a:ext cx="4921404" cy="4494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1600" b="1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NATURAL SORT ORDER</a:t>
            </a:r>
            <a:endParaRPr/>
          </a:p>
        </p:txBody>
      </p:sp>
      <p:sp>
        <p:nvSpPr>
          <p:cNvPr id="5" name="Google Shape;69;p13">
            <a:extLst>
              <a:ext uri="{FF2B5EF4-FFF2-40B4-BE49-F238E27FC236}">
                <a16:creationId xmlns:a16="http://schemas.microsoft.com/office/drawing/2014/main" id="{F7F22BF5-B652-357C-1170-5A7FA6BE4253}"/>
              </a:ext>
            </a:extLst>
          </p:cNvPr>
          <p:cNvSpPr/>
          <p:nvPr/>
        </p:nvSpPr>
        <p:spPr>
          <a:xfrm>
            <a:off x="975830" y="3174458"/>
            <a:ext cx="754488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  <a:buSzPts val="1800"/>
            </a:pPr>
            <a:r>
              <a:rPr lang="en-U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While in natural sorting "z2" is sorted before "z11" because "2" is treated as smaller than "11“.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424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1;p13">
            <a:extLst>
              <a:ext uri="{FF2B5EF4-FFF2-40B4-BE49-F238E27FC236}">
                <a16:creationId xmlns:a16="http://schemas.microsoft.com/office/drawing/2014/main" id="{56B9EC32-7037-F578-D6C7-695292920EBB}"/>
              </a:ext>
            </a:extLst>
          </p:cNvPr>
          <p:cNvSpPr/>
          <p:nvPr/>
        </p:nvSpPr>
        <p:spPr>
          <a:xfrm>
            <a:off x="2222776" y="423115"/>
            <a:ext cx="4921404" cy="4494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1600" b="1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NATURAL SORT ORDER</a:t>
            </a:r>
            <a:endParaRPr/>
          </a:p>
        </p:txBody>
      </p:sp>
      <p:sp>
        <p:nvSpPr>
          <p:cNvPr id="3" name="Google Shape;69;p13">
            <a:extLst>
              <a:ext uri="{FF2B5EF4-FFF2-40B4-BE49-F238E27FC236}">
                <a16:creationId xmlns:a16="http://schemas.microsoft.com/office/drawing/2014/main" id="{F5B7ABE1-2370-1314-BA39-3F236686A769}"/>
              </a:ext>
            </a:extLst>
          </p:cNvPr>
          <p:cNvSpPr/>
          <p:nvPr/>
        </p:nvSpPr>
        <p:spPr>
          <a:xfrm>
            <a:off x="556957" y="1206242"/>
            <a:ext cx="803008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  <a:buSzPts val="1800"/>
            </a:pPr>
            <a:r>
              <a:rPr lang="en-U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There is no "one true way" to do this.</a:t>
            </a:r>
          </a:p>
        </p:txBody>
      </p:sp>
      <p:sp>
        <p:nvSpPr>
          <p:cNvPr id="6" name="Google Shape;69;p13">
            <a:extLst>
              <a:ext uri="{FF2B5EF4-FFF2-40B4-BE49-F238E27FC236}">
                <a16:creationId xmlns:a16="http://schemas.microsoft.com/office/drawing/2014/main" id="{36154BC0-B5A9-B8D8-5C39-7530A3C7707F}"/>
              </a:ext>
            </a:extLst>
          </p:cNvPr>
          <p:cNvSpPr/>
          <p:nvPr/>
        </p:nvSpPr>
        <p:spPr>
          <a:xfrm>
            <a:off x="556957" y="1740753"/>
            <a:ext cx="803008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  <a:buSzPts val="1800"/>
            </a:pPr>
            <a:r>
              <a:rPr lang="en-U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But for the purpose of this task 'natural' orderings might include:</a:t>
            </a:r>
          </a:p>
        </p:txBody>
      </p:sp>
      <p:sp>
        <p:nvSpPr>
          <p:cNvPr id="7" name="Google Shape;69;p13">
            <a:extLst>
              <a:ext uri="{FF2B5EF4-FFF2-40B4-BE49-F238E27FC236}">
                <a16:creationId xmlns:a16="http://schemas.microsoft.com/office/drawing/2014/main" id="{BE024C7C-3501-5DFA-DA32-90B02D0ED50D}"/>
              </a:ext>
            </a:extLst>
          </p:cNvPr>
          <p:cNvSpPr/>
          <p:nvPr/>
        </p:nvSpPr>
        <p:spPr>
          <a:xfrm>
            <a:off x="556956" y="2571750"/>
            <a:ext cx="803008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  <a:buSzPts val="1800"/>
              <a:buFont typeface="Wingdings" pitchFamily="2" charset="2"/>
              <a:buChar char="Ø"/>
            </a:pPr>
            <a:r>
              <a:rPr lang="en-U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Ignore leading, trailing and multiple adjacent spaces.</a:t>
            </a:r>
          </a:p>
        </p:txBody>
      </p:sp>
      <p:sp>
        <p:nvSpPr>
          <p:cNvPr id="8" name="Google Shape;69;p13">
            <a:extLst>
              <a:ext uri="{FF2B5EF4-FFF2-40B4-BE49-F238E27FC236}">
                <a16:creationId xmlns:a16="http://schemas.microsoft.com/office/drawing/2014/main" id="{5E5C7D2B-DF0B-A8EA-42D3-511DAFE4C5C1}"/>
              </a:ext>
            </a:extLst>
          </p:cNvPr>
          <p:cNvSpPr/>
          <p:nvPr/>
        </p:nvSpPr>
        <p:spPr>
          <a:xfrm>
            <a:off x="560474" y="2991133"/>
            <a:ext cx="803008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  <a:buSzPts val="1800"/>
              <a:buFont typeface="Wingdings" pitchFamily="2" charset="2"/>
              <a:buChar char="Ø"/>
            </a:pPr>
            <a:r>
              <a:rPr lang="en-U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Make all whitespace characters equivalent.</a:t>
            </a:r>
          </a:p>
        </p:txBody>
      </p:sp>
      <p:sp>
        <p:nvSpPr>
          <p:cNvPr id="9" name="Google Shape;69;p13">
            <a:extLst>
              <a:ext uri="{FF2B5EF4-FFF2-40B4-BE49-F238E27FC236}">
                <a16:creationId xmlns:a16="http://schemas.microsoft.com/office/drawing/2014/main" id="{23A4D0E1-C59A-28D7-C9A9-2173D456BCED}"/>
              </a:ext>
            </a:extLst>
          </p:cNvPr>
          <p:cNvSpPr/>
          <p:nvPr/>
        </p:nvSpPr>
        <p:spPr>
          <a:xfrm>
            <a:off x="556955" y="3410516"/>
            <a:ext cx="803008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  <a:buSzPts val="1800"/>
              <a:buFont typeface="Wingdings" pitchFamily="2" charset="2"/>
              <a:buChar char="Ø"/>
            </a:pPr>
            <a:r>
              <a:rPr lang="en-U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Sorting without regard to case</a:t>
            </a:r>
          </a:p>
        </p:txBody>
      </p:sp>
    </p:spTree>
    <p:extLst>
      <p:ext uri="{BB962C8B-B14F-4D97-AF65-F5344CB8AC3E}">
        <p14:creationId xmlns:p14="http://schemas.microsoft.com/office/powerpoint/2010/main" val="2486865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7" grpId="0"/>
      <p:bldP spid="8" grpId="0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"/>
          <p:cNvSpPr txBox="1"/>
          <p:nvPr/>
        </p:nvSpPr>
        <p:spPr>
          <a:xfrm>
            <a:off x="327600" y="3926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Question: 01</a:t>
            </a:r>
            <a:endParaRPr sz="20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" name="Google Shape;164;p4"/>
          <p:cNvSpPr txBox="1"/>
          <p:nvPr/>
        </p:nvSpPr>
        <p:spPr>
          <a:xfrm>
            <a:off x="327600" y="3926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Question: 01</a:t>
            </a:r>
            <a:endParaRPr sz="20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" name="Google Shape;71;p13">
            <a:extLst>
              <a:ext uri="{FF2B5EF4-FFF2-40B4-BE49-F238E27FC236}">
                <a16:creationId xmlns:a16="http://schemas.microsoft.com/office/drawing/2014/main" id="{AF391D8D-DE98-250F-A83F-C17B7341AE90}"/>
              </a:ext>
            </a:extLst>
          </p:cNvPr>
          <p:cNvSpPr/>
          <p:nvPr/>
        </p:nvSpPr>
        <p:spPr>
          <a:xfrm>
            <a:off x="2111298" y="399701"/>
            <a:ext cx="4921404" cy="4494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1600" b="1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NATURAL SORT ORDER - RULES</a:t>
            </a:r>
            <a:endParaRPr/>
          </a:p>
        </p:txBody>
      </p:sp>
      <p:sp>
        <p:nvSpPr>
          <p:cNvPr id="4" name="Google Shape;69;p13">
            <a:extLst>
              <a:ext uri="{FF2B5EF4-FFF2-40B4-BE49-F238E27FC236}">
                <a16:creationId xmlns:a16="http://schemas.microsoft.com/office/drawing/2014/main" id="{9FF47651-DE04-55C6-D671-24ADE6677EC8}"/>
              </a:ext>
            </a:extLst>
          </p:cNvPr>
          <p:cNvSpPr/>
          <p:nvPr/>
        </p:nvSpPr>
        <p:spPr>
          <a:xfrm>
            <a:off x="566199" y="927483"/>
            <a:ext cx="803008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  <a:buSzPts val="1800"/>
              <a:buFont typeface="Wingdings" pitchFamily="2" charset="2"/>
              <a:buChar char="Ø"/>
            </a:pPr>
            <a:r>
              <a:rPr lang="en-U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Sorting numeric portions of strings in numeric order.</a:t>
            </a:r>
          </a:p>
        </p:txBody>
      </p:sp>
      <p:sp>
        <p:nvSpPr>
          <p:cNvPr id="5" name="Google Shape;69;p13">
            <a:extLst>
              <a:ext uri="{FF2B5EF4-FFF2-40B4-BE49-F238E27FC236}">
                <a16:creationId xmlns:a16="http://schemas.microsoft.com/office/drawing/2014/main" id="{6A9F973E-1BC6-B5D8-49F5-B965023D91BE}"/>
              </a:ext>
            </a:extLst>
          </p:cNvPr>
          <p:cNvSpPr/>
          <p:nvPr/>
        </p:nvSpPr>
        <p:spPr>
          <a:xfrm>
            <a:off x="976277" y="1513008"/>
            <a:ext cx="7614282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  <a:buSzPts val="1800"/>
              <a:buFont typeface="Wingdings" pitchFamily="2" charset="2"/>
              <a:buChar char="ü"/>
            </a:pPr>
            <a:r>
              <a:rPr lang="en-U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That is split the string into fields on numeric boundaries</a:t>
            </a:r>
          </a:p>
        </p:txBody>
      </p:sp>
      <p:sp>
        <p:nvSpPr>
          <p:cNvPr id="6" name="Google Shape;69;p13">
            <a:extLst>
              <a:ext uri="{FF2B5EF4-FFF2-40B4-BE49-F238E27FC236}">
                <a16:creationId xmlns:a16="http://schemas.microsoft.com/office/drawing/2014/main" id="{0C9E39FE-E150-A950-1338-8EB4A76A0517}"/>
              </a:ext>
            </a:extLst>
          </p:cNvPr>
          <p:cNvSpPr/>
          <p:nvPr/>
        </p:nvSpPr>
        <p:spPr>
          <a:xfrm>
            <a:off x="973855" y="1981658"/>
            <a:ext cx="7614282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  <a:buSzPts val="1800"/>
              <a:buFont typeface="Wingdings" pitchFamily="2" charset="2"/>
              <a:buChar char="ü"/>
            </a:pPr>
            <a:r>
              <a:rPr lang="en-U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Then sort on each field, with the rightmost fields being the most significant</a:t>
            </a:r>
          </a:p>
        </p:txBody>
      </p:sp>
      <p:sp>
        <p:nvSpPr>
          <p:cNvPr id="7" name="Google Shape;69;p13">
            <a:extLst>
              <a:ext uri="{FF2B5EF4-FFF2-40B4-BE49-F238E27FC236}">
                <a16:creationId xmlns:a16="http://schemas.microsoft.com/office/drawing/2014/main" id="{CB1A3A0C-63CC-422C-8D87-722F3E1BAE49}"/>
              </a:ext>
            </a:extLst>
          </p:cNvPr>
          <p:cNvSpPr/>
          <p:nvPr/>
        </p:nvSpPr>
        <p:spPr>
          <a:xfrm>
            <a:off x="971433" y="2910933"/>
            <a:ext cx="7614282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  <a:buSzPts val="1800"/>
              <a:buFont typeface="Wingdings" pitchFamily="2" charset="2"/>
              <a:buChar char="ü"/>
            </a:pPr>
            <a:r>
              <a:rPr lang="en-U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And numeric fields of integers treated as numbers</a:t>
            </a:r>
          </a:p>
        </p:txBody>
      </p:sp>
      <p:sp>
        <p:nvSpPr>
          <p:cNvPr id="8" name="Google Shape;69;p13">
            <a:extLst>
              <a:ext uri="{FF2B5EF4-FFF2-40B4-BE49-F238E27FC236}">
                <a16:creationId xmlns:a16="http://schemas.microsoft.com/office/drawing/2014/main" id="{B6DC1F33-75B4-90EA-D1F1-DDE59F47E7CF}"/>
              </a:ext>
            </a:extLst>
          </p:cNvPr>
          <p:cNvSpPr/>
          <p:nvPr/>
        </p:nvSpPr>
        <p:spPr>
          <a:xfrm>
            <a:off x="972583" y="3386458"/>
            <a:ext cx="3248782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  <a:buSzPts val="1800"/>
            </a:pPr>
            <a:r>
              <a:rPr lang="en-US" sz="18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foo9.txt before foo10.txt</a:t>
            </a:r>
          </a:p>
        </p:txBody>
      </p:sp>
      <p:sp>
        <p:nvSpPr>
          <p:cNvPr id="9" name="Google Shape;69;p13">
            <a:extLst>
              <a:ext uri="{FF2B5EF4-FFF2-40B4-BE49-F238E27FC236}">
                <a16:creationId xmlns:a16="http://schemas.microsoft.com/office/drawing/2014/main" id="{72A313F5-DA99-8A4A-8286-EF0C889C3692}"/>
              </a:ext>
            </a:extLst>
          </p:cNvPr>
          <p:cNvSpPr/>
          <p:nvPr/>
        </p:nvSpPr>
        <p:spPr>
          <a:xfrm>
            <a:off x="4170696" y="3387608"/>
            <a:ext cx="3248782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  <a:buSzPts val="1800"/>
            </a:pPr>
            <a:r>
              <a:rPr lang="en-US" sz="1800" dirty="0">
                <a:solidFill>
                  <a:schemeClr val="tx1"/>
                </a:solidFill>
                <a:latin typeface="Consolas"/>
                <a:ea typeface="Consolas"/>
                <a:cs typeface="Consolas"/>
                <a:sym typeface="Consolas"/>
              </a:rPr>
              <a:t>As well as...</a:t>
            </a:r>
          </a:p>
        </p:txBody>
      </p:sp>
      <p:sp>
        <p:nvSpPr>
          <p:cNvPr id="10" name="Google Shape;69;p13">
            <a:extLst>
              <a:ext uri="{FF2B5EF4-FFF2-40B4-BE49-F238E27FC236}">
                <a16:creationId xmlns:a16="http://schemas.microsoft.com/office/drawing/2014/main" id="{FFB0312F-DE49-5747-9538-ABD472B64796}"/>
              </a:ext>
            </a:extLst>
          </p:cNvPr>
          <p:cNvSpPr/>
          <p:nvPr/>
        </p:nvSpPr>
        <p:spPr>
          <a:xfrm>
            <a:off x="973733" y="3779483"/>
            <a:ext cx="463642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  <a:buSzPts val="1800"/>
            </a:pPr>
            <a:r>
              <a:rPr lang="es-ES" sz="18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x9y99 </a:t>
            </a:r>
            <a:r>
              <a:rPr lang="es-ES" sz="1800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before</a:t>
            </a:r>
            <a:r>
              <a:rPr lang="es-ES" sz="18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x9y100, </a:t>
            </a:r>
            <a:r>
              <a:rPr lang="es-ES" sz="1800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before</a:t>
            </a:r>
            <a:r>
              <a:rPr lang="es-ES" sz="18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x10y0...</a:t>
            </a:r>
            <a:endParaRPr lang="en-US" sz="1800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" name="Google Shape;69;p13">
            <a:extLst>
              <a:ext uri="{FF2B5EF4-FFF2-40B4-BE49-F238E27FC236}">
                <a16:creationId xmlns:a16="http://schemas.microsoft.com/office/drawing/2014/main" id="{85B72E2A-E88F-6CC7-F66E-566FBBAD7B78}"/>
              </a:ext>
            </a:extLst>
          </p:cNvPr>
          <p:cNvSpPr/>
          <p:nvPr/>
        </p:nvSpPr>
        <p:spPr>
          <a:xfrm>
            <a:off x="990027" y="4234383"/>
            <a:ext cx="7700211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50000"/>
              </a:lnSpc>
              <a:buSzPts val="1800"/>
            </a:pPr>
            <a:r>
              <a:rPr lang="en-US" sz="1800" dirty="0">
                <a:solidFill>
                  <a:schemeClr val="tx1"/>
                </a:solidFill>
                <a:latin typeface="Consolas"/>
                <a:ea typeface="Consolas"/>
                <a:cs typeface="Consolas"/>
                <a:sym typeface="Consolas"/>
              </a:rPr>
              <a:t>For any number of groups of integers in a string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1;p13">
            <a:extLst>
              <a:ext uri="{FF2B5EF4-FFF2-40B4-BE49-F238E27FC236}">
                <a16:creationId xmlns:a16="http://schemas.microsoft.com/office/drawing/2014/main" id="{27CE24ED-F5EF-53FF-9FF8-0F52AD60E203}"/>
              </a:ext>
            </a:extLst>
          </p:cNvPr>
          <p:cNvSpPr/>
          <p:nvPr/>
        </p:nvSpPr>
        <p:spPr>
          <a:xfrm>
            <a:off x="2111298" y="388708"/>
            <a:ext cx="4921404" cy="4494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1600" b="1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NATURAL SORT ORDER - RULES</a:t>
            </a:r>
            <a:endParaRPr/>
          </a:p>
        </p:txBody>
      </p:sp>
      <p:sp>
        <p:nvSpPr>
          <p:cNvPr id="5" name="Google Shape;69;p13">
            <a:extLst>
              <a:ext uri="{FF2B5EF4-FFF2-40B4-BE49-F238E27FC236}">
                <a16:creationId xmlns:a16="http://schemas.microsoft.com/office/drawing/2014/main" id="{F8B08960-B571-9202-38FF-E42C8D57C903}"/>
              </a:ext>
            </a:extLst>
          </p:cNvPr>
          <p:cNvSpPr/>
          <p:nvPr/>
        </p:nvSpPr>
        <p:spPr>
          <a:xfrm>
            <a:off x="566199" y="838108"/>
            <a:ext cx="803008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  <a:buSzPts val="1800"/>
              <a:buFont typeface="Wingdings" pitchFamily="2" charset="2"/>
              <a:buChar char="Ø"/>
            </a:pPr>
            <a:r>
              <a:rPr lang="en-U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Title sorts; without regard to a leading, very common, word such as 'The' in "The thirty-nine steps".</a:t>
            </a:r>
          </a:p>
        </p:txBody>
      </p:sp>
      <p:sp>
        <p:nvSpPr>
          <p:cNvPr id="6" name="Google Shape;69;p13">
            <a:extLst>
              <a:ext uri="{FF2B5EF4-FFF2-40B4-BE49-F238E27FC236}">
                <a16:creationId xmlns:a16="http://schemas.microsoft.com/office/drawing/2014/main" id="{D0D602B7-621B-1732-E84D-DB0C070F5401}"/>
              </a:ext>
            </a:extLst>
          </p:cNvPr>
          <p:cNvSpPr/>
          <p:nvPr/>
        </p:nvSpPr>
        <p:spPr>
          <a:xfrm>
            <a:off x="554749" y="1720408"/>
            <a:ext cx="803008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  <a:buSzPts val="1800"/>
              <a:buFont typeface="Wingdings" pitchFamily="2" charset="2"/>
              <a:buChar char="Ø"/>
            </a:pPr>
            <a:r>
              <a:rPr lang="en-U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Sort letters without regard to accents</a:t>
            </a:r>
          </a:p>
        </p:txBody>
      </p:sp>
      <p:sp>
        <p:nvSpPr>
          <p:cNvPr id="7" name="Google Shape;69;p13">
            <a:extLst>
              <a:ext uri="{FF2B5EF4-FFF2-40B4-BE49-F238E27FC236}">
                <a16:creationId xmlns:a16="http://schemas.microsoft.com/office/drawing/2014/main" id="{DCC1E308-A879-5912-18C8-6760133BCB32}"/>
              </a:ext>
            </a:extLst>
          </p:cNvPr>
          <p:cNvSpPr/>
          <p:nvPr/>
        </p:nvSpPr>
        <p:spPr>
          <a:xfrm>
            <a:off x="555899" y="2134058"/>
            <a:ext cx="803008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  <a:buSzPts val="1800"/>
              <a:buFont typeface="Wingdings" pitchFamily="2" charset="2"/>
              <a:buChar char="Ø"/>
            </a:pPr>
            <a:r>
              <a:rPr lang="en-U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Sort ligatures as separate letters.</a:t>
            </a:r>
          </a:p>
        </p:txBody>
      </p:sp>
      <p:sp>
        <p:nvSpPr>
          <p:cNvPr id="8" name="Google Shape;69;p13">
            <a:extLst>
              <a:ext uri="{FF2B5EF4-FFF2-40B4-BE49-F238E27FC236}">
                <a16:creationId xmlns:a16="http://schemas.microsoft.com/office/drawing/2014/main" id="{39BA41FC-9325-0002-0811-8D13950EB527}"/>
              </a:ext>
            </a:extLst>
          </p:cNvPr>
          <p:cNvSpPr/>
          <p:nvPr/>
        </p:nvSpPr>
        <p:spPr>
          <a:xfrm>
            <a:off x="557049" y="2609583"/>
            <a:ext cx="803008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  <a:buSzPts val="1800"/>
              <a:buFont typeface="Wingdings" pitchFamily="2" charset="2"/>
              <a:buChar char="Ø"/>
            </a:pPr>
            <a:r>
              <a:rPr lang="en-U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Replacements:</a:t>
            </a:r>
          </a:p>
        </p:txBody>
      </p:sp>
      <p:sp>
        <p:nvSpPr>
          <p:cNvPr id="9" name="Google Shape;69;p13">
            <a:extLst>
              <a:ext uri="{FF2B5EF4-FFF2-40B4-BE49-F238E27FC236}">
                <a16:creationId xmlns:a16="http://schemas.microsoft.com/office/drawing/2014/main" id="{8B923BB0-5F45-F1AF-614F-31740014C035}"/>
              </a:ext>
            </a:extLst>
          </p:cNvPr>
          <p:cNvSpPr/>
          <p:nvPr/>
        </p:nvSpPr>
        <p:spPr>
          <a:xfrm>
            <a:off x="971433" y="3014058"/>
            <a:ext cx="7614282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  <a:buSzPts val="1800"/>
              <a:buFont typeface="Wingdings" pitchFamily="2" charset="2"/>
              <a:buChar char="ü"/>
            </a:pPr>
            <a:r>
              <a:rPr lang="en-U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Sort German </a:t>
            </a:r>
            <a:r>
              <a:rPr lang="en-US" sz="18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eszett</a:t>
            </a:r>
            <a:r>
              <a:rPr lang="en-U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or </a:t>
            </a:r>
            <a:r>
              <a:rPr lang="en-US" sz="18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scharfes</a:t>
            </a:r>
            <a:r>
              <a:rPr lang="en-U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S (ß) as </a:t>
            </a:r>
            <a:r>
              <a:rPr lang="en-US" sz="18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ss</a:t>
            </a:r>
            <a:endParaRPr lang="en-US"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" name="Google Shape;69;p13">
            <a:extLst>
              <a:ext uri="{FF2B5EF4-FFF2-40B4-BE49-F238E27FC236}">
                <a16:creationId xmlns:a16="http://schemas.microsoft.com/office/drawing/2014/main" id="{A80D5154-CC39-F9AD-1F8C-A34E7FBDD82A}"/>
              </a:ext>
            </a:extLst>
          </p:cNvPr>
          <p:cNvSpPr/>
          <p:nvPr/>
        </p:nvSpPr>
        <p:spPr>
          <a:xfrm>
            <a:off x="972583" y="3420833"/>
            <a:ext cx="7614282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  <a:buSzPts val="1800"/>
              <a:buFont typeface="Wingdings" pitchFamily="2" charset="2"/>
              <a:buChar char="ü"/>
            </a:pPr>
            <a:r>
              <a:rPr lang="en-U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Sort ĺ, LATIN SMALL LETTER LONG S as s</a:t>
            </a:r>
          </a:p>
        </p:txBody>
      </p:sp>
      <p:sp>
        <p:nvSpPr>
          <p:cNvPr id="11" name="Google Shape;69;p13">
            <a:extLst>
              <a:ext uri="{FF2B5EF4-FFF2-40B4-BE49-F238E27FC236}">
                <a16:creationId xmlns:a16="http://schemas.microsoft.com/office/drawing/2014/main" id="{329E8033-A93E-B6BC-CF39-A8F21091D12E}"/>
              </a:ext>
            </a:extLst>
          </p:cNvPr>
          <p:cNvSpPr/>
          <p:nvPr/>
        </p:nvSpPr>
        <p:spPr>
          <a:xfrm>
            <a:off x="973733" y="3806983"/>
            <a:ext cx="4786987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  <a:buSzPts val="1800"/>
              <a:buFont typeface="Wingdings" pitchFamily="2" charset="2"/>
              <a:buChar char="ü"/>
            </a:pPr>
            <a:r>
              <a:rPr lang="en-U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Sort ȝ, LATIN SMALL LETTER EZH as 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71;p13">
            <a:extLst>
              <a:ext uri="{FF2B5EF4-FFF2-40B4-BE49-F238E27FC236}">
                <a16:creationId xmlns:a16="http://schemas.microsoft.com/office/drawing/2014/main" id="{F5A71EA0-09E7-3FD1-F8E8-4A3966BC29F7}"/>
              </a:ext>
            </a:extLst>
          </p:cNvPr>
          <p:cNvSpPr/>
          <p:nvPr/>
        </p:nvSpPr>
        <p:spPr>
          <a:xfrm>
            <a:off x="2111298" y="482745"/>
            <a:ext cx="4921404" cy="4494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1600" b="1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NATURAL SORT ORDER</a:t>
            </a:r>
            <a:endParaRPr/>
          </a:p>
        </p:txBody>
      </p:sp>
      <p:sp>
        <p:nvSpPr>
          <p:cNvPr id="4" name="Google Shape;69;p13">
            <a:extLst>
              <a:ext uri="{FF2B5EF4-FFF2-40B4-BE49-F238E27FC236}">
                <a16:creationId xmlns:a16="http://schemas.microsoft.com/office/drawing/2014/main" id="{3B646F37-80E2-33E6-93B6-C29DA4CC6C1A}"/>
              </a:ext>
            </a:extLst>
          </p:cNvPr>
          <p:cNvSpPr/>
          <p:nvPr/>
        </p:nvSpPr>
        <p:spPr>
          <a:xfrm>
            <a:off x="742520" y="862158"/>
            <a:ext cx="784636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1800"/>
            </a:pPr>
            <a:r>
              <a:rPr lang="en-U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Rules – Simplified</a:t>
            </a:r>
            <a:endParaRPr dirty="0"/>
          </a:p>
        </p:txBody>
      </p:sp>
      <p:sp>
        <p:nvSpPr>
          <p:cNvPr id="5" name="Google Shape;69;p13">
            <a:extLst>
              <a:ext uri="{FF2B5EF4-FFF2-40B4-BE49-F238E27FC236}">
                <a16:creationId xmlns:a16="http://schemas.microsoft.com/office/drawing/2014/main" id="{1F24406D-B30D-391A-E158-B40B7BB81316}"/>
              </a:ext>
            </a:extLst>
          </p:cNvPr>
          <p:cNvSpPr/>
          <p:nvPr/>
        </p:nvSpPr>
        <p:spPr>
          <a:xfrm>
            <a:off x="651860" y="1311558"/>
            <a:ext cx="349259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buSzPts val="1800"/>
            </a:pPr>
            <a:r>
              <a:rPr lang="en-U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Alphabetical sorting</a:t>
            </a:r>
          </a:p>
          <a:p>
            <a:pPr lvl="0">
              <a:buSzPts val="1800"/>
            </a:pPr>
            <a:r>
              <a:rPr lang="en-U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Z1 before z2</a:t>
            </a:r>
          </a:p>
          <a:p>
            <a:pPr lvl="0">
              <a:buSzPts val="1800"/>
            </a:pPr>
            <a:endParaRPr dirty="0"/>
          </a:p>
        </p:txBody>
      </p:sp>
      <p:sp>
        <p:nvSpPr>
          <p:cNvPr id="6" name="Google Shape;69;p13">
            <a:extLst>
              <a:ext uri="{FF2B5EF4-FFF2-40B4-BE49-F238E27FC236}">
                <a16:creationId xmlns:a16="http://schemas.microsoft.com/office/drawing/2014/main" id="{D0499D09-65C1-7E56-0B83-E8FE579AA5B1}"/>
              </a:ext>
            </a:extLst>
          </p:cNvPr>
          <p:cNvSpPr/>
          <p:nvPr/>
        </p:nvSpPr>
        <p:spPr>
          <a:xfrm>
            <a:off x="4665700" y="1333863"/>
            <a:ext cx="3492596" cy="104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buSzPts val="1800"/>
            </a:pPr>
            <a:r>
              <a:rPr lang="en-U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Natural sorting</a:t>
            </a:r>
          </a:p>
          <a:p>
            <a:pPr>
              <a:buSzPts val="1800"/>
            </a:pPr>
            <a:r>
              <a:rPr lang="en-U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Z1 before z2</a:t>
            </a:r>
          </a:p>
          <a:p>
            <a:pPr lvl="0">
              <a:buSzPts val="1800"/>
            </a:pPr>
            <a:endParaRPr lang="en-US"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>
              <a:buSzPts val="1800"/>
            </a:pPr>
            <a:endParaRPr lang="en-US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" name="Google Shape;69;p13">
            <a:extLst>
              <a:ext uri="{FF2B5EF4-FFF2-40B4-BE49-F238E27FC236}">
                <a16:creationId xmlns:a16="http://schemas.microsoft.com/office/drawing/2014/main" id="{CCAD6B02-0582-88DA-F467-E82E167A53AA}"/>
              </a:ext>
            </a:extLst>
          </p:cNvPr>
          <p:cNvSpPr/>
          <p:nvPr/>
        </p:nvSpPr>
        <p:spPr>
          <a:xfrm>
            <a:off x="757420" y="2390708"/>
            <a:ext cx="784063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buSzPts val="1800"/>
            </a:pPr>
            <a:r>
              <a:rPr lang="en-US" sz="18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During the 1996 </a:t>
            </a:r>
            <a:r>
              <a:rPr lang="en-US" sz="1800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MacHack</a:t>
            </a:r>
            <a:r>
              <a:rPr lang="en-US" sz="18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conference, the Natural Order Mac OS System Extension was conceived and implemented overnight on-site as an entry for the Best Hack contest.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8" name="Google Shape;69;p13">
            <a:extLst>
              <a:ext uri="{FF2B5EF4-FFF2-40B4-BE49-F238E27FC236}">
                <a16:creationId xmlns:a16="http://schemas.microsoft.com/office/drawing/2014/main" id="{58645385-DA9A-3412-599D-67D2E17375EC}"/>
              </a:ext>
            </a:extLst>
          </p:cNvPr>
          <p:cNvSpPr/>
          <p:nvPr/>
        </p:nvSpPr>
        <p:spPr>
          <a:xfrm>
            <a:off x="758570" y="3423108"/>
            <a:ext cx="784063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buSzPts val="1800"/>
            </a:pPr>
            <a:r>
              <a:rPr lang="en-US" sz="18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Dave </a:t>
            </a:r>
            <a:r>
              <a:rPr lang="en-US" sz="1800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Koelle</a:t>
            </a:r>
            <a:r>
              <a:rPr lang="en-US" sz="18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wrote the </a:t>
            </a:r>
            <a:r>
              <a:rPr lang="en-US" sz="1800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Alphanum</a:t>
            </a:r>
            <a:r>
              <a:rPr lang="en-US" sz="18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Algorithm in 1997 and Martin Pool published Natural Order String Comparison in 2000.</a:t>
            </a:r>
            <a:endParaRPr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1;p13">
            <a:extLst>
              <a:ext uri="{FF2B5EF4-FFF2-40B4-BE49-F238E27FC236}">
                <a16:creationId xmlns:a16="http://schemas.microsoft.com/office/drawing/2014/main" id="{BFDFD0CE-F548-98A6-AC4E-AB7F23FF4059}"/>
              </a:ext>
            </a:extLst>
          </p:cNvPr>
          <p:cNvSpPr/>
          <p:nvPr/>
        </p:nvSpPr>
        <p:spPr>
          <a:xfrm>
            <a:off x="2111298" y="477192"/>
            <a:ext cx="4921404" cy="4494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1600" b="1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NATURAL SORT ORDER</a:t>
            </a:r>
            <a:endParaRPr/>
          </a:p>
        </p:txBody>
      </p:sp>
      <p:sp>
        <p:nvSpPr>
          <p:cNvPr id="5" name="Google Shape;69;p13">
            <a:extLst>
              <a:ext uri="{FF2B5EF4-FFF2-40B4-BE49-F238E27FC236}">
                <a16:creationId xmlns:a16="http://schemas.microsoft.com/office/drawing/2014/main" id="{6B880BA0-65EA-4F37-4A9D-34ADDD6C44C0}"/>
              </a:ext>
            </a:extLst>
          </p:cNvPr>
          <p:cNvSpPr/>
          <p:nvPr/>
        </p:nvSpPr>
        <p:spPr>
          <a:xfrm>
            <a:off x="758569" y="1165114"/>
            <a:ext cx="7840635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200000"/>
              </a:lnSpc>
              <a:buSzPts val="1800"/>
            </a:pP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1. What is natural sort order?</a:t>
            </a:r>
          </a:p>
          <a:p>
            <a:pPr lvl="0">
              <a:lnSpc>
                <a:spcPct val="200000"/>
              </a:lnSpc>
              <a:buSzPts val="1800"/>
            </a:pPr>
            <a:endParaRPr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Google Shape;69;p13">
            <a:extLst>
              <a:ext uri="{FF2B5EF4-FFF2-40B4-BE49-F238E27FC236}">
                <a16:creationId xmlns:a16="http://schemas.microsoft.com/office/drawing/2014/main" id="{3903EC28-FB10-6433-3C58-15B3E6B7D8FD}"/>
              </a:ext>
            </a:extLst>
          </p:cNvPr>
          <p:cNvSpPr/>
          <p:nvPr/>
        </p:nvSpPr>
        <p:spPr>
          <a:xfrm>
            <a:off x="1479395" y="1905085"/>
            <a:ext cx="6606853" cy="2154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250000"/>
              </a:lnSpc>
              <a:buSzPts val="1800"/>
            </a:pP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 	Natural sort order is a sorting technique that arranges strings containing numbers in a way that takes numeric values into account, ensuring that numbers within the strings are ordered logically rather than purely alphabetically.</a:t>
            </a:r>
            <a:endParaRPr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69;p13">
            <a:extLst>
              <a:ext uri="{FF2B5EF4-FFF2-40B4-BE49-F238E27FC236}">
                <a16:creationId xmlns:a16="http://schemas.microsoft.com/office/drawing/2014/main" id="{1C91B651-B7C3-F36C-6461-763076B7C2EA}"/>
              </a:ext>
            </a:extLst>
          </p:cNvPr>
          <p:cNvSpPr/>
          <p:nvPr/>
        </p:nvSpPr>
        <p:spPr>
          <a:xfrm>
            <a:off x="758569" y="1165114"/>
            <a:ext cx="784063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200000"/>
              </a:lnSpc>
              <a:buSzPts val="1800"/>
            </a:pP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2. How is natural sort order different from lexicographic sorting?</a:t>
            </a:r>
          </a:p>
        </p:txBody>
      </p:sp>
      <p:sp>
        <p:nvSpPr>
          <p:cNvPr id="5" name="Google Shape;71;p13">
            <a:extLst>
              <a:ext uri="{FF2B5EF4-FFF2-40B4-BE49-F238E27FC236}">
                <a16:creationId xmlns:a16="http://schemas.microsoft.com/office/drawing/2014/main" id="{0982D350-1CD9-9487-7745-94594F345634}"/>
              </a:ext>
            </a:extLst>
          </p:cNvPr>
          <p:cNvSpPr/>
          <p:nvPr/>
        </p:nvSpPr>
        <p:spPr>
          <a:xfrm>
            <a:off x="2218184" y="458443"/>
            <a:ext cx="4921404" cy="4494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1600" b="1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NATURAL SORT ORDER</a:t>
            </a:r>
            <a:endParaRPr dirty="0"/>
          </a:p>
        </p:txBody>
      </p:sp>
      <p:sp>
        <p:nvSpPr>
          <p:cNvPr id="6" name="Google Shape;69;p13">
            <a:extLst>
              <a:ext uri="{FF2B5EF4-FFF2-40B4-BE49-F238E27FC236}">
                <a16:creationId xmlns:a16="http://schemas.microsoft.com/office/drawing/2014/main" id="{F9EF296F-8A31-E870-2E60-EB2DD3C7FA8C}"/>
              </a:ext>
            </a:extLst>
          </p:cNvPr>
          <p:cNvSpPr/>
          <p:nvPr/>
        </p:nvSpPr>
        <p:spPr>
          <a:xfrm>
            <a:off x="1308411" y="1905085"/>
            <a:ext cx="6777838" cy="2693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250000"/>
              </a:lnSpc>
              <a:buSzPts val="1800"/>
            </a:pP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Lexicographic sorting treats numbers as characters, leading to incorrect ordering (e.g., "10" before "2"). Natural sort order considers the numeric value within strings, producing a more intuitive order ("2" before "10").</a:t>
            </a:r>
          </a:p>
          <a:p>
            <a:pPr lvl="0">
              <a:lnSpc>
                <a:spcPct val="250000"/>
              </a:lnSpc>
              <a:buSzPts val="1800"/>
            </a:pPr>
            <a:endParaRPr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71;p13">
            <a:extLst>
              <a:ext uri="{FF2B5EF4-FFF2-40B4-BE49-F238E27FC236}">
                <a16:creationId xmlns:a16="http://schemas.microsoft.com/office/drawing/2014/main" id="{0982D350-1CD9-9487-7745-94594F345634}"/>
              </a:ext>
            </a:extLst>
          </p:cNvPr>
          <p:cNvSpPr/>
          <p:nvPr/>
        </p:nvSpPr>
        <p:spPr>
          <a:xfrm>
            <a:off x="2218184" y="458443"/>
            <a:ext cx="4921404" cy="4494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1600" b="1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NATURAL SORT ORDER</a:t>
            </a:r>
            <a:endParaRPr dirty="0"/>
          </a:p>
        </p:txBody>
      </p:sp>
      <p:sp>
        <p:nvSpPr>
          <p:cNvPr id="2" name="Google Shape;69;p13">
            <a:extLst>
              <a:ext uri="{FF2B5EF4-FFF2-40B4-BE49-F238E27FC236}">
                <a16:creationId xmlns:a16="http://schemas.microsoft.com/office/drawing/2014/main" id="{2F3F2FAF-561C-173A-3810-19E4662F8EE6}"/>
              </a:ext>
            </a:extLst>
          </p:cNvPr>
          <p:cNvSpPr/>
          <p:nvPr/>
        </p:nvSpPr>
        <p:spPr>
          <a:xfrm>
            <a:off x="758569" y="1165114"/>
            <a:ext cx="784063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200000"/>
              </a:lnSpc>
              <a:buSzPts val="1800"/>
            </a:pP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3. Give an example of natural sort order.</a:t>
            </a:r>
          </a:p>
        </p:txBody>
      </p:sp>
      <p:sp>
        <p:nvSpPr>
          <p:cNvPr id="4" name="Google Shape;69;p13">
            <a:extLst>
              <a:ext uri="{FF2B5EF4-FFF2-40B4-BE49-F238E27FC236}">
                <a16:creationId xmlns:a16="http://schemas.microsoft.com/office/drawing/2014/main" id="{98C853E7-1701-1460-5C72-6C1B128099BA}"/>
              </a:ext>
            </a:extLst>
          </p:cNvPr>
          <p:cNvSpPr/>
          <p:nvPr/>
        </p:nvSpPr>
        <p:spPr>
          <a:xfrm>
            <a:off x="1308411" y="1905085"/>
            <a:ext cx="6777838" cy="2154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250000"/>
              </a:lnSpc>
              <a:buSzPts val="1800"/>
            </a:pP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In natural sort order, a list of strings like ["file1.txt", "file10.txt", "file2.txt"] would be sorted as ["file1.txt", "file2.txt", "file10.txt"] based on numeric values.</a:t>
            </a:r>
          </a:p>
          <a:p>
            <a:pPr lvl="0">
              <a:lnSpc>
                <a:spcPct val="250000"/>
              </a:lnSpc>
              <a:buSzPts val="1800"/>
            </a:pPr>
            <a:endParaRPr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4128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71;p13">
            <a:extLst>
              <a:ext uri="{FF2B5EF4-FFF2-40B4-BE49-F238E27FC236}">
                <a16:creationId xmlns:a16="http://schemas.microsoft.com/office/drawing/2014/main" id="{0982D350-1CD9-9487-7745-94594F345634}"/>
              </a:ext>
            </a:extLst>
          </p:cNvPr>
          <p:cNvSpPr/>
          <p:nvPr/>
        </p:nvSpPr>
        <p:spPr>
          <a:xfrm>
            <a:off x="2218184" y="458443"/>
            <a:ext cx="4921404" cy="4494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1600" b="1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NATURAL SORT ORDER</a:t>
            </a:r>
            <a:endParaRPr dirty="0"/>
          </a:p>
        </p:txBody>
      </p:sp>
      <p:sp>
        <p:nvSpPr>
          <p:cNvPr id="2" name="Google Shape;69;p13">
            <a:extLst>
              <a:ext uri="{FF2B5EF4-FFF2-40B4-BE49-F238E27FC236}">
                <a16:creationId xmlns:a16="http://schemas.microsoft.com/office/drawing/2014/main" id="{6CE832DE-D921-D9D8-F812-C95E01D0F996}"/>
              </a:ext>
            </a:extLst>
          </p:cNvPr>
          <p:cNvSpPr/>
          <p:nvPr/>
        </p:nvSpPr>
        <p:spPr>
          <a:xfrm>
            <a:off x="758569" y="1165114"/>
            <a:ext cx="784063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200000"/>
              </a:lnSpc>
              <a:buSzPts val="1800"/>
            </a:pP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4. What challenges can arise when implementing natural sort order?</a:t>
            </a:r>
          </a:p>
        </p:txBody>
      </p:sp>
      <p:sp>
        <p:nvSpPr>
          <p:cNvPr id="4" name="Google Shape;69;p13">
            <a:extLst>
              <a:ext uri="{FF2B5EF4-FFF2-40B4-BE49-F238E27FC236}">
                <a16:creationId xmlns:a16="http://schemas.microsoft.com/office/drawing/2014/main" id="{66003E3B-C6AB-8850-689B-22CEE02E391B}"/>
              </a:ext>
            </a:extLst>
          </p:cNvPr>
          <p:cNvSpPr/>
          <p:nvPr/>
        </p:nvSpPr>
        <p:spPr>
          <a:xfrm>
            <a:off x="1308411" y="1905085"/>
            <a:ext cx="6777838" cy="2154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250000"/>
              </a:lnSpc>
              <a:buSzPts val="1800"/>
            </a:pP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Challenges include handling varying numeric formats, such as leading zeros or decimal points, and ensuring that non-numeric portions of strings are still correctly ordered.</a:t>
            </a:r>
          </a:p>
          <a:p>
            <a:pPr lvl="0">
              <a:lnSpc>
                <a:spcPct val="250000"/>
              </a:lnSpc>
              <a:buSzPts val="1800"/>
            </a:pPr>
            <a:endParaRPr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3419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71;p13">
            <a:extLst>
              <a:ext uri="{FF2B5EF4-FFF2-40B4-BE49-F238E27FC236}">
                <a16:creationId xmlns:a16="http://schemas.microsoft.com/office/drawing/2014/main" id="{0982D350-1CD9-9487-7745-94594F345634}"/>
              </a:ext>
            </a:extLst>
          </p:cNvPr>
          <p:cNvSpPr/>
          <p:nvPr/>
        </p:nvSpPr>
        <p:spPr>
          <a:xfrm>
            <a:off x="2218184" y="458443"/>
            <a:ext cx="4921404" cy="4494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1600" b="1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NATURAL SORT ORDER</a:t>
            </a:r>
            <a:endParaRPr dirty="0"/>
          </a:p>
        </p:txBody>
      </p:sp>
      <p:sp>
        <p:nvSpPr>
          <p:cNvPr id="2" name="Google Shape;69;p13">
            <a:extLst>
              <a:ext uri="{FF2B5EF4-FFF2-40B4-BE49-F238E27FC236}">
                <a16:creationId xmlns:a16="http://schemas.microsoft.com/office/drawing/2014/main" id="{C947A016-5C16-2CF9-92CD-7AA5FE9D27D6}"/>
              </a:ext>
            </a:extLst>
          </p:cNvPr>
          <p:cNvSpPr/>
          <p:nvPr/>
        </p:nvSpPr>
        <p:spPr>
          <a:xfrm>
            <a:off x="758569" y="1165114"/>
            <a:ext cx="784063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200000"/>
              </a:lnSpc>
              <a:buSzPts val="1800"/>
            </a:pP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5. How can you implement natural sort order in code?</a:t>
            </a:r>
          </a:p>
        </p:txBody>
      </p:sp>
      <p:sp>
        <p:nvSpPr>
          <p:cNvPr id="4" name="Google Shape;69;p13">
            <a:extLst>
              <a:ext uri="{FF2B5EF4-FFF2-40B4-BE49-F238E27FC236}">
                <a16:creationId xmlns:a16="http://schemas.microsoft.com/office/drawing/2014/main" id="{0F5B4A5A-2E6D-9A78-A149-D06C7141749E}"/>
              </a:ext>
            </a:extLst>
          </p:cNvPr>
          <p:cNvSpPr/>
          <p:nvPr/>
        </p:nvSpPr>
        <p:spPr>
          <a:xfrm>
            <a:off x="1308411" y="1905085"/>
            <a:ext cx="6777838" cy="2154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250000"/>
              </a:lnSpc>
              <a:buSzPts val="1800"/>
            </a:pP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Implement natural sort order by splitting strings into numeric and non-numeric parts, converting numeric parts to integers for comparison, and then combining the parts for sorting using a custom sorting algorithm or library function.</a:t>
            </a:r>
            <a:endParaRPr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7745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6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endParaRPr/>
          </a:p>
        </p:txBody>
      </p:sp>
      <p:sp>
        <p:nvSpPr>
          <p:cNvPr id="462" name="Google Shape;462;p6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pic>
        <p:nvPicPr>
          <p:cNvPr id="463" name="Google Shape;463;p6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1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65"/>
          <p:cNvSpPr txBox="1"/>
          <p:nvPr/>
        </p:nvSpPr>
        <p:spPr>
          <a:xfrm>
            <a:off x="3141000" y="2194650"/>
            <a:ext cx="2862000" cy="7540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lang="en-IN" sz="37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THANK YOU</a:t>
            </a:r>
            <a:endParaRPr sz="37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65" name="Google Shape;465;p6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52016" y="4591075"/>
            <a:ext cx="338156" cy="3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p6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72650" y="4591075"/>
            <a:ext cx="338156" cy="3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65"/>
          <p:cNvSpPr txBox="1"/>
          <p:nvPr/>
        </p:nvSpPr>
        <p:spPr>
          <a:xfrm>
            <a:off x="1980750" y="4590801"/>
            <a:ext cx="1187100" cy="3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IN"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+91 78150 95095</a:t>
            </a:r>
            <a:endParaRPr sz="10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68" name="Google Shape;468;p65"/>
          <p:cNvCxnSpPr/>
          <p:nvPr/>
        </p:nvCxnSpPr>
        <p:spPr>
          <a:xfrm rot="10800000">
            <a:off x="3220250" y="4619675"/>
            <a:ext cx="0" cy="3000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9" name="Google Shape;469;p65"/>
          <p:cNvSpPr txBox="1"/>
          <p:nvPr/>
        </p:nvSpPr>
        <p:spPr>
          <a:xfrm>
            <a:off x="3519050" y="4590801"/>
            <a:ext cx="1934700" cy="3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IN"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codemithra@ethnus.com</a:t>
            </a:r>
            <a:endParaRPr sz="10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70" name="Google Shape;470;p6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223771" y="4591063"/>
            <a:ext cx="338156" cy="3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65"/>
          <p:cNvSpPr txBox="1"/>
          <p:nvPr/>
        </p:nvSpPr>
        <p:spPr>
          <a:xfrm>
            <a:off x="5457275" y="4590801"/>
            <a:ext cx="1934700" cy="3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IN"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www.codemithra.com</a:t>
            </a:r>
            <a:endParaRPr sz="10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72" name="Google Shape;472;p65"/>
          <p:cNvCxnSpPr/>
          <p:nvPr/>
        </p:nvCxnSpPr>
        <p:spPr>
          <a:xfrm rot="10800000">
            <a:off x="5166625" y="4610150"/>
            <a:ext cx="0" cy="3000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857</Words>
  <Application>Microsoft Office PowerPoint</Application>
  <PresentationFormat>On-screen Show (16:9)</PresentationFormat>
  <Paragraphs>97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Roboto Black</vt:lpstr>
      <vt:lpstr>Wingdings</vt:lpstr>
      <vt:lpstr>Roboto</vt:lpstr>
      <vt:lpstr>Arial</vt:lpstr>
      <vt:lpstr>Consolas</vt:lpstr>
      <vt:lpstr>Simple Light</vt:lpstr>
      <vt:lpstr>Simple Light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pooja ram</dc:creator>
  <cp:lastModifiedBy>dheebanrajips@gmail.com</cp:lastModifiedBy>
  <cp:revision>2</cp:revision>
  <dcterms:created xsi:type="dcterms:W3CDTF">2022-10-05T06:20:26Z</dcterms:created>
  <dcterms:modified xsi:type="dcterms:W3CDTF">2024-09-03T04:49:04Z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5AF2CBCEB9C44D759E6C7127A2DBAAD4</vt:lpwstr>
  </property>
  <property fmtid="{D5CDD505-2E9C-101B-9397-08002B2CF9AE}" pid="3" name="KSOProductBuildVer">
    <vt:lpwstr>1033-11.2.0.11341</vt:lpwstr>
  </property>
</Properties>
</file>