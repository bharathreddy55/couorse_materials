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  <p:sldMasterId id="2147483669" r:id="rId3"/>
  </p:sldMasterIdLst>
  <p:notesMasterIdLst>
    <p:notesMasterId r:id="rId17"/>
  </p:notesMasterIdLst>
  <p:sldIdLst>
    <p:sldId id="256" r:id="rId4"/>
    <p:sldId id="257" r:id="rId5"/>
    <p:sldId id="304" r:id="rId6"/>
    <p:sldId id="258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03" r:id="rId16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454">
          <p15:clr>
            <a:srgbClr val="FF00FF"/>
          </p15:clr>
        </p15:guide>
        <p15:guide id="2" orient="horz" pos="2755">
          <p15:clr>
            <a:srgbClr val="FF0000"/>
          </p15:clr>
        </p15:guide>
        <p15:guide id="3" orient="horz" pos="907">
          <p15:clr>
            <a:srgbClr val="FF0000"/>
          </p15:clr>
        </p15:guide>
        <p15:guide id="4" pos="5272">
          <p15:clr>
            <a:srgbClr val="FF00FF"/>
          </p15:clr>
        </p15:guide>
        <p15:guide id="5" orient="horz" pos="737">
          <p15:clr>
            <a:srgbClr val="00FF00"/>
          </p15:clr>
        </p15:guide>
        <p15:guide id="6" orient="horz" pos="397">
          <p15:clr>
            <a:srgbClr val="00FF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6" roundtripDataSignature="AMtx7miHiSzDa0vTNjS1xHGCbJH/tB5Z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43" y="600"/>
      </p:cViewPr>
      <p:guideLst>
        <p:guide pos="454"/>
        <p:guide orient="horz" pos="2755"/>
        <p:guide orient="horz" pos="907"/>
        <p:guide pos="5272"/>
        <p:guide orient="horz" pos="737"/>
        <p:guide orient="horz" pos="39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68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6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66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6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9" name="Google Shape;459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6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14" name="Google Shape;14;p6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1" name="Google Shape;21;p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5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5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5" name="Google Shape;45;p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6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  <p:transition spd="slow"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7" name="Google Shape;67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4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1" name="Google Shape;71;p4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2" name="Google Shape;72;p4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76" name="Google Shape;76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4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0" name="Google Shape;80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44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44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2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4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44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4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4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6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4" name="Google Shape;104;p6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05" name="Google Shape;105;p6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2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12" name="Google Shape;112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16" name="Google Shape;116;p4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17" name="Google Shape;117;p4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18" name="Google Shape;118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21" name="Google Shape;121;p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4" name="Google Shape;124;p5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5" name="Google Shape;125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">
  <p:cSld name="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1" descr="A close up of a logo&#10;&#10;Description generated with high confidence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876800" y="183600"/>
            <a:ext cx="1022401" cy="766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1" descr="A picture containing colorful, colored&#10;&#10;Description generated with very high confidence"/>
          <p:cNvPicPr preferRelativeResize="0"/>
          <p:nvPr/>
        </p:nvPicPr>
        <p:blipFill rotWithShape="1">
          <a:blip r:embed="rId3">
            <a:alphaModFix/>
          </a:blip>
          <a:srcRect t="55603" b="37530"/>
          <a:stretch/>
        </p:blipFill>
        <p:spPr>
          <a:xfrm>
            <a:off x="0" y="4849200"/>
            <a:ext cx="9144000" cy="2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1"/>
          <p:cNvSpPr/>
          <p:nvPr/>
        </p:nvSpPr>
        <p:spPr>
          <a:xfrm>
            <a:off x="894683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1"/>
          <p:cNvSpPr/>
          <p:nvPr/>
        </p:nvSpPr>
        <p:spPr>
          <a:xfrm>
            <a:off x="887040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51"/>
          <p:cNvSpPr/>
          <p:nvPr/>
        </p:nvSpPr>
        <p:spPr>
          <a:xfrm>
            <a:off x="879397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1"/>
          <p:cNvSpPr/>
          <p:nvPr/>
        </p:nvSpPr>
        <p:spPr>
          <a:xfrm>
            <a:off x="8717540" y="4943496"/>
            <a:ext cx="57600" cy="432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endParaRPr sz="10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f1834e442a_2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g2f1834e442a_2_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" name="Google Shape;9;p2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6" name="Google Shape;56;p2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0" name="Google Shape;90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2" name="Google Shape;92;p29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-1" y="7219"/>
            <a:ext cx="9144001" cy="513628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forms.gle/Dg1PM3HuHVQ7FQbL8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141" name="Google Shape;141;p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42" name="Google Shape;142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4604" y="600291"/>
            <a:ext cx="4134799" cy="29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00054" y="3386141"/>
            <a:ext cx="4743901" cy="115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0" name="Google Shape;150;p6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/>
          </a:p>
        </p:txBody>
      </p:sp>
      <p:pic>
        <p:nvPicPr>
          <p:cNvPr id="151" name="Google Shape;151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63"/>
          <p:cNvSpPr txBox="1"/>
          <p:nvPr/>
        </p:nvSpPr>
        <p:spPr>
          <a:xfrm>
            <a:off x="163133" y="1771546"/>
            <a:ext cx="4690800" cy="13172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IN" sz="3200" b="1" i="0" u="none" strike="noStrike" cap="none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32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MAZE SOLVING</a:t>
            </a:r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endParaRPr sz="3200" b="1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F189945-1514-1FF2-DD4D-73A0C4DFEE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2462784"/>
            <a:ext cx="2571750" cy="2109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3A5D78C-41C5-6139-8242-CC406077D92A}"/>
              </a:ext>
            </a:extLst>
          </p:cNvPr>
          <p:cNvSpPr txBox="1"/>
          <p:nvPr/>
        </p:nvSpPr>
        <p:spPr>
          <a:xfrm>
            <a:off x="1285875" y="1569196"/>
            <a:ext cx="4572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URL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r>
              <a:rPr lang="en-IN" sz="1400" b="1" i="0" u="sng" strike="noStrike" dirty="0">
                <a:solidFill>
                  <a:srgbClr val="0097A7"/>
                </a:solidFill>
                <a:effectLst/>
                <a:latin typeface="Roboto" panose="02000000000000000000" pitchFamily="2" charset="0"/>
                <a:hlinkClick r:id="rId3"/>
              </a:rPr>
              <a:t>https://forms.gle/Dg1PM3HuHVQ7FQbL8</a:t>
            </a:r>
            <a:endParaRPr lang="en-IN" b="0" dirty="0">
              <a:effectLst/>
            </a:endParaRPr>
          </a:p>
          <a:p>
            <a:br>
              <a:rPr lang="en-IN" b="0" dirty="0">
                <a:effectLst/>
              </a:rPr>
            </a:br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QR CODE</a:t>
            </a:r>
            <a:r>
              <a:rPr lang="en-IN" sz="1400" b="1" i="0" u="none" strike="noStrike" dirty="0">
                <a:solidFill>
                  <a:srgbClr val="373737"/>
                </a:solidFill>
                <a:effectLst/>
                <a:latin typeface="Roboto" panose="02000000000000000000" pitchFamily="2" charset="0"/>
              </a:rPr>
              <a:t>: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1CB676-75E8-97AD-9B01-F4CE7BD980CA}"/>
              </a:ext>
            </a:extLst>
          </p:cNvPr>
          <p:cNvSpPr txBox="1"/>
          <p:nvPr/>
        </p:nvSpPr>
        <p:spPr>
          <a:xfrm>
            <a:off x="3286125" y="571500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TEST TIME ON JOSEPHUS TRAP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95325058"/>
      </p:ext>
    </p:extLst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0;g257a7089be4_0_0">
            <a:extLst>
              <a:ext uri="{FF2B5EF4-FFF2-40B4-BE49-F238E27FC236}">
                <a16:creationId xmlns:a16="http://schemas.microsoft.com/office/drawing/2014/main" id="{8B45B058-235A-BFAD-343A-A897A11F620D}"/>
              </a:ext>
            </a:extLst>
          </p:cNvPr>
          <p:cNvSpPr/>
          <p:nvPr/>
        </p:nvSpPr>
        <p:spPr>
          <a:xfrm>
            <a:off x="3157800" y="407825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MAZE SOLVING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68;g257a7089be4_0_0">
            <a:extLst>
              <a:ext uri="{FF2B5EF4-FFF2-40B4-BE49-F238E27FC236}">
                <a16:creationId xmlns:a16="http://schemas.microsoft.com/office/drawing/2014/main" id="{7456B6F5-32F3-E761-6799-94D216341F27}"/>
              </a:ext>
            </a:extLst>
          </p:cNvPr>
          <p:cNvSpPr txBox="1"/>
          <p:nvPr/>
        </p:nvSpPr>
        <p:spPr>
          <a:xfrm>
            <a:off x="582900" y="1134730"/>
            <a:ext cx="7978200" cy="360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Introduction to Backtracking</a:t>
            </a:r>
            <a:endParaRPr sz="1600" b="1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Backtracking is an algorithmic method to solve a problem in an additional way.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 uses a recursive approach to explain the problems.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We can say that backtracking is needed to find all possible combinations to solve an optimization problem.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Backtracking is a systematic way of trying out different sequences of decisions until we find one that "works."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78;g257a7089be4_0_7">
            <a:extLst>
              <a:ext uri="{FF2B5EF4-FFF2-40B4-BE49-F238E27FC236}">
                <a16:creationId xmlns:a16="http://schemas.microsoft.com/office/drawing/2014/main" id="{D926A6BE-5366-FCA8-1F4B-C92FC05F5C81}"/>
              </a:ext>
            </a:extLst>
          </p:cNvPr>
          <p:cNvSpPr/>
          <p:nvPr/>
        </p:nvSpPr>
        <p:spPr>
          <a:xfrm>
            <a:off x="3157800" y="393598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MAZE SOLVING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75;g257a7089be4_0_7">
            <a:extLst>
              <a:ext uri="{FF2B5EF4-FFF2-40B4-BE49-F238E27FC236}">
                <a16:creationId xmlns:a16="http://schemas.microsoft.com/office/drawing/2014/main" id="{D80573AC-744F-D92E-660D-51908D316E3E}"/>
              </a:ext>
            </a:extLst>
          </p:cNvPr>
          <p:cNvSpPr txBox="1"/>
          <p:nvPr/>
        </p:nvSpPr>
        <p:spPr>
          <a:xfrm>
            <a:off x="582930" y="895350"/>
            <a:ext cx="48990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Introduction to Backtracking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Backtracking, we "explore" each node, as follows: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Step 1 − if current point is a feasible solution, return success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Step 2 − else if all paths are exhausted (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i.e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current point is an endpoint), return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failure,since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we have no feasible solution.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Step 3 − else if current point is not an end point, backtrack and explore other points and repeat above steps.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75;g257a7089be4_0_7">
            <a:extLst>
              <a:ext uri="{FF2B5EF4-FFF2-40B4-BE49-F238E27FC236}">
                <a16:creationId xmlns:a16="http://schemas.microsoft.com/office/drawing/2014/main" id="{1C8FDA6A-69D6-2F41-7923-227AF9A1C21B}"/>
              </a:ext>
            </a:extLst>
          </p:cNvPr>
          <p:cNvSpPr txBox="1"/>
          <p:nvPr/>
        </p:nvSpPr>
        <p:spPr>
          <a:xfrm>
            <a:off x="582930" y="895350"/>
            <a:ext cx="4899000" cy="378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Introduction to Backtracking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 Backtracking, we "explore" each node, as follows: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Step 1 − if current point is a feasible solution, return success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Step 2 − else if all paths are exhausted (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i.e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current point is an endpoint), return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failure,since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we have no feasible solution.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Step 3 − else if current point is not an end point, backtrack and explore other points and repeat above steps.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5" name="Google Shape;76;g257a7089be4_0_7">
            <a:extLst>
              <a:ext uri="{FF2B5EF4-FFF2-40B4-BE49-F238E27FC236}">
                <a16:creationId xmlns:a16="http://schemas.microsoft.com/office/drawing/2014/main" id="{87C6BDB8-27E5-1A27-8D13-437A4AC90C9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33035" y="2012950"/>
            <a:ext cx="3910964" cy="1818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7474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87;g257a7089be4_0_15">
            <a:extLst>
              <a:ext uri="{FF2B5EF4-FFF2-40B4-BE49-F238E27FC236}">
                <a16:creationId xmlns:a16="http://schemas.microsoft.com/office/drawing/2014/main" id="{B47E2891-35FF-A139-FC86-7CA78EEE1DAF}"/>
              </a:ext>
            </a:extLst>
          </p:cNvPr>
          <p:cNvSpPr/>
          <p:nvPr/>
        </p:nvSpPr>
        <p:spPr>
          <a:xfrm>
            <a:off x="3157800" y="381406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MAZE SOLVING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83;g257a7089be4_0_15">
            <a:extLst>
              <a:ext uri="{FF2B5EF4-FFF2-40B4-BE49-F238E27FC236}">
                <a16:creationId xmlns:a16="http://schemas.microsoft.com/office/drawing/2014/main" id="{B44146FC-C410-BEDA-EFEA-50244A4D01F2}"/>
              </a:ext>
            </a:extLst>
          </p:cNvPr>
          <p:cNvSpPr txBox="1"/>
          <p:nvPr/>
        </p:nvSpPr>
        <p:spPr>
          <a:xfrm>
            <a:off x="376127" y="1099593"/>
            <a:ext cx="5088502" cy="36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Introduction to Rat in a Maze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Maze is given as N*N binary matrix of blocks where source block is the upper left most block maze[0][0] and destination block is lower rightmost block maze[N-1][N-1].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 rat starts from source and has to reach the destination. The rat can move only in two directions: forward and down.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Google Shape;84;g257a7089be4_0_15">
            <a:extLst>
              <a:ext uri="{FF2B5EF4-FFF2-40B4-BE49-F238E27FC236}">
                <a16:creationId xmlns:a16="http://schemas.microsoft.com/office/drawing/2014/main" id="{627C8E52-797A-C78B-3B98-B154F91C276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52210" y="1099593"/>
            <a:ext cx="2308860" cy="1758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85;g257a7089be4_0_15">
            <a:extLst>
              <a:ext uri="{FF2B5EF4-FFF2-40B4-BE49-F238E27FC236}">
                <a16:creationId xmlns:a16="http://schemas.microsoft.com/office/drawing/2014/main" id="{824196C8-1A2B-884B-FADB-D1ADE47E2B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2210" y="3026148"/>
            <a:ext cx="2308860" cy="17359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198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95;g257a7089be4_0_24">
            <a:extLst>
              <a:ext uri="{FF2B5EF4-FFF2-40B4-BE49-F238E27FC236}">
                <a16:creationId xmlns:a16="http://schemas.microsoft.com/office/drawing/2014/main" id="{DA630F7C-6D45-91E1-F069-AF58D4E12844}"/>
              </a:ext>
            </a:extLst>
          </p:cNvPr>
          <p:cNvSpPr/>
          <p:nvPr/>
        </p:nvSpPr>
        <p:spPr>
          <a:xfrm>
            <a:off x="3309940" y="379664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MAZE SOLVING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92;g257a7089be4_0_24">
            <a:extLst>
              <a:ext uri="{FF2B5EF4-FFF2-40B4-BE49-F238E27FC236}">
                <a16:creationId xmlns:a16="http://schemas.microsoft.com/office/drawing/2014/main" id="{F70ACC9B-1163-9302-57E0-4B2AB7F5FAEC}"/>
              </a:ext>
            </a:extLst>
          </p:cNvPr>
          <p:cNvSpPr txBox="1"/>
          <p:nvPr/>
        </p:nvSpPr>
        <p:spPr>
          <a:xfrm>
            <a:off x="484959" y="873579"/>
            <a:ext cx="6509246" cy="403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Introduction to Rat in a Maze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Representing  the Maze on the left as the matrix given below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[1, 0, 0, 0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1, 1, 0, 1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0, 1, 0, 0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1, 1, 1, 1]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Solution Matrix is given below where 1’s represent the path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[1, 0, 0, 0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1, 1, 0, 0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0, 1, 0, 0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0, 1, 1, 1]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Google Shape;93;g257a7089be4_0_24">
            <a:extLst>
              <a:ext uri="{FF2B5EF4-FFF2-40B4-BE49-F238E27FC236}">
                <a16:creationId xmlns:a16="http://schemas.microsoft.com/office/drawing/2014/main" id="{85FDDF1F-45F8-B398-6815-F522306E4A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34505" y="1591310"/>
            <a:ext cx="2162810" cy="19608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1297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4;g257a7089be4_0_32">
            <a:extLst>
              <a:ext uri="{FF2B5EF4-FFF2-40B4-BE49-F238E27FC236}">
                <a16:creationId xmlns:a16="http://schemas.microsoft.com/office/drawing/2014/main" id="{25ACE3AC-4799-2DC9-3AE9-A0AA6A27EC9B}"/>
              </a:ext>
            </a:extLst>
          </p:cNvPr>
          <p:cNvSpPr/>
          <p:nvPr/>
        </p:nvSpPr>
        <p:spPr>
          <a:xfrm>
            <a:off x="3157800" y="412321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MAZE SOLVING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01;g257a7089be4_0_32">
            <a:extLst>
              <a:ext uri="{FF2B5EF4-FFF2-40B4-BE49-F238E27FC236}">
                <a16:creationId xmlns:a16="http://schemas.microsoft.com/office/drawing/2014/main" id="{8DD8DC7A-93E9-7352-6562-A7ED398456E6}"/>
              </a:ext>
            </a:extLst>
          </p:cNvPr>
          <p:cNvSpPr txBox="1"/>
          <p:nvPr/>
        </p:nvSpPr>
        <p:spPr>
          <a:xfrm>
            <a:off x="582930" y="1134836"/>
            <a:ext cx="3519300" cy="31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Approach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 a recursive function, which will follow a path and check if the path reaches the destination or not.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the path does not reach the destination then backtrack and try other paths. 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Google Shape;102;g257a7089be4_0_32">
            <a:extLst>
              <a:ext uri="{FF2B5EF4-FFF2-40B4-BE49-F238E27FC236}">
                <a16:creationId xmlns:a16="http://schemas.microsoft.com/office/drawing/2014/main" id="{F7FF84CD-1685-DB7A-9658-DB5BCA238E9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79265" y="1215390"/>
            <a:ext cx="4706621" cy="277558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32981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2;g257a7089be4_0_40">
            <a:extLst>
              <a:ext uri="{FF2B5EF4-FFF2-40B4-BE49-F238E27FC236}">
                <a16:creationId xmlns:a16="http://schemas.microsoft.com/office/drawing/2014/main" id="{EF6B288E-C492-4D7F-9540-CD70AE7853C6}"/>
              </a:ext>
            </a:extLst>
          </p:cNvPr>
          <p:cNvSpPr/>
          <p:nvPr/>
        </p:nvSpPr>
        <p:spPr>
          <a:xfrm>
            <a:off x="3157800" y="390550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MAZE SOLVING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Google Shape;110;g257a7089be4_0_40">
            <a:extLst>
              <a:ext uri="{FF2B5EF4-FFF2-40B4-BE49-F238E27FC236}">
                <a16:creationId xmlns:a16="http://schemas.microsoft.com/office/drawing/2014/main" id="{4EB5C4F9-9117-9509-C917-2CBAC185B353}"/>
              </a:ext>
            </a:extLst>
          </p:cNvPr>
          <p:cNvSpPr txBox="1"/>
          <p:nvPr/>
        </p:nvSpPr>
        <p:spPr>
          <a:xfrm>
            <a:off x="724153" y="742336"/>
            <a:ext cx="7978200" cy="4401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Algorithm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Create a solution matrix, initially filled with 0’s.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Create a recursive function, which takes initial matrix, output matrix and position of rat (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j).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the position is out of the matrix or the position is not valid then return.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Mark the position output[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][j] as 1 and check if the current position is destination or not. If destination is reached print the output matrix and return.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Recursively call for position (i+1, j) and (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j+1).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Unmark position (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j), 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i.e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output[</a:t>
            </a:r>
            <a:r>
              <a:rPr lang="en-US" sz="1600" b="0" i="0" u="none" strike="noStrike" cap="none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][j] = 0.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7128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17;g257a7089be4_0_47">
            <a:extLst>
              <a:ext uri="{FF2B5EF4-FFF2-40B4-BE49-F238E27FC236}">
                <a16:creationId xmlns:a16="http://schemas.microsoft.com/office/drawing/2014/main" id="{5F382A80-A55E-20B4-3191-7233E9A5C188}"/>
              </a:ext>
            </a:extLst>
          </p:cNvPr>
          <p:cNvSpPr txBox="1"/>
          <p:nvPr/>
        </p:nvSpPr>
        <p:spPr>
          <a:xfrm>
            <a:off x="582900" y="1200150"/>
            <a:ext cx="7978200" cy="32931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Sample IO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maze[][] = { { 1, 0, 0, 0 },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     { 1, 1, 0, 1 },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     { 0, 1, 0, 0 },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	     { 1, 1, 1, 1 } };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1  0  0  0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1  1  0  0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0  1  0  0 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0  1  1  1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" name="Google Shape;118;g257a7089be4_0_47">
            <a:extLst>
              <a:ext uri="{FF2B5EF4-FFF2-40B4-BE49-F238E27FC236}">
                <a16:creationId xmlns:a16="http://schemas.microsoft.com/office/drawing/2014/main" id="{B972B8D9-508B-C598-84B2-F46040BADE86}"/>
              </a:ext>
            </a:extLst>
          </p:cNvPr>
          <p:cNvSpPr txBox="1"/>
          <p:nvPr/>
        </p:nvSpPr>
        <p:spPr>
          <a:xfrm>
            <a:off x="5092375" y="1417608"/>
            <a:ext cx="362841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 Complexity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O(2^(n*n))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Explanation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 recursion can run upper-bound 2^(n*n) times.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sng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Space Complexity</a:t>
            </a:r>
            <a:endParaRPr sz="1600" b="0" i="0" u="sng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O(n*n)</a:t>
            </a:r>
            <a:endParaRPr sz="1600" b="0" i="0" u="none" strike="noStrike" cap="none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" name="Google Shape;120;g257a7089be4_0_47">
            <a:extLst>
              <a:ext uri="{FF2B5EF4-FFF2-40B4-BE49-F238E27FC236}">
                <a16:creationId xmlns:a16="http://schemas.microsoft.com/office/drawing/2014/main" id="{F4DB06A7-7802-D5C4-D8D0-14F7C37BEAE9}"/>
              </a:ext>
            </a:extLst>
          </p:cNvPr>
          <p:cNvSpPr/>
          <p:nvPr/>
        </p:nvSpPr>
        <p:spPr>
          <a:xfrm>
            <a:off x="3320825" y="432723"/>
            <a:ext cx="28284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MAZE SOLVING</a:t>
            </a:r>
            <a:endParaRPr sz="1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59462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29;g257a7089be4_0_132">
            <a:extLst>
              <a:ext uri="{FF2B5EF4-FFF2-40B4-BE49-F238E27FC236}">
                <a16:creationId xmlns:a16="http://schemas.microsoft.com/office/drawing/2014/main" id="{D91896C4-57FB-47FF-C2BD-E049B8334E55}"/>
              </a:ext>
            </a:extLst>
          </p:cNvPr>
          <p:cNvSpPr/>
          <p:nvPr/>
        </p:nvSpPr>
        <p:spPr>
          <a:xfrm>
            <a:off x="3419850" y="343128"/>
            <a:ext cx="2304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MAZE SOLVING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C969D13-B6ED-4151-148E-BCAAA0B6F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750058"/>
              </p:ext>
            </p:extLst>
          </p:nvPr>
        </p:nvGraphicFramePr>
        <p:xfrm>
          <a:off x="538843" y="801006"/>
          <a:ext cx="8066314" cy="457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3157">
                  <a:extLst>
                    <a:ext uri="{9D8B030D-6E8A-4147-A177-3AD203B41FA5}">
                      <a16:colId xmlns:a16="http://schemas.microsoft.com/office/drawing/2014/main" val="2906680705"/>
                    </a:ext>
                  </a:extLst>
                </a:gridCol>
                <a:gridCol w="4033157">
                  <a:extLst>
                    <a:ext uri="{9D8B030D-6E8A-4147-A177-3AD203B41FA5}">
                      <a16:colId xmlns:a16="http://schemas.microsoft.com/office/drawing/2014/main" val="1866439024"/>
                    </a:ext>
                  </a:extLst>
                </a:gridCol>
              </a:tblGrid>
              <a:tr h="434249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class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RatMaze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static int N;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void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printSolution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(int sol[][])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for (int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= 0;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&lt; N;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++) 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for (int j = 0; j &lt; N;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j++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(" " + sol[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][j] + " ");</a:t>
                      </a:r>
                      <a:endParaRPr lang="en-US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System.out.println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}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isSafe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(int maze[][], int x, int y)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{</a:t>
                      </a:r>
                      <a:endParaRPr lang="en-US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return (x &gt;= 0 &amp;&amp; x &lt; N &amp;&amp; y &gt;= 0 &amp;&amp; y &lt; N      &amp;&amp; maze[x][y] == 1);</a:t>
                      </a: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boolean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solveMaze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(int maze[][])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int sol[][] = new int[N][N];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solveMazeUtil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(maze, 0, 0, sol) == false) {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System.out.print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("Solution doesn't exist");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return false;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}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printSolution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(sol);</a:t>
                      </a:r>
                      <a:endParaRPr lang="en-US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return true;</a:t>
                      </a:r>
                      <a:endParaRPr lang="en-US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solveMazeUtil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(maze, x + 1, y, sol))	return true;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solveMazeUtil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(maze, x, y + 1, sol))	return true;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solveMazeUtil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(maze, x - 1, y, sol))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return true;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lang="en-US"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endParaRPr lang="en-US" sz="1400" b="0" u="none" strike="noStrike" cap="none" dirty="0">
                        <a:solidFill>
                          <a:schemeClr val="dk1"/>
                        </a:solidFill>
                        <a:highlight>
                          <a:srgbClr val="FFFFFF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0025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8970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7;p3">
            <a:extLst>
              <a:ext uri="{FF2B5EF4-FFF2-40B4-BE49-F238E27FC236}">
                <a16:creationId xmlns:a16="http://schemas.microsoft.com/office/drawing/2014/main" id="{4F1EA767-72AC-DE95-59EC-08AECC1B7860}"/>
              </a:ext>
            </a:extLst>
          </p:cNvPr>
          <p:cNvSpPr/>
          <p:nvPr/>
        </p:nvSpPr>
        <p:spPr>
          <a:xfrm>
            <a:off x="3419850" y="372044"/>
            <a:ext cx="2304300" cy="362100"/>
          </a:xfrm>
          <a:prstGeom prst="roundRect">
            <a:avLst>
              <a:gd name="adj" fmla="val 16667"/>
            </a:avLst>
          </a:prstGeom>
          <a:solidFill>
            <a:srgbClr val="9900FF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   MAZE SOLVING</a:t>
            </a:r>
            <a:endParaRPr sz="1600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" name="Google Shape;136;p3">
            <a:extLst>
              <a:ext uri="{FF2B5EF4-FFF2-40B4-BE49-F238E27FC236}">
                <a16:creationId xmlns:a16="http://schemas.microsoft.com/office/drawing/2014/main" id="{4E1CD682-68EC-3448-FB79-E867F027DC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61752940"/>
              </p:ext>
            </p:extLst>
          </p:nvPr>
        </p:nvGraphicFramePr>
        <p:xfrm>
          <a:off x="2215925" y="844307"/>
          <a:ext cx="4712150" cy="413137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712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31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if (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solveMazeUtil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(maze, x, y - 1, sol))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return true;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sol[x][y] = 0;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return false;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	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return false;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public static void main(String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args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[])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{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RatMaze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m = new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RatMaze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int maze[][] = { { 1, 0, 0, 0 },		 { 1, 1, 0, 1 },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{ 0, 1, 0, 0 },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{ 1, 1, 1, 1 } };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</a:t>
                      </a:r>
                      <a:r>
                        <a:rPr lang="en-US" sz="1400" b="0" u="none" strike="noStrike" cap="none" dirty="0" err="1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m.solveMaze</a:t>
                      </a: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(maze);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	}</a:t>
                      </a:r>
                      <a:endParaRPr dirty="0"/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400" b="0" u="none" strike="noStrike" cap="none" dirty="0">
                          <a:solidFill>
                            <a:schemeClr val="dk1"/>
                          </a:solidFill>
                          <a:highlight>
                            <a:srgbClr val="FFFFFF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}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7620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endParaRPr/>
          </a:p>
        </p:txBody>
      </p:sp>
      <p:sp>
        <p:nvSpPr>
          <p:cNvPr id="462" name="Google Shape;462;p6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463" name="Google Shape;463;p6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" y="1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65"/>
          <p:cNvSpPr txBox="1"/>
          <p:nvPr/>
        </p:nvSpPr>
        <p:spPr>
          <a:xfrm>
            <a:off x="3141000" y="2194650"/>
            <a:ext cx="2862000" cy="754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37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sz="37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65" name="Google Shape;465;p6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52016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6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72650" y="4591075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65"/>
          <p:cNvSpPr txBox="1"/>
          <p:nvPr/>
        </p:nvSpPr>
        <p:spPr>
          <a:xfrm>
            <a:off x="1980750" y="4590801"/>
            <a:ext cx="11871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+91 78150 95095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68" name="Google Shape;468;p65"/>
          <p:cNvCxnSpPr/>
          <p:nvPr/>
        </p:nvCxnSpPr>
        <p:spPr>
          <a:xfrm rot="10800000">
            <a:off x="3220250" y="4619675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9" name="Google Shape;469;p65"/>
          <p:cNvSpPr txBox="1"/>
          <p:nvPr/>
        </p:nvSpPr>
        <p:spPr>
          <a:xfrm>
            <a:off x="3519050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codemithra@ethnus.com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70" name="Google Shape;470;p6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223771" y="4591063"/>
            <a:ext cx="338156" cy="3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5"/>
          <p:cNvSpPr txBox="1"/>
          <p:nvPr/>
        </p:nvSpPr>
        <p:spPr>
          <a:xfrm>
            <a:off x="5457275" y="4590801"/>
            <a:ext cx="1934700" cy="338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IN" sz="1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www.codemithra.com</a:t>
            </a:r>
            <a:endParaRPr sz="10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2" name="Google Shape;472;p65"/>
          <p:cNvCxnSpPr/>
          <p:nvPr/>
        </p:nvCxnSpPr>
        <p:spPr>
          <a:xfrm rot="10800000">
            <a:off x="5166625" y="4610150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1069</Words>
  <Application>Microsoft Office PowerPoint</Application>
  <PresentationFormat>On-screen Show (16:9)</PresentationFormat>
  <Paragraphs>137</Paragraphs>
  <Slides>13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Roboto</vt:lpstr>
      <vt:lpstr>Arial</vt:lpstr>
      <vt:lpstr>Consolas</vt:lpstr>
      <vt:lpstr>Simple Light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pooja ram</dc:creator>
  <cp:lastModifiedBy>dheebanrajips@gmail.com</cp:lastModifiedBy>
  <cp:revision>1</cp:revision>
  <dcterms:created xsi:type="dcterms:W3CDTF">2022-10-05T06:20:26Z</dcterms:created>
  <dcterms:modified xsi:type="dcterms:W3CDTF">2024-09-04T05:44:25Z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5AF2CBCEB9C44D759E6C7127A2DBAAD4</vt:lpwstr>
  </property>
  <property fmtid="{D5CDD505-2E9C-101B-9397-08002B2CF9AE}" pid="3" name="KSOProductBuildVer">
    <vt:lpwstr>1033-11.2.0.11341</vt:lpwstr>
  </property>
</Properties>
</file>